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heme/theme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notesSlides/notesSlide4.xml" ContentType="application/vnd.openxmlformats-officedocument.presentationml.notesSlide+xml"/>
  <Override PartName="/ppt/tags/tag10.xml" ContentType="application/vnd.openxmlformats-officedocument.presentationml.tags+xml"/>
  <Override PartName="/ppt/notesSlides/notesSlide5.xml" ContentType="application/vnd.openxmlformats-officedocument.presentationml.notesSlide+xml"/>
  <Override PartName="/ppt/tags/tag11.xml" ContentType="application/vnd.openxmlformats-officedocument.presentationml.tags+xml"/>
  <Override PartName="/ppt/notesSlides/notesSlide6.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7.xml" ContentType="application/vnd.openxmlformats-officedocument.presentationml.notesSlide+xml"/>
  <Override PartName="/ppt/tags/tag14.xml" ContentType="application/vnd.openxmlformats-officedocument.presentationml.tags+xml"/>
  <Override PartName="/ppt/notesSlides/notesSlide8.xml" ContentType="application/vnd.openxmlformats-officedocument.presentationml.notesSlide+xml"/>
  <Override PartName="/ppt/tags/tag15.xml" ContentType="application/vnd.openxmlformats-officedocument.presentationml.tags+xml"/>
  <Override PartName="/ppt/notesSlides/notesSlide9.xml" ContentType="application/vnd.openxmlformats-officedocument.presentationml.notesSlide+xml"/>
  <Override PartName="/ppt/tags/tag16.xml" ContentType="application/vnd.openxmlformats-officedocument.presentationml.tags+xml"/>
  <Override PartName="/ppt/notesSlides/notesSlide10.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notesSlides/notesSlide11.xml" ContentType="application/vnd.openxmlformats-officedocument.presentationml.notesSlide+xml"/>
  <Override PartName="/ppt/tags/tag19.xml" ContentType="application/vnd.openxmlformats-officedocument.presentationml.tags+xml"/>
  <Override PartName="/ppt/notesSlides/notesSlide12.xml" ContentType="application/vnd.openxmlformats-officedocument.presentationml.notesSlide+xml"/>
  <Override PartName="/ppt/tags/tag20.xml" ContentType="application/vnd.openxmlformats-officedocument.presentationml.tags+xml"/>
  <Override PartName="/ppt/notesSlides/notesSlide13.xml" ContentType="application/vnd.openxmlformats-officedocument.presentationml.notesSlide+xml"/>
  <Override PartName="/ppt/tags/tag21.xml" ContentType="application/vnd.openxmlformats-officedocument.presentationml.tags+xml"/>
  <Override PartName="/ppt/notesSlides/notesSlide14.xml" ContentType="application/vnd.openxmlformats-officedocument.presentationml.notesSlide+xml"/>
  <Override PartName="/ppt/tags/tag22.xml" ContentType="application/vnd.openxmlformats-officedocument.presentationml.tags+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16.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0" r:id="rId2"/>
  </p:sldMasterIdLst>
  <p:notesMasterIdLst>
    <p:notesMasterId r:id="rId35"/>
  </p:notesMasterIdLst>
  <p:sldIdLst>
    <p:sldId id="256" r:id="rId3"/>
    <p:sldId id="257" r:id="rId4"/>
    <p:sldId id="471" r:id="rId5"/>
    <p:sldId id="473" r:id="rId6"/>
    <p:sldId id="521" r:id="rId7"/>
    <p:sldId id="522" r:id="rId8"/>
    <p:sldId id="523" r:id="rId9"/>
    <p:sldId id="524" r:id="rId10"/>
    <p:sldId id="525" r:id="rId11"/>
    <p:sldId id="551" r:id="rId12"/>
    <p:sldId id="526" r:id="rId13"/>
    <p:sldId id="527" r:id="rId14"/>
    <p:sldId id="528" r:id="rId15"/>
    <p:sldId id="529" r:id="rId16"/>
    <p:sldId id="552" r:id="rId17"/>
    <p:sldId id="530" r:id="rId18"/>
    <p:sldId id="531" r:id="rId19"/>
    <p:sldId id="532" r:id="rId20"/>
    <p:sldId id="533" r:id="rId21"/>
    <p:sldId id="534" r:id="rId22"/>
    <p:sldId id="553" r:id="rId23"/>
    <p:sldId id="555" r:id="rId24"/>
    <p:sldId id="512" r:id="rId25"/>
    <p:sldId id="513" r:id="rId26"/>
    <p:sldId id="554" r:id="rId27"/>
    <p:sldId id="263" r:id="rId28"/>
    <p:sldId id="264" r:id="rId29"/>
    <p:sldId id="556" r:id="rId30"/>
    <p:sldId id="557" r:id="rId31"/>
    <p:sldId id="558" r:id="rId32"/>
    <p:sldId id="559" r:id="rId33"/>
    <p:sldId id="519" r:id="rId34"/>
  </p:sldIdLst>
  <p:sldSz cx="12192000" cy="6858000"/>
  <p:notesSz cx="6858000" cy="9144000"/>
  <p:custDataLst>
    <p:tags r:id="rId3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240" userDrawn="1">
          <p15:clr>
            <a:srgbClr val="A4A3A4"/>
          </p15:clr>
        </p15:guide>
        <p15:guide id="3" orient="horz" pos="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E0FF"/>
    <a:srgbClr val="0066FF"/>
    <a:srgbClr val="F3F8FF"/>
    <a:srgbClr val="E7F0FF"/>
    <a:srgbClr val="484F9E"/>
    <a:srgbClr val="F9B334"/>
    <a:srgbClr val="BEBFD3"/>
    <a:srgbClr val="ACCBFF"/>
    <a:srgbClr val="839BFF"/>
    <a:srgbClr val="80350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E1EC35-0B9B-483C-C9B5-54763E1AB13C}" v="143" dt="2025-04-07T05:08:04.603"/>
    <p1510:client id="{FEBD5EAF-EED7-2778-EB16-3D1E21A92340}" v="467" dt="2025-04-07T04:58:34.7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1320" autoAdjust="0"/>
  </p:normalViewPr>
  <p:slideViewPr>
    <p:cSldViewPr snapToGrid="0">
      <p:cViewPr varScale="1">
        <p:scale>
          <a:sx n="67" d="100"/>
          <a:sy n="67" d="100"/>
        </p:scale>
        <p:origin x="1190" y="62"/>
      </p:cViewPr>
      <p:guideLst>
        <p:guide orient="horz" pos="672"/>
        <p:guide pos="240"/>
        <p:guide orient="horz" pos="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42"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hjabeen Makanadar" userId="S::mehjabeen@edunetfoundation.org::94d08462-8622-4c5e-aaff-ba208add7dc5" providerId="AD" clId="Web-{FD6DB88D-D6FB-49D7-BF0A-E7A72B02106B}"/>
    <pc:docChg chg="addSld modSld">
      <pc:chgData name="Mehjabeen Makanadar" userId="S::mehjabeen@edunetfoundation.org::94d08462-8622-4c5e-aaff-ba208add7dc5" providerId="AD" clId="Web-{FD6DB88D-D6FB-49D7-BF0A-E7A72B02106B}" dt="2025-04-02T05:22:24.042" v="1705" actId="20577"/>
      <pc:docMkLst>
        <pc:docMk/>
      </pc:docMkLst>
      <pc:sldChg chg="modSp">
        <pc:chgData name="Mehjabeen Makanadar" userId="S::mehjabeen@edunetfoundation.org::94d08462-8622-4c5e-aaff-ba208add7dc5" providerId="AD" clId="Web-{FD6DB88D-D6FB-49D7-BF0A-E7A72B02106B}" dt="2025-04-02T02:07:34.999" v="33" actId="20577"/>
        <pc:sldMkLst>
          <pc:docMk/>
          <pc:sldMk cId="2310333463" sldId="256"/>
        </pc:sldMkLst>
        <pc:spChg chg="mod">
          <ac:chgData name="Mehjabeen Makanadar" userId="S::mehjabeen@edunetfoundation.org::94d08462-8622-4c5e-aaff-ba208add7dc5" providerId="AD" clId="Web-{FD6DB88D-D6FB-49D7-BF0A-E7A72B02106B}" dt="2025-04-02T02:07:34.999" v="33" actId="20577"/>
          <ac:spMkLst>
            <pc:docMk/>
            <pc:sldMk cId="2310333463" sldId="256"/>
            <ac:spMk id="5" creationId="{69AB0D4E-853E-6882-BB79-0AB135C573F7}"/>
          </ac:spMkLst>
        </pc:spChg>
      </pc:sldChg>
      <pc:sldChg chg="addSp delSp modSp">
        <pc:chgData name="Mehjabeen Makanadar" userId="S::mehjabeen@edunetfoundation.org::94d08462-8622-4c5e-aaff-ba208add7dc5" providerId="AD" clId="Web-{FD6DB88D-D6FB-49D7-BF0A-E7A72B02106B}" dt="2025-04-02T04:27:43.311" v="749" actId="20577"/>
        <pc:sldMkLst>
          <pc:docMk/>
          <pc:sldMk cId="3247350826" sldId="260"/>
        </pc:sldMkLst>
        <pc:spChg chg="mod">
          <ac:chgData name="Mehjabeen Makanadar" userId="S::mehjabeen@edunetfoundation.org::94d08462-8622-4c5e-aaff-ba208add7dc5" providerId="AD" clId="Web-{FD6DB88D-D6FB-49D7-BF0A-E7A72B02106B}" dt="2025-04-02T04:27:43.311" v="749" actId="20577"/>
          <ac:spMkLst>
            <pc:docMk/>
            <pc:sldMk cId="3247350826" sldId="260"/>
            <ac:spMk id="2" creationId="{9835D79F-345C-6435-F4A9-FE2A9E806174}"/>
          </ac:spMkLst>
        </pc:spChg>
        <pc:spChg chg="add del mod">
          <ac:chgData name="Mehjabeen Makanadar" userId="S::mehjabeen@edunetfoundation.org::94d08462-8622-4c5e-aaff-ba208add7dc5" providerId="AD" clId="Web-{FD6DB88D-D6FB-49D7-BF0A-E7A72B02106B}" dt="2025-04-02T02:35:01.384" v="58" actId="20577"/>
          <ac:spMkLst>
            <pc:docMk/>
            <pc:sldMk cId="3247350826" sldId="260"/>
            <ac:spMk id="4" creationId="{5BA32B3C-D9C8-65B6-1442-8DF6B935E489}"/>
          </ac:spMkLst>
        </pc:spChg>
      </pc:sldChg>
      <pc:sldChg chg="modSp add replId">
        <pc:chgData name="Mehjabeen Makanadar" userId="S::mehjabeen@edunetfoundation.org::94d08462-8622-4c5e-aaff-ba208add7dc5" providerId="AD" clId="Web-{FD6DB88D-D6FB-49D7-BF0A-E7A72B02106B}" dt="2025-04-02T03:26:12.001" v="349" actId="20577"/>
        <pc:sldMkLst>
          <pc:docMk/>
          <pc:sldMk cId="484603674" sldId="265"/>
        </pc:sldMkLst>
        <pc:spChg chg="mod">
          <ac:chgData name="Mehjabeen Makanadar" userId="S::mehjabeen@edunetfoundation.org::94d08462-8622-4c5e-aaff-ba208add7dc5" providerId="AD" clId="Web-{FD6DB88D-D6FB-49D7-BF0A-E7A72B02106B}" dt="2025-04-02T03:26:12.001" v="349" actId="20577"/>
          <ac:spMkLst>
            <pc:docMk/>
            <pc:sldMk cId="484603674" sldId="265"/>
            <ac:spMk id="2" creationId="{1570CB77-C616-5509-F111-B9A99B706FEB}"/>
          </ac:spMkLst>
        </pc:spChg>
      </pc:sldChg>
      <pc:sldChg chg="addSp delSp modSp add replId">
        <pc:chgData name="Mehjabeen Makanadar" userId="S::mehjabeen@edunetfoundation.org::94d08462-8622-4c5e-aaff-ba208add7dc5" providerId="AD" clId="Web-{FD6DB88D-D6FB-49D7-BF0A-E7A72B02106B}" dt="2025-04-02T04:57:50.951" v="1180" actId="20577"/>
        <pc:sldMkLst>
          <pc:docMk/>
          <pc:sldMk cId="2533162672" sldId="266"/>
        </pc:sldMkLst>
        <pc:spChg chg="add del mod">
          <ac:chgData name="Mehjabeen Makanadar" userId="S::mehjabeen@edunetfoundation.org::94d08462-8622-4c5e-aaff-ba208add7dc5" providerId="AD" clId="Web-{FD6DB88D-D6FB-49D7-BF0A-E7A72B02106B}" dt="2025-04-02T04:32:10.082" v="898"/>
          <ac:spMkLst>
            <pc:docMk/>
            <pc:sldMk cId="2533162672" sldId="266"/>
            <ac:spMk id="2" creationId="{8DCC272F-139A-9A04-C36C-E19FDC49EDE4}"/>
          </ac:spMkLst>
        </pc:spChg>
        <pc:spChg chg="add mod">
          <ac:chgData name="Mehjabeen Makanadar" userId="S::mehjabeen@edunetfoundation.org::94d08462-8622-4c5e-aaff-ba208add7dc5" providerId="AD" clId="Web-{FD6DB88D-D6FB-49D7-BF0A-E7A72B02106B}" dt="2025-04-02T04:57:50.951" v="1180" actId="20577"/>
          <ac:spMkLst>
            <pc:docMk/>
            <pc:sldMk cId="2533162672" sldId="266"/>
            <ac:spMk id="2" creationId="{ECCC157E-F127-58D6-A6AA-452475665CAF}"/>
          </ac:spMkLst>
        </pc:spChg>
        <pc:spChg chg="mod">
          <ac:chgData name="Mehjabeen Makanadar" userId="S::mehjabeen@edunetfoundation.org::94d08462-8622-4c5e-aaff-ba208add7dc5" providerId="AD" clId="Web-{FD6DB88D-D6FB-49D7-BF0A-E7A72B02106B}" dt="2025-04-02T04:28:33.437" v="785" actId="20577"/>
          <ac:spMkLst>
            <pc:docMk/>
            <pc:sldMk cId="2533162672" sldId="266"/>
            <ac:spMk id="4" creationId="{23A60EDB-ADE7-7A12-86E9-BF912A33ED79}"/>
          </ac:spMkLst>
        </pc:spChg>
        <pc:spChg chg="add del">
          <ac:chgData name="Mehjabeen Makanadar" userId="S::mehjabeen@edunetfoundation.org::94d08462-8622-4c5e-aaff-ba208add7dc5" providerId="AD" clId="Web-{FD6DB88D-D6FB-49D7-BF0A-E7A72B02106B}" dt="2025-04-02T04:31:11.941" v="804"/>
          <ac:spMkLst>
            <pc:docMk/>
            <pc:sldMk cId="2533162672" sldId="266"/>
            <ac:spMk id="11" creationId="{58C289AE-9142-B2A2-B61D-FFF5A220B42F}"/>
          </ac:spMkLst>
        </pc:spChg>
        <pc:spChg chg="add del mod">
          <ac:chgData name="Mehjabeen Makanadar" userId="S::mehjabeen@edunetfoundation.org::94d08462-8622-4c5e-aaff-ba208add7dc5" providerId="AD" clId="Web-{FD6DB88D-D6FB-49D7-BF0A-E7A72B02106B}" dt="2025-04-02T04:54:23.760" v="1059" actId="14100"/>
          <ac:spMkLst>
            <pc:docMk/>
            <pc:sldMk cId="2533162672" sldId="266"/>
            <ac:spMk id="12" creationId="{0624F398-3E73-B06F-597B-9E832D2BDA2B}"/>
          </ac:spMkLst>
        </pc:spChg>
        <pc:graphicFrameChg chg="add del mod modGraphic">
          <ac:chgData name="Mehjabeen Makanadar" userId="S::mehjabeen@edunetfoundation.org::94d08462-8622-4c5e-aaff-ba208add7dc5" providerId="AD" clId="Web-{FD6DB88D-D6FB-49D7-BF0A-E7A72B02106B}" dt="2025-04-02T04:29:50.001" v="796"/>
          <ac:graphicFrameMkLst>
            <pc:docMk/>
            <pc:sldMk cId="2533162672" sldId="266"/>
            <ac:graphicFrameMk id="10" creationId="{B5FC17C3-3EEB-E8DE-4F2C-80522FCA4EC4}"/>
          </ac:graphicFrameMkLst>
        </pc:graphicFrameChg>
      </pc:sldChg>
      <pc:sldChg chg="addSp delSp modSp add replId">
        <pc:chgData name="Mehjabeen Makanadar" userId="S::mehjabeen@edunetfoundation.org::94d08462-8622-4c5e-aaff-ba208add7dc5" providerId="AD" clId="Web-{FD6DB88D-D6FB-49D7-BF0A-E7A72B02106B}" dt="2025-04-02T05:14:18.517" v="1465" actId="20577"/>
        <pc:sldMkLst>
          <pc:docMk/>
          <pc:sldMk cId="3377958022" sldId="267"/>
        </pc:sldMkLst>
        <pc:spChg chg="del mod">
          <ac:chgData name="Mehjabeen Makanadar" userId="S::mehjabeen@edunetfoundation.org::94d08462-8622-4c5e-aaff-ba208add7dc5" providerId="AD" clId="Web-{FD6DB88D-D6FB-49D7-BF0A-E7A72B02106B}" dt="2025-04-02T04:58:05.546" v="1183"/>
          <ac:spMkLst>
            <pc:docMk/>
            <pc:sldMk cId="3377958022" sldId="267"/>
            <ac:spMk id="2" creationId="{58D4DF54-CFC3-2088-A503-C3C0E5F489E2}"/>
          </ac:spMkLst>
        </pc:spChg>
        <pc:spChg chg="mod">
          <ac:chgData name="Mehjabeen Makanadar" userId="S::mehjabeen@edunetfoundation.org::94d08462-8622-4c5e-aaff-ba208add7dc5" providerId="AD" clId="Web-{FD6DB88D-D6FB-49D7-BF0A-E7A72B02106B}" dt="2025-04-02T04:59:58.063" v="1209" actId="20577"/>
          <ac:spMkLst>
            <pc:docMk/>
            <pc:sldMk cId="3377958022" sldId="267"/>
            <ac:spMk id="4" creationId="{08F14148-B2F2-4853-7347-AD27DAC5209F}"/>
          </ac:spMkLst>
        </pc:spChg>
        <pc:spChg chg="add mod">
          <ac:chgData name="Mehjabeen Makanadar" userId="S::mehjabeen@edunetfoundation.org::94d08462-8622-4c5e-aaff-ba208add7dc5" providerId="AD" clId="Web-{FD6DB88D-D6FB-49D7-BF0A-E7A72B02106B}" dt="2025-04-02T05:14:18.517" v="1465" actId="20577"/>
          <ac:spMkLst>
            <pc:docMk/>
            <pc:sldMk cId="3377958022" sldId="267"/>
            <ac:spMk id="10" creationId="{EFF9605A-6D7B-B05E-04B3-AE8A069270AC}"/>
          </ac:spMkLst>
        </pc:spChg>
        <pc:spChg chg="del mod">
          <ac:chgData name="Mehjabeen Makanadar" userId="S::mehjabeen@edunetfoundation.org::94d08462-8622-4c5e-aaff-ba208add7dc5" providerId="AD" clId="Web-{FD6DB88D-D6FB-49D7-BF0A-E7A72B02106B}" dt="2025-04-02T04:59:07.609" v="1186"/>
          <ac:spMkLst>
            <pc:docMk/>
            <pc:sldMk cId="3377958022" sldId="267"/>
            <ac:spMk id="12" creationId="{AC629A21-F1B2-00D6-D16C-D23FFF1F49C2}"/>
          </ac:spMkLst>
        </pc:spChg>
      </pc:sldChg>
      <pc:sldChg chg="addSp delSp modSp add replId">
        <pc:chgData name="Mehjabeen Makanadar" userId="S::mehjabeen@edunetfoundation.org::94d08462-8622-4c5e-aaff-ba208add7dc5" providerId="AD" clId="Web-{FD6DB88D-D6FB-49D7-BF0A-E7A72B02106B}" dt="2025-04-02T05:22:24.042" v="1705" actId="20577"/>
        <pc:sldMkLst>
          <pc:docMk/>
          <pc:sldMk cId="3664980304" sldId="268"/>
        </pc:sldMkLst>
        <pc:spChg chg="mod">
          <ac:chgData name="Mehjabeen Makanadar" userId="S::mehjabeen@edunetfoundation.org::94d08462-8622-4c5e-aaff-ba208add7dc5" providerId="AD" clId="Web-{FD6DB88D-D6FB-49D7-BF0A-E7A72B02106B}" dt="2025-04-02T05:14:12.080" v="1464" actId="20577"/>
          <ac:spMkLst>
            <pc:docMk/>
            <pc:sldMk cId="3664980304" sldId="268"/>
            <ac:spMk id="4" creationId="{6C086BCA-92F9-FD0D-8504-FA4A72E684C5}"/>
          </ac:spMkLst>
        </pc:spChg>
        <pc:spChg chg="add mod">
          <ac:chgData name="Mehjabeen Makanadar" userId="S::mehjabeen@edunetfoundation.org::94d08462-8622-4c5e-aaff-ba208add7dc5" providerId="AD" clId="Web-{FD6DB88D-D6FB-49D7-BF0A-E7A72B02106B}" dt="2025-04-02T05:22:24.042" v="1705" actId="20577"/>
          <ac:spMkLst>
            <pc:docMk/>
            <pc:sldMk cId="3664980304" sldId="268"/>
            <ac:spMk id="8" creationId="{1455EAC7-EC76-8396-72B2-629EFA03EFF7}"/>
          </ac:spMkLst>
        </pc:spChg>
        <pc:spChg chg="del mod">
          <ac:chgData name="Mehjabeen Makanadar" userId="S::mehjabeen@edunetfoundation.org::94d08462-8622-4c5e-aaff-ba208add7dc5" providerId="AD" clId="Web-{FD6DB88D-D6FB-49D7-BF0A-E7A72B02106B}" dt="2025-04-02T05:13:35.704" v="1442"/>
          <ac:spMkLst>
            <pc:docMk/>
            <pc:sldMk cId="3664980304" sldId="268"/>
            <ac:spMk id="10" creationId="{16A2A72A-A86F-A41C-57F9-B5C94C493C7C}"/>
          </ac:spMkLst>
        </pc:spChg>
      </pc:sldChg>
    </pc:docChg>
  </pc:docChgLst>
  <pc:docChgLst>
    <pc:chgData name="Mehjabeen Makanadar" userId="S::mehjabeen@edunetfoundation.org::94d08462-8622-4c5e-aaff-ba208add7dc5" providerId="AD" clId="Web-{5C5B8BAD-43CD-98FA-BD94-88A928FE9277}"/>
    <pc:docChg chg="addSld modSld">
      <pc:chgData name="Mehjabeen Makanadar" userId="S::mehjabeen@edunetfoundation.org::94d08462-8622-4c5e-aaff-ba208add7dc5" providerId="AD" clId="Web-{5C5B8BAD-43CD-98FA-BD94-88A928FE9277}" dt="2025-04-02T08:27:18.484" v="1347" actId="20577"/>
      <pc:docMkLst>
        <pc:docMk/>
      </pc:docMkLst>
      <pc:sldChg chg="modSp">
        <pc:chgData name="Mehjabeen Makanadar" userId="S::mehjabeen@edunetfoundation.org::94d08462-8622-4c5e-aaff-ba208add7dc5" providerId="AD" clId="Web-{5C5B8BAD-43CD-98FA-BD94-88A928FE9277}" dt="2025-04-02T06:37:06.463" v="103" actId="20577"/>
        <pc:sldMkLst>
          <pc:docMk/>
          <pc:sldMk cId="3247350826" sldId="260"/>
        </pc:sldMkLst>
        <pc:spChg chg="mod">
          <ac:chgData name="Mehjabeen Makanadar" userId="S::mehjabeen@edunetfoundation.org::94d08462-8622-4c5e-aaff-ba208add7dc5" providerId="AD" clId="Web-{5C5B8BAD-43CD-98FA-BD94-88A928FE9277}" dt="2025-04-02T06:37:06.463" v="103" actId="20577"/>
          <ac:spMkLst>
            <pc:docMk/>
            <pc:sldMk cId="3247350826" sldId="260"/>
            <ac:spMk id="2" creationId="{9835D79F-345C-6435-F4A9-FE2A9E806174}"/>
          </ac:spMkLst>
        </pc:spChg>
      </pc:sldChg>
      <pc:sldChg chg="modSp">
        <pc:chgData name="Mehjabeen Makanadar" userId="S::mehjabeen@edunetfoundation.org::94d08462-8622-4c5e-aaff-ba208add7dc5" providerId="AD" clId="Web-{5C5B8BAD-43CD-98FA-BD94-88A928FE9277}" dt="2025-04-02T06:38:21.198" v="107" actId="20577"/>
        <pc:sldMkLst>
          <pc:docMk/>
          <pc:sldMk cId="2533162672" sldId="266"/>
        </pc:sldMkLst>
        <pc:spChg chg="mod">
          <ac:chgData name="Mehjabeen Makanadar" userId="S::mehjabeen@edunetfoundation.org::94d08462-8622-4c5e-aaff-ba208add7dc5" providerId="AD" clId="Web-{5C5B8BAD-43CD-98FA-BD94-88A928FE9277}" dt="2025-04-02T06:37:48.838" v="105" actId="20577"/>
          <ac:spMkLst>
            <pc:docMk/>
            <pc:sldMk cId="2533162672" sldId="266"/>
            <ac:spMk id="2" creationId="{ECCC157E-F127-58D6-A6AA-452475665CAF}"/>
          </ac:spMkLst>
        </pc:spChg>
        <pc:spChg chg="mod">
          <ac:chgData name="Mehjabeen Makanadar" userId="S::mehjabeen@edunetfoundation.org::94d08462-8622-4c5e-aaff-ba208add7dc5" providerId="AD" clId="Web-{5C5B8BAD-43CD-98FA-BD94-88A928FE9277}" dt="2025-04-02T06:38:21.198" v="107" actId="20577"/>
          <ac:spMkLst>
            <pc:docMk/>
            <pc:sldMk cId="2533162672" sldId="266"/>
            <ac:spMk id="12" creationId="{0624F398-3E73-B06F-597B-9E832D2BDA2B}"/>
          </ac:spMkLst>
        </pc:spChg>
      </pc:sldChg>
      <pc:sldChg chg="modSp">
        <pc:chgData name="Mehjabeen Makanadar" userId="S::mehjabeen@edunetfoundation.org::94d08462-8622-4c5e-aaff-ba208add7dc5" providerId="AD" clId="Web-{5C5B8BAD-43CD-98FA-BD94-88A928FE9277}" dt="2025-04-02T06:38:58.277" v="109" actId="20577"/>
        <pc:sldMkLst>
          <pc:docMk/>
          <pc:sldMk cId="3377958022" sldId="267"/>
        </pc:sldMkLst>
        <pc:spChg chg="mod">
          <ac:chgData name="Mehjabeen Makanadar" userId="S::mehjabeen@edunetfoundation.org::94d08462-8622-4c5e-aaff-ba208add7dc5" providerId="AD" clId="Web-{5C5B8BAD-43CD-98FA-BD94-88A928FE9277}" dt="2025-04-02T06:38:58.277" v="109" actId="20577"/>
          <ac:spMkLst>
            <pc:docMk/>
            <pc:sldMk cId="3377958022" sldId="267"/>
            <ac:spMk id="10" creationId="{EFF9605A-6D7B-B05E-04B3-AE8A069270AC}"/>
          </ac:spMkLst>
        </pc:spChg>
      </pc:sldChg>
      <pc:sldChg chg="modSp">
        <pc:chgData name="Mehjabeen Makanadar" userId="S::mehjabeen@edunetfoundation.org::94d08462-8622-4c5e-aaff-ba208add7dc5" providerId="AD" clId="Web-{5C5B8BAD-43CD-98FA-BD94-88A928FE9277}" dt="2025-04-02T06:39:28.684" v="114" actId="20577"/>
        <pc:sldMkLst>
          <pc:docMk/>
          <pc:sldMk cId="3664980304" sldId="268"/>
        </pc:sldMkLst>
        <pc:spChg chg="mod">
          <ac:chgData name="Mehjabeen Makanadar" userId="S::mehjabeen@edunetfoundation.org::94d08462-8622-4c5e-aaff-ba208add7dc5" providerId="AD" clId="Web-{5C5B8BAD-43CD-98FA-BD94-88A928FE9277}" dt="2025-04-02T06:39:28.684" v="114" actId="20577"/>
          <ac:spMkLst>
            <pc:docMk/>
            <pc:sldMk cId="3664980304" sldId="268"/>
            <ac:spMk id="8" creationId="{1455EAC7-EC76-8396-72B2-629EFA03EFF7}"/>
          </ac:spMkLst>
        </pc:spChg>
      </pc:sldChg>
      <pc:sldChg chg="addSp delSp modSp add replId">
        <pc:chgData name="Mehjabeen Makanadar" userId="S::mehjabeen@edunetfoundation.org::94d08462-8622-4c5e-aaff-ba208add7dc5" providerId="AD" clId="Web-{5C5B8BAD-43CD-98FA-BD94-88A928FE9277}" dt="2025-04-02T06:48:51.036" v="275" actId="14100"/>
        <pc:sldMkLst>
          <pc:docMk/>
          <pc:sldMk cId="4020300029" sldId="269"/>
        </pc:sldMkLst>
        <pc:spChg chg="mod">
          <ac:chgData name="Mehjabeen Makanadar" userId="S::mehjabeen@edunetfoundation.org::94d08462-8622-4c5e-aaff-ba208add7dc5" providerId="AD" clId="Web-{5C5B8BAD-43CD-98FA-BD94-88A928FE9277}" dt="2025-04-02T06:42:08.280" v="153" actId="20577"/>
          <ac:spMkLst>
            <pc:docMk/>
            <pc:sldMk cId="4020300029" sldId="269"/>
            <ac:spMk id="4" creationId="{18481FB9-AB73-91E0-8184-27BF4D8D9663}"/>
          </ac:spMkLst>
        </pc:spChg>
        <pc:spChg chg="del mod">
          <ac:chgData name="Mehjabeen Makanadar" userId="S::mehjabeen@edunetfoundation.org::94d08462-8622-4c5e-aaff-ba208add7dc5" providerId="AD" clId="Web-{5C5B8BAD-43CD-98FA-BD94-88A928FE9277}" dt="2025-04-02T06:40:49.482" v="117"/>
          <ac:spMkLst>
            <pc:docMk/>
            <pc:sldMk cId="4020300029" sldId="269"/>
            <ac:spMk id="8" creationId="{B77FF5C6-6C31-DF83-98C7-70B36F6EC2A0}"/>
          </ac:spMkLst>
        </pc:spChg>
        <pc:spChg chg="add mod">
          <ac:chgData name="Mehjabeen Makanadar" userId="S::mehjabeen@edunetfoundation.org::94d08462-8622-4c5e-aaff-ba208add7dc5" providerId="AD" clId="Web-{5C5B8BAD-43CD-98FA-BD94-88A928FE9277}" dt="2025-04-02T06:48:51.036" v="275" actId="14100"/>
          <ac:spMkLst>
            <pc:docMk/>
            <pc:sldMk cId="4020300029" sldId="269"/>
            <ac:spMk id="10" creationId="{1EB7FBBB-ADC9-FC71-C5BE-182F48C54715}"/>
          </ac:spMkLst>
        </pc:spChg>
      </pc:sldChg>
      <pc:sldChg chg="modSp add replId">
        <pc:chgData name="Mehjabeen Makanadar" userId="S::mehjabeen@edunetfoundation.org::94d08462-8622-4c5e-aaff-ba208add7dc5" providerId="AD" clId="Web-{5C5B8BAD-43CD-98FA-BD94-88A928FE9277}" dt="2025-04-02T06:55:45.996" v="436" actId="20577"/>
        <pc:sldMkLst>
          <pc:docMk/>
          <pc:sldMk cId="2132617524" sldId="270"/>
        </pc:sldMkLst>
        <pc:spChg chg="mod">
          <ac:chgData name="Mehjabeen Makanadar" userId="S::mehjabeen@edunetfoundation.org::94d08462-8622-4c5e-aaff-ba208add7dc5" providerId="AD" clId="Web-{5C5B8BAD-43CD-98FA-BD94-88A928FE9277}" dt="2025-04-02T06:51:54.086" v="322" actId="20577"/>
          <ac:spMkLst>
            <pc:docMk/>
            <pc:sldMk cId="2132617524" sldId="270"/>
            <ac:spMk id="4" creationId="{9C4C0640-D769-BB44-0493-E0F6D75E5255}"/>
          </ac:spMkLst>
        </pc:spChg>
        <pc:spChg chg="mod">
          <ac:chgData name="Mehjabeen Makanadar" userId="S::mehjabeen@edunetfoundation.org::94d08462-8622-4c5e-aaff-ba208add7dc5" providerId="AD" clId="Web-{5C5B8BAD-43CD-98FA-BD94-88A928FE9277}" dt="2025-04-02T06:55:45.996" v="436" actId="20577"/>
          <ac:spMkLst>
            <pc:docMk/>
            <pc:sldMk cId="2132617524" sldId="270"/>
            <ac:spMk id="10" creationId="{3051E7DC-07B9-CE0F-774C-849D46DC2E09}"/>
          </ac:spMkLst>
        </pc:spChg>
      </pc:sldChg>
      <pc:sldChg chg="modSp add replId">
        <pc:chgData name="Mehjabeen Makanadar" userId="S::mehjabeen@edunetfoundation.org::94d08462-8622-4c5e-aaff-ba208add7dc5" providerId="AD" clId="Web-{5C5B8BAD-43CD-98FA-BD94-88A928FE9277}" dt="2025-04-02T07:33:01.435" v="815" actId="20577"/>
        <pc:sldMkLst>
          <pc:docMk/>
          <pc:sldMk cId="1096189554" sldId="271"/>
        </pc:sldMkLst>
        <pc:spChg chg="mod">
          <ac:chgData name="Mehjabeen Makanadar" userId="S::mehjabeen@edunetfoundation.org::94d08462-8622-4c5e-aaff-ba208add7dc5" providerId="AD" clId="Web-{5C5B8BAD-43CD-98FA-BD94-88A928FE9277}" dt="2025-04-02T07:05:12.176" v="475" actId="20577"/>
          <ac:spMkLst>
            <pc:docMk/>
            <pc:sldMk cId="1096189554" sldId="271"/>
            <ac:spMk id="4" creationId="{0342E441-DB67-BE67-8E4D-C4DCB03F54C1}"/>
          </ac:spMkLst>
        </pc:spChg>
        <pc:spChg chg="mod">
          <ac:chgData name="Mehjabeen Makanadar" userId="S::mehjabeen@edunetfoundation.org::94d08462-8622-4c5e-aaff-ba208add7dc5" providerId="AD" clId="Web-{5C5B8BAD-43CD-98FA-BD94-88A928FE9277}" dt="2025-04-02T07:33:01.435" v="815" actId="20577"/>
          <ac:spMkLst>
            <pc:docMk/>
            <pc:sldMk cId="1096189554" sldId="271"/>
            <ac:spMk id="10" creationId="{1991F45C-1ED7-9657-00E1-0BDA4D9BA5B6}"/>
          </ac:spMkLst>
        </pc:spChg>
      </pc:sldChg>
      <pc:sldChg chg="addSp modSp add replId">
        <pc:chgData name="Mehjabeen Makanadar" userId="S::mehjabeen@edunetfoundation.org::94d08462-8622-4c5e-aaff-ba208add7dc5" providerId="AD" clId="Web-{5C5B8BAD-43CD-98FA-BD94-88A928FE9277}" dt="2025-04-02T07:41:34.537" v="997" actId="20577"/>
        <pc:sldMkLst>
          <pc:docMk/>
          <pc:sldMk cId="1028238647" sldId="272"/>
        </pc:sldMkLst>
        <pc:spChg chg="mod">
          <ac:chgData name="Mehjabeen Makanadar" userId="S::mehjabeen@edunetfoundation.org::94d08462-8622-4c5e-aaff-ba208add7dc5" providerId="AD" clId="Web-{5C5B8BAD-43CD-98FA-BD94-88A928FE9277}" dt="2025-04-02T07:35:36.641" v="843" actId="20577"/>
          <ac:spMkLst>
            <pc:docMk/>
            <pc:sldMk cId="1028238647" sldId="272"/>
            <ac:spMk id="4" creationId="{76494858-4407-D656-4CF3-C453B1305653}"/>
          </ac:spMkLst>
        </pc:spChg>
        <pc:spChg chg="add mod">
          <ac:chgData name="Mehjabeen Makanadar" userId="S::mehjabeen@edunetfoundation.org::94d08462-8622-4c5e-aaff-ba208add7dc5" providerId="AD" clId="Web-{5C5B8BAD-43CD-98FA-BD94-88A928FE9277}" dt="2025-04-02T07:41:34.537" v="997" actId="20577"/>
          <ac:spMkLst>
            <pc:docMk/>
            <pc:sldMk cId="1028238647" sldId="272"/>
            <ac:spMk id="8" creationId="{11569041-D068-B34A-80B6-DDBD42FFDADA}"/>
          </ac:spMkLst>
        </pc:spChg>
        <pc:spChg chg="mod">
          <ac:chgData name="Mehjabeen Makanadar" userId="S::mehjabeen@edunetfoundation.org::94d08462-8622-4c5e-aaff-ba208add7dc5" providerId="AD" clId="Web-{5C5B8BAD-43CD-98FA-BD94-88A928FE9277}" dt="2025-04-02T07:33:31.451" v="818" actId="20577"/>
          <ac:spMkLst>
            <pc:docMk/>
            <pc:sldMk cId="1028238647" sldId="272"/>
            <ac:spMk id="10" creationId="{7A27FDC7-C531-36BE-7FD6-F68DD36FEE1B}"/>
          </ac:spMkLst>
        </pc:spChg>
      </pc:sldChg>
      <pc:sldChg chg="modSp add replId">
        <pc:chgData name="Mehjabeen Makanadar" userId="S::mehjabeen@edunetfoundation.org::94d08462-8622-4c5e-aaff-ba208add7dc5" providerId="AD" clId="Web-{5C5B8BAD-43CD-98FA-BD94-88A928FE9277}" dt="2025-04-02T08:27:18.484" v="1347" actId="20577"/>
        <pc:sldMkLst>
          <pc:docMk/>
          <pc:sldMk cId="2274437195" sldId="273"/>
        </pc:sldMkLst>
        <pc:spChg chg="mod">
          <ac:chgData name="Mehjabeen Makanadar" userId="S::mehjabeen@edunetfoundation.org::94d08462-8622-4c5e-aaff-ba208add7dc5" providerId="AD" clId="Web-{5C5B8BAD-43CD-98FA-BD94-88A928FE9277}" dt="2025-04-02T07:50:22.045" v="1039" actId="20577"/>
          <ac:spMkLst>
            <pc:docMk/>
            <pc:sldMk cId="2274437195" sldId="273"/>
            <ac:spMk id="4" creationId="{93FED04C-E858-4A15-FD78-B2287170A9CB}"/>
          </ac:spMkLst>
        </pc:spChg>
        <pc:spChg chg="mod">
          <ac:chgData name="Mehjabeen Makanadar" userId="S::mehjabeen@edunetfoundation.org::94d08462-8622-4c5e-aaff-ba208add7dc5" providerId="AD" clId="Web-{5C5B8BAD-43CD-98FA-BD94-88A928FE9277}" dt="2025-04-02T08:27:18.484" v="1347" actId="20577"/>
          <ac:spMkLst>
            <pc:docMk/>
            <pc:sldMk cId="2274437195" sldId="273"/>
            <ac:spMk id="8" creationId="{F1A49EF8-7D6B-BFA7-C804-E6DAB3B9E015}"/>
          </ac:spMkLst>
        </pc:spChg>
      </pc:sldChg>
    </pc:docChg>
  </pc:docChgLst>
  <pc:docChgLst>
    <pc:chgData name="Mehjabeen Makanadar" userId="S::mehjabeen@edunetfoundation.org::94d08462-8622-4c5e-aaff-ba208add7dc5" providerId="AD" clId="Web-{C4DAA1A0-34E6-6C61-4957-05622F3664B8}"/>
    <pc:docChg chg="modSld">
      <pc:chgData name="Mehjabeen Makanadar" userId="S::mehjabeen@edunetfoundation.org::94d08462-8622-4c5e-aaff-ba208add7dc5" providerId="AD" clId="Web-{C4DAA1A0-34E6-6C61-4957-05622F3664B8}" dt="2025-04-03T03:42:51.961" v="4" actId="14100"/>
      <pc:docMkLst>
        <pc:docMk/>
      </pc:docMkLst>
      <pc:sldChg chg="modSp">
        <pc:chgData name="Mehjabeen Makanadar" userId="S::mehjabeen@edunetfoundation.org::94d08462-8622-4c5e-aaff-ba208add7dc5" providerId="AD" clId="Web-{C4DAA1A0-34E6-6C61-4957-05622F3664B8}" dt="2025-04-03T03:42:51.961" v="4" actId="14100"/>
        <pc:sldMkLst>
          <pc:docMk/>
          <pc:sldMk cId="3343754322" sldId="262"/>
        </pc:sldMkLst>
        <pc:spChg chg="mod">
          <ac:chgData name="Mehjabeen Makanadar" userId="S::mehjabeen@edunetfoundation.org::94d08462-8622-4c5e-aaff-ba208add7dc5" providerId="AD" clId="Web-{C4DAA1A0-34E6-6C61-4957-05622F3664B8}" dt="2025-04-03T03:42:51.961" v="4" actId="14100"/>
          <ac:spMkLst>
            <pc:docMk/>
            <pc:sldMk cId="3343754322" sldId="262"/>
            <ac:spMk id="2" creationId="{976EDFFF-7E60-F4A2-ECDA-81CD89054335}"/>
          </ac:spMkLst>
        </pc:spChg>
      </pc:sldChg>
      <pc:sldChg chg="modSp">
        <pc:chgData name="Mehjabeen Makanadar" userId="S::mehjabeen@edunetfoundation.org::94d08462-8622-4c5e-aaff-ba208add7dc5" providerId="AD" clId="Web-{C4DAA1A0-34E6-6C61-4957-05622F3664B8}" dt="2025-04-03T03:42:41.929" v="0" actId="20577"/>
        <pc:sldMkLst>
          <pc:docMk/>
          <pc:sldMk cId="484603674" sldId="265"/>
        </pc:sldMkLst>
        <pc:spChg chg="mod">
          <ac:chgData name="Mehjabeen Makanadar" userId="S::mehjabeen@edunetfoundation.org::94d08462-8622-4c5e-aaff-ba208add7dc5" providerId="AD" clId="Web-{C4DAA1A0-34E6-6C61-4957-05622F3664B8}" dt="2025-04-03T03:42:41.929" v="0" actId="20577"/>
          <ac:spMkLst>
            <pc:docMk/>
            <pc:sldMk cId="484603674" sldId="265"/>
            <ac:spMk id="2" creationId="{1570CB77-C616-5509-F111-B9A99B706FEB}"/>
          </ac:spMkLst>
        </pc:spChg>
      </pc:sldChg>
    </pc:docChg>
  </pc:docChgLst>
  <pc:docChgLst>
    <pc:chgData name="Guest User" userId="S::urn:spo:anon#dd66ad18daec5bc48d2126913b363fb685aec80f6d67c87642ff602a7b3d2fc1::" providerId="AD" clId="Web-{FEBD5EAF-EED7-2778-EB16-3D1E21A92340}"/>
    <pc:docChg chg="addSld delSld modSld">
      <pc:chgData name="Guest User" userId="S::urn:spo:anon#dd66ad18daec5bc48d2126913b363fb685aec80f6d67c87642ff602a7b3d2fc1::" providerId="AD" clId="Web-{FEBD5EAF-EED7-2778-EB16-3D1E21A92340}" dt="2025-04-07T04:58:32.877" v="326" actId="20577"/>
      <pc:docMkLst>
        <pc:docMk/>
      </pc:docMkLst>
      <pc:sldChg chg="modSp">
        <pc:chgData name="Guest User" userId="S::urn:spo:anon#dd66ad18daec5bc48d2126913b363fb685aec80f6d67c87642ff602a7b3d2fc1::" providerId="AD" clId="Web-{FEBD5EAF-EED7-2778-EB16-3D1E21A92340}" dt="2025-04-05T04:09:39.982" v="27" actId="20577"/>
        <pc:sldMkLst>
          <pc:docMk/>
          <pc:sldMk cId="2310333463" sldId="256"/>
        </pc:sldMkLst>
        <pc:spChg chg="mod">
          <ac:chgData name="Guest User" userId="S::urn:spo:anon#dd66ad18daec5bc48d2126913b363fb685aec80f6d67c87642ff602a7b3d2fc1::" providerId="AD" clId="Web-{FEBD5EAF-EED7-2778-EB16-3D1E21A92340}" dt="2025-04-05T04:09:39.982" v="27" actId="20577"/>
          <ac:spMkLst>
            <pc:docMk/>
            <pc:sldMk cId="2310333463" sldId="256"/>
            <ac:spMk id="4" creationId="{1FBE93BD-9C29-AD91-88D5-08DF18A0EEAF}"/>
          </ac:spMkLst>
        </pc:spChg>
      </pc:sldChg>
      <pc:sldChg chg="del">
        <pc:chgData name="Guest User" userId="S::urn:spo:anon#dd66ad18daec5bc48d2126913b363fb685aec80f6d67c87642ff602a7b3d2fc1::" providerId="AD" clId="Web-{FEBD5EAF-EED7-2778-EB16-3D1E21A92340}" dt="2025-04-05T04:09:50.139" v="28"/>
        <pc:sldMkLst>
          <pc:docMk/>
          <pc:sldMk cId="1013712468" sldId="258"/>
        </pc:sldMkLst>
      </pc:sldChg>
      <pc:sldChg chg="del">
        <pc:chgData name="Guest User" userId="S::urn:spo:anon#dd66ad18daec5bc48d2126913b363fb685aec80f6d67c87642ff602a7b3d2fc1::" providerId="AD" clId="Web-{FEBD5EAF-EED7-2778-EB16-3D1E21A92340}" dt="2025-04-05T04:10:19.249" v="29"/>
        <pc:sldMkLst>
          <pc:docMk/>
          <pc:sldMk cId="1630480339" sldId="259"/>
        </pc:sldMkLst>
      </pc:sldChg>
      <pc:sldChg chg="modSp">
        <pc:chgData name="Guest User" userId="S::urn:spo:anon#dd66ad18daec5bc48d2126913b363fb685aec80f6d67c87642ff602a7b3d2fc1::" providerId="AD" clId="Web-{FEBD5EAF-EED7-2778-EB16-3D1E21A92340}" dt="2025-04-07T04:42:12.846" v="124" actId="20577"/>
        <pc:sldMkLst>
          <pc:docMk/>
          <pc:sldMk cId="3247350826" sldId="260"/>
        </pc:sldMkLst>
        <pc:spChg chg="mod">
          <ac:chgData name="Guest User" userId="S::urn:spo:anon#dd66ad18daec5bc48d2126913b363fb685aec80f6d67c87642ff602a7b3d2fc1::" providerId="AD" clId="Web-{FEBD5EAF-EED7-2778-EB16-3D1E21A92340}" dt="2025-04-07T04:42:12.846" v="124" actId="20577"/>
          <ac:spMkLst>
            <pc:docMk/>
            <pc:sldMk cId="3247350826" sldId="260"/>
            <ac:spMk id="2" creationId="{9835D79F-345C-6435-F4A9-FE2A9E806174}"/>
          </ac:spMkLst>
        </pc:spChg>
        <pc:spChg chg="mod">
          <ac:chgData name="Guest User" userId="S::urn:spo:anon#dd66ad18daec5bc48d2126913b363fb685aec80f6d67c87642ff602a7b3d2fc1::" providerId="AD" clId="Web-{FEBD5EAF-EED7-2778-EB16-3D1E21A92340}" dt="2025-04-07T04:41:59.892" v="121" actId="20577"/>
          <ac:spMkLst>
            <pc:docMk/>
            <pc:sldMk cId="3247350826" sldId="260"/>
            <ac:spMk id="4" creationId="{5BA32B3C-D9C8-65B6-1442-8DF6B935E489}"/>
          </ac:spMkLst>
        </pc:spChg>
      </pc:sldChg>
      <pc:sldChg chg="modSp">
        <pc:chgData name="Guest User" userId="S::urn:spo:anon#dd66ad18daec5bc48d2126913b363fb685aec80f6d67c87642ff602a7b3d2fc1::" providerId="AD" clId="Web-{FEBD5EAF-EED7-2778-EB16-3D1E21A92340}" dt="2025-04-07T04:47:50.742" v="143" actId="20577"/>
        <pc:sldMkLst>
          <pc:docMk/>
          <pc:sldMk cId="1671713215" sldId="261"/>
        </pc:sldMkLst>
        <pc:spChg chg="mod">
          <ac:chgData name="Guest User" userId="S::urn:spo:anon#dd66ad18daec5bc48d2126913b363fb685aec80f6d67c87642ff602a7b3d2fc1::" providerId="AD" clId="Web-{FEBD5EAF-EED7-2778-EB16-3D1E21A92340}" dt="2025-04-07T04:47:50.742" v="143" actId="20577"/>
          <ac:spMkLst>
            <pc:docMk/>
            <pc:sldMk cId="1671713215" sldId="261"/>
            <ac:spMk id="4" creationId="{5BA32B3C-D9C8-65B6-1442-8DF6B935E489}"/>
          </ac:spMkLst>
        </pc:spChg>
        <pc:spChg chg="mod">
          <ac:chgData name="Guest User" userId="S::urn:spo:anon#dd66ad18daec5bc48d2126913b363fb685aec80f6d67c87642ff602a7b3d2fc1::" providerId="AD" clId="Web-{FEBD5EAF-EED7-2778-EB16-3D1E21A92340}" dt="2025-04-07T04:47:43.820" v="142" actId="20577"/>
          <ac:spMkLst>
            <pc:docMk/>
            <pc:sldMk cId="1671713215" sldId="261"/>
            <ac:spMk id="8" creationId="{8FB8E816-E868-A86A-9AC1-52D61C79325A}"/>
          </ac:spMkLst>
        </pc:spChg>
      </pc:sldChg>
      <pc:sldChg chg="modSp">
        <pc:chgData name="Guest User" userId="S::urn:spo:anon#dd66ad18daec5bc48d2126913b363fb685aec80f6d67c87642ff602a7b3d2fc1::" providerId="AD" clId="Web-{FEBD5EAF-EED7-2778-EB16-3D1E21A92340}" dt="2025-04-07T04:54:53.576" v="262" actId="20577"/>
        <pc:sldMkLst>
          <pc:docMk/>
          <pc:sldMk cId="1476851649" sldId="264"/>
        </pc:sldMkLst>
        <pc:spChg chg="mod">
          <ac:chgData name="Guest User" userId="S::urn:spo:anon#dd66ad18daec5bc48d2126913b363fb685aec80f6d67c87642ff602a7b3d2fc1::" providerId="AD" clId="Web-{FEBD5EAF-EED7-2778-EB16-3D1E21A92340}" dt="2025-04-07T04:54:53.576" v="262" actId="20577"/>
          <ac:spMkLst>
            <pc:docMk/>
            <pc:sldMk cId="1476851649" sldId="264"/>
            <ac:spMk id="14" creationId="{E1F0CCD2-56D3-6ED7-A4D2-DC293A4DECED}"/>
          </ac:spMkLst>
        </pc:spChg>
        <pc:spChg chg="mod">
          <ac:chgData name="Guest User" userId="S::urn:spo:anon#dd66ad18daec5bc48d2126913b363fb685aec80f6d67c87642ff602a7b3d2fc1::" providerId="AD" clId="Web-{FEBD5EAF-EED7-2778-EB16-3D1E21A92340}" dt="2025-04-07T04:54:18.779" v="261" actId="20577"/>
          <ac:spMkLst>
            <pc:docMk/>
            <pc:sldMk cId="1476851649" sldId="264"/>
            <ac:spMk id="17" creationId="{F67DEA04-9A38-2BC5-6A24-6F2AA4D4C1F4}"/>
          </ac:spMkLst>
        </pc:spChg>
      </pc:sldChg>
      <pc:sldChg chg="modSp">
        <pc:chgData name="Guest User" userId="S::urn:spo:anon#dd66ad18daec5bc48d2126913b363fb685aec80f6d67c87642ff602a7b3d2fc1::" providerId="AD" clId="Web-{FEBD5EAF-EED7-2778-EB16-3D1E21A92340}" dt="2025-04-07T04:45:58.349" v="128" actId="20577"/>
        <pc:sldMkLst>
          <pc:docMk/>
          <pc:sldMk cId="484603674" sldId="265"/>
        </pc:sldMkLst>
        <pc:spChg chg="mod">
          <ac:chgData name="Guest User" userId="S::urn:spo:anon#dd66ad18daec5bc48d2126913b363fb685aec80f6d67c87642ff602a7b3d2fc1::" providerId="AD" clId="Web-{FEBD5EAF-EED7-2778-EB16-3D1E21A92340}" dt="2025-04-07T04:45:58.349" v="128" actId="20577"/>
          <ac:spMkLst>
            <pc:docMk/>
            <pc:sldMk cId="484603674" sldId="265"/>
            <ac:spMk id="2" creationId="{1570CB77-C616-5509-F111-B9A99B706FEB}"/>
          </ac:spMkLst>
        </pc:spChg>
      </pc:sldChg>
      <pc:sldChg chg="addSp modSp">
        <pc:chgData name="Guest User" userId="S::urn:spo:anon#dd66ad18daec5bc48d2126913b363fb685aec80f6d67c87642ff602a7b3d2fc1::" providerId="AD" clId="Web-{FEBD5EAF-EED7-2778-EB16-3D1E21A92340}" dt="2025-04-05T04:16:08.629" v="102" actId="14100"/>
        <pc:sldMkLst>
          <pc:docMk/>
          <pc:sldMk cId="4020300029" sldId="269"/>
        </pc:sldMkLst>
        <pc:spChg chg="mod">
          <ac:chgData name="Guest User" userId="S::urn:spo:anon#dd66ad18daec5bc48d2126913b363fb685aec80f6d67c87642ff602a7b3d2fc1::" providerId="AD" clId="Web-{FEBD5EAF-EED7-2778-EB16-3D1E21A92340}" dt="2025-04-05T04:15:49.332" v="97" actId="20577"/>
          <ac:spMkLst>
            <pc:docMk/>
            <pc:sldMk cId="4020300029" sldId="269"/>
            <ac:spMk id="10" creationId="{1EB7FBBB-ADC9-FC71-C5BE-182F48C54715}"/>
          </ac:spMkLst>
        </pc:spChg>
        <pc:picChg chg="add mod">
          <ac:chgData name="Guest User" userId="S::urn:spo:anon#dd66ad18daec5bc48d2126913b363fb685aec80f6d67c87642ff602a7b3d2fc1::" providerId="AD" clId="Web-{FEBD5EAF-EED7-2778-EB16-3D1E21A92340}" dt="2025-04-05T04:16:08.629" v="102" actId="14100"/>
          <ac:picMkLst>
            <pc:docMk/>
            <pc:sldMk cId="4020300029" sldId="269"/>
            <ac:picMk id="2" creationId="{D9E58820-8550-F382-2BE0-D3BA32C8B121}"/>
          </ac:picMkLst>
        </pc:picChg>
      </pc:sldChg>
      <pc:sldChg chg="addSp delSp modSp add replId">
        <pc:chgData name="Guest User" userId="S::urn:spo:anon#dd66ad18daec5bc48d2126913b363fb685aec80f6d67c87642ff602a7b3d2fc1::" providerId="AD" clId="Web-{FEBD5EAF-EED7-2778-EB16-3D1E21A92340}" dt="2025-04-05T04:12:42.454" v="64" actId="20577"/>
        <pc:sldMkLst>
          <pc:docMk/>
          <pc:sldMk cId="1185975053" sldId="274"/>
        </pc:sldMkLst>
        <pc:spChg chg="del mod">
          <ac:chgData name="Guest User" userId="S::urn:spo:anon#dd66ad18daec5bc48d2126913b363fb685aec80f6d67c87642ff602a7b3d2fc1::" providerId="AD" clId="Web-{FEBD5EAF-EED7-2778-EB16-3D1E21A92340}" dt="2025-04-05T04:11:07.765" v="35"/>
          <ac:spMkLst>
            <pc:docMk/>
            <pc:sldMk cId="1185975053" sldId="274"/>
            <ac:spMk id="2" creationId="{C3EA06FB-7F85-8B09-9BD8-3CD146D53E1E}"/>
          </ac:spMkLst>
        </pc:spChg>
        <pc:spChg chg="add mod">
          <ac:chgData name="Guest User" userId="S::urn:spo:anon#dd66ad18daec5bc48d2126913b363fb685aec80f6d67c87642ff602a7b3d2fc1::" providerId="AD" clId="Web-{FEBD5EAF-EED7-2778-EB16-3D1E21A92340}" dt="2025-04-05T04:12:42.454" v="64" actId="20577"/>
          <ac:spMkLst>
            <pc:docMk/>
            <pc:sldMk cId="1185975053" sldId="274"/>
            <ac:spMk id="10" creationId="{DAC4B0A6-6EB9-178F-2889-4EF26CA69C91}"/>
          </ac:spMkLst>
        </pc:spChg>
        <pc:picChg chg="add mod">
          <ac:chgData name="Guest User" userId="S::urn:spo:anon#dd66ad18daec5bc48d2126913b363fb685aec80f6d67c87642ff602a7b3d2fc1::" providerId="AD" clId="Web-{FEBD5EAF-EED7-2778-EB16-3D1E21A92340}" dt="2025-04-05T04:11:05.077" v="34" actId="14100"/>
          <ac:picMkLst>
            <pc:docMk/>
            <pc:sldMk cId="1185975053" sldId="274"/>
            <ac:picMk id="8" creationId="{BD1DFBA2-2317-E251-F811-D731A7B3BD49}"/>
          </ac:picMkLst>
        </pc:picChg>
      </pc:sldChg>
      <pc:sldChg chg="addSp delSp modSp add replId">
        <pc:chgData name="Guest User" userId="S::urn:spo:anon#dd66ad18daec5bc48d2126913b363fb685aec80f6d67c87642ff602a7b3d2fc1::" providerId="AD" clId="Web-{FEBD5EAF-EED7-2778-EB16-3D1E21A92340}" dt="2025-04-05T04:16:44.989" v="106" actId="14100"/>
        <pc:sldMkLst>
          <pc:docMk/>
          <pc:sldMk cId="3183275050" sldId="275"/>
        </pc:sldMkLst>
        <pc:spChg chg="add del mod">
          <ac:chgData name="Guest User" userId="S::urn:spo:anon#dd66ad18daec5bc48d2126913b363fb685aec80f6d67c87642ff602a7b3d2fc1::" providerId="AD" clId="Web-{FEBD5EAF-EED7-2778-EB16-3D1E21A92340}" dt="2025-04-05T04:14:05.674" v="80"/>
          <ac:spMkLst>
            <pc:docMk/>
            <pc:sldMk cId="3183275050" sldId="275"/>
            <ac:spMk id="2" creationId="{F14BEEAB-BC29-D16A-B6A1-F955986D3497}"/>
          </ac:spMkLst>
        </pc:spChg>
        <pc:spChg chg="add mod">
          <ac:chgData name="Guest User" userId="S::urn:spo:anon#dd66ad18daec5bc48d2126913b363fb685aec80f6d67c87642ff602a7b3d2fc1::" providerId="AD" clId="Web-{FEBD5EAF-EED7-2778-EB16-3D1E21A92340}" dt="2025-04-05T04:14:44.237" v="89" actId="1076"/>
          <ac:spMkLst>
            <pc:docMk/>
            <pc:sldMk cId="3183275050" sldId="275"/>
            <ac:spMk id="8" creationId="{286B0DB9-18CE-C023-E725-1C1A17B82C7E}"/>
          </ac:spMkLst>
        </pc:spChg>
        <pc:spChg chg="del mod">
          <ac:chgData name="Guest User" userId="S::urn:spo:anon#dd66ad18daec5bc48d2126913b363fb685aec80f6d67c87642ff602a7b3d2fc1::" providerId="AD" clId="Web-{FEBD5EAF-EED7-2778-EB16-3D1E21A92340}" dt="2025-04-05T04:13:12.907" v="67"/>
          <ac:spMkLst>
            <pc:docMk/>
            <pc:sldMk cId="3183275050" sldId="275"/>
            <ac:spMk id="10" creationId="{EE4F13C6-D64B-FA2A-9221-4ED8C1E0C8F1}"/>
          </ac:spMkLst>
        </pc:spChg>
        <pc:picChg chg="mod">
          <ac:chgData name="Guest User" userId="S::urn:spo:anon#dd66ad18daec5bc48d2126913b363fb685aec80f6d67c87642ff602a7b3d2fc1::" providerId="AD" clId="Web-{FEBD5EAF-EED7-2778-EB16-3D1E21A92340}" dt="2025-04-05T04:14:54.268" v="92" actId="14100"/>
          <ac:picMkLst>
            <pc:docMk/>
            <pc:sldMk cId="3183275050" sldId="275"/>
            <ac:picMk id="9" creationId="{C1EA88A5-1B86-8A23-DCDD-999EB1741DA0}"/>
          </ac:picMkLst>
        </pc:picChg>
        <pc:picChg chg="add mod">
          <ac:chgData name="Guest User" userId="S::urn:spo:anon#dd66ad18daec5bc48d2126913b363fb685aec80f6d67c87642ff602a7b3d2fc1::" providerId="AD" clId="Web-{FEBD5EAF-EED7-2778-EB16-3D1E21A92340}" dt="2025-04-05T04:16:44.989" v="106" actId="14100"/>
          <ac:picMkLst>
            <pc:docMk/>
            <pc:sldMk cId="3183275050" sldId="275"/>
            <ac:picMk id="11" creationId="{45AA8476-99A0-E040-0168-0CF7F7153759}"/>
          </ac:picMkLst>
        </pc:picChg>
      </pc:sldChg>
      <pc:sldChg chg="add replId">
        <pc:chgData name="Guest User" userId="S::urn:spo:anon#dd66ad18daec5bc48d2126913b363fb685aec80f6d67c87642ff602a7b3d2fc1::" providerId="AD" clId="Web-{FEBD5EAF-EED7-2778-EB16-3D1E21A92340}" dt="2025-04-07T04:41:41.095" v="107"/>
        <pc:sldMkLst>
          <pc:docMk/>
          <pc:sldMk cId="3591415238" sldId="276"/>
        </pc:sldMkLst>
      </pc:sldChg>
      <pc:sldChg chg="modSp add replId">
        <pc:chgData name="Guest User" userId="S::urn:spo:anon#dd66ad18daec5bc48d2126913b363fb685aec80f6d67c87642ff602a7b3d2fc1::" providerId="AD" clId="Web-{FEBD5EAF-EED7-2778-EB16-3D1E21A92340}" dt="2025-04-07T04:58:32.877" v="326" actId="20577"/>
        <pc:sldMkLst>
          <pc:docMk/>
          <pc:sldMk cId="107757281" sldId="277"/>
        </pc:sldMkLst>
        <pc:spChg chg="mod">
          <ac:chgData name="Guest User" userId="S::urn:spo:anon#dd66ad18daec5bc48d2126913b363fb685aec80f6d67c87642ff602a7b3d2fc1::" providerId="AD" clId="Web-{FEBD5EAF-EED7-2778-EB16-3D1E21A92340}" dt="2025-04-07T04:58:32.877" v="326" actId="20577"/>
          <ac:spMkLst>
            <pc:docMk/>
            <pc:sldMk cId="107757281" sldId="277"/>
            <ac:spMk id="17" creationId="{58151801-4698-D067-4810-D0DA20351591}"/>
          </ac:spMkLst>
        </pc:spChg>
      </pc:sldChg>
    </pc:docChg>
  </pc:docChgLst>
  <pc:docChgLst>
    <pc:chgData name="Mohd Kaisar" userId="9c081128-0687-4cc5-906f-c826450d4c39" providerId="ADAL" clId="{661DAB9E-7EDC-4439-B82F-39076D884713}"/>
    <pc:docChg chg="custSel modSld">
      <pc:chgData name="Mohd Kaisar" userId="9c081128-0687-4cc5-906f-c826450d4c39" providerId="ADAL" clId="{661DAB9E-7EDC-4439-B82F-39076D884713}" dt="2025-03-13T06:23:04.927" v="1"/>
      <pc:docMkLst>
        <pc:docMk/>
      </pc:docMkLst>
      <pc:sldChg chg="addSp delSp modSp mod">
        <pc:chgData name="Mohd Kaisar" userId="9c081128-0687-4cc5-906f-c826450d4c39" providerId="ADAL" clId="{661DAB9E-7EDC-4439-B82F-39076D884713}" dt="2025-03-13T06:23:04.927" v="1"/>
        <pc:sldMkLst>
          <pc:docMk/>
          <pc:sldMk cId="2310333463" sldId="256"/>
        </pc:sldMkLst>
        <pc:spChg chg="mod">
          <ac:chgData name="Mohd Kaisar" userId="9c081128-0687-4cc5-906f-c826450d4c39" providerId="ADAL" clId="{661DAB9E-7EDC-4439-B82F-39076D884713}" dt="2025-03-13T06:23:04.927" v="1"/>
          <ac:spMkLst>
            <pc:docMk/>
            <pc:sldMk cId="2310333463" sldId="256"/>
            <ac:spMk id="3" creationId="{67148D41-4474-2980-A2E9-A3EB362B7B0B}"/>
          </ac:spMkLst>
        </pc:spChg>
        <pc:grpChg chg="add mod">
          <ac:chgData name="Mohd Kaisar" userId="9c081128-0687-4cc5-906f-c826450d4c39" providerId="ADAL" clId="{661DAB9E-7EDC-4439-B82F-39076D884713}" dt="2025-03-13T06:23:04.927" v="1"/>
          <ac:grpSpMkLst>
            <pc:docMk/>
            <pc:sldMk cId="2310333463" sldId="256"/>
            <ac:grpSpMk id="2" creationId="{D8816122-40F4-6F27-976B-023F5399B456}"/>
          </ac:grpSpMkLst>
        </pc:grpChg>
        <pc:grpChg chg="mod">
          <ac:chgData name="Mohd Kaisar" userId="9c081128-0687-4cc5-906f-c826450d4c39" providerId="ADAL" clId="{661DAB9E-7EDC-4439-B82F-39076D884713}" dt="2025-03-13T06:23:04.927" v="1"/>
          <ac:grpSpMkLst>
            <pc:docMk/>
            <pc:sldMk cId="2310333463" sldId="256"/>
            <ac:grpSpMk id="7" creationId="{DA5641ED-F16D-B18E-9F15-08352E828167}"/>
          </ac:grpSpMkLst>
        </pc:grpChg>
        <pc:grpChg chg="del">
          <ac:chgData name="Mohd Kaisar" userId="9c081128-0687-4cc5-906f-c826450d4c39" providerId="ADAL" clId="{661DAB9E-7EDC-4439-B82F-39076D884713}" dt="2025-03-13T06:23:03.910" v="0" actId="478"/>
          <ac:grpSpMkLst>
            <pc:docMk/>
            <pc:sldMk cId="2310333463" sldId="256"/>
            <ac:grpSpMk id="14" creationId="{2586578D-A0F3-6E9C-2CD9-4F29F24583FD}"/>
          </ac:grpSpMkLst>
        </pc:grpChg>
        <pc:picChg chg="mod">
          <ac:chgData name="Mohd Kaisar" userId="9c081128-0687-4cc5-906f-c826450d4c39" providerId="ADAL" clId="{661DAB9E-7EDC-4439-B82F-39076D884713}" dt="2025-03-13T06:23:04.927" v="1"/>
          <ac:picMkLst>
            <pc:docMk/>
            <pc:sldMk cId="2310333463" sldId="256"/>
            <ac:picMk id="8" creationId="{D89AA077-B0C5-F856-E573-8C5C63EBA585}"/>
          </ac:picMkLst>
        </pc:picChg>
        <pc:picChg chg="mod">
          <ac:chgData name="Mohd Kaisar" userId="9c081128-0687-4cc5-906f-c826450d4c39" providerId="ADAL" clId="{661DAB9E-7EDC-4439-B82F-39076D884713}" dt="2025-03-13T06:23:04.927" v="1"/>
          <ac:picMkLst>
            <pc:docMk/>
            <pc:sldMk cId="2310333463" sldId="256"/>
            <ac:picMk id="10" creationId="{5300EA36-98F9-5D85-38F5-5C84998C0D6B}"/>
          </ac:picMkLst>
        </pc:picChg>
        <pc:picChg chg="mod">
          <ac:chgData name="Mohd Kaisar" userId="9c081128-0687-4cc5-906f-c826450d4c39" providerId="ADAL" clId="{661DAB9E-7EDC-4439-B82F-39076D884713}" dt="2025-03-13T06:23:04.927" v="1"/>
          <ac:picMkLst>
            <pc:docMk/>
            <pc:sldMk cId="2310333463" sldId="256"/>
            <ac:picMk id="15" creationId="{269A14BB-A222-1AD7-25A2-28A54781CC24}"/>
          </ac:picMkLst>
        </pc:picChg>
      </pc:sldChg>
    </pc:docChg>
  </pc:docChgLst>
  <pc:docChgLst>
    <pc:chgData name="Mehjabeen Makanadar" userId="S::mehjabeen@edunetfoundation.org::94d08462-8622-4c5e-aaff-ba208add7dc5" providerId="AD" clId="Web-{FAE1EC35-0B9B-483C-C9B5-54763E1AB13C}"/>
    <pc:docChg chg="addSld delSld modSld sldOrd">
      <pc:chgData name="Mehjabeen Makanadar" userId="S::mehjabeen@edunetfoundation.org::94d08462-8622-4c5e-aaff-ba208add7dc5" providerId="AD" clId="Web-{FAE1EC35-0B9B-483C-C9B5-54763E1AB13C}" dt="2025-04-07T05:08:01.837" v="76" actId="20577"/>
      <pc:docMkLst>
        <pc:docMk/>
      </pc:docMkLst>
      <pc:sldChg chg="modSp">
        <pc:chgData name="Mehjabeen Makanadar" userId="S::mehjabeen@edunetfoundation.org::94d08462-8622-4c5e-aaff-ba208add7dc5" providerId="AD" clId="Web-{FAE1EC35-0B9B-483C-C9B5-54763E1AB13C}" dt="2025-04-07T05:03:20.114" v="49" actId="20577"/>
        <pc:sldMkLst>
          <pc:docMk/>
          <pc:sldMk cId="1476851649" sldId="264"/>
        </pc:sldMkLst>
        <pc:spChg chg="mod">
          <ac:chgData name="Mehjabeen Makanadar" userId="S::mehjabeen@edunetfoundation.org::94d08462-8622-4c5e-aaff-ba208add7dc5" providerId="AD" clId="Web-{FAE1EC35-0B9B-483C-C9B5-54763E1AB13C}" dt="2025-04-07T05:03:20.114" v="49" actId="20577"/>
          <ac:spMkLst>
            <pc:docMk/>
            <pc:sldMk cId="1476851649" sldId="264"/>
            <ac:spMk id="17" creationId="{F67DEA04-9A38-2BC5-6A24-6F2AA4D4C1F4}"/>
          </ac:spMkLst>
        </pc:spChg>
      </pc:sldChg>
      <pc:sldChg chg="modSp">
        <pc:chgData name="Mehjabeen Makanadar" userId="S::mehjabeen@edunetfoundation.org::94d08462-8622-4c5e-aaff-ba208add7dc5" providerId="AD" clId="Web-{FAE1EC35-0B9B-483C-C9B5-54763E1AB13C}" dt="2025-04-07T05:08:01.837" v="76" actId="20577"/>
        <pc:sldMkLst>
          <pc:docMk/>
          <pc:sldMk cId="107757281" sldId="277"/>
        </pc:sldMkLst>
        <pc:spChg chg="mod">
          <ac:chgData name="Mehjabeen Makanadar" userId="S::mehjabeen@edunetfoundation.org::94d08462-8622-4c5e-aaff-ba208add7dc5" providerId="AD" clId="Web-{FAE1EC35-0B9B-483C-C9B5-54763E1AB13C}" dt="2025-04-07T05:08:01.837" v="76" actId="20577"/>
          <ac:spMkLst>
            <pc:docMk/>
            <pc:sldMk cId="107757281" sldId="277"/>
            <ac:spMk id="17" creationId="{58151801-4698-D067-4810-D0DA20351591}"/>
          </ac:spMkLst>
        </pc:spChg>
      </pc:sldChg>
      <pc:sldChg chg="modSp add ord replId">
        <pc:chgData name="Mehjabeen Makanadar" userId="S::mehjabeen@edunetfoundation.org::94d08462-8622-4c5e-aaff-ba208add7dc5" providerId="AD" clId="Web-{FAE1EC35-0B9B-483C-C9B5-54763E1AB13C}" dt="2025-04-07T05:07:56.587" v="74" actId="20577"/>
        <pc:sldMkLst>
          <pc:docMk/>
          <pc:sldMk cId="3630194238" sldId="278"/>
        </pc:sldMkLst>
        <pc:spChg chg="mod">
          <ac:chgData name="Mehjabeen Makanadar" userId="S::mehjabeen@edunetfoundation.org::94d08462-8622-4c5e-aaff-ba208add7dc5" providerId="AD" clId="Web-{FAE1EC35-0B9B-483C-C9B5-54763E1AB13C}" dt="2025-04-07T05:03:57.833" v="51" actId="20577"/>
          <ac:spMkLst>
            <pc:docMk/>
            <pc:sldMk cId="3630194238" sldId="278"/>
            <ac:spMk id="14" creationId="{C5DF74C0-AF56-D520-E74E-5D2F81E54D79}"/>
          </ac:spMkLst>
        </pc:spChg>
        <pc:spChg chg="mod">
          <ac:chgData name="Mehjabeen Makanadar" userId="S::mehjabeen@edunetfoundation.org::94d08462-8622-4c5e-aaff-ba208add7dc5" providerId="AD" clId="Web-{FAE1EC35-0B9B-483C-C9B5-54763E1AB13C}" dt="2025-04-07T05:07:56.587" v="74" actId="20577"/>
          <ac:spMkLst>
            <pc:docMk/>
            <pc:sldMk cId="3630194238" sldId="278"/>
            <ac:spMk id="17" creationId="{B0CB3CC7-4D47-5B6B-981D-006C6F1F97A0}"/>
          </ac:spMkLst>
        </pc:spChg>
      </pc:sldChg>
      <pc:sldChg chg="modSp add del replId">
        <pc:chgData name="Mehjabeen Makanadar" userId="S::mehjabeen@edunetfoundation.org::94d08462-8622-4c5e-aaff-ba208add7dc5" providerId="AD" clId="Web-{FAE1EC35-0B9B-483C-C9B5-54763E1AB13C}" dt="2025-04-07T05:07:35.227" v="71"/>
        <pc:sldMkLst>
          <pc:docMk/>
          <pc:sldMk cId="200377104" sldId="279"/>
        </pc:sldMkLst>
        <pc:spChg chg="mod">
          <ac:chgData name="Mehjabeen Makanadar" userId="S::mehjabeen@edunetfoundation.org::94d08462-8622-4c5e-aaff-ba208add7dc5" providerId="AD" clId="Web-{FAE1EC35-0B9B-483C-C9B5-54763E1AB13C}" dt="2025-04-07T05:07:10.539" v="70" actId="20577"/>
          <ac:spMkLst>
            <pc:docMk/>
            <pc:sldMk cId="200377104" sldId="279"/>
            <ac:spMk id="14" creationId="{FB2DAAF2-79CA-D503-5040-CF799A08EBB2}"/>
          </ac:spMkLst>
        </pc:spChg>
        <pc:spChg chg="mod">
          <ac:chgData name="Mehjabeen Makanadar" userId="S::mehjabeen@edunetfoundation.org::94d08462-8622-4c5e-aaff-ba208add7dc5" providerId="AD" clId="Web-{FAE1EC35-0B9B-483C-C9B5-54763E1AB13C}" dt="2025-04-07T05:06:05.163" v="68" actId="20577"/>
          <ac:spMkLst>
            <pc:docMk/>
            <pc:sldMk cId="200377104" sldId="279"/>
            <ac:spMk id="17" creationId="{BBEB89A1-3436-D9A6-17B7-AD4342EE96FE}"/>
          </ac:spMkLst>
        </pc:spChg>
      </pc:sldChg>
    </pc:docChg>
  </pc:docChgLst>
  <pc:docChgLst>
    <pc:chgData name="Mohd Kaisar" userId="9c081128-0687-4cc5-906f-c826450d4c39" providerId="ADAL" clId="{4D544DEF-74DA-449D-8572-DD40F2B542FA}"/>
    <pc:docChg chg="undo custSel modSld">
      <pc:chgData name="Mohd Kaisar" userId="9c081128-0687-4cc5-906f-c826450d4c39" providerId="ADAL" clId="{4D544DEF-74DA-449D-8572-DD40F2B542FA}" dt="2024-07-01T08:29:18.513" v="7" actId="1076"/>
      <pc:docMkLst>
        <pc:docMk/>
      </pc:docMkLst>
      <pc:sldChg chg="modSp mod">
        <pc:chgData name="Mohd Kaisar" userId="9c081128-0687-4cc5-906f-c826450d4c39" providerId="ADAL" clId="{4D544DEF-74DA-449D-8572-DD40F2B542FA}" dt="2024-07-01T08:29:18.513" v="7" actId="1076"/>
        <pc:sldMkLst>
          <pc:docMk/>
          <pc:sldMk cId="2310333463" sldId="256"/>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9B665B-2C42-40BF-8BD4-A4BCAF0B5794}" type="doc">
      <dgm:prSet loTypeId="urn:microsoft.com/office/officeart/2005/8/layout/default" loCatId="list" qsTypeId="urn:microsoft.com/office/officeart/2005/8/quickstyle/3d2" qsCatId="3D" csTypeId="urn:microsoft.com/office/officeart/2005/8/colors/colorful4" csCatId="colorful" phldr="1"/>
      <dgm:spPr/>
      <dgm:t>
        <a:bodyPr/>
        <a:lstStyle/>
        <a:p>
          <a:endParaRPr lang="en-US"/>
        </a:p>
      </dgm:t>
    </dgm:pt>
    <dgm:pt modelId="{6AE4C979-918C-4DB1-9067-47C0B98326E9}">
      <dgm:prSet phldrT="[Text]"/>
      <dgm:spPr>
        <a:xfrm>
          <a:off x="0" y="66291"/>
          <a:ext cx="3285417" cy="1971250"/>
        </a:xfrm>
        <a:prstGeom prst="rect">
          <a:avLst/>
        </a:prstGeom>
        <a:gradFill rotWithShape="0">
          <a:gsLst>
            <a:gs pos="0">
              <a:srgbClr val="8064A2">
                <a:hueOff val="0"/>
                <a:satOff val="0"/>
                <a:lumOff val="0"/>
                <a:alphaOff val="0"/>
                <a:shade val="51000"/>
                <a:satMod val="130000"/>
              </a:srgbClr>
            </a:gs>
            <a:gs pos="80000">
              <a:srgbClr val="8064A2">
                <a:hueOff val="0"/>
                <a:satOff val="0"/>
                <a:lumOff val="0"/>
                <a:alphaOff val="0"/>
                <a:shade val="93000"/>
                <a:satMod val="130000"/>
              </a:srgbClr>
            </a:gs>
            <a:gs pos="100000">
              <a:srgbClr val="8064A2">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gm:spPr>
      <dgm:t>
        <a:bodyPr/>
        <a:lstStyle/>
        <a:p>
          <a:r>
            <a:rPr lang="en-US" b="0" i="0" dirty="0" smtClean="0">
              <a:solidFill>
                <a:sysClr val="window" lastClr="FFFFFF"/>
              </a:solidFill>
              <a:latin typeface="Calibri"/>
              <a:ea typeface="+mn-ea"/>
              <a:cs typeface="+mn-cs"/>
            </a:rPr>
            <a:t>Poor: "Make something about technology."</a:t>
          </a:r>
          <a:endParaRPr lang="en-US" dirty="0">
            <a:solidFill>
              <a:sysClr val="window" lastClr="FFFFFF"/>
            </a:solidFill>
            <a:latin typeface="Calibri"/>
            <a:ea typeface="+mn-ea"/>
            <a:cs typeface="+mn-cs"/>
          </a:endParaRPr>
        </a:p>
      </dgm:t>
    </dgm:pt>
    <dgm:pt modelId="{8A02D50C-081D-4136-8885-0BF592221644}" type="parTrans" cxnId="{C1F7A13A-0DC9-48B9-9494-2F32BCB6CD7C}">
      <dgm:prSet/>
      <dgm:spPr/>
      <dgm:t>
        <a:bodyPr/>
        <a:lstStyle/>
        <a:p>
          <a:endParaRPr lang="en-US"/>
        </a:p>
      </dgm:t>
    </dgm:pt>
    <dgm:pt modelId="{BCEA22EE-36B7-4372-AB42-706919875901}" type="sibTrans" cxnId="{C1F7A13A-0DC9-48B9-9494-2F32BCB6CD7C}">
      <dgm:prSet/>
      <dgm:spPr/>
      <dgm:t>
        <a:bodyPr/>
        <a:lstStyle/>
        <a:p>
          <a:endParaRPr lang="en-US"/>
        </a:p>
      </dgm:t>
    </dgm:pt>
    <dgm:pt modelId="{43146E19-84FB-4463-B44C-BFF908A90C9C}">
      <dgm:prSet phldrT="[Text]"/>
      <dgm:spPr>
        <a:xfrm>
          <a:off x="0" y="2366083"/>
          <a:ext cx="3285417" cy="1971250"/>
        </a:xfrm>
        <a:prstGeom prst="rect">
          <a:avLst/>
        </a:prstGeom>
        <a:gradFill rotWithShape="0">
          <a:gsLst>
            <a:gs pos="0">
              <a:srgbClr val="8064A2">
                <a:hueOff val="-4464770"/>
                <a:satOff val="26899"/>
                <a:lumOff val="2156"/>
                <a:alphaOff val="0"/>
                <a:shade val="51000"/>
                <a:satMod val="130000"/>
              </a:srgbClr>
            </a:gs>
            <a:gs pos="80000">
              <a:srgbClr val="8064A2">
                <a:hueOff val="-4464770"/>
                <a:satOff val="26899"/>
                <a:lumOff val="2156"/>
                <a:alphaOff val="0"/>
                <a:shade val="93000"/>
                <a:satMod val="130000"/>
              </a:srgbClr>
            </a:gs>
            <a:gs pos="100000">
              <a:srgbClr val="8064A2">
                <a:hueOff val="-4464770"/>
                <a:satOff val="26899"/>
                <a:lumOff val="2156"/>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gm:spPr>
      <dgm:t>
        <a:bodyPr/>
        <a:lstStyle/>
        <a:p>
          <a:r>
            <a:rPr lang="en-US" b="0" i="0" dirty="0" smtClean="0">
              <a:solidFill>
                <a:sysClr val="window" lastClr="FFFFFF"/>
              </a:solidFill>
              <a:latin typeface="Calibri"/>
              <a:ea typeface="+mn-ea"/>
              <a:cs typeface="+mn-cs"/>
            </a:rPr>
            <a:t>Good: "Write a 250-word introduction explaining how smartphones have changed communication, suitable for a college presentation."</a:t>
          </a:r>
          <a:endParaRPr lang="en-US" dirty="0">
            <a:solidFill>
              <a:sysClr val="window" lastClr="FFFFFF"/>
            </a:solidFill>
            <a:latin typeface="Calibri"/>
            <a:ea typeface="+mn-ea"/>
            <a:cs typeface="+mn-cs"/>
          </a:endParaRPr>
        </a:p>
      </dgm:t>
    </dgm:pt>
    <dgm:pt modelId="{97B15968-1503-42F6-84F9-8DADF21E86C2}" type="parTrans" cxnId="{0C4F4990-8098-48AB-911B-FBFACF0992F2}">
      <dgm:prSet/>
      <dgm:spPr/>
      <dgm:t>
        <a:bodyPr/>
        <a:lstStyle/>
        <a:p>
          <a:endParaRPr lang="en-US"/>
        </a:p>
      </dgm:t>
    </dgm:pt>
    <dgm:pt modelId="{251696EA-50D0-4B81-BEBE-DCD44DBDDCC0}" type="sibTrans" cxnId="{0C4F4990-8098-48AB-911B-FBFACF0992F2}">
      <dgm:prSet/>
      <dgm:spPr/>
      <dgm:t>
        <a:bodyPr/>
        <a:lstStyle/>
        <a:p>
          <a:endParaRPr lang="en-US"/>
        </a:p>
      </dgm:t>
    </dgm:pt>
    <dgm:pt modelId="{04C1DF92-9358-4FE8-B867-5A6C01C0570B}" type="pres">
      <dgm:prSet presAssocID="{3D9B665B-2C42-40BF-8BD4-A4BCAF0B5794}" presName="diagram" presStyleCnt="0">
        <dgm:presLayoutVars>
          <dgm:dir/>
          <dgm:resizeHandles val="exact"/>
        </dgm:presLayoutVars>
      </dgm:prSet>
      <dgm:spPr/>
      <dgm:t>
        <a:bodyPr/>
        <a:lstStyle/>
        <a:p>
          <a:endParaRPr lang="en-US"/>
        </a:p>
      </dgm:t>
    </dgm:pt>
    <dgm:pt modelId="{9E1672FD-93EF-44CA-A3B0-6937953B1321}" type="pres">
      <dgm:prSet presAssocID="{6AE4C979-918C-4DB1-9067-47C0B98326E9}" presName="node" presStyleLbl="node1" presStyleIdx="0" presStyleCnt="2">
        <dgm:presLayoutVars>
          <dgm:bulletEnabled val="1"/>
        </dgm:presLayoutVars>
      </dgm:prSet>
      <dgm:spPr/>
      <dgm:t>
        <a:bodyPr/>
        <a:lstStyle/>
        <a:p>
          <a:endParaRPr lang="en-US"/>
        </a:p>
      </dgm:t>
    </dgm:pt>
    <dgm:pt modelId="{7A684FC5-60DD-46FC-A75F-B3594CAD3125}" type="pres">
      <dgm:prSet presAssocID="{BCEA22EE-36B7-4372-AB42-706919875901}" presName="sibTrans" presStyleCnt="0"/>
      <dgm:spPr/>
    </dgm:pt>
    <dgm:pt modelId="{206E6B66-66EE-4442-938A-EFCDBAB8FA32}" type="pres">
      <dgm:prSet presAssocID="{43146E19-84FB-4463-B44C-BFF908A90C9C}" presName="node" presStyleLbl="node1" presStyleIdx="1" presStyleCnt="2">
        <dgm:presLayoutVars>
          <dgm:bulletEnabled val="1"/>
        </dgm:presLayoutVars>
      </dgm:prSet>
      <dgm:spPr/>
      <dgm:t>
        <a:bodyPr/>
        <a:lstStyle/>
        <a:p>
          <a:endParaRPr lang="en-US"/>
        </a:p>
      </dgm:t>
    </dgm:pt>
  </dgm:ptLst>
  <dgm:cxnLst>
    <dgm:cxn modelId="{6CB30F47-7B57-43E5-8E0C-48BC24D78E30}" type="presOf" srcId="{3D9B665B-2C42-40BF-8BD4-A4BCAF0B5794}" destId="{04C1DF92-9358-4FE8-B867-5A6C01C0570B}" srcOrd="0" destOrd="0" presId="urn:microsoft.com/office/officeart/2005/8/layout/default"/>
    <dgm:cxn modelId="{C1F7A13A-0DC9-48B9-9494-2F32BCB6CD7C}" srcId="{3D9B665B-2C42-40BF-8BD4-A4BCAF0B5794}" destId="{6AE4C979-918C-4DB1-9067-47C0B98326E9}" srcOrd="0" destOrd="0" parTransId="{8A02D50C-081D-4136-8885-0BF592221644}" sibTransId="{BCEA22EE-36B7-4372-AB42-706919875901}"/>
    <dgm:cxn modelId="{0C4F4990-8098-48AB-911B-FBFACF0992F2}" srcId="{3D9B665B-2C42-40BF-8BD4-A4BCAF0B5794}" destId="{43146E19-84FB-4463-B44C-BFF908A90C9C}" srcOrd="1" destOrd="0" parTransId="{97B15968-1503-42F6-84F9-8DADF21E86C2}" sibTransId="{251696EA-50D0-4B81-BEBE-DCD44DBDDCC0}"/>
    <dgm:cxn modelId="{6925F1AA-A8A2-4047-9733-514F9CCE1104}" type="presOf" srcId="{43146E19-84FB-4463-B44C-BFF908A90C9C}" destId="{206E6B66-66EE-4442-938A-EFCDBAB8FA32}" srcOrd="0" destOrd="0" presId="urn:microsoft.com/office/officeart/2005/8/layout/default"/>
    <dgm:cxn modelId="{A2B5F205-4BE0-45B0-8C82-3CFD1B5EF45E}" type="presOf" srcId="{6AE4C979-918C-4DB1-9067-47C0B98326E9}" destId="{9E1672FD-93EF-44CA-A3B0-6937953B1321}" srcOrd="0" destOrd="0" presId="urn:microsoft.com/office/officeart/2005/8/layout/default"/>
    <dgm:cxn modelId="{6C5F0789-FEE6-4985-8BD9-BDBC277F9EC2}" type="presParOf" srcId="{04C1DF92-9358-4FE8-B867-5A6C01C0570B}" destId="{9E1672FD-93EF-44CA-A3B0-6937953B1321}" srcOrd="0" destOrd="0" presId="urn:microsoft.com/office/officeart/2005/8/layout/default"/>
    <dgm:cxn modelId="{9C66DDDD-6CCE-430A-B8B3-6B00866D5A99}" type="presParOf" srcId="{04C1DF92-9358-4FE8-B867-5A6C01C0570B}" destId="{7A684FC5-60DD-46FC-A75F-B3594CAD3125}" srcOrd="1" destOrd="0" presId="urn:microsoft.com/office/officeart/2005/8/layout/default"/>
    <dgm:cxn modelId="{AA637318-DAB3-46E3-A5D9-A1B063D363F5}" type="presParOf" srcId="{04C1DF92-9358-4FE8-B867-5A6C01C0570B}" destId="{206E6B66-66EE-4442-938A-EFCDBAB8FA32}" srcOrd="2"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9B665B-2C42-40BF-8BD4-A4BCAF0B5794}" type="doc">
      <dgm:prSet loTypeId="urn:microsoft.com/office/officeart/2005/8/layout/default" loCatId="list" qsTypeId="urn:microsoft.com/office/officeart/2005/8/quickstyle/3d2" qsCatId="3D" csTypeId="urn:microsoft.com/office/officeart/2005/8/colors/colorful2" csCatId="colorful" phldr="1"/>
      <dgm:spPr/>
      <dgm:t>
        <a:bodyPr/>
        <a:lstStyle/>
        <a:p>
          <a:endParaRPr lang="en-US"/>
        </a:p>
      </dgm:t>
    </dgm:pt>
    <dgm:pt modelId="{6AE4C979-918C-4DB1-9067-47C0B98326E9}">
      <dgm:prSet phldrT="[Text]" custT="1"/>
      <dgm:spPr>
        <a:xfrm>
          <a:off x="0" y="66291"/>
          <a:ext cx="3285417" cy="1971250"/>
        </a:xfrm>
        <a:prstGeom prst="rect">
          <a:avLst/>
        </a:prstGeom>
        <a:gradFill rotWithShape="0">
          <a:gsLst>
            <a:gs pos="0">
              <a:srgbClr val="C0504D">
                <a:hueOff val="0"/>
                <a:satOff val="0"/>
                <a:lumOff val="0"/>
                <a:alphaOff val="0"/>
                <a:shade val="51000"/>
                <a:satMod val="130000"/>
              </a:srgbClr>
            </a:gs>
            <a:gs pos="80000">
              <a:srgbClr val="C0504D">
                <a:hueOff val="0"/>
                <a:satOff val="0"/>
                <a:lumOff val="0"/>
                <a:alphaOff val="0"/>
                <a:shade val="93000"/>
                <a:satMod val="130000"/>
              </a:srgbClr>
            </a:gs>
            <a:gs pos="100000">
              <a:srgbClr val="C0504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gm:spPr>
      <dgm:t>
        <a:bodyPr/>
        <a:lstStyle/>
        <a:p>
          <a:r>
            <a:rPr lang="en-IN" sz="1800" b="0" i="0" dirty="0" smtClean="0">
              <a:solidFill>
                <a:sysClr val="window" lastClr="FFFFFF"/>
              </a:solidFill>
              <a:latin typeface="Calibri"/>
              <a:ea typeface="+mn-ea"/>
              <a:cs typeface="+mn-cs"/>
            </a:rPr>
            <a:t>Poor: "Excel help."</a:t>
          </a:r>
          <a:endParaRPr lang="en-US" sz="1800" dirty="0">
            <a:solidFill>
              <a:sysClr val="window" lastClr="FFFFFF"/>
            </a:solidFill>
            <a:latin typeface="Calibri"/>
            <a:ea typeface="+mn-ea"/>
            <a:cs typeface="+mn-cs"/>
          </a:endParaRPr>
        </a:p>
      </dgm:t>
    </dgm:pt>
    <dgm:pt modelId="{8A02D50C-081D-4136-8885-0BF592221644}" type="parTrans" cxnId="{C1F7A13A-0DC9-48B9-9494-2F32BCB6CD7C}">
      <dgm:prSet/>
      <dgm:spPr/>
      <dgm:t>
        <a:bodyPr/>
        <a:lstStyle/>
        <a:p>
          <a:endParaRPr lang="en-US" sz="1800"/>
        </a:p>
      </dgm:t>
    </dgm:pt>
    <dgm:pt modelId="{BCEA22EE-36B7-4372-AB42-706919875901}" type="sibTrans" cxnId="{C1F7A13A-0DC9-48B9-9494-2F32BCB6CD7C}">
      <dgm:prSet/>
      <dgm:spPr/>
      <dgm:t>
        <a:bodyPr/>
        <a:lstStyle/>
        <a:p>
          <a:endParaRPr lang="en-US" sz="1800"/>
        </a:p>
      </dgm:t>
    </dgm:pt>
    <dgm:pt modelId="{43146E19-84FB-4463-B44C-BFF908A90C9C}">
      <dgm:prSet phldrT="[Text]" custT="1"/>
      <dgm:spPr>
        <a:xfrm>
          <a:off x="0" y="2366083"/>
          <a:ext cx="3285417" cy="1971250"/>
        </a:xfrm>
        <a:prstGeom prst="rect">
          <a:avLst/>
        </a:prstGeom>
        <a:gradFill rotWithShape="0">
          <a:gsLst>
            <a:gs pos="0">
              <a:srgbClr val="C0504D">
                <a:hueOff val="4681519"/>
                <a:satOff val="-5839"/>
                <a:lumOff val="1373"/>
                <a:alphaOff val="0"/>
                <a:shade val="51000"/>
                <a:satMod val="130000"/>
              </a:srgbClr>
            </a:gs>
            <a:gs pos="80000">
              <a:srgbClr val="C0504D">
                <a:hueOff val="4681519"/>
                <a:satOff val="-5839"/>
                <a:lumOff val="1373"/>
                <a:alphaOff val="0"/>
                <a:shade val="93000"/>
                <a:satMod val="130000"/>
              </a:srgbClr>
            </a:gs>
            <a:gs pos="100000">
              <a:srgbClr val="C0504D">
                <a:hueOff val="4681519"/>
                <a:satOff val="-5839"/>
                <a:lumOff val="1373"/>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gm:spPr>
      <dgm:t>
        <a:bodyPr/>
        <a:lstStyle/>
        <a:p>
          <a:r>
            <a:rPr lang="en-US" sz="1800" b="0" i="0" dirty="0" smtClean="0">
              <a:solidFill>
                <a:sysClr val="window" lastClr="FFFFFF"/>
              </a:solidFill>
              <a:latin typeface="Calibri"/>
              <a:ea typeface="+mn-ea"/>
              <a:cs typeface="+mn-cs"/>
            </a:rPr>
            <a:t>Good: "Explain how to use the SUMIF formula in Excel to calculate total sales only for the Electronics category."</a:t>
          </a:r>
          <a:endParaRPr lang="en-US" sz="1800" dirty="0">
            <a:solidFill>
              <a:sysClr val="window" lastClr="FFFFFF"/>
            </a:solidFill>
            <a:latin typeface="Calibri"/>
            <a:ea typeface="+mn-ea"/>
            <a:cs typeface="+mn-cs"/>
          </a:endParaRPr>
        </a:p>
      </dgm:t>
    </dgm:pt>
    <dgm:pt modelId="{97B15968-1503-42F6-84F9-8DADF21E86C2}" type="parTrans" cxnId="{0C4F4990-8098-48AB-911B-FBFACF0992F2}">
      <dgm:prSet/>
      <dgm:spPr/>
      <dgm:t>
        <a:bodyPr/>
        <a:lstStyle/>
        <a:p>
          <a:endParaRPr lang="en-US" sz="1800"/>
        </a:p>
      </dgm:t>
    </dgm:pt>
    <dgm:pt modelId="{251696EA-50D0-4B81-BEBE-DCD44DBDDCC0}" type="sibTrans" cxnId="{0C4F4990-8098-48AB-911B-FBFACF0992F2}">
      <dgm:prSet/>
      <dgm:spPr/>
      <dgm:t>
        <a:bodyPr/>
        <a:lstStyle/>
        <a:p>
          <a:endParaRPr lang="en-US" sz="1800"/>
        </a:p>
      </dgm:t>
    </dgm:pt>
    <dgm:pt modelId="{04C1DF92-9358-4FE8-B867-5A6C01C0570B}" type="pres">
      <dgm:prSet presAssocID="{3D9B665B-2C42-40BF-8BD4-A4BCAF0B5794}" presName="diagram" presStyleCnt="0">
        <dgm:presLayoutVars>
          <dgm:dir/>
          <dgm:resizeHandles val="exact"/>
        </dgm:presLayoutVars>
      </dgm:prSet>
      <dgm:spPr/>
      <dgm:t>
        <a:bodyPr/>
        <a:lstStyle/>
        <a:p>
          <a:endParaRPr lang="en-US"/>
        </a:p>
      </dgm:t>
    </dgm:pt>
    <dgm:pt modelId="{9E1672FD-93EF-44CA-A3B0-6937953B1321}" type="pres">
      <dgm:prSet presAssocID="{6AE4C979-918C-4DB1-9067-47C0B98326E9}" presName="node" presStyleLbl="node1" presStyleIdx="0" presStyleCnt="2">
        <dgm:presLayoutVars>
          <dgm:bulletEnabled val="1"/>
        </dgm:presLayoutVars>
      </dgm:prSet>
      <dgm:spPr/>
      <dgm:t>
        <a:bodyPr/>
        <a:lstStyle/>
        <a:p>
          <a:endParaRPr lang="en-US"/>
        </a:p>
      </dgm:t>
    </dgm:pt>
    <dgm:pt modelId="{7A684FC5-60DD-46FC-A75F-B3594CAD3125}" type="pres">
      <dgm:prSet presAssocID="{BCEA22EE-36B7-4372-AB42-706919875901}" presName="sibTrans" presStyleCnt="0"/>
      <dgm:spPr/>
    </dgm:pt>
    <dgm:pt modelId="{206E6B66-66EE-4442-938A-EFCDBAB8FA32}" type="pres">
      <dgm:prSet presAssocID="{43146E19-84FB-4463-B44C-BFF908A90C9C}" presName="node" presStyleLbl="node1" presStyleIdx="1" presStyleCnt="2">
        <dgm:presLayoutVars>
          <dgm:bulletEnabled val="1"/>
        </dgm:presLayoutVars>
      </dgm:prSet>
      <dgm:spPr/>
      <dgm:t>
        <a:bodyPr/>
        <a:lstStyle/>
        <a:p>
          <a:endParaRPr lang="en-US"/>
        </a:p>
      </dgm:t>
    </dgm:pt>
  </dgm:ptLst>
  <dgm:cxnLst>
    <dgm:cxn modelId="{6CB30F47-7B57-43E5-8E0C-48BC24D78E30}" type="presOf" srcId="{3D9B665B-2C42-40BF-8BD4-A4BCAF0B5794}" destId="{04C1DF92-9358-4FE8-B867-5A6C01C0570B}" srcOrd="0" destOrd="0" presId="urn:microsoft.com/office/officeart/2005/8/layout/default"/>
    <dgm:cxn modelId="{C1F7A13A-0DC9-48B9-9494-2F32BCB6CD7C}" srcId="{3D9B665B-2C42-40BF-8BD4-A4BCAF0B5794}" destId="{6AE4C979-918C-4DB1-9067-47C0B98326E9}" srcOrd="0" destOrd="0" parTransId="{8A02D50C-081D-4136-8885-0BF592221644}" sibTransId="{BCEA22EE-36B7-4372-AB42-706919875901}"/>
    <dgm:cxn modelId="{0C4F4990-8098-48AB-911B-FBFACF0992F2}" srcId="{3D9B665B-2C42-40BF-8BD4-A4BCAF0B5794}" destId="{43146E19-84FB-4463-B44C-BFF908A90C9C}" srcOrd="1" destOrd="0" parTransId="{97B15968-1503-42F6-84F9-8DADF21E86C2}" sibTransId="{251696EA-50D0-4B81-BEBE-DCD44DBDDCC0}"/>
    <dgm:cxn modelId="{6925F1AA-A8A2-4047-9733-514F9CCE1104}" type="presOf" srcId="{43146E19-84FB-4463-B44C-BFF908A90C9C}" destId="{206E6B66-66EE-4442-938A-EFCDBAB8FA32}" srcOrd="0" destOrd="0" presId="urn:microsoft.com/office/officeart/2005/8/layout/default"/>
    <dgm:cxn modelId="{A2B5F205-4BE0-45B0-8C82-3CFD1B5EF45E}" type="presOf" srcId="{6AE4C979-918C-4DB1-9067-47C0B98326E9}" destId="{9E1672FD-93EF-44CA-A3B0-6937953B1321}" srcOrd="0" destOrd="0" presId="urn:microsoft.com/office/officeart/2005/8/layout/default"/>
    <dgm:cxn modelId="{6C5F0789-FEE6-4985-8BD9-BDBC277F9EC2}" type="presParOf" srcId="{04C1DF92-9358-4FE8-B867-5A6C01C0570B}" destId="{9E1672FD-93EF-44CA-A3B0-6937953B1321}" srcOrd="0" destOrd="0" presId="urn:microsoft.com/office/officeart/2005/8/layout/default"/>
    <dgm:cxn modelId="{9C66DDDD-6CCE-430A-B8B3-6B00866D5A99}" type="presParOf" srcId="{04C1DF92-9358-4FE8-B867-5A6C01C0570B}" destId="{7A684FC5-60DD-46FC-A75F-B3594CAD3125}" srcOrd="1" destOrd="0" presId="urn:microsoft.com/office/officeart/2005/8/layout/default"/>
    <dgm:cxn modelId="{AA637318-DAB3-46E3-A5D9-A1B063D363F5}" type="presParOf" srcId="{04C1DF92-9358-4FE8-B867-5A6C01C0570B}" destId="{206E6B66-66EE-4442-938A-EFCDBAB8FA32}" srcOrd="2" destOrd="0" presId="urn:microsoft.com/office/officeart/2005/8/layout/defaul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9B665B-2C42-40BF-8BD4-A4BCAF0B5794}" type="doc">
      <dgm:prSet loTypeId="urn:microsoft.com/office/officeart/2005/8/layout/default" loCatId="list" qsTypeId="urn:microsoft.com/office/officeart/2005/8/quickstyle/3d2" qsCatId="3D" csTypeId="urn:microsoft.com/office/officeart/2005/8/colors/colorful5" csCatId="colorful" phldr="1"/>
      <dgm:spPr/>
      <dgm:t>
        <a:bodyPr/>
        <a:lstStyle/>
        <a:p>
          <a:endParaRPr lang="en-US"/>
        </a:p>
      </dgm:t>
    </dgm:pt>
    <dgm:pt modelId="{6AE4C979-918C-4DB1-9067-47C0B98326E9}">
      <dgm:prSet phldrT="[Text]" custT="1"/>
      <dgm:spPr>
        <a:xfrm>
          <a:off x="0" y="66291"/>
          <a:ext cx="3285417" cy="1971250"/>
        </a:xfrm>
        <a:prstGeom prst="rect">
          <a:avLst/>
        </a:prstGeom>
        <a:gradFill rotWithShape="0">
          <a:gsLst>
            <a:gs pos="0">
              <a:srgbClr val="4BACC6">
                <a:hueOff val="0"/>
                <a:satOff val="0"/>
                <a:lumOff val="0"/>
                <a:alphaOff val="0"/>
                <a:shade val="51000"/>
                <a:satMod val="130000"/>
              </a:srgbClr>
            </a:gs>
            <a:gs pos="80000">
              <a:srgbClr val="4BACC6">
                <a:hueOff val="0"/>
                <a:satOff val="0"/>
                <a:lumOff val="0"/>
                <a:alphaOff val="0"/>
                <a:shade val="93000"/>
                <a:satMod val="130000"/>
              </a:srgbClr>
            </a:gs>
            <a:gs pos="100000">
              <a:srgbClr val="4BACC6">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gm:spPr>
      <dgm:t>
        <a:bodyPr/>
        <a:lstStyle/>
        <a:p>
          <a:r>
            <a:rPr lang="en-IN" sz="1800" b="0" i="0" dirty="0" smtClean="0">
              <a:solidFill>
                <a:sysClr val="window" lastClr="FFFFFF"/>
              </a:solidFill>
              <a:latin typeface="Calibri"/>
              <a:ea typeface="+mn-ea"/>
              <a:cs typeface="+mn-cs"/>
            </a:rPr>
            <a:t>Poor: "Presentation ideas."</a:t>
          </a:r>
          <a:endParaRPr lang="en-US" sz="1800" dirty="0">
            <a:solidFill>
              <a:sysClr val="window" lastClr="FFFFFF"/>
            </a:solidFill>
            <a:latin typeface="Calibri"/>
            <a:ea typeface="+mn-ea"/>
            <a:cs typeface="+mn-cs"/>
          </a:endParaRPr>
        </a:p>
      </dgm:t>
    </dgm:pt>
    <dgm:pt modelId="{8A02D50C-081D-4136-8885-0BF592221644}" type="parTrans" cxnId="{C1F7A13A-0DC9-48B9-9494-2F32BCB6CD7C}">
      <dgm:prSet/>
      <dgm:spPr/>
      <dgm:t>
        <a:bodyPr/>
        <a:lstStyle/>
        <a:p>
          <a:endParaRPr lang="en-US" sz="1800"/>
        </a:p>
      </dgm:t>
    </dgm:pt>
    <dgm:pt modelId="{BCEA22EE-36B7-4372-AB42-706919875901}" type="sibTrans" cxnId="{C1F7A13A-0DC9-48B9-9494-2F32BCB6CD7C}">
      <dgm:prSet/>
      <dgm:spPr/>
      <dgm:t>
        <a:bodyPr/>
        <a:lstStyle/>
        <a:p>
          <a:endParaRPr lang="en-US" sz="1800"/>
        </a:p>
      </dgm:t>
    </dgm:pt>
    <dgm:pt modelId="{43146E19-84FB-4463-B44C-BFF908A90C9C}">
      <dgm:prSet phldrT="[Text]" custT="1"/>
      <dgm:spPr>
        <a:xfrm>
          <a:off x="0" y="2366083"/>
          <a:ext cx="3285417" cy="1971250"/>
        </a:xfrm>
        <a:prstGeom prst="rect">
          <a:avLst/>
        </a:prstGeom>
        <a:gradFill rotWithShape="0">
          <a:gsLst>
            <a:gs pos="0">
              <a:srgbClr val="4BACC6">
                <a:hueOff val="-9933876"/>
                <a:satOff val="39811"/>
                <a:lumOff val="8628"/>
                <a:alphaOff val="0"/>
                <a:shade val="51000"/>
                <a:satMod val="130000"/>
              </a:srgbClr>
            </a:gs>
            <a:gs pos="80000">
              <a:srgbClr val="4BACC6">
                <a:hueOff val="-9933876"/>
                <a:satOff val="39811"/>
                <a:lumOff val="8628"/>
                <a:alphaOff val="0"/>
                <a:shade val="93000"/>
                <a:satMod val="130000"/>
              </a:srgbClr>
            </a:gs>
            <a:gs pos="100000">
              <a:srgbClr val="4BACC6">
                <a:hueOff val="-9933876"/>
                <a:satOff val="39811"/>
                <a:lumOff val="8628"/>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gm:spPr>
      <dgm:t>
        <a:bodyPr/>
        <a:lstStyle/>
        <a:p>
          <a:r>
            <a:rPr lang="en-US" sz="1800" b="0" i="0" dirty="0" smtClean="0">
              <a:solidFill>
                <a:sysClr val="window" lastClr="FFFFFF"/>
              </a:solidFill>
              <a:latin typeface="Calibri"/>
              <a:ea typeface="+mn-ea"/>
              <a:cs typeface="+mn-cs"/>
            </a:rPr>
            <a:t>Good: "Create an outline for a 10-slide presentation about renewable energy sources for undergraduate engineering students."</a:t>
          </a:r>
          <a:endParaRPr lang="en-US" sz="1800" dirty="0">
            <a:solidFill>
              <a:sysClr val="window" lastClr="FFFFFF"/>
            </a:solidFill>
            <a:latin typeface="Calibri"/>
            <a:ea typeface="+mn-ea"/>
            <a:cs typeface="+mn-cs"/>
          </a:endParaRPr>
        </a:p>
      </dgm:t>
    </dgm:pt>
    <dgm:pt modelId="{97B15968-1503-42F6-84F9-8DADF21E86C2}" type="parTrans" cxnId="{0C4F4990-8098-48AB-911B-FBFACF0992F2}">
      <dgm:prSet/>
      <dgm:spPr/>
      <dgm:t>
        <a:bodyPr/>
        <a:lstStyle/>
        <a:p>
          <a:endParaRPr lang="en-US" sz="1800"/>
        </a:p>
      </dgm:t>
    </dgm:pt>
    <dgm:pt modelId="{251696EA-50D0-4B81-BEBE-DCD44DBDDCC0}" type="sibTrans" cxnId="{0C4F4990-8098-48AB-911B-FBFACF0992F2}">
      <dgm:prSet/>
      <dgm:spPr/>
      <dgm:t>
        <a:bodyPr/>
        <a:lstStyle/>
        <a:p>
          <a:endParaRPr lang="en-US" sz="1800"/>
        </a:p>
      </dgm:t>
    </dgm:pt>
    <dgm:pt modelId="{04C1DF92-9358-4FE8-B867-5A6C01C0570B}" type="pres">
      <dgm:prSet presAssocID="{3D9B665B-2C42-40BF-8BD4-A4BCAF0B5794}" presName="diagram" presStyleCnt="0">
        <dgm:presLayoutVars>
          <dgm:dir/>
          <dgm:resizeHandles val="exact"/>
        </dgm:presLayoutVars>
      </dgm:prSet>
      <dgm:spPr/>
      <dgm:t>
        <a:bodyPr/>
        <a:lstStyle/>
        <a:p>
          <a:endParaRPr lang="en-US"/>
        </a:p>
      </dgm:t>
    </dgm:pt>
    <dgm:pt modelId="{9E1672FD-93EF-44CA-A3B0-6937953B1321}" type="pres">
      <dgm:prSet presAssocID="{6AE4C979-918C-4DB1-9067-47C0B98326E9}" presName="node" presStyleLbl="node1" presStyleIdx="0" presStyleCnt="2">
        <dgm:presLayoutVars>
          <dgm:bulletEnabled val="1"/>
        </dgm:presLayoutVars>
      </dgm:prSet>
      <dgm:spPr/>
      <dgm:t>
        <a:bodyPr/>
        <a:lstStyle/>
        <a:p>
          <a:endParaRPr lang="en-US"/>
        </a:p>
      </dgm:t>
    </dgm:pt>
    <dgm:pt modelId="{7A684FC5-60DD-46FC-A75F-B3594CAD3125}" type="pres">
      <dgm:prSet presAssocID="{BCEA22EE-36B7-4372-AB42-706919875901}" presName="sibTrans" presStyleCnt="0"/>
      <dgm:spPr/>
    </dgm:pt>
    <dgm:pt modelId="{206E6B66-66EE-4442-938A-EFCDBAB8FA32}" type="pres">
      <dgm:prSet presAssocID="{43146E19-84FB-4463-B44C-BFF908A90C9C}" presName="node" presStyleLbl="node1" presStyleIdx="1" presStyleCnt="2">
        <dgm:presLayoutVars>
          <dgm:bulletEnabled val="1"/>
        </dgm:presLayoutVars>
      </dgm:prSet>
      <dgm:spPr/>
      <dgm:t>
        <a:bodyPr/>
        <a:lstStyle/>
        <a:p>
          <a:endParaRPr lang="en-US"/>
        </a:p>
      </dgm:t>
    </dgm:pt>
  </dgm:ptLst>
  <dgm:cxnLst>
    <dgm:cxn modelId="{6CB30F47-7B57-43E5-8E0C-48BC24D78E30}" type="presOf" srcId="{3D9B665B-2C42-40BF-8BD4-A4BCAF0B5794}" destId="{04C1DF92-9358-4FE8-B867-5A6C01C0570B}" srcOrd="0" destOrd="0" presId="urn:microsoft.com/office/officeart/2005/8/layout/default"/>
    <dgm:cxn modelId="{C1F7A13A-0DC9-48B9-9494-2F32BCB6CD7C}" srcId="{3D9B665B-2C42-40BF-8BD4-A4BCAF0B5794}" destId="{6AE4C979-918C-4DB1-9067-47C0B98326E9}" srcOrd="0" destOrd="0" parTransId="{8A02D50C-081D-4136-8885-0BF592221644}" sibTransId="{BCEA22EE-36B7-4372-AB42-706919875901}"/>
    <dgm:cxn modelId="{0C4F4990-8098-48AB-911B-FBFACF0992F2}" srcId="{3D9B665B-2C42-40BF-8BD4-A4BCAF0B5794}" destId="{43146E19-84FB-4463-B44C-BFF908A90C9C}" srcOrd="1" destOrd="0" parTransId="{97B15968-1503-42F6-84F9-8DADF21E86C2}" sibTransId="{251696EA-50D0-4B81-BEBE-DCD44DBDDCC0}"/>
    <dgm:cxn modelId="{6925F1AA-A8A2-4047-9733-514F9CCE1104}" type="presOf" srcId="{43146E19-84FB-4463-B44C-BFF908A90C9C}" destId="{206E6B66-66EE-4442-938A-EFCDBAB8FA32}" srcOrd="0" destOrd="0" presId="urn:microsoft.com/office/officeart/2005/8/layout/default"/>
    <dgm:cxn modelId="{A2B5F205-4BE0-45B0-8C82-3CFD1B5EF45E}" type="presOf" srcId="{6AE4C979-918C-4DB1-9067-47C0B98326E9}" destId="{9E1672FD-93EF-44CA-A3B0-6937953B1321}" srcOrd="0" destOrd="0" presId="urn:microsoft.com/office/officeart/2005/8/layout/default"/>
    <dgm:cxn modelId="{6C5F0789-FEE6-4985-8BD9-BDBC277F9EC2}" type="presParOf" srcId="{04C1DF92-9358-4FE8-B867-5A6C01C0570B}" destId="{9E1672FD-93EF-44CA-A3B0-6937953B1321}" srcOrd="0" destOrd="0" presId="urn:microsoft.com/office/officeart/2005/8/layout/default"/>
    <dgm:cxn modelId="{9C66DDDD-6CCE-430A-B8B3-6B00866D5A99}" type="presParOf" srcId="{04C1DF92-9358-4FE8-B867-5A6C01C0570B}" destId="{7A684FC5-60DD-46FC-A75F-B3594CAD3125}" srcOrd="1" destOrd="0" presId="urn:microsoft.com/office/officeart/2005/8/layout/default"/>
    <dgm:cxn modelId="{AA637318-DAB3-46E3-A5D9-A1B063D363F5}" type="presParOf" srcId="{04C1DF92-9358-4FE8-B867-5A6C01C0570B}" destId="{206E6B66-66EE-4442-938A-EFCDBAB8FA32}" srcOrd="2" destOrd="0" presId="urn:microsoft.com/office/officeart/2005/8/layout/default"/>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1672FD-93EF-44CA-A3B0-6937953B1321}">
      <dsp:nvSpPr>
        <dsp:cNvPr id="0" name=""/>
        <dsp:cNvSpPr/>
      </dsp:nvSpPr>
      <dsp:spPr>
        <a:xfrm>
          <a:off x="444570" y="2125"/>
          <a:ext cx="2812001" cy="1687200"/>
        </a:xfrm>
        <a:prstGeom prst="rect">
          <a:avLst/>
        </a:prstGeom>
        <a:gradFill rotWithShape="0">
          <a:gsLst>
            <a:gs pos="0">
              <a:srgbClr val="8064A2">
                <a:hueOff val="0"/>
                <a:satOff val="0"/>
                <a:lumOff val="0"/>
                <a:alphaOff val="0"/>
                <a:shade val="51000"/>
                <a:satMod val="130000"/>
              </a:srgbClr>
            </a:gs>
            <a:gs pos="80000">
              <a:srgbClr val="8064A2">
                <a:hueOff val="0"/>
                <a:satOff val="0"/>
                <a:lumOff val="0"/>
                <a:alphaOff val="0"/>
                <a:shade val="93000"/>
                <a:satMod val="130000"/>
              </a:srgbClr>
            </a:gs>
            <a:gs pos="100000">
              <a:srgbClr val="8064A2">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0" i="0" kern="1200" dirty="0" smtClean="0">
              <a:solidFill>
                <a:sysClr val="window" lastClr="FFFFFF"/>
              </a:solidFill>
              <a:latin typeface="Calibri"/>
              <a:ea typeface="+mn-ea"/>
              <a:cs typeface="+mn-cs"/>
            </a:rPr>
            <a:t>Poor: "Make something about technology."</a:t>
          </a:r>
          <a:endParaRPr lang="en-US" sz="1800" kern="1200" dirty="0">
            <a:solidFill>
              <a:sysClr val="window" lastClr="FFFFFF"/>
            </a:solidFill>
            <a:latin typeface="Calibri"/>
            <a:ea typeface="+mn-ea"/>
            <a:cs typeface="+mn-cs"/>
          </a:endParaRPr>
        </a:p>
      </dsp:txBody>
      <dsp:txXfrm>
        <a:off x="444570" y="2125"/>
        <a:ext cx="2812001" cy="1687200"/>
      </dsp:txXfrm>
    </dsp:sp>
    <dsp:sp modelId="{206E6B66-66EE-4442-938A-EFCDBAB8FA32}">
      <dsp:nvSpPr>
        <dsp:cNvPr id="0" name=""/>
        <dsp:cNvSpPr/>
      </dsp:nvSpPr>
      <dsp:spPr>
        <a:xfrm>
          <a:off x="444570" y="1970526"/>
          <a:ext cx="2812001" cy="1687200"/>
        </a:xfrm>
        <a:prstGeom prst="rect">
          <a:avLst/>
        </a:prstGeom>
        <a:gradFill rotWithShape="0">
          <a:gsLst>
            <a:gs pos="0">
              <a:srgbClr val="8064A2">
                <a:hueOff val="-4464770"/>
                <a:satOff val="26899"/>
                <a:lumOff val="2156"/>
                <a:alphaOff val="0"/>
                <a:shade val="51000"/>
                <a:satMod val="130000"/>
              </a:srgbClr>
            </a:gs>
            <a:gs pos="80000">
              <a:srgbClr val="8064A2">
                <a:hueOff val="-4464770"/>
                <a:satOff val="26899"/>
                <a:lumOff val="2156"/>
                <a:alphaOff val="0"/>
                <a:shade val="93000"/>
                <a:satMod val="130000"/>
              </a:srgbClr>
            </a:gs>
            <a:gs pos="100000">
              <a:srgbClr val="8064A2">
                <a:hueOff val="-4464770"/>
                <a:satOff val="26899"/>
                <a:lumOff val="2156"/>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0" i="0" kern="1200" dirty="0" smtClean="0">
              <a:solidFill>
                <a:sysClr val="window" lastClr="FFFFFF"/>
              </a:solidFill>
              <a:latin typeface="Calibri"/>
              <a:ea typeface="+mn-ea"/>
              <a:cs typeface="+mn-cs"/>
            </a:rPr>
            <a:t>Good: "Write a 250-word introduction explaining how smartphones have changed communication, suitable for a college presentation."</a:t>
          </a:r>
          <a:endParaRPr lang="en-US" sz="1800" kern="1200" dirty="0">
            <a:solidFill>
              <a:sysClr val="window" lastClr="FFFFFF"/>
            </a:solidFill>
            <a:latin typeface="Calibri"/>
            <a:ea typeface="+mn-ea"/>
            <a:cs typeface="+mn-cs"/>
          </a:endParaRPr>
        </a:p>
      </dsp:txBody>
      <dsp:txXfrm>
        <a:off x="444570" y="1970526"/>
        <a:ext cx="2812001" cy="16872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1672FD-93EF-44CA-A3B0-6937953B1321}">
      <dsp:nvSpPr>
        <dsp:cNvPr id="0" name=""/>
        <dsp:cNvSpPr/>
      </dsp:nvSpPr>
      <dsp:spPr>
        <a:xfrm>
          <a:off x="442722" y="619"/>
          <a:ext cx="2815354" cy="1689212"/>
        </a:xfrm>
        <a:prstGeom prst="rect">
          <a:avLst/>
        </a:prstGeom>
        <a:gradFill rotWithShape="0">
          <a:gsLst>
            <a:gs pos="0">
              <a:srgbClr val="C0504D">
                <a:hueOff val="0"/>
                <a:satOff val="0"/>
                <a:lumOff val="0"/>
                <a:alphaOff val="0"/>
                <a:shade val="51000"/>
                <a:satMod val="130000"/>
              </a:srgbClr>
            </a:gs>
            <a:gs pos="80000">
              <a:srgbClr val="C0504D">
                <a:hueOff val="0"/>
                <a:satOff val="0"/>
                <a:lumOff val="0"/>
                <a:alphaOff val="0"/>
                <a:shade val="93000"/>
                <a:satMod val="130000"/>
              </a:srgbClr>
            </a:gs>
            <a:gs pos="100000">
              <a:srgbClr val="C0504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IN" sz="1800" b="0" i="0" kern="1200" dirty="0" smtClean="0">
              <a:solidFill>
                <a:sysClr val="window" lastClr="FFFFFF"/>
              </a:solidFill>
              <a:latin typeface="Calibri"/>
              <a:ea typeface="+mn-ea"/>
              <a:cs typeface="+mn-cs"/>
            </a:rPr>
            <a:t>Poor: "Excel help."</a:t>
          </a:r>
          <a:endParaRPr lang="en-US" sz="1800" kern="1200" dirty="0">
            <a:solidFill>
              <a:sysClr val="window" lastClr="FFFFFF"/>
            </a:solidFill>
            <a:latin typeface="Calibri"/>
            <a:ea typeface="+mn-ea"/>
            <a:cs typeface="+mn-cs"/>
          </a:endParaRPr>
        </a:p>
      </dsp:txBody>
      <dsp:txXfrm>
        <a:off x="442722" y="619"/>
        <a:ext cx="2815354" cy="1689212"/>
      </dsp:txXfrm>
    </dsp:sp>
    <dsp:sp modelId="{206E6B66-66EE-4442-938A-EFCDBAB8FA32}">
      <dsp:nvSpPr>
        <dsp:cNvPr id="0" name=""/>
        <dsp:cNvSpPr/>
      </dsp:nvSpPr>
      <dsp:spPr>
        <a:xfrm>
          <a:off x="442722" y="1971367"/>
          <a:ext cx="2815354" cy="1689212"/>
        </a:xfrm>
        <a:prstGeom prst="rect">
          <a:avLst/>
        </a:prstGeom>
        <a:gradFill rotWithShape="0">
          <a:gsLst>
            <a:gs pos="0">
              <a:srgbClr val="C0504D">
                <a:hueOff val="4681519"/>
                <a:satOff val="-5839"/>
                <a:lumOff val="1373"/>
                <a:alphaOff val="0"/>
                <a:shade val="51000"/>
                <a:satMod val="130000"/>
              </a:srgbClr>
            </a:gs>
            <a:gs pos="80000">
              <a:srgbClr val="C0504D">
                <a:hueOff val="4681519"/>
                <a:satOff val="-5839"/>
                <a:lumOff val="1373"/>
                <a:alphaOff val="0"/>
                <a:shade val="93000"/>
                <a:satMod val="130000"/>
              </a:srgbClr>
            </a:gs>
            <a:gs pos="100000">
              <a:srgbClr val="C0504D">
                <a:hueOff val="4681519"/>
                <a:satOff val="-5839"/>
                <a:lumOff val="1373"/>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0" i="0" kern="1200" dirty="0" smtClean="0">
              <a:solidFill>
                <a:sysClr val="window" lastClr="FFFFFF"/>
              </a:solidFill>
              <a:latin typeface="Calibri"/>
              <a:ea typeface="+mn-ea"/>
              <a:cs typeface="+mn-cs"/>
            </a:rPr>
            <a:t>Good: "Explain how to use the SUMIF formula in Excel to calculate total sales only for the Electronics category."</a:t>
          </a:r>
          <a:endParaRPr lang="en-US" sz="1800" kern="1200" dirty="0">
            <a:solidFill>
              <a:sysClr val="window" lastClr="FFFFFF"/>
            </a:solidFill>
            <a:latin typeface="Calibri"/>
            <a:ea typeface="+mn-ea"/>
            <a:cs typeface="+mn-cs"/>
          </a:endParaRPr>
        </a:p>
      </dsp:txBody>
      <dsp:txXfrm>
        <a:off x="442722" y="1971367"/>
        <a:ext cx="2815354" cy="16892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1672FD-93EF-44CA-A3B0-6937953B1321}">
      <dsp:nvSpPr>
        <dsp:cNvPr id="0" name=""/>
        <dsp:cNvSpPr/>
      </dsp:nvSpPr>
      <dsp:spPr>
        <a:xfrm>
          <a:off x="442722" y="619"/>
          <a:ext cx="2815354" cy="1689212"/>
        </a:xfrm>
        <a:prstGeom prst="rect">
          <a:avLst/>
        </a:prstGeom>
        <a:gradFill rotWithShape="0">
          <a:gsLst>
            <a:gs pos="0">
              <a:srgbClr val="4BACC6">
                <a:hueOff val="0"/>
                <a:satOff val="0"/>
                <a:lumOff val="0"/>
                <a:alphaOff val="0"/>
                <a:shade val="51000"/>
                <a:satMod val="130000"/>
              </a:srgbClr>
            </a:gs>
            <a:gs pos="80000">
              <a:srgbClr val="4BACC6">
                <a:hueOff val="0"/>
                <a:satOff val="0"/>
                <a:lumOff val="0"/>
                <a:alphaOff val="0"/>
                <a:shade val="93000"/>
                <a:satMod val="130000"/>
              </a:srgbClr>
            </a:gs>
            <a:gs pos="100000">
              <a:srgbClr val="4BACC6">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IN" sz="1800" b="0" i="0" kern="1200" dirty="0" smtClean="0">
              <a:solidFill>
                <a:sysClr val="window" lastClr="FFFFFF"/>
              </a:solidFill>
              <a:latin typeface="Calibri"/>
              <a:ea typeface="+mn-ea"/>
              <a:cs typeface="+mn-cs"/>
            </a:rPr>
            <a:t>Poor: "Presentation ideas."</a:t>
          </a:r>
          <a:endParaRPr lang="en-US" sz="1800" kern="1200" dirty="0">
            <a:solidFill>
              <a:sysClr val="window" lastClr="FFFFFF"/>
            </a:solidFill>
            <a:latin typeface="Calibri"/>
            <a:ea typeface="+mn-ea"/>
            <a:cs typeface="+mn-cs"/>
          </a:endParaRPr>
        </a:p>
      </dsp:txBody>
      <dsp:txXfrm>
        <a:off x="442722" y="619"/>
        <a:ext cx="2815354" cy="1689212"/>
      </dsp:txXfrm>
    </dsp:sp>
    <dsp:sp modelId="{206E6B66-66EE-4442-938A-EFCDBAB8FA32}">
      <dsp:nvSpPr>
        <dsp:cNvPr id="0" name=""/>
        <dsp:cNvSpPr/>
      </dsp:nvSpPr>
      <dsp:spPr>
        <a:xfrm>
          <a:off x="442722" y="1971367"/>
          <a:ext cx="2815354" cy="1689212"/>
        </a:xfrm>
        <a:prstGeom prst="rect">
          <a:avLst/>
        </a:prstGeom>
        <a:gradFill rotWithShape="0">
          <a:gsLst>
            <a:gs pos="0">
              <a:srgbClr val="4BACC6">
                <a:hueOff val="-9933876"/>
                <a:satOff val="39811"/>
                <a:lumOff val="8628"/>
                <a:alphaOff val="0"/>
                <a:shade val="51000"/>
                <a:satMod val="130000"/>
              </a:srgbClr>
            </a:gs>
            <a:gs pos="80000">
              <a:srgbClr val="4BACC6">
                <a:hueOff val="-9933876"/>
                <a:satOff val="39811"/>
                <a:lumOff val="8628"/>
                <a:alphaOff val="0"/>
                <a:shade val="93000"/>
                <a:satMod val="130000"/>
              </a:srgbClr>
            </a:gs>
            <a:gs pos="100000">
              <a:srgbClr val="4BACC6">
                <a:hueOff val="-9933876"/>
                <a:satOff val="39811"/>
                <a:lumOff val="8628"/>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0" i="0" kern="1200" dirty="0" smtClean="0">
              <a:solidFill>
                <a:sysClr val="window" lastClr="FFFFFF"/>
              </a:solidFill>
              <a:latin typeface="Calibri"/>
              <a:ea typeface="+mn-ea"/>
              <a:cs typeface="+mn-cs"/>
            </a:rPr>
            <a:t>Good: "Create an outline for a 10-slide presentation about renewable energy sources for undergraduate engineering students."</a:t>
          </a:r>
          <a:endParaRPr lang="en-US" sz="1800" kern="1200" dirty="0">
            <a:solidFill>
              <a:sysClr val="window" lastClr="FFFFFF"/>
            </a:solidFill>
            <a:latin typeface="Calibri"/>
            <a:ea typeface="+mn-ea"/>
            <a:cs typeface="+mn-cs"/>
          </a:endParaRPr>
        </a:p>
      </dsp:txBody>
      <dsp:txXfrm>
        <a:off x="442722" y="1971367"/>
        <a:ext cx="2815354" cy="168921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B617E5-F3A5-47F0-AA4C-1BC069E72CED}" type="datetimeFigureOut">
              <a:rPr lang="en-IN" smtClean="0"/>
              <a:t>05-03-2026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0FC4EF-F040-4629-96AB-A33446C1CF54}" type="slidenum">
              <a:rPr lang="en-IN" smtClean="0"/>
              <a:t>‹#›</a:t>
            </a:fld>
            <a:endParaRPr lang="en-IN"/>
          </a:p>
        </p:txBody>
      </p:sp>
    </p:spTree>
    <p:extLst>
      <p:ext uri="{BB962C8B-B14F-4D97-AF65-F5344CB8AC3E}">
        <p14:creationId xmlns:p14="http://schemas.microsoft.com/office/powerpoint/2010/main" val="4234600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Excel is one of the most widely used tools across industries. It’s not just for accountants or data analysts - professionals in marketing, finance, HR, operations, and even small business owners rely on Excel daily. From managing budgets and analyzing trends to tracking performance and creating reports, Excel empowers users to make data-driven decisions. Its versatility makes it a go-to tool for anyone who needs to organize, analyze, and visualize data efficiently.</a:t>
            </a:r>
          </a:p>
          <a:p>
            <a:endParaRPr lang="en-IN" dirty="0"/>
          </a:p>
        </p:txBody>
      </p:sp>
      <p:sp>
        <p:nvSpPr>
          <p:cNvPr id="4" name="Slide Number Placeholder 3"/>
          <p:cNvSpPr>
            <a:spLocks noGrp="1"/>
          </p:cNvSpPr>
          <p:nvPr>
            <p:ph type="sldNum" sz="quarter" idx="10"/>
          </p:nvPr>
        </p:nvSpPr>
        <p:spPr/>
        <p:txBody>
          <a:bodyPr/>
          <a:lstStyle/>
          <a:p>
            <a:fld id="{61387AB6-0C90-4C13-BFEE-4EBE8F3CA032}" type="slidenum">
              <a:rPr lang="en-IN" smtClean="0"/>
              <a:t>4</a:t>
            </a:fld>
            <a:endParaRPr lang="en-IN"/>
          </a:p>
        </p:txBody>
      </p:sp>
    </p:spTree>
    <p:extLst>
      <p:ext uri="{BB962C8B-B14F-4D97-AF65-F5344CB8AC3E}">
        <p14:creationId xmlns:p14="http://schemas.microsoft.com/office/powerpoint/2010/main" val="25357842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Microsoft Excel is a powerful spreadsheet application developed by Microsoft. It allows users to organize, analyze, and visualize data using rows and columns. Excel supports features like formulas, functions, charts, pivot tables, and data analysis tools, making it essential for tasks such as budgeting, reporting, forecasting, and decision-making across various industries.</a:t>
            </a:r>
          </a:p>
          <a:p>
            <a:endParaRPr lang="en-IN" dirty="0"/>
          </a:p>
        </p:txBody>
      </p:sp>
      <p:sp>
        <p:nvSpPr>
          <p:cNvPr id="4" name="Slide Number Placeholder 3"/>
          <p:cNvSpPr>
            <a:spLocks noGrp="1"/>
          </p:cNvSpPr>
          <p:nvPr>
            <p:ph type="sldNum" sz="quarter" idx="10"/>
          </p:nvPr>
        </p:nvSpPr>
        <p:spPr/>
        <p:txBody>
          <a:bodyPr/>
          <a:lstStyle/>
          <a:p>
            <a:fld id="{61387AB6-0C90-4C13-BFEE-4EBE8F3CA032}" type="slidenum">
              <a:rPr lang="en-IN" smtClean="0"/>
              <a:t>5</a:t>
            </a:fld>
            <a:endParaRPr lang="en-IN"/>
          </a:p>
        </p:txBody>
      </p:sp>
    </p:spTree>
    <p:extLst>
      <p:ext uri="{BB962C8B-B14F-4D97-AF65-F5344CB8AC3E}">
        <p14:creationId xmlns:p14="http://schemas.microsoft.com/office/powerpoint/2010/main" val="26830892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Explanation of the </a:t>
            </a:r>
            <a:r>
              <a:rPr lang="en-US" sz="1200" b="1" i="0" kern="1200" dirty="0" smtClean="0">
                <a:solidFill>
                  <a:schemeClr val="tx1"/>
                </a:solidFill>
                <a:effectLst/>
                <a:latin typeface="+mn-lt"/>
                <a:ea typeface="+mn-ea"/>
                <a:cs typeface="+mn-cs"/>
              </a:rPr>
              <a:t>Excel Interface and its key elements</a:t>
            </a:r>
            <a:r>
              <a:rPr lang="en-US" sz="1200" b="0" i="0" kern="1200" dirty="0" smtClean="0">
                <a:solidFill>
                  <a:schemeClr val="tx1"/>
                </a:solidFill>
                <a:effectLst/>
                <a:latin typeface="+mn-lt"/>
                <a:ea typeface="+mn-ea"/>
                <a:cs typeface="+mn-cs"/>
              </a:rPr>
              <a:t>:</a:t>
            </a:r>
          </a:p>
          <a:p>
            <a:pPr fontAlgn="t"/>
            <a:endParaRPr lang="en-US" sz="1200" b="1" i="0" kern="1200" dirty="0" smtClean="0">
              <a:solidFill>
                <a:schemeClr val="tx1"/>
              </a:solidFill>
              <a:effectLst/>
              <a:latin typeface="+mn-lt"/>
              <a:ea typeface="+mn-ea"/>
              <a:cs typeface="+mn-cs"/>
            </a:endParaRPr>
          </a:p>
          <a:p>
            <a:pPr fontAlgn="t"/>
            <a:r>
              <a:rPr lang="en-US" sz="1200" b="1" i="0" kern="1200" dirty="0" smtClean="0">
                <a:solidFill>
                  <a:schemeClr val="tx1"/>
                </a:solidFill>
                <a:effectLst/>
                <a:latin typeface="+mn-lt"/>
                <a:ea typeface="+mn-ea"/>
                <a:cs typeface="+mn-cs"/>
              </a:rPr>
              <a:t>Program Frame</a:t>
            </a:r>
            <a:endParaRPr lang="en-US" sz="1200" b="0" i="0" kern="1200" dirty="0" smtClean="0">
              <a:solidFill>
                <a:schemeClr val="tx1"/>
              </a:solidFill>
              <a:effectLst/>
              <a:latin typeface="+mn-lt"/>
              <a:ea typeface="+mn-ea"/>
              <a:cs typeface="+mn-cs"/>
            </a:endParaRPr>
          </a:p>
          <a:p>
            <a:pPr fontAlgn="t"/>
            <a:r>
              <a:rPr lang="en-US" sz="1200" b="0" i="0" kern="1200" dirty="0" smtClean="0">
                <a:solidFill>
                  <a:schemeClr val="tx1"/>
                </a:solidFill>
                <a:effectLst/>
                <a:latin typeface="+mn-lt"/>
                <a:ea typeface="+mn-ea"/>
                <a:cs typeface="+mn-cs"/>
              </a:rPr>
              <a:t>The outermost frame of the Excel window.</a:t>
            </a:r>
          </a:p>
          <a:p>
            <a:pPr fontAlgn="t"/>
            <a:r>
              <a:rPr lang="en-US" sz="1200" b="0" i="0" kern="1200" dirty="0" smtClean="0">
                <a:solidFill>
                  <a:schemeClr val="tx1"/>
                </a:solidFill>
                <a:effectLst/>
                <a:latin typeface="+mn-lt"/>
                <a:ea typeface="+mn-ea"/>
                <a:cs typeface="+mn-cs"/>
              </a:rPr>
              <a:t>Displays the application name and window controls (Minimize, Maximize, Close).</a:t>
            </a:r>
          </a:p>
          <a:p>
            <a:pPr fontAlgn="t"/>
            <a:endParaRPr lang="en-US" sz="1200" b="1" i="0" kern="1200" dirty="0" smtClean="0">
              <a:solidFill>
                <a:schemeClr val="tx1"/>
              </a:solidFill>
              <a:effectLst/>
              <a:latin typeface="+mn-lt"/>
              <a:ea typeface="+mn-ea"/>
              <a:cs typeface="+mn-cs"/>
            </a:endParaRPr>
          </a:p>
          <a:p>
            <a:pPr fontAlgn="t"/>
            <a:r>
              <a:rPr lang="en-US" sz="1200" b="1" i="0" kern="1200" dirty="0" smtClean="0">
                <a:solidFill>
                  <a:schemeClr val="tx1"/>
                </a:solidFill>
                <a:effectLst/>
                <a:latin typeface="+mn-lt"/>
                <a:ea typeface="+mn-ea"/>
                <a:cs typeface="+mn-cs"/>
              </a:rPr>
              <a:t>Menu Tabs</a:t>
            </a:r>
            <a:endParaRPr lang="en-US" sz="1200" b="0" i="0" kern="1200" dirty="0" smtClean="0">
              <a:solidFill>
                <a:schemeClr val="tx1"/>
              </a:solidFill>
              <a:effectLst/>
              <a:latin typeface="+mn-lt"/>
              <a:ea typeface="+mn-ea"/>
              <a:cs typeface="+mn-cs"/>
            </a:endParaRPr>
          </a:p>
          <a:p>
            <a:pPr fontAlgn="t"/>
            <a:r>
              <a:rPr lang="en-US" sz="1200" b="0" i="0" kern="1200" dirty="0" smtClean="0">
                <a:solidFill>
                  <a:schemeClr val="tx1"/>
                </a:solidFill>
                <a:effectLst/>
                <a:latin typeface="+mn-lt"/>
                <a:ea typeface="+mn-ea"/>
                <a:cs typeface="+mn-cs"/>
              </a:rPr>
              <a:t>Located at the top (File, Home, Insert, Page Layout, Formulas, Data, Review, View, etc.).</a:t>
            </a:r>
          </a:p>
          <a:p>
            <a:pPr fontAlgn="t"/>
            <a:r>
              <a:rPr lang="en-US" sz="1200" b="0" i="0" kern="1200" dirty="0" smtClean="0">
                <a:solidFill>
                  <a:schemeClr val="tx1"/>
                </a:solidFill>
                <a:effectLst/>
                <a:latin typeface="+mn-lt"/>
                <a:ea typeface="+mn-ea"/>
                <a:cs typeface="+mn-cs"/>
              </a:rPr>
              <a:t>Each tab contains groups of related commands.</a:t>
            </a:r>
          </a:p>
          <a:p>
            <a:pPr fontAlgn="t"/>
            <a:endParaRPr lang="en-US" sz="1200" b="1" i="0" kern="1200" dirty="0" smtClean="0">
              <a:solidFill>
                <a:schemeClr val="tx1"/>
              </a:solidFill>
              <a:effectLst/>
              <a:latin typeface="+mn-lt"/>
              <a:ea typeface="+mn-ea"/>
              <a:cs typeface="+mn-cs"/>
            </a:endParaRPr>
          </a:p>
          <a:p>
            <a:pPr fontAlgn="t"/>
            <a:r>
              <a:rPr lang="en-US" sz="1200" b="1" i="0" kern="1200" dirty="0" smtClean="0">
                <a:solidFill>
                  <a:schemeClr val="tx1"/>
                </a:solidFill>
                <a:effectLst/>
                <a:latin typeface="+mn-lt"/>
                <a:ea typeface="+mn-ea"/>
                <a:cs typeface="+mn-cs"/>
              </a:rPr>
              <a:t>Ribbon</a:t>
            </a:r>
            <a:endParaRPr lang="en-US" sz="1200" b="0" i="0" kern="1200" dirty="0" smtClean="0">
              <a:solidFill>
                <a:schemeClr val="tx1"/>
              </a:solidFill>
              <a:effectLst/>
              <a:latin typeface="+mn-lt"/>
              <a:ea typeface="+mn-ea"/>
              <a:cs typeface="+mn-cs"/>
            </a:endParaRPr>
          </a:p>
          <a:p>
            <a:pPr fontAlgn="t"/>
            <a:r>
              <a:rPr lang="en-US" sz="1200" b="0" i="0" kern="1200" dirty="0" smtClean="0">
                <a:solidFill>
                  <a:schemeClr val="tx1"/>
                </a:solidFill>
                <a:effectLst/>
                <a:latin typeface="+mn-lt"/>
                <a:ea typeface="+mn-ea"/>
                <a:cs typeface="+mn-cs"/>
              </a:rPr>
              <a:t>Below the menu tabs.</a:t>
            </a:r>
          </a:p>
          <a:p>
            <a:pPr fontAlgn="t"/>
            <a:r>
              <a:rPr lang="en-US" sz="1200" b="0" i="0" kern="1200" dirty="0" smtClean="0">
                <a:solidFill>
                  <a:schemeClr val="tx1"/>
                </a:solidFill>
                <a:effectLst/>
                <a:latin typeface="+mn-lt"/>
                <a:ea typeface="+mn-ea"/>
                <a:cs typeface="+mn-cs"/>
              </a:rPr>
              <a:t>Displays tools and options grouped under each tab (e.g., Clipboard, Font, Alignment, Number).</a:t>
            </a:r>
          </a:p>
          <a:p>
            <a:pPr fontAlgn="t"/>
            <a:r>
              <a:rPr lang="en-US" sz="1200" b="0" i="0" kern="1200" dirty="0" smtClean="0">
                <a:solidFill>
                  <a:schemeClr val="tx1"/>
                </a:solidFill>
                <a:effectLst/>
                <a:latin typeface="+mn-lt"/>
                <a:ea typeface="+mn-ea"/>
                <a:cs typeface="+mn-cs"/>
              </a:rPr>
              <a:t>Includes buttons for formatting, formulas, charts, and more.</a:t>
            </a:r>
          </a:p>
          <a:p>
            <a:pPr fontAlgn="t"/>
            <a:endParaRPr lang="en-US" sz="1200" b="1" i="0" kern="1200" dirty="0" smtClean="0">
              <a:solidFill>
                <a:schemeClr val="tx1"/>
              </a:solidFill>
              <a:effectLst/>
              <a:latin typeface="+mn-lt"/>
              <a:ea typeface="+mn-ea"/>
              <a:cs typeface="+mn-cs"/>
            </a:endParaRPr>
          </a:p>
          <a:p>
            <a:pPr fontAlgn="t"/>
            <a:r>
              <a:rPr lang="en-US" sz="1200" b="1" i="0" kern="1200" dirty="0" smtClean="0">
                <a:solidFill>
                  <a:schemeClr val="tx1"/>
                </a:solidFill>
                <a:effectLst/>
                <a:latin typeface="+mn-lt"/>
                <a:ea typeface="+mn-ea"/>
                <a:cs typeface="+mn-cs"/>
              </a:rPr>
              <a:t>Segments</a:t>
            </a:r>
            <a:endParaRPr lang="en-US" sz="1200" b="0" i="0" kern="1200" dirty="0" smtClean="0">
              <a:solidFill>
                <a:schemeClr val="tx1"/>
              </a:solidFill>
              <a:effectLst/>
              <a:latin typeface="+mn-lt"/>
              <a:ea typeface="+mn-ea"/>
              <a:cs typeface="+mn-cs"/>
            </a:endParaRPr>
          </a:p>
          <a:p>
            <a:pPr fontAlgn="t"/>
            <a:r>
              <a:rPr lang="en-US" sz="1200" b="0" i="0" kern="1200" dirty="0" smtClean="0">
                <a:solidFill>
                  <a:schemeClr val="tx1"/>
                </a:solidFill>
                <a:effectLst/>
                <a:latin typeface="+mn-lt"/>
                <a:ea typeface="+mn-ea"/>
                <a:cs typeface="+mn-cs"/>
              </a:rPr>
              <a:t>Sections within the Ribbon (e.g., Font, Alignment, Number).</a:t>
            </a:r>
          </a:p>
          <a:p>
            <a:pPr fontAlgn="t"/>
            <a:r>
              <a:rPr lang="en-US" sz="1200" b="0" i="0" kern="1200" dirty="0" smtClean="0">
                <a:solidFill>
                  <a:schemeClr val="tx1"/>
                </a:solidFill>
                <a:effectLst/>
                <a:latin typeface="+mn-lt"/>
                <a:ea typeface="+mn-ea"/>
                <a:cs typeface="+mn-cs"/>
              </a:rPr>
              <a:t>Each segment contains related commands for quick access.</a:t>
            </a:r>
          </a:p>
          <a:p>
            <a:pPr fontAlgn="t"/>
            <a:endParaRPr lang="en-US" sz="1200" b="1" i="0" kern="1200" dirty="0" smtClean="0">
              <a:solidFill>
                <a:schemeClr val="tx1"/>
              </a:solidFill>
              <a:effectLst/>
              <a:latin typeface="+mn-lt"/>
              <a:ea typeface="+mn-ea"/>
              <a:cs typeface="+mn-cs"/>
            </a:endParaRPr>
          </a:p>
          <a:p>
            <a:pPr fontAlgn="t"/>
            <a:r>
              <a:rPr lang="en-US" sz="1200" b="1" i="0" kern="1200" dirty="0" smtClean="0">
                <a:solidFill>
                  <a:schemeClr val="tx1"/>
                </a:solidFill>
                <a:effectLst/>
                <a:latin typeface="+mn-lt"/>
                <a:ea typeface="+mn-ea"/>
                <a:cs typeface="+mn-cs"/>
              </a:rPr>
              <a:t>Formula Bar</a:t>
            </a:r>
            <a:endParaRPr lang="en-US" sz="1200" b="0" i="0" kern="1200" dirty="0" smtClean="0">
              <a:solidFill>
                <a:schemeClr val="tx1"/>
              </a:solidFill>
              <a:effectLst/>
              <a:latin typeface="+mn-lt"/>
              <a:ea typeface="+mn-ea"/>
              <a:cs typeface="+mn-cs"/>
            </a:endParaRPr>
          </a:p>
          <a:p>
            <a:pPr fontAlgn="t"/>
            <a:r>
              <a:rPr lang="en-US" sz="1200" b="0" i="0" kern="1200" dirty="0" smtClean="0">
                <a:solidFill>
                  <a:schemeClr val="tx1"/>
                </a:solidFill>
                <a:effectLst/>
                <a:latin typeface="+mn-lt"/>
                <a:ea typeface="+mn-ea"/>
                <a:cs typeface="+mn-cs"/>
              </a:rPr>
              <a:t>Located below the Ribbon.</a:t>
            </a:r>
          </a:p>
          <a:p>
            <a:pPr fontAlgn="t"/>
            <a:r>
              <a:rPr lang="en-US" sz="1200" b="0" i="0" kern="1200" dirty="0" smtClean="0">
                <a:solidFill>
                  <a:schemeClr val="tx1"/>
                </a:solidFill>
                <a:effectLst/>
                <a:latin typeface="+mn-lt"/>
                <a:ea typeface="+mn-ea"/>
                <a:cs typeface="+mn-cs"/>
              </a:rPr>
              <a:t>Shows the contents of the active cell.</a:t>
            </a:r>
          </a:p>
          <a:p>
            <a:pPr fontAlgn="t"/>
            <a:r>
              <a:rPr lang="en-US" sz="1200" b="0" i="0" kern="1200" dirty="0" smtClean="0">
                <a:solidFill>
                  <a:schemeClr val="tx1"/>
                </a:solidFill>
                <a:effectLst/>
                <a:latin typeface="+mn-lt"/>
                <a:ea typeface="+mn-ea"/>
                <a:cs typeface="+mn-cs"/>
              </a:rPr>
              <a:t>Used to enter or edit data and formulas.</a:t>
            </a:r>
          </a:p>
          <a:p>
            <a:pPr fontAlgn="t"/>
            <a:endParaRPr lang="en-US" sz="1200" b="1" i="0" kern="1200" dirty="0" smtClean="0">
              <a:solidFill>
                <a:schemeClr val="tx1"/>
              </a:solidFill>
              <a:effectLst/>
              <a:latin typeface="+mn-lt"/>
              <a:ea typeface="+mn-ea"/>
              <a:cs typeface="+mn-cs"/>
            </a:endParaRPr>
          </a:p>
          <a:p>
            <a:pPr fontAlgn="t"/>
            <a:r>
              <a:rPr lang="en-US" sz="1200" b="1" i="0" kern="1200" dirty="0" smtClean="0">
                <a:solidFill>
                  <a:schemeClr val="tx1"/>
                </a:solidFill>
                <a:effectLst/>
                <a:latin typeface="+mn-lt"/>
                <a:ea typeface="+mn-ea"/>
                <a:cs typeface="+mn-cs"/>
              </a:rPr>
              <a:t>Workspace</a:t>
            </a:r>
            <a:endParaRPr lang="en-US" sz="1200" b="0" i="0" kern="1200" dirty="0" smtClean="0">
              <a:solidFill>
                <a:schemeClr val="tx1"/>
              </a:solidFill>
              <a:effectLst/>
              <a:latin typeface="+mn-lt"/>
              <a:ea typeface="+mn-ea"/>
              <a:cs typeface="+mn-cs"/>
            </a:endParaRPr>
          </a:p>
          <a:p>
            <a:pPr fontAlgn="t"/>
            <a:r>
              <a:rPr lang="en-US" sz="1200" b="0" i="0" kern="1200" dirty="0" smtClean="0">
                <a:solidFill>
                  <a:schemeClr val="tx1"/>
                </a:solidFill>
                <a:effectLst/>
                <a:latin typeface="+mn-lt"/>
                <a:ea typeface="+mn-ea"/>
                <a:cs typeface="+mn-cs"/>
              </a:rPr>
              <a:t>The main grid area where data is entered.</a:t>
            </a:r>
          </a:p>
          <a:p>
            <a:pPr fontAlgn="t"/>
            <a:r>
              <a:rPr lang="en-US" sz="1200" b="0" i="0" kern="1200" dirty="0" smtClean="0">
                <a:solidFill>
                  <a:schemeClr val="tx1"/>
                </a:solidFill>
                <a:effectLst/>
                <a:latin typeface="+mn-lt"/>
                <a:ea typeface="+mn-ea"/>
                <a:cs typeface="+mn-cs"/>
              </a:rPr>
              <a:t>Organized into rows (numbered) and columns (lettered).</a:t>
            </a:r>
          </a:p>
          <a:p>
            <a:pPr fontAlgn="t"/>
            <a:r>
              <a:rPr lang="en-US" sz="1200" b="0" i="0" kern="1200" dirty="0" smtClean="0">
                <a:solidFill>
                  <a:schemeClr val="tx1"/>
                </a:solidFill>
                <a:effectLst/>
                <a:latin typeface="+mn-lt"/>
                <a:ea typeface="+mn-ea"/>
                <a:cs typeface="+mn-cs"/>
              </a:rPr>
              <a:t>Intersection of row and column is a </a:t>
            </a:r>
            <a:r>
              <a:rPr lang="en-US" sz="1200" b="1" i="0" kern="1200" dirty="0" smtClean="0">
                <a:solidFill>
                  <a:schemeClr val="tx1"/>
                </a:solidFill>
                <a:effectLst/>
                <a:latin typeface="+mn-lt"/>
                <a:ea typeface="+mn-ea"/>
                <a:cs typeface="+mn-cs"/>
              </a:rPr>
              <a:t>cell</a:t>
            </a:r>
            <a:r>
              <a:rPr lang="en-US" sz="1200" b="0" i="0" kern="1200" dirty="0" smtClean="0">
                <a:solidFill>
                  <a:schemeClr val="tx1"/>
                </a:solidFill>
                <a:effectLst/>
                <a:latin typeface="+mn-lt"/>
                <a:ea typeface="+mn-ea"/>
                <a:cs typeface="+mn-cs"/>
              </a:rPr>
              <a:t>.</a:t>
            </a:r>
          </a:p>
          <a:p>
            <a:pPr fontAlgn="t"/>
            <a:endParaRPr lang="en-US" sz="1200" b="1" i="0" kern="1200" dirty="0" smtClean="0">
              <a:solidFill>
                <a:schemeClr val="tx1"/>
              </a:solidFill>
              <a:effectLst/>
              <a:latin typeface="+mn-lt"/>
              <a:ea typeface="+mn-ea"/>
              <a:cs typeface="+mn-cs"/>
            </a:endParaRPr>
          </a:p>
          <a:p>
            <a:pPr fontAlgn="t"/>
            <a:r>
              <a:rPr lang="en-US" sz="1200" b="1" i="0" kern="1200" dirty="0" smtClean="0">
                <a:solidFill>
                  <a:schemeClr val="tx1"/>
                </a:solidFill>
                <a:effectLst/>
                <a:latin typeface="+mn-lt"/>
                <a:ea typeface="+mn-ea"/>
                <a:cs typeface="+mn-cs"/>
              </a:rPr>
              <a:t>Sheet Tabs</a:t>
            </a:r>
            <a:endParaRPr lang="en-US" sz="1200" b="0" i="0" kern="1200" dirty="0" smtClean="0">
              <a:solidFill>
                <a:schemeClr val="tx1"/>
              </a:solidFill>
              <a:effectLst/>
              <a:latin typeface="+mn-lt"/>
              <a:ea typeface="+mn-ea"/>
              <a:cs typeface="+mn-cs"/>
            </a:endParaRPr>
          </a:p>
          <a:p>
            <a:pPr fontAlgn="t"/>
            <a:r>
              <a:rPr lang="en-US" sz="1200" b="0" i="0" kern="1200" dirty="0" smtClean="0">
                <a:solidFill>
                  <a:schemeClr val="tx1"/>
                </a:solidFill>
                <a:effectLst/>
                <a:latin typeface="+mn-lt"/>
                <a:ea typeface="+mn-ea"/>
                <a:cs typeface="+mn-cs"/>
              </a:rPr>
              <a:t>Located at the bottom of the workspace.</a:t>
            </a:r>
          </a:p>
          <a:p>
            <a:pPr fontAlgn="t"/>
            <a:r>
              <a:rPr lang="en-US" sz="1200" b="0" i="0" kern="1200" dirty="0" smtClean="0">
                <a:solidFill>
                  <a:schemeClr val="tx1"/>
                </a:solidFill>
                <a:effectLst/>
                <a:latin typeface="+mn-lt"/>
                <a:ea typeface="+mn-ea"/>
                <a:cs typeface="+mn-cs"/>
              </a:rPr>
              <a:t>Allows switching between different sheets in a workbook.</a:t>
            </a:r>
          </a:p>
          <a:p>
            <a:pPr fontAlgn="t"/>
            <a:r>
              <a:rPr lang="en-US" sz="1200" b="0" i="0" kern="1200" dirty="0" smtClean="0">
                <a:solidFill>
                  <a:schemeClr val="tx1"/>
                </a:solidFill>
                <a:effectLst/>
                <a:latin typeface="+mn-lt"/>
                <a:ea typeface="+mn-ea"/>
                <a:cs typeface="+mn-cs"/>
              </a:rPr>
              <a:t>Options to add, rename, or delete sheets.</a:t>
            </a:r>
          </a:p>
          <a:p>
            <a:pPr fontAlgn="t"/>
            <a:endParaRPr lang="en-US" sz="1200" b="1" i="0" kern="1200" dirty="0" smtClean="0">
              <a:solidFill>
                <a:schemeClr val="tx1"/>
              </a:solidFill>
              <a:effectLst/>
              <a:latin typeface="+mn-lt"/>
              <a:ea typeface="+mn-ea"/>
              <a:cs typeface="+mn-cs"/>
            </a:endParaRPr>
          </a:p>
          <a:p>
            <a:pPr fontAlgn="t"/>
            <a:r>
              <a:rPr lang="en-US" sz="1200" b="1" i="0" kern="1200" dirty="0" smtClean="0">
                <a:solidFill>
                  <a:schemeClr val="tx1"/>
                </a:solidFill>
                <a:effectLst/>
                <a:latin typeface="+mn-lt"/>
                <a:ea typeface="+mn-ea"/>
                <a:cs typeface="+mn-cs"/>
              </a:rPr>
              <a:t>Status Bar</a:t>
            </a:r>
            <a:endParaRPr lang="en-US" sz="1200" b="0" i="0" kern="1200" dirty="0" smtClean="0">
              <a:solidFill>
                <a:schemeClr val="tx1"/>
              </a:solidFill>
              <a:effectLst/>
              <a:latin typeface="+mn-lt"/>
              <a:ea typeface="+mn-ea"/>
              <a:cs typeface="+mn-cs"/>
            </a:endParaRPr>
          </a:p>
          <a:p>
            <a:pPr fontAlgn="t"/>
            <a:r>
              <a:rPr lang="en-US" sz="1200" b="0" i="0" kern="1200" dirty="0" smtClean="0">
                <a:solidFill>
                  <a:schemeClr val="tx1"/>
                </a:solidFill>
                <a:effectLst/>
                <a:latin typeface="+mn-lt"/>
                <a:ea typeface="+mn-ea"/>
                <a:cs typeface="+mn-cs"/>
              </a:rPr>
              <a:t>Located at the bottom of the Excel window.</a:t>
            </a:r>
          </a:p>
          <a:p>
            <a:pPr fontAlgn="t"/>
            <a:r>
              <a:rPr lang="en-US" sz="1200" b="0" i="0" kern="1200" dirty="0" smtClean="0">
                <a:solidFill>
                  <a:schemeClr val="tx1"/>
                </a:solidFill>
                <a:effectLst/>
                <a:latin typeface="+mn-lt"/>
                <a:ea typeface="+mn-ea"/>
                <a:cs typeface="+mn-cs"/>
              </a:rPr>
              <a:t>Displays information like Ready, Edit mode, and quick calculations (Sum, Average).</a:t>
            </a:r>
          </a:p>
          <a:p>
            <a:pPr fontAlgn="t"/>
            <a:r>
              <a:rPr lang="en-US" sz="1200" b="0" i="0" kern="1200" dirty="0" smtClean="0">
                <a:solidFill>
                  <a:schemeClr val="tx1"/>
                </a:solidFill>
                <a:effectLst/>
                <a:latin typeface="+mn-lt"/>
                <a:ea typeface="+mn-ea"/>
                <a:cs typeface="+mn-cs"/>
              </a:rPr>
              <a:t>Includes </a:t>
            </a:r>
            <a:r>
              <a:rPr lang="en-US" sz="1200" b="1" i="0" kern="1200" dirty="0" smtClean="0">
                <a:solidFill>
                  <a:schemeClr val="tx1"/>
                </a:solidFill>
                <a:effectLst/>
                <a:latin typeface="+mn-lt"/>
                <a:ea typeface="+mn-ea"/>
                <a:cs typeface="+mn-cs"/>
              </a:rPr>
              <a:t>View Options</a:t>
            </a:r>
            <a:r>
              <a:rPr lang="en-US" sz="1200" b="0" i="0" kern="1200" dirty="0" smtClean="0">
                <a:solidFill>
                  <a:schemeClr val="tx1"/>
                </a:solidFill>
                <a:effectLst/>
                <a:latin typeface="+mn-lt"/>
                <a:ea typeface="+mn-ea"/>
                <a:cs typeface="+mn-cs"/>
              </a:rPr>
              <a:t> and </a:t>
            </a:r>
            <a:r>
              <a:rPr lang="en-US" sz="1200" b="1" i="0" kern="1200" dirty="0" smtClean="0">
                <a:solidFill>
                  <a:schemeClr val="tx1"/>
                </a:solidFill>
                <a:effectLst/>
                <a:latin typeface="+mn-lt"/>
                <a:ea typeface="+mn-ea"/>
                <a:cs typeface="+mn-cs"/>
              </a:rPr>
              <a:t>Zoom Slider</a:t>
            </a:r>
            <a:r>
              <a:rPr lang="en-US" sz="1200" b="0" i="0" kern="1200" dirty="0" smtClean="0">
                <a:solidFill>
                  <a:schemeClr val="tx1"/>
                </a:solidFill>
                <a:effectLst/>
                <a:latin typeface="+mn-lt"/>
                <a:ea typeface="+mn-ea"/>
                <a:cs typeface="+mn-cs"/>
              </a:rPr>
              <a:t> for adjusting the view.</a:t>
            </a:r>
          </a:p>
          <a:p>
            <a:pPr fontAlgn="t"/>
            <a:endParaRPr lang="en-US" sz="1200" b="1" i="0" kern="1200" dirty="0" smtClean="0">
              <a:solidFill>
                <a:schemeClr val="tx1"/>
              </a:solidFill>
              <a:effectLst/>
              <a:latin typeface="+mn-lt"/>
              <a:ea typeface="+mn-ea"/>
              <a:cs typeface="+mn-cs"/>
            </a:endParaRPr>
          </a:p>
          <a:p>
            <a:pPr fontAlgn="t"/>
            <a:r>
              <a:rPr lang="en-US" sz="1200" b="1" i="0" kern="1200" dirty="0" smtClean="0">
                <a:solidFill>
                  <a:schemeClr val="tx1"/>
                </a:solidFill>
                <a:effectLst/>
                <a:latin typeface="+mn-lt"/>
                <a:ea typeface="+mn-ea"/>
                <a:cs typeface="+mn-cs"/>
              </a:rPr>
              <a:t>Ribbon Hide/Unhide</a:t>
            </a:r>
            <a:endParaRPr lang="en-US" sz="1200" b="0" i="0" kern="1200" dirty="0" smtClean="0">
              <a:solidFill>
                <a:schemeClr val="tx1"/>
              </a:solidFill>
              <a:effectLst/>
              <a:latin typeface="+mn-lt"/>
              <a:ea typeface="+mn-ea"/>
              <a:cs typeface="+mn-cs"/>
            </a:endParaRPr>
          </a:p>
          <a:p>
            <a:pPr fontAlgn="t"/>
            <a:r>
              <a:rPr lang="en-US" sz="1200" b="0" i="0" kern="1200" dirty="0" smtClean="0">
                <a:solidFill>
                  <a:schemeClr val="tx1"/>
                </a:solidFill>
                <a:effectLst/>
                <a:latin typeface="+mn-lt"/>
                <a:ea typeface="+mn-ea"/>
                <a:cs typeface="+mn-cs"/>
              </a:rPr>
              <a:t>Button at the top-right corner.</a:t>
            </a:r>
          </a:p>
          <a:p>
            <a:pPr fontAlgn="t"/>
            <a:r>
              <a:rPr lang="en-US" sz="1200" b="0" i="0" kern="1200" dirty="0" smtClean="0">
                <a:solidFill>
                  <a:schemeClr val="tx1"/>
                </a:solidFill>
                <a:effectLst/>
                <a:latin typeface="+mn-lt"/>
                <a:ea typeface="+mn-ea"/>
                <a:cs typeface="+mn-cs"/>
              </a:rPr>
              <a:t>Allows collapsing or expanding the Ribbon for more workspace.</a:t>
            </a:r>
          </a:p>
          <a:p>
            <a:pPr fontAlgn="t"/>
            <a:endParaRPr lang="en-US" sz="1200" b="1" i="0" kern="1200" dirty="0" smtClean="0">
              <a:solidFill>
                <a:schemeClr val="tx1"/>
              </a:solidFill>
              <a:effectLst/>
              <a:latin typeface="+mn-lt"/>
              <a:ea typeface="+mn-ea"/>
              <a:cs typeface="+mn-cs"/>
            </a:endParaRPr>
          </a:p>
          <a:p>
            <a:pPr fontAlgn="t"/>
            <a:r>
              <a:rPr lang="en-US" sz="1200" b="1" i="0" kern="1200" dirty="0" smtClean="0">
                <a:solidFill>
                  <a:schemeClr val="tx1"/>
                </a:solidFill>
                <a:effectLst/>
                <a:latin typeface="+mn-lt"/>
                <a:ea typeface="+mn-ea"/>
                <a:cs typeface="+mn-cs"/>
              </a:rPr>
              <a:t>View Options &amp; Slider</a:t>
            </a:r>
            <a:endParaRPr lang="en-US" sz="1200" b="0" i="0" kern="1200" dirty="0" smtClean="0">
              <a:solidFill>
                <a:schemeClr val="tx1"/>
              </a:solidFill>
              <a:effectLst/>
              <a:latin typeface="+mn-lt"/>
              <a:ea typeface="+mn-ea"/>
              <a:cs typeface="+mn-cs"/>
            </a:endParaRPr>
          </a:p>
          <a:p>
            <a:pPr fontAlgn="t"/>
            <a:r>
              <a:rPr lang="en-US" sz="1200" b="0" i="0" kern="1200" dirty="0" smtClean="0">
                <a:solidFill>
                  <a:schemeClr val="tx1"/>
                </a:solidFill>
                <a:effectLst/>
                <a:latin typeface="+mn-lt"/>
                <a:ea typeface="+mn-ea"/>
                <a:cs typeface="+mn-cs"/>
              </a:rPr>
              <a:t>Located at the bottom-right corner.</a:t>
            </a:r>
          </a:p>
          <a:p>
            <a:pPr fontAlgn="t"/>
            <a:r>
              <a:rPr lang="en-US" sz="1200" b="0" i="0" kern="1200" dirty="0" smtClean="0">
                <a:solidFill>
                  <a:schemeClr val="tx1"/>
                </a:solidFill>
                <a:effectLst/>
                <a:latin typeface="+mn-lt"/>
                <a:ea typeface="+mn-ea"/>
                <a:cs typeface="+mn-cs"/>
              </a:rPr>
              <a:t>Includes Normal, Page Layout, and Page Break Preview.</a:t>
            </a:r>
          </a:p>
          <a:p>
            <a:pPr fontAlgn="t"/>
            <a:r>
              <a:rPr lang="en-US" sz="1200" b="0" i="0" kern="1200" dirty="0" smtClean="0">
                <a:solidFill>
                  <a:schemeClr val="tx1"/>
                </a:solidFill>
                <a:effectLst/>
                <a:latin typeface="+mn-lt"/>
                <a:ea typeface="+mn-ea"/>
                <a:cs typeface="+mn-cs"/>
              </a:rPr>
              <a:t>Zoom slider to adjust the zoom level of the worksheet.</a:t>
            </a:r>
          </a:p>
        </p:txBody>
      </p:sp>
      <p:sp>
        <p:nvSpPr>
          <p:cNvPr id="4" name="Slide Number Placeholder 3"/>
          <p:cNvSpPr>
            <a:spLocks noGrp="1"/>
          </p:cNvSpPr>
          <p:nvPr>
            <p:ph type="sldNum" sz="quarter" idx="10"/>
          </p:nvPr>
        </p:nvSpPr>
        <p:spPr/>
        <p:txBody>
          <a:bodyPr/>
          <a:lstStyle/>
          <a:p>
            <a:fld id="{61387AB6-0C90-4C13-BFEE-4EBE8F3CA032}" type="slidenum">
              <a:rPr lang="en-IN" smtClean="0"/>
              <a:t>6</a:t>
            </a:fld>
            <a:endParaRPr lang="en-IN"/>
          </a:p>
        </p:txBody>
      </p:sp>
    </p:spTree>
    <p:extLst>
      <p:ext uri="{BB962C8B-B14F-4D97-AF65-F5344CB8AC3E}">
        <p14:creationId xmlns:p14="http://schemas.microsoft.com/office/powerpoint/2010/main" val="39863296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Data entry is the first and most basic task when working in Microsoft Excel. A worksheet in Excel is made up of rows and columns that intersect to form cells. Every cell has a unique address based on its column label and row number. For example, the cell in column A and row 1 is referred to as A1. Knowing cell addresses is important because formulas and references in Excel depend on them.</a:t>
            </a:r>
          </a:p>
          <a:p>
            <a:r>
              <a:rPr lang="en-US" sz="1200" b="0" i="0" kern="1200" dirty="0" smtClean="0">
                <a:solidFill>
                  <a:schemeClr val="tx1"/>
                </a:solidFill>
                <a:effectLst/>
                <a:latin typeface="+mn-lt"/>
                <a:ea typeface="+mn-ea"/>
                <a:cs typeface="+mn-cs"/>
              </a:rPr>
              <a:t>Data can be entered into Excel by simply clicking on a cell and typing, or by pasting information copied from another file. For example, a student list can be copied from a text file and pasted into a worksheet.</a:t>
            </a:r>
          </a:p>
          <a:p>
            <a:r>
              <a:rPr lang="en-US" sz="1200" b="0" i="0" kern="1200" dirty="0" smtClean="0">
                <a:solidFill>
                  <a:schemeClr val="tx1"/>
                </a:solidFill>
                <a:effectLst/>
                <a:latin typeface="+mn-lt"/>
                <a:ea typeface="+mn-ea"/>
                <a:cs typeface="+mn-cs"/>
              </a:rPr>
              <a:t>Excel allows different types of data:</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Text is used for names, categories, or labels, such as entering "Mathematics" in the header of a column.</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Numbers are used for values like marks, quantities, or expenses. For instance, entering "75" for a test score.</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Dates and Time are useful for recording daily schedules, attendance, or event dates. If you type "12/08/2025," Excel will store it as a date and allow you to perform date-based calculations.</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Symbols or Special Characters like percentage signs or currency symbols can also be included when required, for example, entering "50%" or "₹500."</a:t>
            </a:r>
          </a:p>
          <a:p>
            <a:r>
              <a:rPr lang="en-US" sz="1200" b="0" i="0" kern="1200" dirty="0" smtClean="0">
                <a:solidFill>
                  <a:schemeClr val="tx1"/>
                </a:solidFill>
                <a:effectLst/>
                <a:latin typeface="+mn-lt"/>
                <a:ea typeface="+mn-ea"/>
                <a:cs typeface="+mn-cs"/>
              </a:rPr>
              <a:t>It is important to distinguish between data formats because Excel interprets them differently. For example, entering "12082025" will be considered a number, while typing "12/08/2025" will be treated as a date. This distinction matters because calculations and formatting options change depending on the data type.</a:t>
            </a:r>
          </a:p>
        </p:txBody>
      </p:sp>
      <p:sp>
        <p:nvSpPr>
          <p:cNvPr id="4" name="Slide Number Placeholder 3"/>
          <p:cNvSpPr>
            <a:spLocks noGrp="1"/>
          </p:cNvSpPr>
          <p:nvPr>
            <p:ph type="sldNum" sz="quarter" idx="10"/>
          </p:nvPr>
        </p:nvSpPr>
        <p:spPr/>
        <p:txBody>
          <a:bodyPr/>
          <a:lstStyle/>
          <a:p>
            <a:fld id="{61387AB6-0C90-4C13-BFEE-4EBE8F3CA032}" type="slidenum">
              <a:rPr lang="en-IN" smtClean="0"/>
              <a:t>7</a:t>
            </a:fld>
            <a:endParaRPr lang="en-IN"/>
          </a:p>
        </p:txBody>
      </p:sp>
    </p:spTree>
    <p:extLst>
      <p:ext uri="{BB962C8B-B14F-4D97-AF65-F5344CB8AC3E}">
        <p14:creationId xmlns:p14="http://schemas.microsoft.com/office/powerpoint/2010/main" val="34064801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Basic formulas are one of the most powerful features of Excel because they allow you to perform calculations on multiple cells at once. Instead of adding numbers one by one or using a calculator, Excel can process entire ranges of data instantly. These formulas are particularly useful when working with large amounts of data, such as student records, expense lists, or inventory numbers.</a:t>
            </a:r>
          </a:p>
          <a:p>
            <a:r>
              <a:rPr lang="en-US" sz="1200" b="0" i="0" kern="1200" dirty="0" smtClean="0">
                <a:solidFill>
                  <a:schemeClr val="tx1"/>
                </a:solidFill>
                <a:effectLst/>
                <a:latin typeface="+mn-lt"/>
                <a:ea typeface="+mn-ea"/>
                <a:cs typeface="+mn-cs"/>
              </a:rPr>
              <a:t>The beauty of Excel formulas is that they work automatically. If any number in your data changes, the formula result updates immediately without having to recalculate manually. </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Let us understand each basic formula with practical examples:</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SUM Function – This adds all numbers in a range. The syntax is =SUM(range). For example, if student marks are in cells B2 to B10, typing =SUM(B2:B10) in cell B12 will give the total of all marks. This is useful for calculating total expenses, total attendance, or combined scores across subjects.</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AVERAGE Function – This calculates the mean of numbers in a range. The syntax is =AVERAGE(range). Using =AVERAGE(B2:B10) will show the average marks of students. This helps teachers understand class performance or helps individuals track their monthly expenses on average.</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COUNT Function – This counts how many cells contain numbers in a range. The syntax is =COUNT(range). Using =COUNT(B2:B10) will tell you how many students have marks recorded. This is helpful for attendance tracking or counting how many transactions occurred in a month.</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MIN Function – This finds the smallest number in a range. The syntax is =MIN(range). Using =MIN(B2:B10) will show the lowest mark in the class. In real life, this can help identify the minimum expense in a budget or the lowest temperature recorded in a week.</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MAX Function – This finds the largest number in a range. The syntax is =MAX(range). Using =MAX(B2:B10) will show the highest mark in the class. This can help find peak sales, highest temperature, or maximum expenditure in a given period.</a:t>
            </a:r>
          </a:p>
        </p:txBody>
      </p:sp>
      <p:sp>
        <p:nvSpPr>
          <p:cNvPr id="4" name="Slide Number Placeholder 3"/>
          <p:cNvSpPr>
            <a:spLocks noGrp="1"/>
          </p:cNvSpPr>
          <p:nvPr>
            <p:ph type="sldNum" sz="quarter" idx="10"/>
          </p:nvPr>
        </p:nvSpPr>
        <p:spPr/>
        <p:txBody>
          <a:bodyPr/>
          <a:lstStyle/>
          <a:p>
            <a:fld id="{61387AB6-0C90-4C13-BFEE-4EBE8F3CA032}" type="slidenum">
              <a:rPr lang="en-IN" smtClean="0"/>
              <a:t>8</a:t>
            </a:fld>
            <a:endParaRPr lang="en-IN"/>
          </a:p>
        </p:txBody>
      </p:sp>
    </p:spTree>
    <p:extLst>
      <p:ext uri="{BB962C8B-B14F-4D97-AF65-F5344CB8AC3E}">
        <p14:creationId xmlns:p14="http://schemas.microsoft.com/office/powerpoint/2010/main" val="19232335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Sorting and filtering are two of the most powerful features in Excel for managing large amounts of data. While both tools help you work with data more efficiently, they work in completely different ways and serve different purposes. It is important to understand when to use each tool.</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Sorting physically rearranges your data. When you sort a column, Excel moves the entire rows to put them in the order you specified. For example, if you sort student marks from highest to lowest, Excel will rearrange all the rows so that the student with the highest marks appears at the top, followed by the second highest, and so on. The original order of your data is changed permanently until you sort it differently. This is useful when you want to create ranked lists, arrange names alphabetically for reports, or organize dates chronologically. Once sorted, the data stays in that new arrangement.</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Filtering, on the other hand, does not move or rearrange anything. Instead, it temporarily hides rows that do not match your criteria. For example, if you filter to show only students with marks above 80, Excel will hide all other rows but the data remains in its original position. When you remove the filter, all the hidden rows reappear exactly where they were before. This is useful when you want to focus on specific information without losing the original organization of your data.</a:t>
            </a:r>
          </a:p>
        </p:txBody>
      </p:sp>
      <p:sp>
        <p:nvSpPr>
          <p:cNvPr id="4" name="Slide Number Placeholder 3"/>
          <p:cNvSpPr>
            <a:spLocks noGrp="1"/>
          </p:cNvSpPr>
          <p:nvPr>
            <p:ph type="sldNum" sz="quarter" idx="10"/>
          </p:nvPr>
        </p:nvSpPr>
        <p:spPr/>
        <p:txBody>
          <a:bodyPr/>
          <a:lstStyle/>
          <a:p>
            <a:fld id="{61387AB6-0C90-4C13-BFEE-4EBE8F3CA032}" type="slidenum">
              <a:rPr lang="en-IN" smtClean="0"/>
              <a:t>9</a:t>
            </a:fld>
            <a:endParaRPr lang="en-IN"/>
          </a:p>
        </p:txBody>
      </p:sp>
    </p:spTree>
    <p:extLst>
      <p:ext uri="{BB962C8B-B14F-4D97-AF65-F5344CB8AC3E}">
        <p14:creationId xmlns:p14="http://schemas.microsoft.com/office/powerpoint/2010/main" val="28159492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Conditional formatting is a useful feature in Excel that allows cells to change their appearance automatically when certain conditions are met. This feature helps highlight key data points without having to scan through rows and columns manually. For example, if you are managing student marks, conditional formatting can highlight all marks below a passing score in red, making it easy to identify students who need extra help.</a:t>
            </a:r>
          </a:p>
          <a:p>
            <a:r>
              <a:rPr lang="en-US" sz="1200" b="0" i="0" kern="1200" dirty="0" smtClean="0">
                <a:solidFill>
                  <a:schemeClr val="tx1"/>
                </a:solidFill>
                <a:effectLst/>
                <a:latin typeface="+mn-lt"/>
                <a:ea typeface="+mn-ea"/>
                <a:cs typeface="+mn-cs"/>
              </a:rPr>
              <a:t>The formatting changes can include cell background colors, font colors, bold or italic text, borders, or patterns. These visual cues make it easier to spot trends or problems quickly, even in large datasets.</a:t>
            </a:r>
          </a:p>
          <a:p>
            <a:r>
              <a:rPr lang="en-US" sz="1200" b="0" i="0" kern="1200" dirty="0" smtClean="0">
                <a:solidFill>
                  <a:schemeClr val="tx1"/>
                </a:solidFill>
                <a:effectLst/>
                <a:latin typeface="+mn-lt"/>
                <a:ea typeface="+mn-ea"/>
                <a:cs typeface="+mn-cs"/>
              </a:rPr>
              <a:t>You can set rules based on numbers or text. For instance, you might want cells to turn green if the value is above a target score, or highlight duplicate entries to catch errors. Text-based rules could highlight all cells containing a certain word or letter.</a:t>
            </a:r>
          </a:p>
          <a:p>
            <a:r>
              <a:rPr lang="en-US" sz="1200" b="0" i="0" kern="1200" dirty="0" smtClean="0">
                <a:solidFill>
                  <a:schemeClr val="tx1"/>
                </a:solidFill>
                <a:effectLst/>
                <a:latin typeface="+mn-lt"/>
                <a:ea typeface="+mn-ea"/>
                <a:cs typeface="+mn-cs"/>
              </a:rPr>
              <a:t>By using conditional formatting, users transform plain data into visually meaningful information, helping with faster data interpretation and making better decisions. For example, a sales report could use conditional formatting to show months where sales were above or below average, or an attendance sheet could highlight days with low attendance.</a:t>
            </a:r>
          </a:p>
        </p:txBody>
      </p:sp>
      <p:sp>
        <p:nvSpPr>
          <p:cNvPr id="4" name="Slide Number Placeholder 3"/>
          <p:cNvSpPr>
            <a:spLocks noGrp="1"/>
          </p:cNvSpPr>
          <p:nvPr>
            <p:ph type="sldNum" sz="quarter" idx="10"/>
          </p:nvPr>
        </p:nvSpPr>
        <p:spPr/>
        <p:txBody>
          <a:bodyPr/>
          <a:lstStyle/>
          <a:p>
            <a:fld id="{61387AB6-0C90-4C13-BFEE-4EBE8F3CA032}" type="slidenum">
              <a:rPr lang="en-IN" smtClean="0"/>
              <a:t>11</a:t>
            </a:fld>
            <a:endParaRPr lang="en-IN"/>
          </a:p>
        </p:txBody>
      </p:sp>
    </p:spTree>
    <p:extLst>
      <p:ext uri="{BB962C8B-B14F-4D97-AF65-F5344CB8AC3E}">
        <p14:creationId xmlns:p14="http://schemas.microsoft.com/office/powerpoint/2010/main" val="26274944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smtClean="0">
                <a:solidFill>
                  <a:schemeClr val="tx1"/>
                </a:solidFill>
                <a:effectLst/>
                <a:latin typeface="Arial" panose="020B0604020202020204" pitchFamily="34" charset="0"/>
                <a:ea typeface="+mn-ea"/>
                <a:cs typeface="Arial" panose="020B0604020202020204" pitchFamily="34" charset="0"/>
              </a:rPr>
              <a:t>Charts are essential for communicating data insights visually. Different chart types serve different purposes: Column and Bar charts are ideal for comparing categories.</a:t>
            </a:r>
          </a:p>
          <a:p>
            <a:r>
              <a:rPr lang="en-US" sz="1200" b="0" i="0" u="none" strike="noStrike" kern="1200" dirty="0" smtClean="0">
                <a:solidFill>
                  <a:schemeClr val="tx1"/>
                </a:solidFill>
                <a:effectLst/>
                <a:latin typeface="Arial" panose="020B0604020202020204" pitchFamily="34" charset="0"/>
                <a:ea typeface="+mn-ea"/>
                <a:cs typeface="Arial" panose="020B0604020202020204" pitchFamily="34" charset="0"/>
              </a:rPr>
              <a:t>Line charts are used to show trends over time; and Pie or Donut charts are effective for illustrating part-to-whole relationships, especially when there are five or fewer slices.</a:t>
            </a:r>
          </a:p>
          <a:p>
            <a:r>
              <a:rPr lang="en-US" sz="1200" b="0" i="0" u="none" strike="noStrike" kern="1200" dirty="0" smtClean="0">
                <a:solidFill>
                  <a:schemeClr val="tx1"/>
                </a:solidFill>
                <a:effectLst/>
                <a:latin typeface="Arial" panose="020B0604020202020204" pitchFamily="34" charset="0"/>
                <a:ea typeface="+mn-ea"/>
                <a:cs typeface="Arial" panose="020B0604020202020204" pitchFamily="34" charset="0"/>
              </a:rPr>
              <a:t>To ensure clarity and effectiveness, charts should include clear titles, sort bars, and avoid unnecessary 3D effects. </a:t>
            </a:r>
          </a:p>
          <a:p>
            <a:r>
              <a:rPr lang="en-US" sz="1200" b="0" i="0" u="none" strike="noStrike" kern="1200" dirty="0" smtClean="0">
                <a:solidFill>
                  <a:schemeClr val="tx1"/>
                </a:solidFill>
                <a:effectLst/>
                <a:latin typeface="Arial" panose="020B0604020202020204" pitchFamily="34" charset="0"/>
                <a:ea typeface="+mn-ea"/>
                <a:cs typeface="Arial" panose="020B0604020202020204" pitchFamily="34" charset="0"/>
              </a:rPr>
              <a:t>Good chart hygiene enhances readability and helps the audience quickly grasp the key messages. </a:t>
            </a:r>
          </a:p>
          <a:p>
            <a:r>
              <a:rPr lang="en-US" sz="1200" b="0" i="0" u="none" strike="noStrike" kern="1200" dirty="0" smtClean="0">
                <a:solidFill>
                  <a:schemeClr val="tx1"/>
                </a:solidFill>
                <a:effectLst/>
                <a:latin typeface="Arial" panose="020B0604020202020204" pitchFamily="34" charset="0"/>
                <a:ea typeface="+mn-ea"/>
                <a:cs typeface="Arial" panose="020B0604020202020204" pitchFamily="34" charset="0"/>
              </a:rPr>
              <a:t>By selecting the appropriate chart type and maintaining visual clarity, users can make their data presentations more impactful and persuasive.</a:t>
            </a:r>
            <a:r>
              <a:rPr lang="en-US" sz="1200" b="0" i="0" kern="1200" dirty="0" smtClean="0">
                <a:solidFill>
                  <a:schemeClr val="tx1"/>
                </a:solidFill>
                <a:effectLst/>
                <a:latin typeface="Arial" panose="020B0604020202020204" pitchFamily="34" charset="0"/>
                <a:ea typeface="+mn-ea"/>
                <a:cs typeface="Arial" panose="020B0604020202020204" pitchFamily="34" charset="0"/>
              </a:rPr>
              <a:t>​</a:t>
            </a:r>
            <a:endParaRPr lang="en-IN" dirty="0" smtClean="0"/>
          </a:p>
          <a:p>
            <a:endParaRPr lang="en-IN" dirty="0"/>
          </a:p>
        </p:txBody>
      </p:sp>
      <p:sp>
        <p:nvSpPr>
          <p:cNvPr id="4" name="Slide Number Placeholder 3"/>
          <p:cNvSpPr>
            <a:spLocks noGrp="1"/>
          </p:cNvSpPr>
          <p:nvPr>
            <p:ph type="sldNum" sz="quarter" idx="10"/>
          </p:nvPr>
        </p:nvSpPr>
        <p:spPr/>
        <p:txBody>
          <a:bodyPr/>
          <a:lstStyle/>
          <a:p>
            <a:fld id="{61387AB6-0C90-4C13-BFEE-4EBE8F3CA032}" type="slidenum">
              <a:rPr lang="en-IN" smtClean="0"/>
              <a:t>12</a:t>
            </a:fld>
            <a:endParaRPr lang="en-IN"/>
          </a:p>
        </p:txBody>
      </p:sp>
    </p:spTree>
    <p:extLst>
      <p:ext uri="{BB962C8B-B14F-4D97-AF65-F5344CB8AC3E}">
        <p14:creationId xmlns:p14="http://schemas.microsoft.com/office/powerpoint/2010/main" val="3560616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1" kern="1200" dirty="0" smtClean="0">
                <a:solidFill>
                  <a:schemeClr val="tx1"/>
                </a:solidFill>
                <a:effectLst/>
                <a:latin typeface="+mn-lt"/>
                <a:ea typeface="+mn-ea"/>
                <a:cs typeface="+mn-cs"/>
              </a:rPr>
              <a:t>Bar Chart</a:t>
            </a:r>
          </a:p>
          <a:p>
            <a:r>
              <a:rPr lang="en-US" sz="1200" b="0" i="0" kern="1200" dirty="0" smtClean="0">
                <a:solidFill>
                  <a:schemeClr val="tx1"/>
                </a:solidFill>
                <a:effectLst/>
                <a:latin typeface="+mn-lt"/>
                <a:ea typeface="+mn-ea"/>
                <a:cs typeface="+mn-cs"/>
              </a:rPr>
              <a:t>A bar chart is one of the simplest and most commonly used charts in Excel. It uses rectangular bars to represent data values. The key idea is that the length of each bar directly represents the quantity or value of the data point, allowing easy comparison between categories.</a:t>
            </a:r>
          </a:p>
          <a:p>
            <a:r>
              <a:rPr lang="en-US" sz="1200" b="0" i="0" kern="1200" dirty="0" smtClean="0">
                <a:solidFill>
                  <a:schemeClr val="tx1"/>
                </a:solidFill>
                <a:effectLst/>
                <a:latin typeface="+mn-lt"/>
                <a:ea typeface="+mn-ea"/>
                <a:cs typeface="+mn-cs"/>
              </a:rPr>
              <a:t>For example, a teacher might use a bar chart to compare the marks obtained by different students in an exam. Each student’s marks are represented as a bar, and it is simple to see who scored the highest or lowest by looking at the bar lengths.</a:t>
            </a:r>
          </a:p>
          <a:p>
            <a:endParaRPr lang="en-US" sz="1200" b="0" i="0" kern="1200" dirty="0" smtClean="0">
              <a:solidFill>
                <a:schemeClr val="tx1"/>
              </a:solidFill>
              <a:effectLst/>
              <a:latin typeface="+mn-lt"/>
              <a:ea typeface="+mn-ea"/>
              <a:cs typeface="+mn-cs"/>
            </a:endParaRPr>
          </a:p>
          <a:p>
            <a:r>
              <a:rPr lang="en-US" sz="1200" b="1" i="1" kern="1200" dirty="0" smtClean="0">
                <a:solidFill>
                  <a:schemeClr val="tx1"/>
                </a:solidFill>
                <a:effectLst/>
                <a:latin typeface="+mn-lt"/>
                <a:ea typeface="+mn-ea"/>
                <a:cs typeface="+mn-cs"/>
              </a:rPr>
              <a:t>Line Chart</a:t>
            </a:r>
          </a:p>
          <a:p>
            <a:r>
              <a:rPr lang="en-US" sz="1200" b="0" i="0" kern="1200" dirty="0" smtClean="0">
                <a:solidFill>
                  <a:schemeClr val="tx1"/>
                </a:solidFill>
                <a:effectLst/>
                <a:latin typeface="+mn-lt"/>
                <a:ea typeface="+mn-ea"/>
                <a:cs typeface="+mn-cs"/>
              </a:rPr>
              <a:t>A line chart is a useful way to show how data values change over time or across a sequence. It connects points with lines, emphasizing the flow from one data point to the next. This makes it easier to identify patterns such as increases, decreases, or consistent trends.</a:t>
            </a:r>
          </a:p>
          <a:p>
            <a:r>
              <a:rPr lang="en-US" sz="1200" b="0" i="0" kern="1200" dirty="0" smtClean="0">
                <a:solidFill>
                  <a:schemeClr val="tx1"/>
                </a:solidFill>
                <a:effectLst/>
                <a:latin typeface="+mn-lt"/>
                <a:ea typeface="+mn-ea"/>
                <a:cs typeface="+mn-cs"/>
              </a:rPr>
              <a:t>For example, a teacher might use a line chart to track a student’s marks over several exams. The connected points can show if the student’s performance is improving, staying the same, or declining. </a:t>
            </a:r>
          </a:p>
          <a:p>
            <a:endParaRPr lang="en-US" sz="1200" b="1" i="1" kern="1200" dirty="0" smtClean="0">
              <a:solidFill>
                <a:schemeClr val="tx1"/>
              </a:solidFill>
              <a:effectLst/>
              <a:latin typeface="+mn-lt"/>
              <a:ea typeface="+mn-ea"/>
              <a:cs typeface="+mn-cs"/>
            </a:endParaRPr>
          </a:p>
          <a:p>
            <a:r>
              <a:rPr lang="en-US" sz="1200" b="1" i="1" kern="1200" dirty="0" smtClean="0">
                <a:solidFill>
                  <a:schemeClr val="tx1"/>
                </a:solidFill>
                <a:effectLst/>
                <a:latin typeface="+mn-lt"/>
                <a:ea typeface="+mn-ea"/>
                <a:cs typeface="+mn-cs"/>
              </a:rPr>
              <a:t>Pie</a:t>
            </a:r>
            <a:r>
              <a:rPr lang="en-US" sz="1200" b="1" i="1" kern="1200" baseline="0" dirty="0" smtClean="0">
                <a:solidFill>
                  <a:schemeClr val="tx1"/>
                </a:solidFill>
                <a:effectLst/>
                <a:latin typeface="+mn-lt"/>
                <a:ea typeface="+mn-ea"/>
                <a:cs typeface="+mn-cs"/>
              </a:rPr>
              <a:t> Chart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A pie chart divides a circle into slices where each slice size corresponds to the proportion of that part compared to the whole. This makes it easy to see how a total is distributed among different categories. For example, a teacher might use a pie chart to show the percentage of students who passed, failed, or were absent from an exam. Each slice would represent one of these categories, and the size of the slice reflects its share of the total student group.</a:t>
            </a:r>
          </a:p>
        </p:txBody>
      </p:sp>
      <p:sp>
        <p:nvSpPr>
          <p:cNvPr id="4" name="Slide Number Placeholder 3"/>
          <p:cNvSpPr>
            <a:spLocks noGrp="1"/>
          </p:cNvSpPr>
          <p:nvPr>
            <p:ph type="sldNum" sz="quarter" idx="10"/>
          </p:nvPr>
        </p:nvSpPr>
        <p:spPr/>
        <p:txBody>
          <a:bodyPr/>
          <a:lstStyle/>
          <a:p>
            <a:fld id="{61387AB6-0C90-4C13-BFEE-4EBE8F3CA032}" type="slidenum">
              <a:rPr lang="en-IN" smtClean="0"/>
              <a:t>13</a:t>
            </a:fld>
            <a:endParaRPr lang="en-IN"/>
          </a:p>
        </p:txBody>
      </p:sp>
    </p:spTree>
    <p:extLst>
      <p:ext uri="{BB962C8B-B14F-4D97-AF65-F5344CB8AC3E}">
        <p14:creationId xmlns:p14="http://schemas.microsoft.com/office/powerpoint/2010/main" val="11711836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Pivot tables are one of the most powerful features in Excel for working with large volumes of data. They allow users to organize and summarize data in ways that are meaningful without altering the original dataset. With just drag-and-drop actions, you can group and calculate data such as totals, averages, or counts.</a:t>
            </a:r>
          </a:p>
          <a:p>
            <a:r>
              <a:rPr lang="en-US" sz="1200" b="0" i="0" kern="1200" dirty="0" smtClean="0">
                <a:solidFill>
                  <a:schemeClr val="tx1"/>
                </a:solidFill>
                <a:effectLst/>
                <a:latin typeface="+mn-lt"/>
                <a:ea typeface="+mn-ea"/>
                <a:cs typeface="+mn-cs"/>
              </a:rPr>
              <a:t>For example, a sales report could use a pivot table to show total sales by product, region, or salesperson quickly. You can change rows and columns to see the data from different angles easily.</a:t>
            </a:r>
          </a:p>
          <a:p>
            <a:r>
              <a:rPr lang="en-US" sz="1200" b="0" i="0" kern="1200" dirty="0" smtClean="0">
                <a:solidFill>
                  <a:schemeClr val="tx1"/>
                </a:solidFill>
                <a:effectLst/>
                <a:latin typeface="+mn-lt"/>
                <a:ea typeface="+mn-ea"/>
                <a:cs typeface="+mn-cs"/>
              </a:rPr>
              <a:t>Pivot charts link directly to pivot tables and update automatically when the data is changed or filtered in the table. This means any adjustments in summaries instantly reflect in the visuals, helping users quickly identify important patterns or trends.</a:t>
            </a:r>
          </a:p>
          <a:p>
            <a:endParaRPr lang="en-IN" dirty="0"/>
          </a:p>
        </p:txBody>
      </p:sp>
      <p:sp>
        <p:nvSpPr>
          <p:cNvPr id="4" name="Slide Number Placeholder 3"/>
          <p:cNvSpPr>
            <a:spLocks noGrp="1"/>
          </p:cNvSpPr>
          <p:nvPr>
            <p:ph type="sldNum" sz="quarter" idx="10"/>
          </p:nvPr>
        </p:nvSpPr>
        <p:spPr/>
        <p:txBody>
          <a:bodyPr/>
          <a:lstStyle/>
          <a:p>
            <a:fld id="{61387AB6-0C90-4C13-BFEE-4EBE8F3CA032}" type="slidenum">
              <a:rPr lang="en-IN" smtClean="0"/>
              <a:t>14</a:t>
            </a:fld>
            <a:endParaRPr lang="en-IN"/>
          </a:p>
        </p:txBody>
      </p:sp>
    </p:spTree>
    <p:extLst>
      <p:ext uri="{BB962C8B-B14F-4D97-AF65-F5344CB8AC3E}">
        <p14:creationId xmlns:p14="http://schemas.microsoft.com/office/powerpoint/2010/main" val="32558012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Microsoft Copilot is essentially your free AI assistant that you access through any web browser. Think of it as having a knowledgeable helper who can draft documents, help with Excel formulas, plan presentations, and answer questions – all through simple conversation.</a:t>
            </a:r>
          </a:p>
          <a:p>
            <a:r>
              <a:rPr lang="en-US" sz="1200" b="0" i="0" kern="1200" dirty="0" smtClean="0">
                <a:solidFill>
                  <a:schemeClr val="tx1"/>
                </a:solidFill>
                <a:effectLst/>
                <a:latin typeface="+mn-lt"/>
                <a:ea typeface="+mn-ea"/>
                <a:cs typeface="+mn-cs"/>
              </a:rPr>
              <a:t>It is powered by advanced AI models (currently GPT-4 technology as of 2026) and is designed specifically for productivity tasks.</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While the premium "Microsoft 365 Copilot" that works directly inside desktop Office apps requires a paid subscription, the free Copilot Chat we will use today is surprisingly powerful.</a:t>
            </a:r>
          </a:p>
          <a:p>
            <a:r>
              <a:rPr lang="en-US" sz="1200" b="0" i="0" kern="1200" dirty="0" smtClean="0">
                <a:solidFill>
                  <a:schemeClr val="tx1"/>
                </a:solidFill>
                <a:effectLst/>
                <a:latin typeface="+mn-lt"/>
                <a:ea typeface="+mn-ea"/>
                <a:cs typeface="+mn-cs"/>
              </a:rPr>
              <a:t>You can access it from any computer, tablet, or even your phone by going to copilot.microsoft.com and signing in.</a:t>
            </a:r>
            <a:endParaRPr lang="en-IN" dirty="0" smtClean="0"/>
          </a:p>
        </p:txBody>
      </p:sp>
      <p:sp>
        <p:nvSpPr>
          <p:cNvPr id="4" name="Slide Number Placeholder 3"/>
          <p:cNvSpPr>
            <a:spLocks noGrp="1"/>
          </p:cNvSpPr>
          <p:nvPr>
            <p:ph type="sldNum" sz="quarter" idx="10"/>
          </p:nvPr>
        </p:nvSpPr>
        <p:spPr/>
        <p:txBody>
          <a:bodyPr/>
          <a:lstStyle/>
          <a:p>
            <a:fld id="{61387AB6-0C90-4C13-BFEE-4EBE8F3CA032}" type="slidenum">
              <a:rPr lang="en-IN" smtClean="0"/>
              <a:t>16</a:t>
            </a:fld>
            <a:endParaRPr lang="en-IN"/>
          </a:p>
        </p:txBody>
      </p:sp>
    </p:spTree>
    <p:extLst>
      <p:ext uri="{BB962C8B-B14F-4D97-AF65-F5344CB8AC3E}">
        <p14:creationId xmlns:p14="http://schemas.microsoft.com/office/powerpoint/2010/main" val="19035496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b="0" i="0" kern="1200" dirty="0" smtClean="0">
                <a:solidFill>
                  <a:schemeClr val="tx1"/>
                </a:solidFill>
                <a:effectLst/>
                <a:latin typeface="+mn-lt"/>
                <a:ea typeface="+mn-ea"/>
                <a:cs typeface="+mn-cs"/>
              </a:rPr>
              <a:t>Let me clarify what you have access to with just your free Microsoft account.</a:t>
            </a:r>
          </a:p>
          <a:p>
            <a:pPr marL="228600" indent="-228600">
              <a:buFont typeface="Arial" panose="020B0604020202020204" pitchFamily="34" charset="0"/>
              <a:buAutoNum type="arabicPeriod"/>
            </a:pPr>
            <a:r>
              <a:rPr lang="en-US" sz="1200" b="0" i="0" kern="1200" dirty="0" smtClean="0">
                <a:solidFill>
                  <a:schemeClr val="tx1"/>
                </a:solidFill>
                <a:effectLst/>
                <a:latin typeface="+mn-lt"/>
                <a:ea typeface="+mn-ea"/>
                <a:cs typeface="+mn-cs"/>
              </a:rPr>
              <a:t>First, Copilot Chat – this is your main AI assistant that you will access through your browser.</a:t>
            </a:r>
          </a:p>
          <a:p>
            <a:pPr marL="228600" indent="-228600">
              <a:buFont typeface="Arial" panose="020B0604020202020204" pitchFamily="34" charset="0"/>
              <a:buAutoNum type="arabicPeriod"/>
            </a:pPr>
            <a:r>
              <a:rPr lang="en-US" sz="1200" b="0" i="0" kern="1200" dirty="0" smtClean="0">
                <a:solidFill>
                  <a:schemeClr val="tx1"/>
                </a:solidFill>
                <a:effectLst/>
                <a:latin typeface="+mn-lt"/>
                <a:ea typeface="+mn-ea"/>
                <a:cs typeface="+mn-cs"/>
              </a:rPr>
              <a:t>Second, the Office Online apps – Word Online, Excel Online, and PowerPoint Online. These are web-based versions of the Office applications that work in your browser without installing anything. They are not quite as feature-rich as the desktop versions, but they have all the essential functionality you need for coursework and projects.</a:t>
            </a:r>
          </a:p>
          <a:p>
            <a:pPr marL="228600" indent="-228600">
              <a:buFont typeface="Arial" panose="020B0604020202020204" pitchFamily="34" charset="0"/>
              <a:buAutoNum type="arabicPeriod"/>
            </a:pPr>
            <a:r>
              <a:rPr lang="en-US" sz="1200" b="0" i="0" kern="1200" dirty="0" smtClean="0">
                <a:solidFill>
                  <a:schemeClr val="tx1"/>
                </a:solidFill>
                <a:effectLst/>
                <a:latin typeface="+mn-lt"/>
                <a:ea typeface="+mn-ea"/>
                <a:cs typeface="+mn-cs"/>
              </a:rPr>
              <a:t>Third, you get 5GB of free OneDrive storage to save your files in the cloud, meaning you can access them from any device.</a:t>
            </a:r>
          </a:p>
          <a:p>
            <a:pPr marL="228600" indent="-228600">
              <a:buFont typeface="Arial" panose="020B0604020202020204" pitchFamily="34" charset="0"/>
              <a:buAutoNum type="arabicPeriod"/>
            </a:pPr>
            <a:r>
              <a:rPr lang="en-US" sz="1200" b="0" i="0" kern="1200" dirty="0" smtClean="0">
                <a:solidFill>
                  <a:schemeClr val="tx1"/>
                </a:solidFill>
                <a:effectLst/>
                <a:latin typeface="+mn-lt"/>
                <a:ea typeface="+mn-ea"/>
                <a:cs typeface="+mn-cs"/>
              </a:rPr>
              <a:t>Finally, you can share documents and work together with classmates in real-time.</a:t>
            </a:r>
          </a:p>
          <a:p>
            <a:pPr marL="0" indent="0">
              <a:buFont typeface="Arial" panose="020B0604020202020204" pitchFamily="34" charset="0"/>
              <a:buNone/>
            </a:pPr>
            <a:endParaRPr lang="en-US" sz="1200" b="0" i="0" kern="1200" dirty="0" smtClean="0">
              <a:solidFill>
                <a:schemeClr val="tx1"/>
              </a:solidFill>
              <a:effectLst/>
              <a:latin typeface="+mn-lt"/>
              <a:ea typeface="+mn-ea"/>
              <a:cs typeface="+mn-cs"/>
            </a:endParaRPr>
          </a:p>
          <a:p>
            <a:pPr marL="0" indent="0">
              <a:buFont typeface="Arial" panose="020B0604020202020204" pitchFamily="34" charset="0"/>
              <a:buNone/>
            </a:pPr>
            <a:r>
              <a:rPr lang="en-US" sz="1200" b="0" i="0" kern="1200" dirty="0" smtClean="0">
                <a:solidFill>
                  <a:schemeClr val="tx1"/>
                </a:solidFill>
                <a:effectLst/>
                <a:latin typeface="+mn-lt"/>
                <a:ea typeface="+mn-ea"/>
                <a:cs typeface="+mn-cs"/>
              </a:rPr>
              <a:t>The key point: everything we are covering today requires zero payment – just your existing Microsoft account that you likely already have for email or other services.</a:t>
            </a:r>
          </a:p>
        </p:txBody>
      </p:sp>
      <p:sp>
        <p:nvSpPr>
          <p:cNvPr id="4" name="Slide Number Placeholder 3"/>
          <p:cNvSpPr>
            <a:spLocks noGrp="1"/>
          </p:cNvSpPr>
          <p:nvPr>
            <p:ph type="sldNum" sz="quarter" idx="10"/>
          </p:nvPr>
        </p:nvSpPr>
        <p:spPr/>
        <p:txBody>
          <a:bodyPr/>
          <a:lstStyle/>
          <a:p>
            <a:fld id="{61387AB6-0C90-4C13-BFEE-4EBE8F3CA032}" type="slidenum">
              <a:rPr lang="en-IN" smtClean="0"/>
              <a:t>17</a:t>
            </a:fld>
            <a:endParaRPr lang="en-IN"/>
          </a:p>
        </p:txBody>
      </p:sp>
    </p:spTree>
    <p:extLst>
      <p:ext uri="{BB962C8B-B14F-4D97-AF65-F5344CB8AC3E}">
        <p14:creationId xmlns:p14="http://schemas.microsoft.com/office/powerpoint/2010/main" val="36772648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Let us explore the ten powerful ways you can use Copilot to enhance your productivity, as shown in this visual framework.</a:t>
            </a:r>
          </a:p>
          <a:p>
            <a:pPr marL="228600" indent="-228600">
              <a:buAutoNum type="arabicPeriod"/>
            </a:pPr>
            <a:r>
              <a:rPr lang="en-US" sz="1200" b="1" i="1" kern="1200" dirty="0" smtClean="0">
                <a:solidFill>
                  <a:schemeClr val="tx1"/>
                </a:solidFill>
                <a:effectLst/>
                <a:latin typeface="+mn-lt"/>
                <a:ea typeface="+mn-ea"/>
                <a:cs typeface="+mn-cs"/>
              </a:rPr>
              <a:t>Summarizing documents</a:t>
            </a:r>
            <a:r>
              <a:rPr lang="en-US" sz="1200" b="0" i="0" kern="1200" dirty="0" smtClean="0">
                <a:solidFill>
                  <a:schemeClr val="tx1"/>
                </a:solidFill>
                <a:effectLst/>
                <a:latin typeface="+mn-lt"/>
                <a:ea typeface="+mn-ea"/>
                <a:cs typeface="+mn-cs"/>
              </a:rPr>
              <a:t> – instead of reading through a 20-page report, you can ask Copilot to extract the key points in bullet format, saving you hours of reading time. </a:t>
            </a:r>
          </a:p>
          <a:p>
            <a:pPr marL="228600" indent="-228600">
              <a:buAutoNum type="arabicPeriod"/>
            </a:pPr>
            <a:r>
              <a:rPr lang="en-US" sz="1200" b="1" i="1" kern="1200" dirty="0" smtClean="0">
                <a:solidFill>
                  <a:schemeClr val="tx1"/>
                </a:solidFill>
                <a:effectLst/>
                <a:latin typeface="+mn-lt"/>
                <a:ea typeface="+mn-ea"/>
                <a:cs typeface="+mn-cs"/>
              </a:rPr>
              <a:t>Generating meeting agendas</a:t>
            </a:r>
            <a:r>
              <a:rPr lang="en-US" sz="1200" b="0" i="0" kern="1200" dirty="0" smtClean="0">
                <a:solidFill>
                  <a:schemeClr val="tx1"/>
                </a:solidFill>
                <a:effectLst/>
                <a:latin typeface="+mn-lt"/>
                <a:ea typeface="+mn-ea"/>
                <a:cs typeface="+mn-cs"/>
              </a:rPr>
              <a:t> – before any meeting, you can ask Copilot to create a structured agenda based on your meeting objectives.</a:t>
            </a:r>
          </a:p>
          <a:p>
            <a:pPr marL="228600" indent="-228600">
              <a:buAutoNum type="arabicPeriod"/>
            </a:pPr>
            <a:r>
              <a:rPr lang="en-US" sz="1200" b="1" i="1" kern="1200" dirty="0" smtClean="0">
                <a:solidFill>
                  <a:schemeClr val="tx1"/>
                </a:solidFill>
                <a:effectLst/>
                <a:latin typeface="+mn-lt"/>
                <a:ea typeface="+mn-ea"/>
                <a:cs typeface="+mn-cs"/>
              </a:rPr>
              <a:t>Composing and drafting emails</a:t>
            </a:r>
            <a:r>
              <a:rPr lang="en-US" sz="1200" b="0" i="0" kern="1200" dirty="0" smtClean="0">
                <a:solidFill>
                  <a:schemeClr val="tx1"/>
                </a:solidFill>
                <a:effectLst/>
                <a:latin typeface="+mn-lt"/>
                <a:ea typeface="+mn-ea"/>
                <a:cs typeface="+mn-cs"/>
              </a:rPr>
              <a:t> – Copilot can help you write professional emails quickly. Whether you need to request information, respond to inquiries, or send formal communications, Copilot can draft the email while you focus on the key message you want to convey.</a:t>
            </a:r>
          </a:p>
          <a:p>
            <a:pPr marL="228600" indent="-228600">
              <a:buAutoNum type="arabicPeriod"/>
            </a:pPr>
            <a:r>
              <a:rPr lang="en-US" sz="1200" b="1" i="1" kern="1200" dirty="0" smtClean="0">
                <a:solidFill>
                  <a:schemeClr val="tx1"/>
                </a:solidFill>
                <a:effectLst/>
                <a:latin typeface="+mn-lt"/>
                <a:ea typeface="+mn-ea"/>
                <a:cs typeface="+mn-cs"/>
              </a:rPr>
              <a:t>Drafting documents and reports</a:t>
            </a:r>
            <a:r>
              <a:rPr lang="en-US" sz="1200" b="0" i="0" kern="1200" dirty="0" smtClean="0">
                <a:solidFill>
                  <a:schemeClr val="tx1"/>
                </a:solidFill>
                <a:effectLst/>
                <a:latin typeface="+mn-lt"/>
                <a:ea typeface="+mn-ea"/>
                <a:cs typeface="+mn-cs"/>
              </a:rPr>
              <a:t> – when you have a blank page and need to write a report or proposal, Copilot can generate the first draft based on your outline and requirements.</a:t>
            </a:r>
          </a:p>
          <a:p>
            <a:pPr marL="228600" indent="-228600">
              <a:buAutoNum type="arabicPeriod"/>
            </a:pPr>
            <a:r>
              <a:rPr lang="en-US" sz="1200" b="1" i="1" kern="1200" dirty="0" smtClean="0">
                <a:solidFill>
                  <a:schemeClr val="tx1"/>
                </a:solidFill>
                <a:effectLst/>
                <a:latin typeface="+mn-lt"/>
                <a:ea typeface="+mn-ea"/>
                <a:cs typeface="+mn-cs"/>
              </a:rPr>
              <a:t>Analyzing data and creating visualizations</a:t>
            </a:r>
            <a:r>
              <a:rPr lang="en-US" sz="1200" b="0" i="0" kern="1200" dirty="0" smtClean="0">
                <a:solidFill>
                  <a:schemeClr val="tx1"/>
                </a:solidFill>
                <a:effectLst/>
                <a:latin typeface="+mn-lt"/>
                <a:ea typeface="+mn-ea"/>
                <a:cs typeface="+mn-cs"/>
              </a:rPr>
              <a:t> – for students working with Excel data, Copilot can suggest formulas, identify trends in your data, and recommend which type of chart best represents your findings. This is invaluable when creating dashboards or data presentations, building on the Excel skills you already have.</a:t>
            </a:r>
          </a:p>
          <a:p>
            <a:pPr marL="228600" indent="-228600">
              <a:buAutoNum type="arabicPeriod"/>
            </a:pPr>
            <a:r>
              <a:rPr lang="en-US" sz="1200" b="1" i="1" kern="1200" dirty="0" smtClean="0">
                <a:solidFill>
                  <a:schemeClr val="tx1"/>
                </a:solidFill>
                <a:effectLst/>
                <a:latin typeface="+mn-lt"/>
                <a:ea typeface="+mn-ea"/>
                <a:cs typeface="+mn-cs"/>
              </a:rPr>
              <a:t>Drafting initial presentations</a:t>
            </a:r>
            <a:r>
              <a:rPr lang="en-US" sz="1200" b="0" i="0" kern="1200" dirty="0" smtClean="0">
                <a:solidFill>
                  <a:schemeClr val="tx1"/>
                </a:solidFill>
                <a:effectLst/>
                <a:latin typeface="+mn-lt"/>
                <a:ea typeface="+mn-ea"/>
                <a:cs typeface="+mn-cs"/>
              </a:rPr>
              <a:t> –</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Copilot can create presentation outlines with suggested content for each slide.</a:t>
            </a:r>
          </a:p>
          <a:p>
            <a:pPr marL="228600" indent="-228600">
              <a:buAutoNum type="arabicPeriod"/>
            </a:pPr>
            <a:r>
              <a:rPr lang="en-US" sz="1200" b="1" i="1" kern="1200" dirty="0" smtClean="0">
                <a:solidFill>
                  <a:schemeClr val="tx1"/>
                </a:solidFill>
                <a:effectLst/>
                <a:latin typeface="+mn-lt"/>
                <a:ea typeface="+mn-ea"/>
                <a:cs typeface="+mn-cs"/>
              </a:rPr>
              <a:t>Translating into multiple languages</a:t>
            </a:r>
            <a:r>
              <a:rPr lang="en-US" sz="1200" b="0" i="0" kern="1200" dirty="0" smtClean="0">
                <a:solidFill>
                  <a:schemeClr val="tx1"/>
                </a:solidFill>
                <a:effectLst/>
                <a:latin typeface="+mn-lt"/>
                <a:ea typeface="+mn-ea"/>
                <a:cs typeface="+mn-cs"/>
              </a:rPr>
              <a:t> – If you need to communicate with international audiences or understand content in another language, Copilot can translate documents while maintaining the original context and meaning.</a:t>
            </a:r>
          </a:p>
          <a:p>
            <a:pPr marL="228600" indent="-228600">
              <a:buAutoNum type="arabicPeriod"/>
            </a:pPr>
            <a:r>
              <a:rPr lang="en-US" sz="1200" b="1" i="1" kern="1200" dirty="0" smtClean="0">
                <a:solidFill>
                  <a:schemeClr val="tx1"/>
                </a:solidFill>
                <a:effectLst/>
                <a:latin typeface="+mn-lt"/>
                <a:ea typeface="+mn-ea"/>
                <a:cs typeface="+mn-cs"/>
              </a:rPr>
              <a:t>Comparing documents</a:t>
            </a:r>
            <a:r>
              <a:rPr lang="en-US" sz="1200" b="0" i="0" kern="1200" dirty="0" smtClean="0">
                <a:solidFill>
                  <a:schemeClr val="tx1"/>
                </a:solidFill>
                <a:effectLst/>
                <a:latin typeface="+mn-lt"/>
                <a:ea typeface="+mn-ea"/>
                <a:cs typeface="+mn-cs"/>
              </a:rPr>
              <a:t> – When you have multiple versions of a document or need to identify differences between similar files, Copilot can compare them and highlight what has changed.</a:t>
            </a:r>
          </a:p>
          <a:p>
            <a:pPr marL="228600" indent="-228600">
              <a:buAutoNum type="arabicPeriod"/>
            </a:pPr>
            <a:r>
              <a:rPr lang="en-US" sz="1200" b="1" i="1" kern="1200" dirty="0" smtClean="0">
                <a:solidFill>
                  <a:schemeClr val="tx1"/>
                </a:solidFill>
                <a:effectLst/>
                <a:latin typeface="+mn-lt"/>
                <a:ea typeface="+mn-ea"/>
                <a:cs typeface="+mn-cs"/>
              </a:rPr>
              <a:t>Searching for content</a:t>
            </a:r>
            <a:r>
              <a:rPr lang="en-US" sz="1200" b="0" i="0" kern="1200" dirty="0" smtClean="0">
                <a:solidFill>
                  <a:schemeClr val="tx1"/>
                </a:solidFill>
                <a:effectLst/>
                <a:latin typeface="+mn-lt"/>
                <a:ea typeface="+mn-ea"/>
                <a:cs typeface="+mn-cs"/>
              </a:rPr>
              <a:t> – Instead of manually searching through folders and files, you can ask Copilot to find specific documents, emails, or information.</a:t>
            </a:r>
          </a:p>
          <a:p>
            <a:pPr marL="228600" indent="-228600">
              <a:buAutoNum type="arabicPeriod"/>
            </a:pPr>
            <a:r>
              <a:rPr lang="en-US" sz="1200" b="1" i="1" kern="1200" dirty="0" smtClean="0">
                <a:solidFill>
                  <a:schemeClr val="tx1"/>
                </a:solidFill>
                <a:effectLst/>
                <a:latin typeface="+mn-lt"/>
                <a:ea typeface="+mn-ea"/>
                <a:cs typeface="+mn-cs"/>
              </a:rPr>
              <a:t>Conducting market research and analysis</a:t>
            </a:r>
            <a:r>
              <a:rPr lang="en-US" sz="1200" b="0" i="0" kern="1200" dirty="0" smtClean="0">
                <a:solidFill>
                  <a:schemeClr val="tx1"/>
                </a:solidFill>
                <a:effectLst/>
                <a:latin typeface="+mn-lt"/>
                <a:ea typeface="+mn-ea"/>
                <a:cs typeface="+mn-cs"/>
              </a:rPr>
              <a:t> – When you need to gather information about industry trends, competitor analysis, or market conditions, copilot can synthesize information from multiple sources.</a:t>
            </a:r>
          </a:p>
        </p:txBody>
      </p:sp>
      <p:sp>
        <p:nvSpPr>
          <p:cNvPr id="4" name="Slide Number Placeholder 3"/>
          <p:cNvSpPr>
            <a:spLocks noGrp="1"/>
          </p:cNvSpPr>
          <p:nvPr>
            <p:ph type="sldNum" sz="quarter" idx="10"/>
          </p:nvPr>
        </p:nvSpPr>
        <p:spPr/>
        <p:txBody>
          <a:bodyPr/>
          <a:lstStyle/>
          <a:p>
            <a:fld id="{61387AB6-0C90-4C13-BFEE-4EBE8F3CA032}" type="slidenum">
              <a:rPr lang="en-IN" smtClean="0"/>
              <a:t>18</a:t>
            </a:fld>
            <a:endParaRPr lang="en-IN"/>
          </a:p>
        </p:txBody>
      </p:sp>
    </p:spTree>
    <p:extLst>
      <p:ext uri="{BB962C8B-B14F-4D97-AF65-F5344CB8AC3E}">
        <p14:creationId xmlns:p14="http://schemas.microsoft.com/office/powerpoint/2010/main" val="1617444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Prompt engineering is the skill of communicating effectively with AI, and it is the most important thing you will learn today.</a:t>
            </a:r>
          </a:p>
          <a:p>
            <a:r>
              <a:rPr lang="en-US" sz="1200" b="0" i="0" kern="1200" dirty="0" smtClean="0">
                <a:solidFill>
                  <a:schemeClr val="tx1"/>
                </a:solidFill>
                <a:effectLst/>
                <a:latin typeface="+mn-lt"/>
                <a:ea typeface="+mn-ea"/>
                <a:cs typeface="+mn-cs"/>
              </a:rPr>
              <a:t>Let us compare two prompts to see the difference.</a:t>
            </a:r>
          </a:p>
          <a:p>
            <a:r>
              <a:rPr lang="en-US" sz="1200" b="1" i="1" kern="1200" dirty="0" smtClean="0">
                <a:solidFill>
                  <a:schemeClr val="tx1"/>
                </a:solidFill>
                <a:effectLst/>
                <a:latin typeface="+mn-lt"/>
                <a:ea typeface="+mn-ea"/>
                <a:cs typeface="+mn-cs"/>
              </a:rPr>
              <a:t>Poor prompt:</a:t>
            </a:r>
            <a:r>
              <a:rPr lang="en-US" sz="1200" b="0" i="0" kern="1200" dirty="0" smtClean="0">
                <a:solidFill>
                  <a:schemeClr val="tx1"/>
                </a:solidFill>
                <a:effectLst/>
                <a:latin typeface="+mn-lt"/>
                <a:ea typeface="+mn-ea"/>
                <a:cs typeface="+mn-cs"/>
              </a:rPr>
              <a:t> "Help with my essay." What is wrong with this? It does not tell Copilot what the essay is about, how long it should be, who the audience is, or what kind of help you need.</a:t>
            </a:r>
          </a:p>
          <a:p>
            <a:r>
              <a:rPr lang="en-US" sz="1200" b="1" i="1" kern="1200" dirty="0" smtClean="0">
                <a:solidFill>
                  <a:schemeClr val="tx1"/>
                </a:solidFill>
                <a:effectLst/>
                <a:latin typeface="+mn-lt"/>
                <a:ea typeface="+mn-ea"/>
                <a:cs typeface="+mn-cs"/>
              </a:rPr>
              <a:t>Good prompt:</a:t>
            </a:r>
            <a:r>
              <a:rPr lang="en-US" sz="1200" b="0" i="0" kern="1200" dirty="0" smtClean="0">
                <a:solidFill>
                  <a:schemeClr val="tx1"/>
                </a:solidFill>
                <a:effectLst/>
                <a:latin typeface="+mn-lt"/>
                <a:ea typeface="+mn-ea"/>
                <a:cs typeface="+mn-cs"/>
              </a:rPr>
              <a:t> "Write a 300-word introduction for an essay about the impact of social media on mental health, aimed at undergraduate students in India.“</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See how the second prompt specifies the topic, length, document section, audience, and context?</a:t>
            </a:r>
          </a:p>
          <a:p>
            <a:r>
              <a:rPr lang="en-US" sz="1200" b="0" i="0" kern="1200" dirty="0" smtClean="0">
                <a:solidFill>
                  <a:schemeClr val="tx1"/>
                </a:solidFill>
                <a:effectLst/>
                <a:latin typeface="+mn-lt"/>
                <a:ea typeface="+mn-ea"/>
                <a:cs typeface="+mn-cs"/>
              </a:rPr>
              <a:t>This gives Copilot everything it needs to produce relevant content.</a:t>
            </a:r>
          </a:p>
          <a:p>
            <a:r>
              <a:rPr lang="en-US" sz="1200" b="0" i="0" kern="1200" dirty="0" smtClean="0">
                <a:solidFill>
                  <a:schemeClr val="tx1"/>
                </a:solidFill>
                <a:effectLst/>
                <a:latin typeface="+mn-lt"/>
                <a:ea typeface="+mn-ea"/>
                <a:cs typeface="+mn-cs"/>
              </a:rPr>
              <a:t>Here is a practical framework for beginners – use the 4 C's: </a:t>
            </a:r>
            <a:r>
              <a:rPr lang="en-US" sz="1200" b="1" i="1" kern="1200" dirty="0" smtClean="0">
                <a:solidFill>
                  <a:schemeClr val="tx1"/>
                </a:solidFill>
                <a:effectLst/>
                <a:latin typeface="+mn-lt"/>
                <a:ea typeface="+mn-ea"/>
                <a:cs typeface="+mn-cs"/>
              </a:rPr>
              <a:t>Be Clear</a:t>
            </a:r>
            <a:r>
              <a:rPr lang="en-US" sz="1200" b="0" i="0" kern="1200" dirty="0" smtClean="0">
                <a:solidFill>
                  <a:schemeClr val="tx1"/>
                </a:solidFill>
                <a:effectLst/>
                <a:latin typeface="+mn-lt"/>
                <a:ea typeface="+mn-ea"/>
                <a:cs typeface="+mn-cs"/>
              </a:rPr>
              <a:t> (state exactly what you want), </a:t>
            </a:r>
            <a:r>
              <a:rPr lang="en-US" sz="1200" b="1" i="1" kern="1200" dirty="0" smtClean="0">
                <a:solidFill>
                  <a:schemeClr val="tx1"/>
                </a:solidFill>
                <a:effectLst/>
                <a:latin typeface="+mn-lt"/>
                <a:ea typeface="+mn-ea"/>
                <a:cs typeface="+mn-cs"/>
              </a:rPr>
              <a:t>Concise</a:t>
            </a:r>
            <a:r>
              <a:rPr lang="en-US" sz="1200" b="0" i="0" kern="1200" dirty="0" smtClean="0">
                <a:solidFill>
                  <a:schemeClr val="tx1"/>
                </a:solidFill>
                <a:effectLst/>
                <a:latin typeface="+mn-lt"/>
                <a:ea typeface="+mn-ea"/>
                <a:cs typeface="+mn-cs"/>
              </a:rPr>
              <a:t> (do not ramble with unnecessary information), </a:t>
            </a:r>
            <a:r>
              <a:rPr lang="en-US" sz="1200" b="1" i="1" kern="1200" dirty="0" smtClean="0">
                <a:solidFill>
                  <a:schemeClr val="tx1"/>
                </a:solidFill>
                <a:effectLst/>
                <a:latin typeface="+mn-lt"/>
                <a:ea typeface="+mn-ea"/>
                <a:cs typeface="+mn-cs"/>
              </a:rPr>
              <a:t>Contextual</a:t>
            </a:r>
            <a:r>
              <a:rPr lang="en-US" sz="1200" b="0" i="0" kern="1200" dirty="0" smtClean="0">
                <a:solidFill>
                  <a:schemeClr val="tx1"/>
                </a:solidFill>
                <a:effectLst/>
                <a:latin typeface="+mn-lt"/>
                <a:ea typeface="+mn-ea"/>
                <a:cs typeface="+mn-cs"/>
              </a:rPr>
              <a:t> (mention relevant details like audience and purpose), and </a:t>
            </a:r>
            <a:r>
              <a:rPr lang="en-US" sz="1200" b="1" i="1" kern="1200" dirty="0" smtClean="0">
                <a:solidFill>
                  <a:schemeClr val="tx1"/>
                </a:solidFill>
                <a:effectLst/>
                <a:latin typeface="+mn-lt"/>
                <a:ea typeface="+mn-ea"/>
                <a:cs typeface="+mn-cs"/>
              </a:rPr>
              <a:t>Conversational</a:t>
            </a:r>
            <a:r>
              <a:rPr lang="en-US" sz="1200" b="0" i="0" kern="1200" dirty="0" smtClean="0">
                <a:solidFill>
                  <a:schemeClr val="tx1"/>
                </a:solidFill>
                <a:effectLst/>
                <a:latin typeface="+mn-lt"/>
                <a:ea typeface="+mn-ea"/>
                <a:cs typeface="+mn-cs"/>
              </a:rPr>
              <a:t> (write naturally, like you are talking to a knowledgeable colleague). The good news is you will get better at this quickly with practice, and we will do plenty of that in today's activities.</a:t>
            </a:r>
          </a:p>
        </p:txBody>
      </p:sp>
      <p:sp>
        <p:nvSpPr>
          <p:cNvPr id="4" name="Slide Number Placeholder 3"/>
          <p:cNvSpPr>
            <a:spLocks noGrp="1"/>
          </p:cNvSpPr>
          <p:nvPr>
            <p:ph type="sldNum" sz="quarter" idx="10"/>
          </p:nvPr>
        </p:nvSpPr>
        <p:spPr/>
        <p:txBody>
          <a:bodyPr/>
          <a:lstStyle/>
          <a:p>
            <a:fld id="{61387AB6-0C90-4C13-BFEE-4EBE8F3CA032}" type="slidenum">
              <a:rPr lang="en-IN" smtClean="0"/>
              <a:t>19</a:t>
            </a:fld>
            <a:endParaRPr lang="en-IN"/>
          </a:p>
        </p:txBody>
      </p:sp>
    </p:spTree>
    <p:extLst>
      <p:ext uri="{BB962C8B-B14F-4D97-AF65-F5344CB8AC3E}">
        <p14:creationId xmlns:p14="http://schemas.microsoft.com/office/powerpoint/2010/main" val="42910525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Let us look at three real examples comparing poor and good prompts.</a:t>
            </a:r>
          </a:p>
          <a:p>
            <a:pPr marL="228600" indent="-228600">
              <a:buAutoNum type="arabicPeriod"/>
            </a:pPr>
            <a:r>
              <a:rPr lang="en-US" sz="1200" b="0" i="0" kern="1200" dirty="0" smtClean="0">
                <a:solidFill>
                  <a:schemeClr val="tx1"/>
                </a:solidFill>
                <a:effectLst/>
                <a:latin typeface="+mn-lt"/>
                <a:ea typeface="+mn-ea"/>
                <a:cs typeface="+mn-cs"/>
              </a:rPr>
              <a:t>In the first example, "Make something about technology" is terrible because "something" could mean anything – an essay, a list, a joke – and "technology" is an enormous topic. The good version specifies the document type (introduction), topic (smartphone communication impact), length (250 words), and audience (college presentation).</a:t>
            </a:r>
          </a:p>
          <a:p>
            <a:pPr marL="228600" indent="-228600">
              <a:buAutoNum type="arabicPeriod"/>
            </a:pPr>
            <a:r>
              <a:rPr lang="en-US" sz="1200" b="0" i="0" kern="1200" dirty="0" smtClean="0">
                <a:solidFill>
                  <a:schemeClr val="tx1"/>
                </a:solidFill>
                <a:effectLst/>
                <a:latin typeface="+mn-lt"/>
                <a:ea typeface="+mn-ea"/>
                <a:cs typeface="+mn-cs"/>
              </a:rPr>
              <a:t>In the second example, "Excel help" tells Copilot nothing about what you are struggling with. The good version identifies the specific function (SUMIF), explains what you are trying to accomplish (calculate category-specific sales), and provides context (Electronics category).</a:t>
            </a:r>
          </a:p>
          <a:p>
            <a:pPr marL="228600" indent="-228600">
              <a:buAutoNum type="arabicPeriod"/>
            </a:pPr>
            <a:r>
              <a:rPr lang="en-US" sz="1200" b="0" i="0" kern="1200" dirty="0" smtClean="0">
                <a:solidFill>
                  <a:schemeClr val="tx1"/>
                </a:solidFill>
                <a:effectLst/>
                <a:latin typeface="+mn-lt"/>
                <a:ea typeface="+mn-ea"/>
                <a:cs typeface="+mn-cs"/>
              </a:rPr>
              <a:t>In the third example, "Presentation ideas" is too vague – ideas about what? The good version specifies it is an outline, states the number of slides, identifies the topic clearly, and mentions the audience. Notice a pattern? Good prompts answer these questions: What type of content? About what specific topic? How long or how many? For whom? When you provide these details, Copilot can deliver exactly what you need instead of guessing. In our first activity, you will practice writing both types of prompts to see the difference firsthand.</a:t>
            </a:r>
          </a:p>
        </p:txBody>
      </p:sp>
      <p:sp>
        <p:nvSpPr>
          <p:cNvPr id="4" name="Slide Number Placeholder 3"/>
          <p:cNvSpPr>
            <a:spLocks noGrp="1"/>
          </p:cNvSpPr>
          <p:nvPr>
            <p:ph type="sldNum" sz="quarter" idx="10"/>
          </p:nvPr>
        </p:nvSpPr>
        <p:spPr/>
        <p:txBody>
          <a:bodyPr/>
          <a:lstStyle/>
          <a:p>
            <a:fld id="{61387AB6-0C90-4C13-BFEE-4EBE8F3CA032}" type="slidenum">
              <a:rPr lang="en-IN" smtClean="0"/>
              <a:t>20</a:t>
            </a:fld>
            <a:endParaRPr lang="en-IN"/>
          </a:p>
        </p:txBody>
      </p:sp>
    </p:spTree>
    <p:extLst>
      <p:ext uri="{BB962C8B-B14F-4D97-AF65-F5344CB8AC3E}">
        <p14:creationId xmlns:p14="http://schemas.microsoft.com/office/powerpoint/2010/main" val="23974245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spcBef>
                <a:spcPts val="0"/>
              </a:spcBef>
              <a:spcAft>
                <a:spcPts val="800"/>
              </a:spcAft>
              <a:buFont typeface="Arial" panose="020B0604020202020204" pitchFamily="34" charset="0"/>
              <a:buNone/>
            </a:pPr>
            <a:r>
              <a:rPr lang="en-US" sz="1200" b="1" dirty="0" smtClean="0">
                <a:latin typeface="Arial" panose="020B0604020202020204" pitchFamily="34" charset="0"/>
                <a:cs typeface="Arial" panose="020B0604020202020204" pitchFamily="34" charset="0"/>
              </a:rPr>
              <a:t>We learned in this Chapter:</a:t>
            </a:r>
          </a:p>
          <a:p>
            <a:pPr marL="228600" indent="-228600">
              <a:spcBef>
                <a:spcPts val="0"/>
              </a:spcBef>
              <a:spcAft>
                <a:spcPts val="800"/>
              </a:spcAft>
              <a:buFont typeface="Arial" panose="020B0604020202020204" pitchFamily="34" charset="0"/>
              <a:buChar char="•"/>
            </a:pPr>
            <a:r>
              <a:rPr lang="en-US" sz="1200" dirty="0" smtClean="0">
                <a:latin typeface="Arial" panose="020B0604020202020204" pitchFamily="34" charset="0"/>
                <a:cs typeface="Arial" panose="020B0604020202020204" pitchFamily="34" charset="0"/>
              </a:rPr>
              <a:t>How to use Microsoft Excel for organizing data, performing calculations with formulas, and creating charts.</a:t>
            </a:r>
          </a:p>
          <a:p>
            <a:pPr marL="228600" indent="-228600">
              <a:spcBef>
                <a:spcPts val="0"/>
              </a:spcBef>
              <a:spcAft>
                <a:spcPts val="800"/>
              </a:spcAft>
              <a:buFont typeface="Arial" panose="020B0604020202020204" pitchFamily="34" charset="0"/>
              <a:buChar char="•"/>
            </a:pPr>
            <a:r>
              <a:rPr lang="en-US" sz="1200" dirty="0" smtClean="0">
                <a:latin typeface="Arial" panose="020B0604020202020204" pitchFamily="34" charset="0"/>
                <a:cs typeface="Arial" panose="020B0604020202020204" pitchFamily="34" charset="0"/>
              </a:rPr>
              <a:t>How to enter different types of data and use basic formulas to perform calculations.</a:t>
            </a:r>
          </a:p>
          <a:p>
            <a:pPr marL="228600" indent="-228600">
              <a:spcBef>
                <a:spcPts val="0"/>
              </a:spcBef>
              <a:spcAft>
                <a:spcPts val="800"/>
              </a:spcAft>
              <a:buFont typeface="Arial" panose="020B0604020202020204" pitchFamily="34" charset="0"/>
              <a:buChar char="•"/>
            </a:pPr>
            <a:r>
              <a:rPr lang="en-US" sz="1200" dirty="0" smtClean="0">
                <a:latin typeface="Arial" panose="020B0604020202020204" pitchFamily="34" charset="0"/>
                <a:cs typeface="Arial" panose="020B0604020202020204" pitchFamily="34" charset="0"/>
              </a:rPr>
              <a:t>How to sort and filter data to organize large datasets.</a:t>
            </a:r>
          </a:p>
          <a:p>
            <a:pPr marL="228600" indent="-228600">
              <a:spcBef>
                <a:spcPts val="0"/>
              </a:spcBef>
              <a:spcAft>
                <a:spcPts val="800"/>
              </a:spcAft>
              <a:buFont typeface="Arial" panose="020B0604020202020204" pitchFamily="34" charset="0"/>
              <a:buChar char="•"/>
            </a:pPr>
            <a:r>
              <a:rPr lang="en-US" sz="1200" dirty="0" smtClean="0">
                <a:latin typeface="Arial" panose="020B0604020202020204" pitchFamily="34" charset="0"/>
                <a:cs typeface="Arial" panose="020B0604020202020204" pitchFamily="34" charset="0"/>
              </a:rPr>
              <a:t>How to use conditional formatting to highlight important data and create charts.</a:t>
            </a:r>
          </a:p>
          <a:p>
            <a:pPr marL="228600" indent="-228600">
              <a:spcBef>
                <a:spcPts val="0"/>
              </a:spcBef>
              <a:spcAft>
                <a:spcPts val="800"/>
              </a:spcAft>
              <a:buFont typeface="Arial" panose="020B0604020202020204" pitchFamily="34" charset="0"/>
              <a:buChar char="•"/>
            </a:pPr>
            <a:r>
              <a:rPr lang="en-US" sz="1200" dirty="0" smtClean="0">
                <a:latin typeface="Arial" panose="020B0604020202020204" pitchFamily="34" charset="0"/>
                <a:cs typeface="Arial" panose="020B0604020202020204" pitchFamily="34" charset="0"/>
              </a:rPr>
              <a:t>How to build pivot tables and pivot charts.</a:t>
            </a:r>
          </a:p>
          <a:p>
            <a:pPr marL="228600" indent="-228600">
              <a:spcBef>
                <a:spcPts val="0"/>
              </a:spcBef>
              <a:spcAft>
                <a:spcPts val="800"/>
              </a:spcAft>
              <a:buFont typeface="Arial" panose="020B0604020202020204" pitchFamily="34" charset="0"/>
              <a:buChar char="•"/>
            </a:pPr>
            <a:r>
              <a:rPr lang="en-US" sz="1200" dirty="0" smtClean="0">
                <a:latin typeface="Arial" panose="020B0604020202020204" pitchFamily="34" charset="0"/>
                <a:cs typeface="Arial" panose="020B0604020202020204" pitchFamily="34" charset="0"/>
              </a:rPr>
              <a:t>How to use Microsoft Copilot to help with Excel tasks, document writing, and data analysis.</a:t>
            </a:r>
          </a:p>
          <a:p>
            <a:pPr marL="228600" indent="-228600">
              <a:spcBef>
                <a:spcPts val="0"/>
              </a:spcBef>
              <a:spcAft>
                <a:spcPts val="800"/>
              </a:spcAft>
              <a:buFont typeface="Arial" panose="020B0604020202020204" pitchFamily="34" charset="0"/>
              <a:buChar char="•"/>
            </a:pPr>
            <a:r>
              <a:rPr lang="en-US" sz="1200" dirty="0" smtClean="0">
                <a:latin typeface="Arial" panose="020B0604020202020204" pitchFamily="34" charset="0"/>
                <a:cs typeface="Arial" panose="020B0604020202020204" pitchFamily="34" charset="0"/>
              </a:rPr>
              <a:t>How to combine Excel skills with Copilot to automate tasks, generate insights faster, and improve overall productivity in your work.</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F00FC4EF-F040-4629-96AB-A33446C1CF54}" type="slidenum">
              <a:rPr lang="en-IN" smtClean="0"/>
              <a:t>23</a:t>
            </a:fld>
            <a:endParaRPr lang="en-IN"/>
          </a:p>
        </p:txBody>
      </p:sp>
    </p:spTree>
    <p:extLst>
      <p:ext uri="{BB962C8B-B14F-4D97-AF65-F5344CB8AC3E}">
        <p14:creationId xmlns:p14="http://schemas.microsoft.com/office/powerpoint/2010/main" val="21086648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MAX function finds the largest number in a specified range. In this case, it will identify the highest marks among all students.</a:t>
            </a:r>
            <a:endParaRPr lang="en-IN" dirty="0"/>
          </a:p>
        </p:txBody>
      </p:sp>
      <p:sp>
        <p:nvSpPr>
          <p:cNvPr id="4" name="Slide Number Placeholder 3"/>
          <p:cNvSpPr>
            <a:spLocks noGrp="1"/>
          </p:cNvSpPr>
          <p:nvPr>
            <p:ph type="sldNum" sz="quarter" idx="5"/>
          </p:nvPr>
        </p:nvSpPr>
        <p:spPr/>
        <p:txBody>
          <a:bodyPr/>
          <a:lstStyle/>
          <a:p>
            <a:fld id="{F00FC4EF-F040-4629-96AB-A33446C1CF54}" type="slidenum">
              <a:rPr lang="en-IN" smtClean="0"/>
              <a:t>27</a:t>
            </a:fld>
            <a:endParaRPr lang="en-IN"/>
          </a:p>
        </p:txBody>
      </p:sp>
    </p:spTree>
    <p:extLst>
      <p:ext uri="{BB962C8B-B14F-4D97-AF65-F5344CB8AC3E}">
        <p14:creationId xmlns:p14="http://schemas.microsoft.com/office/powerpoint/2010/main" val="40190708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Sorting permanently rearranges data while filtering temporarily hides rows</a:t>
            </a:r>
            <a:endParaRPr lang="en-IN" b="0" dirty="0"/>
          </a:p>
        </p:txBody>
      </p:sp>
      <p:sp>
        <p:nvSpPr>
          <p:cNvPr id="4" name="Slide Number Placeholder 3"/>
          <p:cNvSpPr>
            <a:spLocks noGrp="1"/>
          </p:cNvSpPr>
          <p:nvPr>
            <p:ph type="sldNum" sz="quarter" idx="5"/>
          </p:nvPr>
        </p:nvSpPr>
        <p:spPr/>
        <p:txBody>
          <a:bodyPr/>
          <a:lstStyle/>
          <a:p>
            <a:fld id="{F00FC4EF-F040-4629-96AB-A33446C1CF54}" type="slidenum">
              <a:rPr lang="en-IN" smtClean="0"/>
              <a:t>28</a:t>
            </a:fld>
            <a:endParaRPr lang="en-IN"/>
          </a:p>
        </p:txBody>
      </p:sp>
    </p:spTree>
    <p:extLst>
      <p:ext uri="{BB962C8B-B14F-4D97-AF65-F5344CB8AC3E}">
        <p14:creationId xmlns:p14="http://schemas.microsoft.com/office/powerpoint/2010/main" val="41996332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Copilot in Excel can analyze your data and suggest/create new columns with formulas automatically. For example, if you have sales data and profit margins, you can ask Copilot to "Add a column for total profit" and it will generate the formula =</a:t>
            </a:r>
            <a:r>
              <a:rPr lang="en-US" sz="1200" b="0" i="0" kern="1200" dirty="0" err="1" smtClean="0">
                <a:solidFill>
                  <a:schemeClr val="tx1"/>
                </a:solidFill>
                <a:effectLst/>
                <a:latin typeface="+mn-lt"/>
                <a:ea typeface="+mn-ea"/>
                <a:cs typeface="+mn-cs"/>
              </a:rPr>
              <a:t>Price</a:t>
            </a:r>
            <a:r>
              <a:rPr lang="en-US" sz="1200" b="0" i="1" kern="1200" dirty="0" err="1" smtClean="0">
                <a:solidFill>
                  <a:schemeClr val="tx1"/>
                </a:solidFill>
                <a:effectLst/>
                <a:latin typeface="+mn-lt"/>
                <a:ea typeface="+mn-ea"/>
                <a:cs typeface="+mn-cs"/>
              </a:rPr>
              <a:t>Quantity</a:t>
            </a:r>
            <a:r>
              <a:rPr lang="en-US" sz="1200" b="0" i="0" kern="1200" dirty="0" err="1" smtClean="0">
                <a:solidFill>
                  <a:schemeClr val="tx1"/>
                </a:solidFill>
                <a:effectLst/>
                <a:latin typeface="+mn-lt"/>
                <a:ea typeface="+mn-ea"/>
                <a:cs typeface="+mn-cs"/>
              </a:rPr>
              <a:t>Margin</a:t>
            </a:r>
            <a:r>
              <a:rPr lang="en-US" sz="1200" b="0" i="0" kern="1200" dirty="0" smtClean="0">
                <a:solidFill>
                  <a:schemeClr val="tx1"/>
                </a:solidFill>
                <a:effectLst/>
                <a:latin typeface="+mn-lt"/>
                <a:ea typeface="+mn-ea"/>
                <a:cs typeface="+mn-cs"/>
              </a:rPr>
              <a:t> for you, saving time on manual formula writing.</a:t>
            </a:r>
            <a:endParaRPr lang="en-IN" dirty="0"/>
          </a:p>
        </p:txBody>
      </p:sp>
      <p:sp>
        <p:nvSpPr>
          <p:cNvPr id="4" name="Slide Number Placeholder 3"/>
          <p:cNvSpPr>
            <a:spLocks noGrp="1"/>
          </p:cNvSpPr>
          <p:nvPr>
            <p:ph type="sldNum" sz="quarter" idx="5"/>
          </p:nvPr>
        </p:nvSpPr>
        <p:spPr/>
        <p:txBody>
          <a:bodyPr/>
          <a:lstStyle/>
          <a:p>
            <a:fld id="{F00FC4EF-F040-4629-96AB-A33446C1CF54}" type="slidenum">
              <a:rPr lang="en-IN" smtClean="0"/>
              <a:t>29</a:t>
            </a:fld>
            <a:endParaRPr lang="en-IN"/>
          </a:p>
        </p:txBody>
      </p:sp>
    </p:spTree>
    <p:extLst>
      <p:ext uri="{BB962C8B-B14F-4D97-AF65-F5344CB8AC3E}">
        <p14:creationId xmlns:p14="http://schemas.microsoft.com/office/powerpoint/2010/main" val="4955848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Good prompts are clear, specific, and provide context about topic, length, and audience.</a:t>
            </a:r>
            <a:endParaRPr lang="en-IN" dirty="0"/>
          </a:p>
        </p:txBody>
      </p:sp>
      <p:sp>
        <p:nvSpPr>
          <p:cNvPr id="4" name="Slide Number Placeholder 3"/>
          <p:cNvSpPr>
            <a:spLocks noGrp="1"/>
          </p:cNvSpPr>
          <p:nvPr>
            <p:ph type="sldNum" sz="quarter" idx="5"/>
          </p:nvPr>
        </p:nvSpPr>
        <p:spPr/>
        <p:txBody>
          <a:bodyPr/>
          <a:lstStyle/>
          <a:p>
            <a:fld id="{F00FC4EF-F040-4629-96AB-A33446C1CF54}" type="slidenum">
              <a:rPr lang="en-IN" smtClean="0"/>
              <a:t>30</a:t>
            </a:fld>
            <a:endParaRPr lang="en-IN"/>
          </a:p>
        </p:txBody>
      </p:sp>
    </p:spTree>
    <p:extLst>
      <p:ext uri="{BB962C8B-B14F-4D97-AF65-F5344CB8AC3E}">
        <p14:creationId xmlns:p14="http://schemas.microsoft.com/office/powerpoint/2010/main" val="33282956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Copilot in Excel analyzes your data and recommends the most appropriate chart type (bar, line, pie, etc.) based on your dataset. You can simply ask "Create the best chart for this data" and Copilot will suggest the visualization, generate it, and even add labels and formatting automatically—saving you time on manual chart selection and design.</a:t>
            </a:r>
          </a:p>
        </p:txBody>
      </p:sp>
      <p:sp>
        <p:nvSpPr>
          <p:cNvPr id="4" name="Slide Number Placeholder 3"/>
          <p:cNvSpPr>
            <a:spLocks noGrp="1"/>
          </p:cNvSpPr>
          <p:nvPr>
            <p:ph type="sldNum" sz="quarter" idx="5"/>
          </p:nvPr>
        </p:nvSpPr>
        <p:spPr/>
        <p:txBody>
          <a:bodyPr/>
          <a:lstStyle/>
          <a:p>
            <a:fld id="{F00FC4EF-F040-4629-96AB-A33446C1CF54}" type="slidenum">
              <a:rPr lang="en-IN" smtClean="0"/>
              <a:t>31</a:t>
            </a:fld>
            <a:endParaRPr lang="en-IN"/>
          </a:p>
        </p:txBody>
      </p:sp>
    </p:spTree>
    <p:extLst>
      <p:ext uri="{BB962C8B-B14F-4D97-AF65-F5344CB8AC3E}">
        <p14:creationId xmlns:p14="http://schemas.microsoft.com/office/powerpoint/2010/main" val="310435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48052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30048798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5B750CB-F068-50AE-8BEB-20EC7515F400}"/>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4" descr="Abstract White Background Images, HD Pictures and Wallpaper For Free  Download | Pngtree">
            <a:extLst>
              <a:ext uri="{FF2B5EF4-FFF2-40B4-BE49-F238E27FC236}">
                <a16:creationId xmlns:a16="http://schemas.microsoft.com/office/drawing/2014/main" id="{381F3695-8937-0C68-4FAE-266CC82C5098}"/>
              </a:ext>
            </a:extLst>
          </p:cNvPr>
          <p:cNvPicPr>
            <a:picLocks noChangeAspect="1" noChangeArrowheads="1"/>
          </p:cNvPicPr>
          <p:nvPr userDrawn="1"/>
        </p:nvPicPr>
        <p:blipFill rotWithShape="1">
          <a:blip r:embed="rId3">
            <a:alphaModFix amt="37000"/>
            <a:extLst>
              <a:ext uri="{28A0092B-C50C-407E-A947-70E740481C1C}">
                <a14:useLocalDpi xmlns:a14="http://schemas.microsoft.com/office/drawing/2010/main" val="0"/>
              </a:ext>
            </a:extLst>
          </a:blip>
          <a:srcRect t="1959" b="9928"/>
          <a:stretch/>
        </p:blipFill>
        <p:spPr bwMode="auto">
          <a:xfrm>
            <a:off x="1293813" y="1"/>
            <a:ext cx="10898187"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3">
            <a:extLst>
              <a:ext uri="{FF2B5EF4-FFF2-40B4-BE49-F238E27FC236}">
                <a16:creationId xmlns:a16="http://schemas.microsoft.com/office/drawing/2014/main" id="{DA6D6C8D-DD3B-2468-8A3F-39DA0D7CB0A4}"/>
              </a:ext>
            </a:extLst>
          </p:cNvPr>
          <p:cNvGrpSpPr/>
          <p:nvPr userDrawn="1"/>
        </p:nvGrpSpPr>
        <p:grpSpPr>
          <a:xfrm>
            <a:off x="2807825" y="-57051"/>
            <a:ext cx="609600" cy="6978551"/>
            <a:chOff x="0" y="-47625"/>
            <a:chExt cx="558233" cy="2756958"/>
          </a:xfrm>
          <a:solidFill>
            <a:srgbClr val="ACCBFF"/>
          </a:solidFill>
        </p:grpSpPr>
        <p:sp>
          <p:nvSpPr>
            <p:cNvPr id="10" name="Freeform 4">
              <a:extLst>
                <a:ext uri="{FF2B5EF4-FFF2-40B4-BE49-F238E27FC236}">
                  <a16:creationId xmlns:a16="http://schemas.microsoft.com/office/drawing/2014/main" id="{500E8AC0-76EB-1E06-0FAF-6680F05CB1CD}"/>
                </a:ext>
              </a:extLst>
            </p:cNvPr>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grpFill/>
            <a:ln>
              <a:solidFill>
                <a:srgbClr val="ACCBFF"/>
              </a:solidFill>
            </a:ln>
          </p:spPr>
          <p:txBody>
            <a:bodyPr/>
            <a:lstStyle/>
            <a:p>
              <a:endParaRPr lang="en-IN" sz="800"/>
            </a:p>
          </p:txBody>
        </p:sp>
        <p:sp>
          <p:nvSpPr>
            <p:cNvPr id="11" name="TextBox 5">
              <a:extLst>
                <a:ext uri="{FF2B5EF4-FFF2-40B4-BE49-F238E27FC236}">
                  <a16:creationId xmlns:a16="http://schemas.microsoft.com/office/drawing/2014/main" id="{7ADD2F8D-51CB-512C-7A0B-8C5BABABD0FD}"/>
                </a:ext>
              </a:extLst>
            </p:cNvPr>
            <p:cNvSpPr txBox="1"/>
            <p:nvPr/>
          </p:nvSpPr>
          <p:spPr>
            <a:xfrm>
              <a:off x="0" y="-47625"/>
              <a:ext cx="558233" cy="2756958"/>
            </a:xfrm>
            <a:prstGeom prst="rect">
              <a:avLst/>
            </a:prstGeom>
            <a:grpFill/>
            <a:ln>
              <a:solidFill>
                <a:srgbClr val="ACCBFF"/>
              </a:solidFill>
            </a:ln>
          </p:spPr>
          <p:txBody>
            <a:bodyPr lIns="33867" tIns="33867" rIns="33867" bIns="33867" rtlCol="0" anchor="ctr"/>
            <a:lstStyle/>
            <a:p>
              <a:pPr algn="ctr">
                <a:lnSpc>
                  <a:spcPts val="1773"/>
                </a:lnSpc>
              </a:pPr>
              <a:endParaRPr sz="800"/>
            </a:p>
          </p:txBody>
        </p:sp>
      </p:grpSp>
      <p:grpSp>
        <p:nvGrpSpPr>
          <p:cNvPr id="12" name="Group 3">
            <a:extLst>
              <a:ext uri="{FF2B5EF4-FFF2-40B4-BE49-F238E27FC236}">
                <a16:creationId xmlns:a16="http://schemas.microsoft.com/office/drawing/2014/main" id="{BCCB01C1-B1CC-154B-10AB-D4FB30CFDBDC}"/>
              </a:ext>
            </a:extLst>
          </p:cNvPr>
          <p:cNvGrpSpPr/>
          <p:nvPr userDrawn="1"/>
        </p:nvGrpSpPr>
        <p:grpSpPr>
          <a:xfrm>
            <a:off x="1392314" y="-57051"/>
            <a:ext cx="1413028" cy="6978551"/>
            <a:chOff x="0" y="-47625"/>
            <a:chExt cx="558233" cy="2756958"/>
          </a:xfrm>
          <a:solidFill>
            <a:srgbClr val="78AAFF"/>
          </a:solidFill>
        </p:grpSpPr>
        <p:sp>
          <p:nvSpPr>
            <p:cNvPr id="13" name="Freeform 4">
              <a:extLst>
                <a:ext uri="{FF2B5EF4-FFF2-40B4-BE49-F238E27FC236}">
                  <a16:creationId xmlns:a16="http://schemas.microsoft.com/office/drawing/2014/main" id="{FDE3FDA5-BD0B-17F8-40B1-96CFBE1CF445}"/>
                </a:ext>
              </a:extLst>
            </p:cNvPr>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grpFill/>
            <a:ln>
              <a:solidFill>
                <a:srgbClr val="78AAFF"/>
              </a:solidFill>
            </a:ln>
          </p:spPr>
          <p:txBody>
            <a:bodyPr/>
            <a:lstStyle/>
            <a:p>
              <a:endParaRPr lang="en-IN" sz="800"/>
            </a:p>
          </p:txBody>
        </p:sp>
        <p:sp>
          <p:nvSpPr>
            <p:cNvPr id="14" name="TextBox 5">
              <a:extLst>
                <a:ext uri="{FF2B5EF4-FFF2-40B4-BE49-F238E27FC236}">
                  <a16:creationId xmlns:a16="http://schemas.microsoft.com/office/drawing/2014/main" id="{B7D98124-E8C9-32D2-471B-D1A49B8C05B3}"/>
                </a:ext>
              </a:extLst>
            </p:cNvPr>
            <p:cNvSpPr txBox="1"/>
            <p:nvPr/>
          </p:nvSpPr>
          <p:spPr>
            <a:xfrm>
              <a:off x="0" y="-47625"/>
              <a:ext cx="558233" cy="2756958"/>
            </a:xfrm>
            <a:prstGeom prst="rect">
              <a:avLst/>
            </a:prstGeom>
            <a:grpFill/>
            <a:ln>
              <a:solidFill>
                <a:srgbClr val="78AAFF"/>
              </a:solidFill>
            </a:ln>
          </p:spPr>
          <p:txBody>
            <a:bodyPr lIns="33867" tIns="33867" rIns="33867" bIns="33867" rtlCol="0" anchor="ctr"/>
            <a:lstStyle/>
            <a:p>
              <a:pPr algn="ctr">
                <a:lnSpc>
                  <a:spcPts val="1773"/>
                </a:lnSpc>
              </a:pPr>
              <a:endParaRPr sz="800"/>
            </a:p>
          </p:txBody>
        </p:sp>
      </p:grpSp>
      <p:grpSp>
        <p:nvGrpSpPr>
          <p:cNvPr id="15" name="Group 6">
            <a:extLst>
              <a:ext uri="{FF2B5EF4-FFF2-40B4-BE49-F238E27FC236}">
                <a16:creationId xmlns:a16="http://schemas.microsoft.com/office/drawing/2014/main" id="{0ADDA3F6-609D-F625-E313-5D247F6BE25E}"/>
              </a:ext>
            </a:extLst>
          </p:cNvPr>
          <p:cNvGrpSpPr/>
          <p:nvPr userDrawn="1"/>
        </p:nvGrpSpPr>
        <p:grpSpPr>
          <a:xfrm>
            <a:off x="685800" y="63500"/>
            <a:ext cx="1413028" cy="6858000"/>
            <a:chOff x="0" y="0"/>
            <a:chExt cx="558233" cy="2709333"/>
          </a:xfrm>
          <a:solidFill>
            <a:srgbClr val="649EFF"/>
          </a:solidFill>
        </p:grpSpPr>
        <p:sp>
          <p:nvSpPr>
            <p:cNvPr id="16" name="Freeform 7">
              <a:extLst>
                <a:ext uri="{FF2B5EF4-FFF2-40B4-BE49-F238E27FC236}">
                  <a16:creationId xmlns:a16="http://schemas.microsoft.com/office/drawing/2014/main" id="{FF8AF282-A0C7-ECBD-CF94-3271CCC19ED6}"/>
                </a:ext>
              </a:extLst>
            </p:cNvPr>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grpFill/>
            <a:ln>
              <a:solidFill>
                <a:srgbClr val="649EFF"/>
              </a:solidFill>
            </a:ln>
          </p:spPr>
          <p:txBody>
            <a:bodyPr/>
            <a:lstStyle/>
            <a:p>
              <a:endParaRPr lang="en-IN" sz="800"/>
            </a:p>
          </p:txBody>
        </p:sp>
        <p:sp>
          <p:nvSpPr>
            <p:cNvPr id="17" name="TextBox 8">
              <a:extLst>
                <a:ext uri="{FF2B5EF4-FFF2-40B4-BE49-F238E27FC236}">
                  <a16:creationId xmlns:a16="http://schemas.microsoft.com/office/drawing/2014/main" id="{12552977-414D-5453-1D0F-50937A909377}"/>
                </a:ext>
              </a:extLst>
            </p:cNvPr>
            <p:cNvSpPr txBox="1"/>
            <p:nvPr/>
          </p:nvSpPr>
          <p:spPr>
            <a:xfrm>
              <a:off x="0" y="-47625"/>
              <a:ext cx="558233" cy="2756958"/>
            </a:xfrm>
            <a:prstGeom prst="rect">
              <a:avLst/>
            </a:prstGeom>
            <a:grpFill/>
            <a:ln>
              <a:solidFill>
                <a:srgbClr val="649EFF"/>
              </a:solidFill>
            </a:ln>
          </p:spPr>
          <p:txBody>
            <a:bodyPr lIns="33867" tIns="33867" rIns="33867" bIns="33867" rtlCol="0" anchor="ctr"/>
            <a:lstStyle/>
            <a:p>
              <a:pPr algn="ctr">
                <a:lnSpc>
                  <a:spcPts val="1773"/>
                </a:lnSpc>
              </a:pPr>
              <a:endParaRPr sz="800"/>
            </a:p>
          </p:txBody>
        </p:sp>
      </p:grpSp>
      <p:grpSp>
        <p:nvGrpSpPr>
          <p:cNvPr id="18" name="Group 17">
            <a:extLst>
              <a:ext uri="{FF2B5EF4-FFF2-40B4-BE49-F238E27FC236}">
                <a16:creationId xmlns:a16="http://schemas.microsoft.com/office/drawing/2014/main" id="{1F9AF0FA-480F-9298-6368-B0A53B5098B2}"/>
              </a:ext>
            </a:extLst>
          </p:cNvPr>
          <p:cNvGrpSpPr/>
          <p:nvPr userDrawn="1"/>
        </p:nvGrpSpPr>
        <p:grpSpPr>
          <a:xfrm>
            <a:off x="-20714" y="63500"/>
            <a:ext cx="1413028" cy="6858000"/>
            <a:chOff x="0" y="0"/>
            <a:chExt cx="558233" cy="2709333"/>
          </a:xfrm>
          <a:solidFill>
            <a:srgbClr val="4188FF"/>
          </a:solidFill>
        </p:grpSpPr>
        <p:sp>
          <p:nvSpPr>
            <p:cNvPr id="19" name="Freeform 10">
              <a:extLst>
                <a:ext uri="{FF2B5EF4-FFF2-40B4-BE49-F238E27FC236}">
                  <a16:creationId xmlns:a16="http://schemas.microsoft.com/office/drawing/2014/main" id="{AB6B29EC-B27F-4F3B-8D1B-3C64725F521A}"/>
                </a:ext>
              </a:extLst>
            </p:cNvPr>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grpFill/>
            <a:ln>
              <a:solidFill>
                <a:srgbClr val="4188FF"/>
              </a:solidFill>
            </a:ln>
          </p:spPr>
          <p:txBody>
            <a:bodyPr/>
            <a:lstStyle/>
            <a:p>
              <a:endParaRPr lang="en-IN" sz="800"/>
            </a:p>
          </p:txBody>
        </p:sp>
        <p:sp>
          <p:nvSpPr>
            <p:cNvPr id="20" name="TextBox 19">
              <a:extLst>
                <a:ext uri="{FF2B5EF4-FFF2-40B4-BE49-F238E27FC236}">
                  <a16:creationId xmlns:a16="http://schemas.microsoft.com/office/drawing/2014/main" id="{FAE94681-75F3-D10D-DA3B-086F9AA8AC2B}"/>
                </a:ext>
              </a:extLst>
            </p:cNvPr>
            <p:cNvSpPr txBox="1"/>
            <p:nvPr/>
          </p:nvSpPr>
          <p:spPr>
            <a:xfrm>
              <a:off x="0" y="-47625"/>
              <a:ext cx="558233" cy="2756958"/>
            </a:xfrm>
            <a:prstGeom prst="rect">
              <a:avLst/>
            </a:prstGeom>
            <a:grpFill/>
            <a:ln>
              <a:solidFill>
                <a:srgbClr val="4188FF"/>
              </a:solidFill>
            </a:ln>
          </p:spPr>
          <p:txBody>
            <a:bodyPr lIns="33867" tIns="33867" rIns="33867" bIns="33867" rtlCol="0" anchor="ctr"/>
            <a:lstStyle/>
            <a:p>
              <a:pPr algn="ctr">
                <a:lnSpc>
                  <a:spcPts val="1773"/>
                </a:lnSpc>
              </a:pPr>
              <a:endParaRPr sz="800"/>
            </a:p>
          </p:txBody>
        </p:sp>
      </p:grpSp>
    </p:spTree>
    <p:extLst>
      <p:ext uri="{BB962C8B-B14F-4D97-AF65-F5344CB8AC3E}">
        <p14:creationId xmlns:p14="http://schemas.microsoft.com/office/powerpoint/2010/main" val="1665043581"/>
      </p:ext>
    </p:extLst>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2192000" cy="660400"/>
          </a:xfrm>
          <a:prstGeom prst="rect">
            <a:avLst/>
          </a:prstGeom>
          <a:solidFill>
            <a:srgbClr val="ACCB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descr="A close up of a logo&#10;&#10;Description automatically generated">
            <a:extLst>
              <a:ext uri="{FF2B5EF4-FFF2-40B4-BE49-F238E27FC236}">
                <a16:creationId xmlns:a16="http://schemas.microsoft.com/office/drawing/2014/main" id="{77B327EF-A91F-6208-15F1-3A28C481366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626994" y="113975"/>
            <a:ext cx="1290128" cy="419605"/>
          </a:xfrm>
          <a:prstGeom prst="rect">
            <a:avLst/>
          </a:prstGeom>
        </p:spPr>
      </p:pic>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ACCB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616963FB-547E-5667-24B3-92F894162D45}"/>
              </a:ext>
            </a:extLst>
          </p:cNvPr>
          <p:cNvSpPr/>
          <p:nvPr userDrawn="1"/>
        </p:nvSpPr>
        <p:spPr>
          <a:xfrm>
            <a:off x="10146320" y="0"/>
            <a:ext cx="252046" cy="656492"/>
          </a:xfrm>
          <a:prstGeom prst="rect">
            <a:avLst/>
          </a:prstGeom>
          <a:solidFill>
            <a:srgbClr val="841910"/>
          </a:solidFill>
          <a:ln>
            <a:solidFill>
              <a:srgbClr val="8419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D839DA6E-34C0-C57A-CE75-B0AF3E0E58EE}"/>
              </a:ext>
            </a:extLst>
          </p:cNvPr>
          <p:cNvSpPr/>
          <p:nvPr userDrawn="1"/>
        </p:nvSpPr>
        <p:spPr>
          <a:xfrm>
            <a:off x="10017373" y="0"/>
            <a:ext cx="76203" cy="656492"/>
          </a:xfrm>
          <a:prstGeom prst="rect">
            <a:avLst/>
          </a:prstGeom>
          <a:solidFill>
            <a:srgbClr val="213163"/>
          </a:solidFill>
          <a:ln>
            <a:solidFill>
              <a:srgbClr val="2131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9" name="Group 28">
            <a:extLst>
              <a:ext uri="{FF2B5EF4-FFF2-40B4-BE49-F238E27FC236}">
                <a16:creationId xmlns:a16="http://schemas.microsoft.com/office/drawing/2014/main" id="{5C2D52CC-658B-257A-3CD2-8C2648661B86}"/>
              </a:ext>
            </a:extLst>
          </p:cNvPr>
          <p:cNvGrpSpPr/>
          <p:nvPr userDrawn="1"/>
        </p:nvGrpSpPr>
        <p:grpSpPr>
          <a:xfrm>
            <a:off x="1251611" y="6699504"/>
            <a:ext cx="380993" cy="158496"/>
            <a:chOff x="8868512" y="1301262"/>
            <a:chExt cx="380993" cy="656492"/>
          </a:xfrm>
        </p:grpSpPr>
        <p:sp>
          <p:nvSpPr>
            <p:cNvPr id="27" name="Rectangle 26">
              <a:extLst>
                <a:ext uri="{FF2B5EF4-FFF2-40B4-BE49-F238E27FC236}">
                  <a16:creationId xmlns:a16="http://schemas.microsoft.com/office/drawing/2014/main" id="{D6D89557-AFC8-50C6-235D-44F87890117E}"/>
                </a:ext>
              </a:extLst>
            </p:cNvPr>
            <p:cNvSpPr/>
            <p:nvPr userDrawn="1"/>
          </p:nvSpPr>
          <p:spPr>
            <a:xfrm>
              <a:off x="8997459" y="1301262"/>
              <a:ext cx="252046" cy="656492"/>
            </a:xfrm>
            <a:prstGeom prst="rect">
              <a:avLst/>
            </a:prstGeom>
            <a:solidFill>
              <a:srgbClr val="841910"/>
            </a:solidFill>
            <a:ln>
              <a:solidFill>
                <a:srgbClr val="8419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27">
              <a:extLst>
                <a:ext uri="{FF2B5EF4-FFF2-40B4-BE49-F238E27FC236}">
                  <a16:creationId xmlns:a16="http://schemas.microsoft.com/office/drawing/2014/main" id="{6BDAAA11-1FD3-C2BC-ABCE-4F0589F9118E}"/>
                </a:ext>
              </a:extLst>
            </p:cNvPr>
            <p:cNvSpPr/>
            <p:nvPr userDrawn="1"/>
          </p:nvSpPr>
          <p:spPr>
            <a:xfrm>
              <a:off x="8868512" y="1301262"/>
              <a:ext cx="76203" cy="656492"/>
            </a:xfrm>
            <a:prstGeom prst="rect">
              <a:avLst/>
            </a:prstGeom>
            <a:solidFill>
              <a:srgbClr val="213163"/>
            </a:solidFill>
            <a:ln>
              <a:solidFill>
                <a:srgbClr val="2131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 name="Freeform 2">
            <a:extLst>
              <a:ext uri="{FF2B5EF4-FFF2-40B4-BE49-F238E27FC236}">
                <a16:creationId xmlns:a16="http://schemas.microsoft.com/office/drawing/2014/main" id="{B8985A92-5B74-7983-45DA-B81B724DDA69}"/>
              </a:ext>
            </a:extLst>
          </p:cNvPr>
          <p:cNvSpPr/>
          <p:nvPr userDrawn="1"/>
        </p:nvSpPr>
        <p:spPr>
          <a:xfrm>
            <a:off x="0" y="656492"/>
            <a:ext cx="12192000" cy="60325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alphaModFix amt="65000"/>
            </a:blip>
            <a:stretch>
              <a:fillRect t="-29847" b="-21877"/>
            </a:stretch>
          </a:blipFill>
        </p:spPr>
        <p:txBody>
          <a:bodyPr/>
          <a:lstStyle/>
          <a:p>
            <a:endParaRPr lang="en-US"/>
          </a:p>
        </p:txBody>
      </p:sp>
    </p:spTree>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5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6.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7.xml"/><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8.xml"/><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9.xml"/><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tags" Target="../tags/tag10.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tags" Target="../tags/tag11.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3.xml"/><Relationship Id="rId1" Type="http://schemas.openxmlformats.org/officeDocument/2006/relationships/tags" Target="../tags/tag12.xml"/><Relationship Id="rId4" Type="http://schemas.openxmlformats.org/officeDocument/2006/relationships/image" Target="../media/image10.sv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tags" Target="../tags/tag13.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tags" Target="../tags/tag14.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tags" Target="../tags/tag15.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tags" Target="../tags/tag16.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3.xml"/><Relationship Id="rId1" Type="http://schemas.openxmlformats.org/officeDocument/2006/relationships/tags" Target="../tags/tag17.xml"/><Relationship Id="rId4" Type="http://schemas.openxmlformats.org/officeDocument/2006/relationships/image" Target="../media/image10.sv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tags" Target="../tags/tag18.xml"/><Relationship Id="rId5" Type="http://schemas.openxmlformats.org/officeDocument/2006/relationships/image" Target="../media/image23.png"/><Relationship Id="rId4" Type="http://schemas.openxmlformats.org/officeDocument/2006/relationships/hyperlink" Target="https://copilot.microsoft.com/" TargetMode="Externa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tags" Target="../tags/tag19.xml"/><Relationship Id="rId5" Type="http://schemas.openxmlformats.org/officeDocument/2006/relationships/image" Target="../media/image24.jpeg"/><Relationship Id="rId4" Type="http://schemas.openxmlformats.org/officeDocument/2006/relationships/hyperlink" Target="https://copilot.microsoft.com/" TargetMode="Externa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tags" Target="../tags/tag20.xml"/><Relationship Id="rId4" Type="http://schemas.openxmlformats.org/officeDocument/2006/relationships/image" Target="../media/image25.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tags" Target="../tags/tag21.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18" Type="http://schemas.microsoft.com/office/2007/relationships/diagramDrawing" Target="../diagrams/drawing3.xml"/><Relationship Id="rId3" Type="http://schemas.openxmlformats.org/officeDocument/2006/relationships/notesSlide" Target="../notesSlides/notesSlide15.xml"/><Relationship Id="rId7" Type="http://schemas.openxmlformats.org/officeDocument/2006/relationships/diagramColors" Target="../diagrams/colors1.xml"/><Relationship Id="rId12" Type="http://schemas.openxmlformats.org/officeDocument/2006/relationships/diagramColors" Target="../diagrams/colors2.xml"/><Relationship Id="rId17" Type="http://schemas.openxmlformats.org/officeDocument/2006/relationships/diagramColors" Target="../diagrams/colors3.xml"/><Relationship Id="rId2" Type="http://schemas.openxmlformats.org/officeDocument/2006/relationships/slideLayout" Target="../slideLayouts/slideLayout3.xml"/><Relationship Id="rId16" Type="http://schemas.openxmlformats.org/officeDocument/2006/relationships/diagramQuickStyle" Target="../diagrams/quickStyle3.xml"/><Relationship Id="rId1" Type="http://schemas.openxmlformats.org/officeDocument/2006/relationships/tags" Target="../tags/tag22.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5" Type="http://schemas.openxmlformats.org/officeDocument/2006/relationships/diagramLayout" Target="../diagrams/layout3.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 Id="rId14" Type="http://schemas.openxmlformats.org/officeDocument/2006/relationships/diagramData" Target="../diagrams/data3.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3.xml"/><Relationship Id="rId1" Type="http://schemas.openxmlformats.org/officeDocument/2006/relationships/tags" Target="../tags/tag23.xml"/><Relationship Id="rId4" Type="http://schemas.openxmlformats.org/officeDocument/2006/relationships/image" Target="../media/image10.sv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3.xml"/><Relationship Id="rId1" Type="http://schemas.openxmlformats.org/officeDocument/2006/relationships/tags" Target="../tags/tag24.xml"/><Relationship Id="rId4" Type="http://schemas.openxmlformats.org/officeDocument/2006/relationships/image" Target="../media/image10.sv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tags" Target="../tags/tag25.xml"/><Relationship Id="rId5" Type="http://schemas.openxmlformats.org/officeDocument/2006/relationships/image" Target="../media/image12.sv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8" Type="http://schemas.openxmlformats.org/officeDocument/2006/relationships/hyperlink" Target="https://www.excel-easy.com/examples/pivot-chart.html" TargetMode="External"/><Relationship Id="rId13" Type="http://schemas.openxmlformats.org/officeDocument/2006/relationships/hyperlink" Target="https://www.w3schools.com/excel/excel_formulas.php" TargetMode="External"/><Relationship Id="rId3" Type="http://schemas.openxmlformats.org/officeDocument/2006/relationships/hyperlink" Target="https://support.microsoft.com/en-us/office/create-a-chart-from-start-to-finish-0baf399e-dd61-4e18-8a73-b3fd5d5680c2" TargetMode="External"/><Relationship Id="rId7" Type="http://schemas.openxmlformats.org/officeDocument/2006/relationships/hyperlink" Target="https://www.geeksforgeeks.org/excel/top-5-excel-data-cleaning-techniques-to-know-in-2023/" TargetMode="External"/><Relationship Id="rId12" Type="http://schemas.openxmlformats.org/officeDocument/2006/relationships/hyperlink" Target="https://www.thewallstreetschool.com/blog/understanding-text-functions-in-excel/" TargetMode="External"/><Relationship Id="rId2" Type="http://schemas.openxmlformats.org/officeDocument/2006/relationships/slideLayout" Target="../slideLayouts/slideLayout3.xml"/><Relationship Id="rId1" Type="http://schemas.openxmlformats.org/officeDocument/2006/relationships/tags" Target="../tags/tag26.xml"/><Relationship Id="rId6" Type="http://schemas.openxmlformats.org/officeDocument/2006/relationships/hyperlink" Target="https://www.tutorialspoint.com/excel_charts/excel_pivotcharts.htm" TargetMode="External"/><Relationship Id="rId11" Type="http://schemas.openxmlformats.org/officeDocument/2006/relationships/hyperlink" Target="https://support.microsoft.com/en-us/office/top-ten-ways-to-clean-your-data-2844b620-677c-47a7-ac3e-c2e157d1db19" TargetMode="External"/><Relationship Id="rId5" Type="http://schemas.openxmlformats.org/officeDocument/2006/relationships/hyperlink" Target="https://edu.gcfglobal.org/en/excel/charts/1/" TargetMode="External"/><Relationship Id="rId10" Type="http://schemas.openxmlformats.org/officeDocument/2006/relationships/hyperlink" Target="https://support.microsoft.com/en-us/office/text-functions-reference-cccd86ad-547d-4ea9-a065-7bb697c2a56e" TargetMode="External"/><Relationship Id="rId4" Type="http://schemas.openxmlformats.org/officeDocument/2006/relationships/hyperlink" Target="https://support.microsoft.com/en-us/office/create-a-pivottable-to-analyze-worksheet-data-a9a84538-bfe9-40a9-a8e9-f99134456576" TargetMode="External"/><Relationship Id="rId9" Type="http://schemas.openxmlformats.org/officeDocument/2006/relationships/hyperlink" Target="https://corporatefinanceinstitute.com/resources/excel/advanced-excel-formulas-must-know/" TargetMode="External"/><Relationship Id="rId14" Type="http://schemas.openxmlformats.org/officeDocument/2006/relationships/hyperlink" Target="https://www.geeksforgeeks.org/excel/pivot-tables-in-excel/"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support.microsoft.com/en-us/office/get-started-with-copilot-in-excel-d7110502-0334-4b4f-a175-a73abdfc118a" TargetMode="External"/><Relationship Id="rId2" Type="http://schemas.openxmlformats.org/officeDocument/2006/relationships/slideLayout" Target="../slideLayouts/slideLayout3.xml"/><Relationship Id="rId1" Type="http://schemas.openxmlformats.org/officeDocument/2006/relationships/tags" Target="../tags/tag27.xml"/><Relationship Id="rId5" Type="http://schemas.openxmlformats.org/officeDocument/2006/relationships/hyperlink" Target="https://learn.microsoft.com/en-us/copilot/" TargetMode="External"/><Relationship Id="rId4" Type="http://schemas.openxmlformats.org/officeDocument/2006/relationships/hyperlink" Target="https://www.computerworld.com/article/4119411/11-cool-things-copilot-can-do-in-excel.html" TargetMode="Externa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2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2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3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3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BE93BD-9C29-AD91-88D5-08DF18A0EEAF}"/>
              </a:ext>
            </a:extLst>
          </p:cNvPr>
          <p:cNvSpPr txBox="1"/>
          <p:nvPr/>
        </p:nvSpPr>
        <p:spPr>
          <a:xfrm>
            <a:off x="6996398" y="2983158"/>
            <a:ext cx="1835981" cy="477054"/>
          </a:xfrm>
          <a:prstGeom prst="rect">
            <a:avLst/>
          </a:prstGeom>
          <a:noFill/>
        </p:spPr>
        <p:txBody>
          <a:bodyPr wrap="square" lIns="91440" tIns="45720" rIns="91440" bIns="45720" rtlCol="0" anchor="t">
            <a:spAutoFit/>
          </a:bodyPr>
          <a:lstStyle/>
          <a:p>
            <a:pPr algn="ctr"/>
            <a:r>
              <a:rPr lang="en-US" sz="2500" b="1" dirty="0">
                <a:latin typeface="Arial"/>
                <a:cs typeface="Arial"/>
              </a:rPr>
              <a:t>Module 1</a:t>
            </a:r>
          </a:p>
        </p:txBody>
      </p:sp>
      <p:sp>
        <p:nvSpPr>
          <p:cNvPr id="5" name="TextBox 4">
            <a:extLst>
              <a:ext uri="{FF2B5EF4-FFF2-40B4-BE49-F238E27FC236}">
                <a16:creationId xmlns:a16="http://schemas.microsoft.com/office/drawing/2014/main" id="{69AB0D4E-853E-6882-BB79-0AB135C573F7}"/>
              </a:ext>
            </a:extLst>
          </p:cNvPr>
          <p:cNvSpPr txBox="1"/>
          <p:nvPr/>
        </p:nvSpPr>
        <p:spPr>
          <a:xfrm>
            <a:off x="4174203" y="4088058"/>
            <a:ext cx="7343895" cy="1323439"/>
          </a:xfrm>
          <a:prstGeom prst="rect">
            <a:avLst/>
          </a:prstGeom>
          <a:noFill/>
        </p:spPr>
        <p:txBody>
          <a:bodyPr wrap="square" lIns="91440" tIns="45720" rIns="91440" bIns="45720" rtlCol="0" anchor="t">
            <a:spAutoFit/>
          </a:bodyPr>
          <a:lstStyle/>
          <a:p>
            <a:pPr algn="ctr"/>
            <a:r>
              <a:rPr lang="en-US" sz="4000" b="1" dirty="0">
                <a:latin typeface="Arial"/>
                <a:cs typeface="Arial"/>
              </a:rPr>
              <a:t>Excel and Copilot for Data Productivity</a:t>
            </a:r>
          </a:p>
        </p:txBody>
      </p:sp>
      <p:sp>
        <p:nvSpPr>
          <p:cNvPr id="6" name="Rectangle 5">
            <a:extLst>
              <a:ext uri="{FF2B5EF4-FFF2-40B4-BE49-F238E27FC236}">
                <a16:creationId xmlns:a16="http://schemas.microsoft.com/office/drawing/2014/main" id="{63141075-E958-A7E3-71D9-421A839DF018}"/>
              </a:ext>
            </a:extLst>
          </p:cNvPr>
          <p:cNvSpPr/>
          <p:nvPr/>
        </p:nvSpPr>
        <p:spPr>
          <a:xfrm>
            <a:off x="4664800" y="3736035"/>
            <a:ext cx="6362700" cy="76200"/>
          </a:xfrm>
          <a:prstGeom prst="rect">
            <a:avLst/>
          </a:prstGeom>
          <a:solidFill>
            <a:srgbClr val="223266"/>
          </a:solidFill>
          <a:ln>
            <a:solidFill>
              <a:srgbClr val="2232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1">
            <a:extLst>
              <a:ext uri="{FF2B5EF4-FFF2-40B4-BE49-F238E27FC236}">
                <a16:creationId xmlns:a16="http://schemas.microsoft.com/office/drawing/2014/main" id="{D8816122-40F4-6F27-976B-023F5399B456}"/>
              </a:ext>
            </a:extLst>
          </p:cNvPr>
          <p:cNvGrpSpPr/>
          <p:nvPr/>
        </p:nvGrpSpPr>
        <p:grpSpPr>
          <a:xfrm>
            <a:off x="4791800" y="697089"/>
            <a:ext cx="6108700" cy="1194762"/>
            <a:chOff x="3746500" y="368300"/>
            <a:chExt cx="8051800" cy="1574800"/>
          </a:xfrm>
        </p:grpSpPr>
        <p:sp>
          <p:nvSpPr>
            <p:cNvPr id="3" name="Rectangle: Rounded Corners 2">
              <a:extLst>
                <a:ext uri="{FF2B5EF4-FFF2-40B4-BE49-F238E27FC236}">
                  <a16:creationId xmlns:a16="http://schemas.microsoft.com/office/drawing/2014/main" id="{67148D41-4474-2980-A2E9-A3EB362B7B0B}"/>
                </a:ext>
              </a:extLst>
            </p:cNvPr>
            <p:cNvSpPr/>
            <p:nvPr/>
          </p:nvSpPr>
          <p:spPr>
            <a:xfrm>
              <a:off x="3746500" y="368300"/>
              <a:ext cx="8051800" cy="1574800"/>
            </a:xfrm>
            <a:prstGeom prst="roundRect">
              <a:avLst/>
            </a:prstGeom>
            <a:solidFill>
              <a:srgbClr val="CDE0FF">
                <a:alpha val="51000"/>
              </a:srgbClr>
            </a:solidFill>
            <a:ln>
              <a:noFill/>
            </a:ln>
            <a:scene3d>
              <a:camera prst="orthographicFront"/>
              <a:lightRig rig="threePt" dir="t"/>
            </a:scene3d>
            <a:sp3d>
              <a:bevelT w="139700" prst="cross"/>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7" name="Group 6">
              <a:extLst>
                <a:ext uri="{FF2B5EF4-FFF2-40B4-BE49-F238E27FC236}">
                  <a16:creationId xmlns:a16="http://schemas.microsoft.com/office/drawing/2014/main" id="{DA5641ED-F16D-B18E-9F15-08352E828167}"/>
                </a:ext>
              </a:extLst>
            </p:cNvPr>
            <p:cNvGrpSpPr/>
            <p:nvPr/>
          </p:nvGrpSpPr>
          <p:grpSpPr>
            <a:xfrm>
              <a:off x="4190381" y="565076"/>
              <a:ext cx="7164038" cy="1181249"/>
              <a:chOff x="4275137" y="469899"/>
              <a:chExt cx="7164038" cy="1181249"/>
            </a:xfrm>
          </p:grpSpPr>
          <p:pic>
            <p:nvPicPr>
              <p:cNvPr id="8" name="Picture 7" descr="A logo with tools in the middle of a gear&#10;&#10;Description automatically generated">
                <a:extLst>
                  <a:ext uri="{FF2B5EF4-FFF2-40B4-BE49-F238E27FC236}">
                    <a16:creationId xmlns:a16="http://schemas.microsoft.com/office/drawing/2014/main" id="{D89AA077-B0C5-F856-E573-8C5C63EBA58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75137" y="469899"/>
                <a:ext cx="1185863" cy="1181249"/>
              </a:xfrm>
              <a:prstGeom prst="rect">
                <a:avLst/>
              </a:prstGeom>
            </p:spPr>
          </p:pic>
          <p:pic>
            <p:nvPicPr>
              <p:cNvPr id="10" name="Picture 9" descr="A black and grey logo&#10;&#10;Description automatically generated">
                <a:extLst>
                  <a:ext uri="{FF2B5EF4-FFF2-40B4-BE49-F238E27FC236}">
                    <a16:creationId xmlns:a16="http://schemas.microsoft.com/office/drawing/2014/main" id="{5300EA36-98F9-5D85-38F5-5C84998C0D6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63669" y="811241"/>
                <a:ext cx="2337593" cy="498565"/>
              </a:xfrm>
              <a:prstGeom prst="rect">
                <a:avLst/>
              </a:prstGeom>
            </p:spPr>
          </p:pic>
          <p:pic>
            <p:nvPicPr>
              <p:cNvPr id="15" name="Picture 14" descr="A close up of a logo&#10;&#10;Description automatically generated">
                <a:extLst>
                  <a:ext uri="{FF2B5EF4-FFF2-40B4-BE49-F238E27FC236}">
                    <a16:creationId xmlns:a16="http://schemas.microsoft.com/office/drawing/2014/main" id="{269A14BB-A222-1AD7-25A2-28A54781CC2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603931" y="762073"/>
                <a:ext cx="1835244" cy="596900"/>
              </a:xfrm>
              <a:prstGeom prst="rect">
                <a:avLst/>
              </a:prstGeom>
            </p:spPr>
          </p:pic>
        </p:grpSp>
      </p:grpSp>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6091F01-9AB2-CB60-2D6E-0ACFA0B53431}"/>
              </a:ext>
            </a:extLst>
          </p:cNvPr>
          <p:cNvGrpSpPr/>
          <p:nvPr/>
        </p:nvGrpSpPr>
        <p:grpSpPr>
          <a:xfrm>
            <a:off x="1525639" y="1675444"/>
            <a:ext cx="9140724" cy="4109012"/>
            <a:chOff x="1166951" y="1076446"/>
            <a:chExt cx="6900603" cy="3102015"/>
          </a:xfrm>
        </p:grpSpPr>
        <p:sp>
          <p:nvSpPr>
            <p:cNvPr id="3" name="Rectangle: Rounded Corners 2">
              <a:extLst>
                <a:ext uri="{FF2B5EF4-FFF2-40B4-BE49-F238E27FC236}">
                  <a16:creationId xmlns:a16="http://schemas.microsoft.com/office/drawing/2014/main" id="{DF75BA0B-8BB5-2F47-0CD6-494573F16F15}"/>
                </a:ext>
              </a:extLst>
            </p:cNvPr>
            <p:cNvSpPr/>
            <p:nvPr/>
          </p:nvSpPr>
          <p:spPr>
            <a:xfrm>
              <a:off x="1169043" y="1076446"/>
              <a:ext cx="6898511" cy="3102015"/>
            </a:xfrm>
            <a:prstGeom prst="roundRect">
              <a:avLst>
                <a:gd name="adj" fmla="val 8142"/>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399A009-8F51-58EF-B075-EDDC8BEA4B1E}"/>
                </a:ext>
              </a:extLst>
            </p:cNvPr>
            <p:cNvSpPr txBox="1"/>
            <p:nvPr/>
          </p:nvSpPr>
          <p:spPr>
            <a:xfrm>
              <a:off x="1166951" y="2118896"/>
              <a:ext cx="3450302" cy="1045574"/>
            </a:xfrm>
            <a:prstGeom prst="rect">
              <a:avLst/>
            </a:prstGeom>
            <a:noFill/>
          </p:spPr>
          <p:txBody>
            <a:bodyPr wrap="square" rtlCol="0">
              <a:spAutoFit/>
            </a:bodyPr>
            <a:lstStyle/>
            <a:p>
              <a:pPr algn="ctr"/>
              <a:r>
                <a:rPr lang="en-US" sz="2400" b="1">
                  <a:solidFill>
                    <a:srgbClr val="C00000"/>
                  </a:solidFill>
                  <a:latin typeface="Arial" panose="020B0604020202020204" pitchFamily="34" charset="0"/>
                  <a:cs typeface="Arial" panose="020B0604020202020204" pitchFamily="34" charset="0"/>
                </a:rPr>
                <a:t>Disclaimer</a:t>
              </a:r>
            </a:p>
            <a:p>
              <a:pPr algn="ctr"/>
              <a:r>
                <a:rPr lang="en-US" sz="2000">
                  <a:latin typeface="Arial" panose="020B0604020202020204" pitchFamily="34" charset="0"/>
                  <a:cs typeface="Arial" panose="020B0604020202020204" pitchFamily="34" charset="0"/>
                </a:rPr>
                <a:t>The content is curated from online/offline resources and used for educational purpose only</a:t>
              </a:r>
            </a:p>
          </p:txBody>
        </p:sp>
        <p:pic>
          <p:nvPicPr>
            <p:cNvPr id="5" name="Picture 4" descr="A red triangle with a exclamation mark&#10;&#10;Description automatically generated">
              <a:extLst>
                <a:ext uri="{FF2B5EF4-FFF2-40B4-BE49-F238E27FC236}">
                  <a16:creationId xmlns:a16="http://schemas.microsoft.com/office/drawing/2014/main" id="{9A8A9A5E-1340-85F1-6472-2D822A25190A}"/>
                </a:ext>
              </a:extLst>
            </p:cNvPr>
            <p:cNvPicPr>
              <a:picLocks noChangeAspect="1"/>
            </p:cNvPicPr>
            <p:nvPr/>
          </p:nvPicPr>
          <p:blipFill>
            <a:blip r:embed="rId3">
              <a:alphaModFix amt="24000"/>
            </a:blip>
            <a:stretch>
              <a:fillRect/>
            </a:stretch>
          </p:blipFill>
          <p:spPr>
            <a:xfrm>
              <a:off x="5259980" y="1277681"/>
              <a:ext cx="2700479" cy="2700479"/>
            </a:xfrm>
            <a:prstGeom prst="rect">
              <a:avLst/>
            </a:prstGeom>
          </p:spPr>
        </p:pic>
      </p:grpSp>
    </p:spTree>
    <p:custDataLst>
      <p:tags r:id="rId1"/>
    </p:custDataLst>
    <p:extLst>
      <p:ext uri="{BB962C8B-B14F-4D97-AF65-F5344CB8AC3E}">
        <p14:creationId xmlns:p14="http://schemas.microsoft.com/office/powerpoint/2010/main" val="23882532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4D4B0-41C7-DDA4-FBE4-DAD880E2782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D0722E1-DD56-D75A-819D-997F3AC8A24A}"/>
              </a:ext>
            </a:extLst>
          </p:cNvPr>
          <p:cNvSpPr txBox="1">
            <a:spLocks/>
          </p:cNvSpPr>
          <p:nvPr/>
        </p:nvSpPr>
        <p:spPr>
          <a:xfrm>
            <a:off x="340229" y="759787"/>
            <a:ext cx="117755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panose="020B0604020202020204" pitchFamily="34" charset="0"/>
                <a:cs typeface="Arial" panose="020B0604020202020204" pitchFamily="34" charset="0"/>
              </a:rPr>
              <a:t>Learning Outcome</a:t>
            </a:r>
          </a:p>
        </p:txBody>
      </p:sp>
      <p:sp>
        <p:nvSpPr>
          <p:cNvPr id="2" name="Text Placeholder 4">
            <a:extLst>
              <a:ext uri="{FF2B5EF4-FFF2-40B4-BE49-F238E27FC236}">
                <a16:creationId xmlns:a16="http://schemas.microsoft.com/office/drawing/2014/main" id="{3EC1CF50-C44B-4663-169F-B206995360F1}"/>
              </a:ext>
            </a:extLst>
          </p:cNvPr>
          <p:cNvSpPr txBox="1">
            <a:spLocks/>
          </p:cNvSpPr>
          <p:nvPr/>
        </p:nvSpPr>
        <p:spPr>
          <a:xfrm>
            <a:off x="340228" y="1182997"/>
            <a:ext cx="5811058" cy="5003756"/>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spcBef>
                <a:spcPts val="0"/>
              </a:spcBef>
              <a:spcAft>
                <a:spcPts val="800"/>
              </a:spcAft>
              <a:buFont typeface="Arial" pitchFamily="34" charset="0"/>
              <a:buNone/>
            </a:pPr>
            <a:r>
              <a:rPr lang="en-US" sz="1800" b="1" dirty="0">
                <a:latin typeface="Arial" panose="020B0604020202020204" pitchFamily="34" charset="0"/>
                <a:cs typeface="Arial" panose="020B0604020202020204" pitchFamily="34" charset="0"/>
              </a:rPr>
              <a:t>You will learn in this Chapter:</a:t>
            </a:r>
          </a:p>
          <a:p>
            <a:pPr lvl="0" fontAlgn="base"/>
            <a:r>
              <a:rPr lang="en-US" sz="1800" dirty="0">
                <a:latin typeface="Arial" panose="020B0604020202020204" pitchFamily="34" charset="0"/>
                <a:cs typeface="Arial" panose="020B0604020202020204" pitchFamily="34" charset="0"/>
              </a:rPr>
              <a:t>Explain data, information, insight, and decisions with simple examples.</a:t>
            </a:r>
          </a:p>
          <a:p>
            <a:pPr lvl="0" fontAlgn="base"/>
            <a:r>
              <a:rPr lang="en-US" sz="1800" dirty="0">
                <a:latin typeface="Arial" panose="020B0604020202020204" pitchFamily="34" charset="0"/>
                <a:cs typeface="Arial" panose="020B0604020202020204" pitchFamily="34" charset="0"/>
              </a:rPr>
              <a:t>Import and structure raw datasets in Excel for effective data handling.</a:t>
            </a:r>
          </a:p>
          <a:p>
            <a:pPr lvl="0" fontAlgn="base"/>
            <a:r>
              <a:rPr lang="en-US" sz="1800" dirty="0">
                <a:latin typeface="Arial" panose="020B0604020202020204" pitchFamily="34" charset="0"/>
                <a:cs typeface="Arial" panose="020B0604020202020204" pitchFamily="34" charset="0"/>
              </a:rPr>
              <a:t>Perform sorting and filtering operations to organize and extract relevant information.</a:t>
            </a:r>
          </a:p>
          <a:p>
            <a:pPr fontAlgn="base"/>
            <a:r>
              <a:rPr lang="en-US" sz="1800" dirty="0">
                <a:latin typeface="Arial" panose="020B0604020202020204" pitchFamily="34" charset="0"/>
                <a:cs typeface="Arial" panose="020B0604020202020204" pitchFamily="34" charset="0"/>
              </a:rPr>
              <a:t>To introduce AI tools that enhance productivity and automate Excel analysis.</a:t>
            </a:r>
          </a:p>
          <a:p>
            <a:pPr lvl="0" fontAlgn="base"/>
            <a:r>
              <a:rPr lang="en-US" sz="1800" dirty="0">
                <a:latin typeface="Arial" panose="020B0604020202020204" pitchFamily="34" charset="0"/>
                <a:cs typeface="Arial" panose="020B0604020202020204" pitchFamily="34" charset="0"/>
              </a:rPr>
              <a:t>To provide hands-on experience with real-world datasets and business scenarios.</a:t>
            </a:r>
          </a:p>
        </p:txBody>
      </p:sp>
      <p:sp>
        <p:nvSpPr>
          <p:cNvPr id="10" name="Rectangle 1">
            <a:extLst>
              <a:ext uri="{FF2B5EF4-FFF2-40B4-BE49-F238E27FC236}">
                <a16:creationId xmlns:a16="http://schemas.microsoft.com/office/drawing/2014/main" id="{92CDC6E4-C34E-58DE-F34F-00E90BED1A8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cxnSp>
        <p:nvCxnSpPr>
          <p:cNvPr id="13" name="Straight Connector 12">
            <a:extLst>
              <a:ext uri="{FF2B5EF4-FFF2-40B4-BE49-F238E27FC236}">
                <a16:creationId xmlns:a16="http://schemas.microsoft.com/office/drawing/2014/main" id="{4646F5BB-3975-D698-5AFC-DB5C307ED316}"/>
              </a:ext>
            </a:extLst>
          </p:cNvPr>
          <p:cNvCxnSpPr/>
          <p:nvPr/>
        </p:nvCxnSpPr>
        <p:spPr>
          <a:xfrm>
            <a:off x="0" y="6248400"/>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Freeform 4">
            <a:extLst>
              <a:ext uri="{FF2B5EF4-FFF2-40B4-BE49-F238E27FC236}">
                <a16:creationId xmlns:a16="http://schemas.microsoft.com/office/drawing/2014/main" id="{443E8E68-F152-CCEA-781B-569A37081246}"/>
              </a:ext>
            </a:extLst>
          </p:cNvPr>
          <p:cNvSpPr/>
          <p:nvPr/>
        </p:nvSpPr>
        <p:spPr>
          <a:xfrm>
            <a:off x="6629400" y="1457325"/>
            <a:ext cx="5211521" cy="3732752"/>
          </a:xfrm>
          <a:custGeom>
            <a:avLst/>
            <a:gdLst/>
            <a:ahLst/>
            <a:cxnLst/>
            <a:rect l="l" t="t" r="r" b="b"/>
            <a:pathLst>
              <a:path w="5744921" h="4114800">
                <a:moveTo>
                  <a:pt x="0" y="0"/>
                </a:moveTo>
                <a:lnTo>
                  <a:pt x="5744922" y="0"/>
                </a:lnTo>
                <a:lnTo>
                  <a:pt x="5744922" y="4114800"/>
                </a:lnTo>
                <a:lnTo>
                  <a:pt x="0" y="4114800"/>
                </a:lnTo>
                <a:lnTo>
                  <a:pt x="0" y="0"/>
                </a:lnTo>
                <a:close/>
              </a:path>
            </a:pathLst>
          </a:custGeom>
          <a:blipFill>
            <a:blip r:embed="rId3"/>
            <a:stretch>
              <a:fillRect/>
            </a:stretch>
          </a:blipFill>
        </p:spPr>
        <p:txBody>
          <a:bodyPr/>
          <a:lstStyle/>
          <a:p>
            <a:endParaRPr lang="en-US"/>
          </a:p>
        </p:txBody>
      </p:sp>
    </p:spTree>
    <p:custDataLst>
      <p:tags r:id="rId1"/>
    </p:custDataLst>
    <p:extLst>
      <p:ext uri="{BB962C8B-B14F-4D97-AF65-F5344CB8AC3E}">
        <p14:creationId xmlns:p14="http://schemas.microsoft.com/office/powerpoint/2010/main" val="895194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285750" y="740737"/>
            <a:ext cx="67056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a:solidFill>
                  <a:srgbClr val="002060"/>
                </a:solidFill>
                <a:latin typeface="Arial" panose="020B0604020202020204" pitchFamily="34" charset="0"/>
                <a:cs typeface="Arial" panose="020B0604020202020204" pitchFamily="34" charset="0"/>
              </a:rPr>
              <a:t>Introduction</a:t>
            </a: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5" name="Group 4">
            <a:extLst>
              <a:ext uri="{FF2B5EF4-FFF2-40B4-BE49-F238E27FC236}">
                <a16:creationId xmlns:a16="http://schemas.microsoft.com/office/drawing/2014/main" id="{601D4E1A-0DFE-8B52-7E43-5ABB1879C5F4}"/>
              </a:ext>
            </a:extLst>
          </p:cNvPr>
          <p:cNvGrpSpPr/>
          <p:nvPr/>
        </p:nvGrpSpPr>
        <p:grpSpPr>
          <a:xfrm>
            <a:off x="0" y="6248400"/>
            <a:ext cx="12192000" cy="369425"/>
            <a:chOff x="0" y="6248400"/>
            <a:chExt cx="12192000" cy="369425"/>
          </a:xfrm>
        </p:grpSpPr>
        <p:sp>
          <p:nvSpPr>
            <p:cNvPr id="7" name="TextBox 6">
              <a:extLst>
                <a:ext uri="{FF2B5EF4-FFF2-40B4-BE49-F238E27FC236}">
                  <a16:creationId xmlns:a16="http://schemas.microsoft.com/office/drawing/2014/main" id="{53D5C61B-F8AF-6D5F-AD9D-C34C6DB7688D}"/>
                </a:ext>
              </a:extLst>
            </p:cNvPr>
            <p:cNvSpPr txBox="1"/>
            <p:nvPr/>
          </p:nvSpPr>
          <p:spPr>
            <a:xfrm>
              <a:off x="419655" y="6310048"/>
              <a:ext cx="11342913" cy="307777"/>
            </a:xfrm>
            <a:prstGeom prst="rect">
              <a:avLst/>
            </a:prstGeom>
            <a:noFill/>
          </p:spPr>
          <p:txBody>
            <a:bodyPr wrap="none" rtlCol="0">
              <a:spAutoFit/>
            </a:bodyPr>
            <a:lstStyle/>
            <a:p>
              <a:r>
                <a:rPr lang="en-US" sz="1400" b="1" dirty="0" smtClean="0">
                  <a:solidFill>
                    <a:srgbClr val="0000FF"/>
                  </a:solidFill>
                  <a:latin typeface="Arial" panose="020B0604020202020204" pitchFamily="34" charset="0"/>
                  <a:cs typeface="Arial" panose="020B0604020202020204" pitchFamily="34" charset="0"/>
                </a:rPr>
                <a:t>Source: </a:t>
              </a:r>
              <a:r>
                <a:rPr lang="en-US" sz="1400" dirty="0">
                  <a:solidFill>
                    <a:srgbClr val="0000FF"/>
                  </a:solidFill>
                  <a:latin typeface="Arial" panose="020B0604020202020204" pitchFamily="34" charset="0"/>
                  <a:cs typeface="Arial" panose="020B0604020202020204" pitchFamily="34" charset="0"/>
                </a:rPr>
                <a:t>https://www.i-scoop.eu/wp-content/uploads/2016/07/The-traditional-data-information-knowledge-wisdom-pyramid-source-Mushon.gif</a:t>
              </a:r>
            </a:p>
          </p:txBody>
        </p:sp>
        <p:cxnSp>
          <p:nvCxnSpPr>
            <p:cNvPr id="9" name="Straight Connector 8">
              <a:extLst>
                <a:ext uri="{FF2B5EF4-FFF2-40B4-BE49-F238E27FC236}">
                  <a16:creationId xmlns:a16="http://schemas.microsoft.com/office/drawing/2014/main" id="{06D50C82-FFA3-3BA2-C15A-244CAB209789}"/>
                </a:ext>
              </a:extLst>
            </p:cNvPr>
            <p:cNvCxnSpPr/>
            <p:nvPr/>
          </p:nvCxnSpPr>
          <p:spPr>
            <a:xfrm>
              <a:off x="0" y="6248400"/>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1" name="Picture 10">
            <a:extLst>
              <a:ext uri="{FF2B5EF4-FFF2-40B4-BE49-F238E27FC236}">
                <a16:creationId xmlns:a16="http://schemas.microsoft.com/office/drawing/2014/main" id="{C538E31B-BBEC-740C-F4CF-CFFA29F3C628}"/>
              </a:ext>
            </a:extLst>
          </p:cNvPr>
          <p:cNvPicPr>
            <a:picLocks noChangeAspect="1"/>
          </p:cNvPicPr>
          <p:nvPr/>
        </p:nvPicPr>
        <p:blipFill>
          <a:blip r:embed="rId4"/>
          <a:stretch>
            <a:fillRect/>
          </a:stretch>
        </p:blipFill>
        <p:spPr>
          <a:xfrm>
            <a:off x="2590800" y="1895978"/>
            <a:ext cx="6400800" cy="4200022"/>
          </a:xfrm>
          <a:prstGeom prst="rect">
            <a:avLst/>
          </a:prstGeom>
        </p:spPr>
      </p:pic>
      <p:pic>
        <p:nvPicPr>
          <p:cNvPr id="13" name="3D Model 1" descr="Red Question mark">
            <a:extLst>
              <a:ext uri="{FF2B5EF4-FFF2-40B4-BE49-F238E27FC236}">
                <a16:creationId xmlns:a16="http://schemas.microsoft.com/office/drawing/2014/main" id="{E411B25C-3060-A3BF-413F-C6A0920D2DCB}"/>
              </a:ext>
            </a:extLst>
          </p:cNvPr>
          <p:cNvPicPr>
            <a:picLocks noGrp="1" noRot="1" noChangeAspect="1" noMove="1" noResize="1" noEditPoints="1" noAdjustHandles="1" noChangeArrowheads="1" noChangeShapeType="1" noCrop="1"/>
          </p:cNvPicPr>
          <p:nvPr/>
        </p:nvPicPr>
        <p:blipFill>
          <a:blip r:embed="rId5"/>
          <a:stretch>
            <a:fillRect/>
          </a:stretch>
        </p:blipFill>
        <p:spPr>
          <a:xfrm>
            <a:off x="10134600" y="3124200"/>
            <a:ext cx="1040606" cy="1686446"/>
          </a:xfrm>
          <a:prstGeom prst="rect">
            <a:avLst/>
          </a:prstGeom>
        </p:spPr>
      </p:pic>
    </p:spTree>
    <p:custDataLst>
      <p:tags r:id="rId1"/>
    </p:custDataLst>
    <p:extLst>
      <p:ext uri="{BB962C8B-B14F-4D97-AF65-F5344CB8AC3E}">
        <p14:creationId xmlns:p14="http://schemas.microsoft.com/office/powerpoint/2010/main" val="1960589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285750" y="740737"/>
            <a:ext cx="67056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a:solidFill>
                  <a:srgbClr val="002060"/>
                </a:solidFill>
                <a:latin typeface="Arial" panose="020B0604020202020204" pitchFamily="34" charset="0"/>
                <a:cs typeface="Arial" panose="020B0604020202020204" pitchFamily="34" charset="0"/>
              </a:rPr>
              <a:t>What is Microsoft Excel?</a:t>
            </a:r>
          </a:p>
        </p:txBody>
      </p:sp>
      <p:sp>
        <p:nvSpPr>
          <p:cNvPr id="2" name="Text Placeholder 4">
            <a:extLst>
              <a:ext uri="{FF2B5EF4-FFF2-40B4-BE49-F238E27FC236}">
                <a16:creationId xmlns:a16="http://schemas.microsoft.com/office/drawing/2014/main" id="{9835D79F-345C-6435-F4A9-FE2A9E806174}"/>
              </a:ext>
            </a:extLst>
          </p:cNvPr>
          <p:cNvSpPr txBox="1">
            <a:spLocks/>
          </p:cNvSpPr>
          <p:nvPr/>
        </p:nvSpPr>
        <p:spPr>
          <a:xfrm>
            <a:off x="390525" y="1475023"/>
            <a:ext cx="5811058" cy="4114800"/>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a:spcBef>
                <a:spcPts val="0"/>
              </a:spcBef>
              <a:spcAft>
                <a:spcPts val="800"/>
              </a:spcAft>
              <a:buNone/>
            </a:pPr>
            <a:r>
              <a:rPr lang="en-US" sz="1800" dirty="0">
                <a:latin typeface="Arial" panose="020B0604020202020204" pitchFamily="34" charset="0"/>
                <a:cs typeface="Arial" panose="020B0604020202020204" pitchFamily="34" charset="0"/>
              </a:rPr>
              <a:t>Microsoft Excel is a powerful spreadsheet program developed by Microsoft</a:t>
            </a:r>
          </a:p>
          <a:p>
            <a:pPr>
              <a:spcBef>
                <a:spcPts val="0"/>
              </a:spcBef>
              <a:spcAft>
                <a:spcPts val="800"/>
              </a:spcAft>
            </a:pPr>
            <a:r>
              <a:rPr lang="en-US" sz="1800" dirty="0">
                <a:latin typeface="Arial" panose="020B0604020202020204" pitchFamily="34" charset="0"/>
                <a:cs typeface="Arial" panose="020B0604020202020204" pitchFamily="34" charset="0"/>
              </a:rPr>
              <a:t>Organize and manage data in rows &amp; columns (grids)</a:t>
            </a:r>
          </a:p>
          <a:p>
            <a:pPr>
              <a:spcBef>
                <a:spcPts val="0"/>
              </a:spcBef>
              <a:spcAft>
                <a:spcPts val="800"/>
              </a:spcAft>
            </a:pPr>
            <a:r>
              <a:rPr lang="en-US" sz="1800" dirty="0">
                <a:latin typeface="Arial" panose="020B0604020202020204" pitchFamily="34" charset="0"/>
                <a:cs typeface="Arial" panose="020B0604020202020204" pitchFamily="34" charset="0"/>
              </a:rPr>
              <a:t>Perform calculations using formulas and functions</a:t>
            </a:r>
          </a:p>
          <a:p>
            <a:pPr>
              <a:spcBef>
                <a:spcPts val="0"/>
              </a:spcBef>
              <a:spcAft>
                <a:spcPts val="800"/>
              </a:spcAft>
            </a:pPr>
            <a:r>
              <a:rPr lang="en-US" sz="1800" dirty="0">
                <a:latin typeface="Arial" panose="020B0604020202020204" pitchFamily="34" charset="0"/>
                <a:cs typeface="Arial" panose="020B0604020202020204" pitchFamily="34" charset="0"/>
              </a:rPr>
              <a:t>Create professional charts, graphs &amp; dashboards</a:t>
            </a:r>
          </a:p>
          <a:p>
            <a:pPr>
              <a:spcBef>
                <a:spcPts val="0"/>
              </a:spcBef>
              <a:spcAft>
                <a:spcPts val="800"/>
              </a:spcAft>
            </a:pPr>
            <a:r>
              <a:rPr lang="en-US" sz="1800" dirty="0">
                <a:latin typeface="Arial" panose="020B0604020202020204" pitchFamily="34" charset="0"/>
                <a:cs typeface="Arial" panose="020B0604020202020204" pitchFamily="34" charset="0"/>
              </a:rPr>
              <a:t>Analyze large datasets (sorting, filtering, pivot tables)</a:t>
            </a: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5" name="Group 4">
            <a:extLst>
              <a:ext uri="{FF2B5EF4-FFF2-40B4-BE49-F238E27FC236}">
                <a16:creationId xmlns:a16="http://schemas.microsoft.com/office/drawing/2014/main" id="{601D4E1A-0DFE-8B52-7E43-5ABB1879C5F4}"/>
              </a:ext>
            </a:extLst>
          </p:cNvPr>
          <p:cNvGrpSpPr/>
          <p:nvPr/>
        </p:nvGrpSpPr>
        <p:grpSpPr>
          <a:xfrm>
            <a:off x="0" y="6248400"/>
            <a:ext cx="12192000" cy="292480"/>
            <a:chOff x="0" y="6248400"/>
            <a:chExt cx="12192000" cy="292480"/>
          </a:xfrm>
        </p:grpSpPr>
        <p:sp>
          <p:nvSpPr>
            <p:cNvPr id="7" name="TextBox 6">
              <a:extLst>
                <a:ext uri="{FF2B5EF4-FFF2-40B4-BE49-F238E27FC236}">
                  <a16:creationId xmlns:a16="http://schemas.microsoft.com/office/drawing/2014/main" id="{53D5C61B-F8AF-6D5F-AD9D-C34C6DB7688D}"/>
                </a:ext>
              </a:extLst>
            </p:cNvPr>
            <p:cNvSpPr txBox="1"/>
            <p:nvPr/>
          </p:nvSpPr>
          <p:spPr>
            <a:xfrm>
              <a:off x="419655" y="6310048"/>
              <a:ext cx="11703845" cy="230832"/>
            </a:xfrm>
            <a:prstGeom prst="rect">
              <a:avLst/>
            </a:prstGeom>
            <a:noFill/>
          </p:spPr>
          <p:txBody>
            <a:bodyPr wrap="none" rtlCol="0">
              <a:spAutoFit/>
            </a:bodyPr>
            <a:lstStyle/>
            <a:p>
              <a:r>
                <a:rPr lang="en-US" sz="900" b="1" dirty="0">
                  <a:solidFill>
                    <a:srgbClr val="0000FF"/>
                  </a:solidFill>
                  <a:latin typeface="Arial" panose="020B0604020202020204" pitchFamily="34" charset="0"/>
                  <a:cs typeface="Arial" panose="020B0604020202020204" pitchFamily="34" charset="0"/>
                </a:rPr>
                <a:t>Source: </a:t>
              </a:r>
              <a:r>
                <a:rPr lang="en-US" sz="900" dirty="0">
                  <a:solidFill>
                    <a:srgbClr val="0000FF"/>
                  </a:solidFill>
                  <a:latin typeface="Arial" panose="020B0604020202020204" pitchFamily="34" charset="0"/>
                  <a:cs typeface="Arial" panose="020B0604020202020204" pitchFamily="34" charset="0"/>
                </a:rPr>
                <a:t>https://media.licdn.com/dms/image/v2/D5622AQG-quF44G4Mrg/feedshare-shrink_2048_1536/B56ZiYg5rKH0A0-/0/1754905419174?e=2147483647&amp;v=beta&amp;t=NpoTt599xj4AqbBcgwKuNNXmbIA56M8-ZACZFtpF8So</a:t>
              </a:r>
            </a:p>
          </p:txBody>
        </p:sp>
        <p:cxnSp>
          <p:nvCxnSpPr>
            <p:cNvPr id="9" name="Straight Connector 8">
              <a:extLst>
                <a:ext uri="{FF2B5EF4-FFF2-40B4-BE49-F238E27FC236}">
                  <a16:creationId xmlns:a16="http://schemas.microsoft.com/office/drawing/2014/main" id="{06D50C82-FFA3-3BA2-C15A-244CAB209789}"/>
                </a:ext>
              </a:extLst>
            </p:cNvPr>
            <p:cNvCxnSpPr/>
            <p:nvPr/>
          </p:nvCxnSpPr>
          <p:spPr>
            <a:xfrm>
              <a:off x="0" y="6248400"/>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11" name="Picture 2" descr="Shalaka Ghodke - Senior Project Manager | LinkedI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2829" y="2275122"/>
            <a:ext cx="5705475" cy="377190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972538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285750" y="740737"/>
            <a:ext cx="67056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a:solidFill>
                  <a:srgbClr val="002060"/>
                </a:solidFill>
                <a:latin typeface="Arial" panose="020B0604020202020204" pitchFamily="34" charset="0"/>
                <a:cs typeface="Arial" panose="020B0604020202020204" pitchFamily="34" charset="0"/>
              </a:rPr>
              <a:t>Excel Interface: Key elements of Excel</a:t>
            </a: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5" name="Group 4">
            <a:extLst>
              <a:ext uri="{FF2B5EF4-FFF2-40B4-BE49-F238E27FC236}">
                <a16:creationId xmlns:a16="http://schemas.microsoft.com/office/drawing/2014/main" id="{601D4E1A-0DFE-8B52-7E43-5ABB1879C5F4}"/>
              </a:ext>
            </a:extLst>
          </p:cNvPr>
          <p:cNvGrpSpPr/>
          <p:nvPr/>
        </p:nvGrpSpPr>
        <p:grpSpPr>
          <a:xfrm>
            <a:off x="0" y="6248400"/>
            <a:ext cx="12192000" cy="369425"/>
            <a:chOff x="0" y="6248400"/>
            <a:chExt cx="12192000" cy="369425"/>
          </a:xfrm>
        </p:grpSpPr>
        <p:sp>
          <p:nvSpPr>
            <p:cNvPr id="7" name="TextBox 6">
              <a:extLst>
                <a:ext uri="{FF2B5EF4-FFF2-40B4-BE49-F238E27FC236}">
                  <a16:creationId xmlns:a16="http://schemas.microsoft.com/office/drawing/2014/main" id="{53D5C61B-F8AF-6D5F-AD9D-C34C6DB7688D}"/>
                </a:ext>
              </a:extLst>
            </p:cNvPr>
            <p:cNvSpPr txBox="1"/>
            <p:nvPr/>
          </p:nvSpPr>
          <p:spPr>
            <a:xfrm>
              <a:off x="419655" y="6310048"/>
              <a:ext cx="10217349" cy="307777"/>
            </a:xfrm>
            <a:prstGeom prst="rect">
              <a:avLst/>
            </a:prstGeom>
            <a:noFill/>
          </p:spPr>
          <p:txBody>
            <a:bodyPr wrap="none" rtlCol="0">
              <a:spAutoFit/>
            </a:bodyPr>
            <a:lstStyle/>
            <a:p>
              <a:r>
                <a:rPr lang="en-US" sz="1400" b="1" dirty="0">
                  <a:solidFill>
                    <a:srgbClr val="0000FF"/>
                  </a:solidFill>
                  <a:latin typeface="Arial" panose="020B0604020202020204" pitchFamily="34" charset="0"/>
                  <a:cs typeface="Arial" panose="020B0604020202020204" pitchFamily="34" charset="0"/>
                </a:rPr>
                <a:t>Source: </a:t>
              </a:r>
              <a:r>
                <a:rPr lang="en-US" sz="1400" dirty="0">
                  <a:solidFill>
                    <a:srgbClr val="0000FF"/>
                  </a:solidFill>
                  <a:latin typeface="Arial" panose="020B0604020202020204" pitchFamily="34" charset="0"/>
                  <a:cs typeface="Arial" panose="020B0604020202020204" pitchFamily="34" charset="0"/>
                </a:rPr>
                <a:t>https://worksheets.clipart-library.com/images2/definition-of-worksheet-in-excel/definition-of-worksheet-in-excel-18.jpeg</a:t>
              </a:r>
            </a:p>
          </p:txBody>
        </p:sp>
        <p:cxnSp>
          <p:nvCxnSpPr>
            <p:cNvPr id="9" name="Straight Connector 8">
              <a:extLst>
                <a:ext uri="{FF2B5EF4-FFF2-40B4-BE49-F238E27FC236}">
                  <a16:creationId xmlns:a16="http://schemas.microsoft.com/office/drawing/2014/main" id="{06D50C82-FFA3-3BA2-C15A-244CAB209789}"/>
                </a:ext>
              </a:extLst>
            </p:cNvPr>
            <p:cNvCxnSpPr/>
            <p:nvPr/>
          </p:nvCxnSpPr>
          <p:spPr>
            <a:xfrm>
              <a:off x="0" y="6248400"/>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8" name="Picture 7" descr="Chapter 1: Microsoft Excel Overview - MS Excel Bootcamp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5768" y="1194919"/>
            <a:ext cx="8872472" cy="4991834"/>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561195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285750" y="740737"/>
            <a:ext cx="67056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a:solidFill>
                  <a:srgbClr val="002060"/>
                </a:solidFill>
                <a:latin typeface="Arial" panose="020B0604020202020204" pitchFamily="34" charset="0"/>
                <a:cs typeface="Arial" panose="020B0604020202020204" pitchFamily="34" charset="0"/>
              </a:rPr>
              <a:t>Data Entry</a:t>
            </a:r>
          </a:p>
        </p:txBody>
      </p:sp>
      <p:sp>
        <p:nvSpPr>
          <p:cNvPr id="2" name="Text Placeholder 4">
            <a:extLst>
              <a:ext uri="{FF2B5EF4-FFF2-40B4-BE49-F238E27FC236}">
                <a16:creationId xmlns:a16="http://schemas.microsoft.com/office/drawing/2014/main" id="{9835D79F-345C-6435-F4A9-FE2A9E806174}"/>
              </a:ext>
            </a:extLst>
          </p:cNvPr>
          <p:cNvSpPr txBox="1">
            <a:spLocks/>
          </p:cNvSpPr>
          <p:nvPr/>
        </p:nvSpPr>
        <p:spPr>
          <a:xfrm>
            <a:off x="390525" y="1475023"/>
            <a:ext cx="5811058" cy="4114800"/>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a:spcBef>
                <a:spcPts val="0"/>
              </a:spcBef>
              <a:spcAft>
                <a:spcPts val="800"/>
              </a:spcAft>
            </a:pPr>
            <a:r>
              <a:rPr lang="en-US" sz="1800" dirty="0">
                <a:latin typeface="Arial" panose="020B0604020202020204" pitchFamily="34" charset="0"/>
                <a:cs typeface="Arial" panose="020B0604020202020204" pitchFamily="34" charset="0"/>
              </a:rPr>
              <a:t>Data entry in Excel means entering information into worksheet cells.</a:t>
            </a:r>
          </a:p>
          <a:p>
            <a:pPr>
              <a:spcBef>
                <a:spcPts val="0"/>
              </a:spcBef>
              <a:spcAft>
                <a:spcPts val="800"/>
              </a:spcAft>
            </a:pPr>
            <a:r>
              <a:rPr lang="en-US" sz="1800" dirty="0">
                <a:latin typeface="Arial" panose="020B0604020202020204" pitchFamily="34" charset="0"/>
                <a:cs typeface="Arial" panose="020B0604020202020204" pitchFamily="34" charset="0"/>
              </a:rPr>
              <a:t>A worksheet is made up of rows and columns that form cells.</a:t>
            </a:r>
          </a:p>
          <a:p>
            <a:pPr>
              <a:spcBef>
                <a:spcPts val="0"/>
              </a:spcBef>
              <a:spcAft>
                <a:spcPts val="800"/>
              </a:spcAft>
            </a:pPr>
            <a:r>
              <a:rPr lang="en-US" sz="1800" dirty="0">
                <a:latin typeface="Arial" panose="020B0604020202020204" pitchFamily="34" charset="0"/>
                <a:cs typeface="Arial" panose="020B0604020202020204" pitchFamily="34" charset="0"/>
              </a:rPr>
              <a:t>Each cell is identified by a cell address combining column and row.</a:t>
            </a:r>
          </a:p>
          <a:p>
            <a:pPr>
              <a:spcBef>
                <a:spcPts val="0"/>
              </a:spcBef>
              <a:spcAft>
                <a:spcPts val="800"/>
              </a:spcAft>
            </a:pPr>
            <a:endParaRPr lang="en-US" sz="1800" dirty="0">
              <a:latin typeface="Arial" panose="020B0604020202020204" pitchFamily="34" charset="0"/>
              <a:cs typeface="Arial" panose="020B0604020202020204" pitchFamily="34" charset="0"/>
            </a:endParaRPr>
          </a:p>
          <a:p>
            <a:pPr>
              <a:spcBef>
                <a:spcPts val="0"/>
              </a:spcBef>
              <a:spcAft>
                <a:spcPts val="800"/>
              </a:spcAft>
            </a:pPr>
            <a:r>
              <a:rPr lang="en-US" sz="1800" dirty="0">
                <a:latin typeface="Arial" panose="020B0604020202020204" pitchFamily="34" charset="0"/>
                <a:cs typeface="Arial" panose="020B0604020202020204" pitchFamily="34" charset="0"/>
              </a:rPr>
              <a:t>Example: The top-left cell is A1.</a:t>
            </a:r>
          </a:p>
          <a:p>
            <a:pPr>
              <a:spcBef>
                <a:spcPts val="0"/>
              </a:spcBef>
              <a:spcAft>
                <a:spcPts val="800"/>
              </a:spcAft>
            </a:pPr>
            <a:r>
              <a:rPr lang="en-US" sz="1800" dirty="0">
                <a:latin typeface="Arial" panose="020B0604020202020204" pitchFamily="34" charset="0"/>
                <a:cs typeface="Arial" panose="020B0604020202020204" pitchFamily="34" charset="0"/>
              </a:rPr>
              <a:t>Excel supports different types of data such as text, numbers, dates, and symbols.</a:t>
            </a:r>
          </a:p>
          <a:p>
            <a:pPr>
              <a:spcBef>
                <a:spcPts val="0"/>
              </a:spcBef>
              <a:spcAft>
                <a:spcPts val="800"/>
              </a:spcAft>
            </a:pPr>
            <a:r>
              <a:rPr lang="en-US" sz="1800" dirty="0">
                <a:latin typeface="Arial" panose="020B0604020202020204" pitchFamily="34" charset="0"/>
                <a:cs typeface="Arial" panose="020B0604020202020204" pitchFamily="34" charset="0"/>
              </a:rPr>
              <a:t>Example: 12/08/2025 is treated as a date, while 12082025 is treated as a number.</a:t>
            </a: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5" name="Group 4">
            <a:extLst>
              <a:ext uri="{FF2B5EF4-FFF2-40B4-BE49-F238E27FC236}">
                <a16:creationId xmlns:a16="http://schemas.microsoft.com/office/drawing/2014/main" id="{601D4E1A-0DFE-8B52-7E43-5ABB1879C5F4}"/>
              </a:ext>
            </a:extLst>
          </p:cNvPr>
          <p:cNvGrpSpPr/>
          <p:nvPr/>
        </p:nvGrpSpPr>
        <p:grpSpPr>
          <a:xfrm>
            <a:off x="0" y="6248400"/>
            <a:ext cx="12192000" cy="369425"/>
            <a:chOff x="0" y="6248400"/>
            <a:chExt cx="12192000" cy="369425"/>
          </a:xfrm>
        </p:grpSpPr>
        <p:sp>
          <p:nvSpPr>
            <p:cNvPr id="7" name="TextBox 6">
              <a:extLst>
                <a:ext uri="{FF2B5EF4-FFF2-40B4-BE49-F238E27FC236}">
                  <a16:creationId xmlns:a16="http://schemas.microsoft.com/office/drawing/2014/main" id="{53D5C61B-F8AF-6D5F-AD9D-C34C6DB7688D}"/>
                </a:ext>
              </a:extLst>
            </p:cNvPr>
            <p:cNvSpPr txBox="1"/>
            <p:nvPr/>
          </p:nvSpPr>
          <p:spPr>
            <a:xfrm>
              <a:off x="419655" y="6310048"/>
              <a:ext cx="9852121" cy="307777"/>
            </a:xfrm>
            <a:prstGeom prst="rect">
              <a:avLst/>
            </a:prstGeom>
            <a:noFill/>
          </p:spPr>
          <p:txBody>
            <a:bodyPr wrap="none" rtlCol="0">
              <a:spAutoFit/>
            </a:bodyPr>
            <a:lstStyle/>
            <a:p>
              <a:r>
                <a:rPr lang="en-US" sz="1400" b="1" dirty="0">
                  <a:solidFill>
                    <a:srgbClr val="0000FF"/>
                  </a:solidFill>
                  <a:latin typeface="Arial" panose="020B0604020202020204" pitchFamily="34" charset="0"/>
                  <a:cs typeface="Arial" panose="020B0604020202020204" pitchFamily="34" charset="0"/>
                </a:rPr>
                <a:t>Source: </a:t>
              </a:r>
              <a:r>
                <a:rPr lang="en-US" sz="1400" dirty="0">
                  <a:solidFill>
                    <a:srgbClr val="0000FF"/>
                  </a:solidFill>
                  <a:latin typeface="Arial" panose="020B0604020202020204" pitchFamily="34" charset="0"/>
                  <a:cs typeface="Arial" panose="020B0604020202020204" pitchFamily="34" charset="0"/>
                </a:rPr>
                <a:t>https://www.shutterstock.com/image-vector/spreadsheet-concept-business-team-analyze-260nw-2344020923.jpg</a:t>
              </a:r>
            </a:p>
          </p:txBody>
        </p:sp>
        <p:cxnSp>
          <p:nvCxnSpPr>
            <p:cNvPr id="9" name="Straight Connector 8">
              <a:extLst>
                <a:ext uri="{FF2B5EF4-FFF2-40B4-BE49-F238E27FC236}">
                  <a16:creationId xmlns:a16="http://schemas.microsoft.com/office/drawing/2014/main" id="{06D50C82-FFA3-3BA2-C15A-244CAB209789}"/>
                </a:ext>
              </a:extLst>
            </p:cNvPr>
            <p:cNvCxnSpPr/>
            <p:nvPr/>
          </p:nvCxnSpPr>
          <p:spPr>
            <a:xfrm>
              <a:off x="0" y="6248400"/>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8" name="Picture 2" descr="https://www.shutterstock.com/image-vector/spreadsheet-concept-business-team-analyze-260nw-2344020923.jpg"/>
          <p:cNvPicPr>
            <a:picLocks noChangeAspect="1" noChangeArrowheads="1"/>
          </p:cNvPicPr>
          <p:nvPr/>
        </p:nvPicPr>
        <p:blipFill rotWithShape="1">
          <a:blip r:embed="rId4">
            <a:extLst>
              <a:ext uri="{28A0092B-C50C-407E-A947-70E740481C1C}">
                <a14:useLocalDpi xmlns:a14="http://schemas.microsoft.com/office/drawing/2010/main" val="0"/>
              </a:ext>
            </a:extLst>
          </a:blip>
          <a:srcRect l="8205" t="9126" r="5641" b="10874"/>
          <a:stretch/>
        </p:blipFill>
        <p:spPr bwMode="auto">
          <a:xfrm>
            <a:off x="6705600" y="2293987"/>
            <a:ext cx="5029200" cy="33528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85979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285750" y="740737"/>
            <a:ext cx="67056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a:solidFill>
                  <a:srgbClr val="002060"/>
                </a:solidFill>
                <a:latin typeface="Arial" panose="020B0604020202020204" pitchFamily="34" charset="0"/>
                <a:cs typeface="Arial" panose="020B0604020202020204" pitchFamily="34" charset="0"/>
              </a:rPr>
              <a:t>Basic Formulas</a:t>
            </a:r>
          </a:p>
        </p:txBody>
      </p:sp>
      <p:sp>
        <p:nvSpPr>
          <p:cNvPr id="2" name="Text Placeholder 4">
            <a:extLst>
              <a:ext uri="{FF2B5EF4-FFF2-40B4-BE49-F238E27FC236}">
                <a16:creationId xmlns:a16="http://schemas.microsoft.com/office/drawing/2014/main" id="{9835D79F-345C-6435-F4A9-FE2A9E806174}"/>
              </a:ext>
            </a:extLst>
          </p:cNvPr>
          <p:cNvSpPr txBox="1">
            <a:spLocks/>
          </p:cNvSpPr>
          <p:nvPr/>
        </p:nvSpPr>
        <p:spPr>
          <a:xfrm>
            <a:off x="390525" y="1475023"/>
            <a:ext cx="5811058" cy="4114800"/>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a:spcBef>
                <a:spcPts val="0"/>
              </a:spcBef>
              <a:spcAft>
                <a:spcPts val="800"/>
              </a:spcAft>
            </a:pPr>
            <a:r>
              <a:rPr lang="en-US" sz="1800" dirty="0">
                <a:latin typeface="Arial" panose="020B0604020202020204" pitchFamily="34" charset="0"/>
                <a:cs typeface="Arial" panose="020B0604020202020204" pitchFamily="34" charset="0"/>
              </a:rPr>
              <a:t>Basic formulas in Excel perform common calculations on a range of cells automatically.</a:t>
            </a:r>
          </a:p>
          <a:p>
            <a:pPr>
              <a:spcBef>
                <a:spcPts val="0"/>
              </a:spcBef>
              <a:spcAft>
                <a:spcPts val="800"/>
              </a:spcAft>
            </a:pPr>
            <a:r>
              <a:rPr lang="en-US" sz="1800" dirty="0">
                <a:latin typeface="Arial" panose="020B0604020202020204" pitchFamily="34" charset="0"/>
                <a:cs typeface="Arial" panose="020B0604020202020204" pitchFamily="34" charset="0"/>
              </a:rPr>
              <a:t>These formulas include SUM, AVERAGE, COUNT, MIN, and MAX functions.</a:t>
            </a:r>
          </a:p>
          <a:p>
            <a:pPr>
              <a:spcBef>
                <a:spcPts val="0"/>
              </a:spcBef>
              <a:spcAft>
                <a:spcPts val="800"/>
              </a:spcAft>
            </a:pPr>
            <a:r>
              <a:rPr lang="en-US" sz="1800" dirty="0">
                <a:latin typeface="Arial" panose="020B0604020202020204" pitchFamily="34" charset="0"/>
                <a:cs typeface="Arial" panose="020B0604020202020204" pitchFamily="34" charset="0"/>
              </a:rPr>
              <a:t>SUM adds all numbers in a specified range of cells.</a:t>
            </a:r>
          </a:p>
          <a:p>
            <a:pPr>
              <a:spcBef>
                <a:spcPts val="0"/>
              </a:spcBef>
              <a:spcAft>
                <a:spcPts val="800"/>
              </a:spcAft>
            </a:pPr>
            <a:r>
              <a:rPr lang="en-US" sz="1800" dirty="0">
                <a:latin typeface="Arial" panose="020B0604020202020204" pitchFamily="34" charset="0"/>
                <a:cs typeface="Arial" panose="020B0604020202020204" pitchFamily="34" charset="0"/>
              </a:rPr>
              <a:t>AVERAGE calculates the mean of numbers in a range.</a:t>
            </a:r>
          </a:p>
          <a:p>
            <a:pPr>
              <a:spcBef>
                <a:spcPts val="0"/>
              </a:spcBef>
              <a:spcAft>
                <a:spcPts val="800"/>
              </a:spcAft>
            </a:pPr>
            <a:r>
              <a:rPr lang="en-US" sz="1800" dirty="0">
                <a:latin typeface="Arial" panose="020B0604020202020204" pitchFamily="34" charset="0"/>
                <a:cs typeface="Arial" panose="020B0604020202020204" pitchFamily="34" charset="0"/>
              </a:rPr>
              <a:t>COUNT counts the number of numeric entries in a range.</a:t>
            </a:r>
          </a:p>
          <a:p>
            <a:pPr>
              <a:spcBef>
                <a:spcPts val="0"/>
              </a:spcBef>
              <a:spcAft>
                <a:spcPts val="800"/>
              </a:spcAft>
            </a:pPr>
            <a:r>
              <a:rPr lang="en-US" sz="1800" dirty="0">
                <a:latin typeface="Arial" panose="020B0604020202020204" pitchFamily="34" charset="0"/>
                <a:cs typeface="Arial" panose="020B0604020202020204" pitchFamily="34" charset="0"/>
              </a:rPr>
              <a:t>MIN finds the smallest number in a range.</a:t>
            </a:r>
          </a:p>
          <a:p>
            <a:pPr>
              <a:spcBef>
                <a:spcPts val="0"/>
              </a:spcBef>
              <a:spcAft>
                <a:spcPts val="800"/>
              </a:spcAft>
            </a:pPr>
            <a:r>
              <a:rPr lang="en-US" sz="1800" dirty="0">
                <a:latin typeface="Arial" panose="020B0604020202020204" pitchFamily="34" charset="0"/>
                <a:cs typeface="Arial" panose="020B0604020202020204" pitchFamily="34" charset="0"/>
              </a:rPr>
              <a:t>MAX finds the largest number in a range.</a:t>
            </a: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5" name="Group 4">
            <a:extLst>
              <a:ext uri="{FF2B5EF4-FFF2-40B4-BE49-F238E27FC236}">
                <a16:creationId xmlns:a16="http://schemas.microsoft.com/office/drawing/2014/main" id="{601D4E1A-0DFE-8B52-7E43-5ABB1879C5F4}"/>
              </a:ext>
            </a:extLst>
          </p:cNvPr>
          <p:cNvGrpSpPr/>
          <p:nvPr/>
        </p:nvGrpSpPr>
        <p:grpSpPr>
          <a:xfrm>
            <a:off x="0" y="6248400"/>
            <a:ext cx="12192000" cy="369425"/>
            <a:chOff x="0" y="6248400"/>
            <a:chExt cx="12192000" cy="369425"/>
          </a:xfrm>
        </p:grpSpPr>
        <p:sp>
          <p:nvSpPr>
            <p:cNvPr id="7" name="TextBox 6">
              <a:extLst>
                <a:ext uri="{FF2B5EF4-FFF2-40B4-BE49-F238E27FC236}">
                  <a16:creationId xmlns:a16="http://schemas.microsoft.com/office/drawing/2014/main" id="{53D5C61B-F8AF-6D5F-AD9D-C34C6DB7688D}"/>
                </a:ext>
              </a:extLst>
            </p:cNvPr>
            <p:cNvSpPr txBox="1"/>
            <p:nvPr/>
          </p:nvSpPr>
          <p:spPr>
            <a:xfrm>
              <a:off x="419655" y="6310048"/>
              <a:ext cx="7986225" cy="307777"/>
            </a:xfrm>
            <a:prstGeom prst="rect">
              <a:avLst/>
            </a:prstGeom>
            <a:noFill/>
          </p:spPr>
          <p:txBody>
            <a:bodyPr wrap="none" rtlCol="0">
              <a:spAutoFit/>
            </a:bodyPr>
            <a:lstStyle/>
            <a:p>
              <a:r>
                <a:rPr lang="en-US" sz="1400" b="1" dirty="0">
                  <a:solidFill>
                    <a:srgbClr val="0000FF"/>
                  </a:solidFill>
                  <a:latin typeface="Arial" panose="020B0604020202020204" pitchFamily="34" charset="0"/>
                  <a:cs typeface="Arial" panose="020B0604020202020204" pitchFamily="34" charset="0"/>
                </a:rPr>
                <a:t>Source: </a:t>
              </a:r>
              <a:r>
                <a:rPr lang="en-US" sz="1400" dirty="0">
                  <a:solidFill>
                    <a:srgbClr val="0000FF"/>
                  </a:solidFill>
                  <a:latin typeface="Arial" panose="020B0604020202020204" pitchFamily="34" charset="0"/>
                  <a:cs typeface="Arial" panose="020B0604020202020204" pitchFamily="34" charset="0"/>
                </a:rPr>
                <a:t>https://www.projectcubicle.com/wp-content/uploads/2022/09/Basic-Formulas-in-Excel.png</a:t>
              </a:r>
            </a:p>
          </p:txBody>
        </p:sp>
        <p:cxnSp>
          <p:nvCxnSpPr>
            <p:cNvPr id="9" name="Straight Connector 8">
              <a:extLst>
                <a:ext uri="{FF2B5EF4-FFF2-40B4-BE49-F238E27FC236}">
                  <a16:creationId xmlns:a16="http://schemas.microsoft.com/office/drawing/2014/main" id="{06D50C82-FFA3-3BA2-C15A-244CAB209789}"/>
                </a:ext>
              </a:extLst>
            </p:cNvPr>
            <p:cNvCxnSpPr/>
            <p:nvPr/>
          </p:nvCxnSpPr>
          <p:spPr>
            <a:xfrm>
              <a:off x="0" y="6248400"/>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8" name="Picture 2" descr="https://www.projectcubicle.com/wp-content/uploads/2022/09/Basic-Formulas-in-Excel.png"/>
          <p:cNvPicPr>
            <a:picLocks noChangeAspect="1" noChangeArrowheads="1"/>
          </p:cNvPicPr>
          <p:nvPr/>
        </p:nvPicPr>
        <p:blipFill rotWithShape="1">
          <a:blip r:embed="rId4">
            <a:extLst>
              <a:ext uri="{28A0092B-C50C-407E-A947-70E740481C1C}">
                <a14:useLocalDpi xmlns:a14="http://schemas.microsoft.com/office/drawing/2010/main" val="0"/>
              </a:ext>
            </a:extLst>
          </a:blip>
          <a:srcRect t="11483"/>
          <a:stretch/>
        </p:blipFill>
        <p:spPr bwMode="auto">
          <a:xfrm>
            <a:off x="6192058" y="2182373"/>
            <a:ext cx="5542742" cy="2933926"/>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47502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285750" y="740737"/>
            <a:ext cx="67056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a:solidFill>
                  <a:srgbClr val="002060"/>
                </a:solidFill>
                <a:latin typeface="Arial" panose="020B0604020202020204" pitchFamily="34" charset="0"/>
                <a:cs typeface="Arial" panose="020B0604020202020204" pitchFamily="34" charset="0"/>
              </a:rPr>
              <a:t>Sorting and Filtering Data in Excel</a:t>
            </a: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5" name="Group 4">
            <a:extLst>
              <a:ext uri="{FF2B5EF4-FFF2-40B4-BE49-F238E27FC236}">
                <a16:creationId xmlns:a16="http://schemas.microsoft.com/office/drawing/2014/main" id="{601D4E1A-0DFE-8B52-7E43-5ABB1879C5F4}"/>
              </a:ext>
            </a:extLst>
          </p:cNvPr>
          <p:cNvGrpSpPr/>
          <p:nvPr/>
        </p:nvGrpSpPr>
        <p:grpSpPr>
          <a:xfrm>
            <a:off x="0" y="6248400"/>
            <a:ext cx="12192000" cy="369425"/>
            <a:chOff x="0" y="6248400"/>
            <a:chExt cx="12192000" cy="369425"/>
          </a:xfrm>
        </p:grpSpPr>
        <p:sp>
          <p:nvSpPr>
            <p:cNvPr id="7" name="TextBox 6">
              <a:extLst>
                <a:ext uri="{FF2B5EF4-FFF2-40B4-BE49-F238E27FC236}">
                  <a16:creationId xmlns:a16="http://schemas.microsoft.com/office/drawing/2014/main" id="{53D5C61B-F8AF-6D5F-AD9D-C34C6DB7688D}"/>
                </a:ext>
              </a:extLst>
            </p:cNvPr>
            <p:cNvSpPr txBox="1"/>
            <p:nvPr/>
          </p:nvSpPr>
          <p:spPr>
            <a:xfrm>
              <a:off x="419655" y="6310048"/>
              <a:ext cx="2154757" cy="307777"/>
            </a:xfrm>
            <a:prstGeom prst="rect">
              <a:avLst/>
            </a:prstGeom>
            <a:noFill/>
          </p:spPr>
          <p:txBody>
            <a:bodyPr wrap="none" rtlCol="0">
              <a:spAutoFit/>
            </a:bodyPr>
            <a:lstStyle/>
            <a:p>
              <a:r>
                <a:rPr lang="en-US" sz="1400" b="1" dirty="0">
                  <a:solidFill>
                    <a:srgbClr val="0000FF"/>
                  </a:solidFill>
                  <a:latin typeface="Arial" panose="020B0604020202020204" pitchFamily="34" charset="0"/>
                  <a:cs typeface="Arial" panose="020B0604020202020204" pitchFamily="34" charset="0"/>
                </a:rPr>
                <a:t>Source: </a:t>
              </a:r>
              <a:r>
                <a:rPr lang="en-US" sz="1400" dirty="0">
                  <a:solidFill>
                    <a:srgbClr val="0000FF"/>
                  </a:solidFill>
                  <a:latin typeface="Arial" panose="020B0604020202020204" pitchFamily="34" charset="0"/>
                  <a:cs typeface="Arial" panose="020B0604020202020204" pitchFamily="34" charset="0"/>
                </a:rPr>
                <a:t>Multiple Images</a:t>
              </a:r>
            </a:p>
          </p:txBody>
        </p:sp>
        <p:cxnSp>
          <p:nvCxnSpPr>
            <p:cNvPr id="9" name="Straight Connector 8">
              <a:extLst>
                <a:ext uri="{FF2B5EF4-FFF2-40B4-BE49-F238E27FC236}">
                  <a16:creationId xmlns:a16="http://schemas.microsoft.com/office/drawing/2014/main" id="{06D50C82-FFA3-3BA2-C15A-244CAB209789}"/>
                </a:ext>
              </a:extLst>
            </p:cNvPr>
            <p:cNvCxnSpPr/>
            <p:nvPr/>
          </p:nvCxnSpPr>
          <p:spPr>
            <a:xfrm>
              <a:off x="0" y="6248400"/>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676537B1-985E-FF80-91EA-4B22A0D3CA19}"/>
              </a:ext>
            </a:extLst>
          </p:cNvPr>
          <p:cNvSpPr txBox="1"/>
          <p:nvPr/>
        </p:nvSpPr>
        <p:spPr>
          <a:xfrm>
            <a:off x="533400" y="4163001"/>
            <a:ext cx="4641467" cy="1754326"/>
          </a:xfrm>
          <a:prstGeom prst="rect">
            <a:avLst/>
          </a:prstGeom>
          <a:noFill/>
          <a:ln>
            <a:noFill/>
          </a:ln>
        </p:spPr>
        <p:txBody>
          <a:bodyPr wrap="square">
            <a:spAutoFit/>
          </a:bodyPr>
          <a:lstStyle/>
          <a:p>
            <a:pPr algn="just" fontAlgn="base"/>
            <a:r>
              <a:rPr lang="en-US" b="1" dirty="0">
                <a:latin typeface="Arial" panose="020B0604020202020204" pitchFamily="34" charset="0"/>
                <a:cs typeface="Arial" panose="020B0604020202020204" pitchFamily="34" charset="0"/>
              </a:rPr>
              <a:t>Sorting</a:t>
            </a:r>
          </a:p>
          <a:p>
            <a:pPr algn="just" fontAlgn="base"/>
            <a:r>
              <a:rPr lang="en-US" dirty="0">
                <a:latin typeface="Arial" panose="020B0604020202020204" pitchFamily="34" charset="0"/>
                <a:cs typeface="Arial" panose="020B0604020202020204" pitchFamily="34" charset="0"/>
              </a:rPr>
              <a:t>Sorting helps arrange data in a specific order </a:t>
            </a:r>
          </a:p>
          <a:p>
            <a:pPr marL="285750" indent="-285750" algn="just" fontAlgn="base">
              <a:buFont typeface="Arial" panose="020B0604020202020204" pitchFamily="34" charset="0"/>
              <a:buChar char="•"/>
            </a:pPr>
            <a:r>
              <a:rPr lang="en-US" dirty="0">
                <a:latin typeface="Arial" panose="020B0604020202020204" pitchFamily="34" charset="0"/>
                <a:cs typeface="Arial" panose="020B0604020202020204" pitchFamily="34" charset="0"/>
              </a:rPr>
              <a:t>Single-column vs. multi-column sorting</a:t>
            </a:r>
          </a:p>
          <a:p>
            <a:pPr marL="285750" indent="-285750" algn="just" fontAlgn="base">
              <a:buFont typeface="Arial" panose="020B0604020202020204" pitchFamily="34" charset="0"/>
              <a:buChar char="•"/>
            </a:pPr>
            <a:r>
              <a:rPr lang="en-US" dirty="0">
                <a:latin typeface="Arial" panose="020B0604020202020204" pitchFamily="34" charset="0"/>
                <a:cs typeface="Arial" panose="020B0604020202020204" pitchFamily="34" charset="0"/>
              </a:rPr>
              <a:t>ascending/descending</a:t>
            </a:r>
          </a:p>
          <a:p>
            <a:pPr marL="285750" indent="-285750" algn="just" fontAlgn="base">
              <a:buFont typeface="Arial" panose="020B0604020202020204" pitchFamily="34" charset="0"/>
              <a:buChar char="•"/>
            </a:pPr>
            <a:r>
              <a:rPr lang="en-US" dirty="0">
                <a:latin typeface="Arial" panose="020B0604020202020204" pitchFamily="34" charset="0"/>
                <a:cs typeface="Arial" panose="020B0604020202020204" pitchFamily="34" charset="0"/>
              </a:rPr>
              <a:t>custom sorts</a:t>
            </a:r>
            <a:endParaRPr lang="en-US" b="0" i="0" dirty="0">
              <a:solidFill>
                <a:srgbClr val="131313"/>
              </a:solidFill>
              <a:effectLst/>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0E50D4D8-A2AC-254E-5100-A181E94E0EE8}"/>
              </a:ext>
            </a:extLst>
          </p:cNvPr>
          <p:cNvPicPr>
            <a:picLocks noChangeAspect="1"/>
          </p:cNvPicPr>
          <p:nvPr/>
        </p:nvPicPr>
        <p:blipFill>
          <a:blip r:embed="rId4"/>
          <a:srcRect l="3489" r="1972" b="16068"/>
          <a:stretch>
            <a:fillRect/>
          </a:stretch>
        </p:blipFill>
        <p:spPr>
          <a:xfrm>
            <a:off x="1251405" y="1772640"/>
            <a:ext cx="3276600" cy="2185018"/>
          </a:xfrm>
          <a:prstGeom prst="rect">
            <a:avLst/>
          </a:prstGeom>
          <a:ln w="38100" cap="sq">
            <a:solidFill>
              <a:schemeClr val="tx2">
                <a:lumMod val="40000"/>
                <a:lumOff val="60000"/>
              </a:schemeClr>
            </a:solidFill>
            <a:prstDash val="solid"/>
            <a:miter lim="800000"/>
          </a:ln>
          <a:effectLst>
            <a:outerShdw blurRad="50800" dist="38100" dir="2700000" algn="tl" rotWithShape="0">
              <a:srgbClr val="000000">
                <a:alpha val="43000"/>
              </a:srgbClr>
            </a:outerShdw>
          </a:effectLst>
        </p:spPr>
      </p:pic>
      <p:sp>
        <p:nvSpPr>
          <p:cNvPr id="12" name="TextBox 11">
            <a:extLst>
              <a:ext uri="{FF2B5EF4-FFF2-40B4-BE49-F238E27FC236}">
                <a16:creationId xmlns:a16="http://schemas.microsoft.com/office/drawing/2014/main" id="{4C007805-3041-633D-33A4-00CB8793B947}"/>
              </a:ext>
            </a:extLst>
          </p:cNvPr>
          <p:cNvSpPr txBox="1"/>
          <p:nvPr/>
        </p:nvSpPr>
        <p:spPr>
          <a:xfrm>
            <a:off x="6506434" y="4293870"/>
            <a:ext cx="4390165" cy="1200329"/>
          </a:xfrm>
          <a:prstGeom prst="rect">
            <a:avLst/>
          </a:prstGeom>
          <a:noFill/>
          <a:ln>
            <a:noFill/>
          </a:ln>
        </p:spPr>
        <p:txBody>
          <a:bodyPr wrap="square">
            <a:spAutoFit/>
          </a:bodyPr>
          <a:lstStyle/>
          <a:p>
            <a:pPr algn="just" fontAlgn="base"/>
            <a:r>
              <a:rPr lang="en-US" b="1" dirty="0">
                <a:latin typeface="Arial" panose="020B0604020202020204" pitchFamily="34" charset="0"/>
                <a:cs typeface="Arial" panose="020B0604020202020204" pitchFamily="34" charset="0"/>
              </a:rPr>
              <a:t>Filtering</a:t>
            </a:r>
          </a:p>
          <a:p>
            <a:pPr algn="just" fontAlgn="base"/>
            <a:r>
              <a:rPr lang="en-US" dirty="0">
                <a:latin typeface="Arial" panose="020B0604020202020204" pitchFamily="34" charset="0"/>
                <a:cs typeface="Arial" panose="020B0604020202020204" pitchFamily="34" charset="0"/>
              </a:rPr>
              <a:t>AutoFilter enables users to quickly view</a:t>
            </a:r>
          </a:p>
          <a:p>
            <a:pPr marL="285750" indent="-285750" algn="just" fontAlgn="base">
              <a:buFont typeface="Arial" panose="020B0604020202020204" pitchFamily="34" charset="0"/>
              <a:buChar char="•"/>
            </a:pPr>
            <a:r>
              <a:rPr lang="en-US" dirty="0">
                <a:latin typeface="Arial" panose="020B0604020202020204" pitchFamily="34" charset="0"/>
                <a:cs typeface="Arial" panose="020B0604020202020204" pitchFamily="34" charset="0"/>
              </a:rPr>
              <a:t>Analyzing trends</a:t>
            </a:r>
          </a:p>
          <a:p>
            <a:pPr marL="285750" indent="-285750" algn="just" fontAlgn="base">
              <a:buFont typeface="Arial" panose="020B0604020202020204" pitchFamily="34" charset="0"/>
              <a:buChar char="•"/>
            </a:pPr>
            <a:r>
              <a:rPr lang="en-US" dirty="0">
                <a:latin typeface="Arial" panose="020B0604020202020204" pitchFamily="34" charset="0"/>
                <a:cs typeface="Arial" panose="020B0604020202020204" pitchFamily="34" charset="0"/>
              </a:rPr>
              <a:t>Making data-driven decisions</a:t>
            </a:r>
            <a:endParaRPr lang="en-US" b="0" i="0" dirty="0">
              <a:solidFill>
                <a:srgbClr val="131313"/>
              </a:solidFill>
              <a:effectLst/>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15BF0139-4EA7-8AC5-7F8E-F39847EF8B81}"/>
              </a:ext>
            </a:extLst>
          </p:cNvPr>
          <p:cNvPicPr>
            <a:picLocks noChangeAspect="1"/>
          </p:cNvPicPr>
          <p:nvPr/>
        </p:nvPicPr>
        <p:blipFill>
          <a:blip r:embed="rId5"/>
          <a:stretch>
            <a:fillRect/>
          </a:stretch>
        </p:blipFill>
        <p:spPr>
          <a:xfrm>
            <a:off x="7391400" y="1772640"/>
            <a:ext cx="2841997" cy="2297786"/>
          </a:xfrm>
          <a:prstGeom prst="rect">
            <a:avLst/>
          </a:prstGeom>
          <a:ln w="38100" cap="sq">
            <a:solidFill>
              <a:schemeClr val="accent1">
                <a:lumMod val="40000"/>
                <a:lumOff val="60000"/>
              </a:schemeClr>
            </a:solidFill>
            <a:prstDash val="solid"/>
            <a:miter lim="800000"/>
          </a:ln>
          <a:effectLst>
            <a:outerShdw blurRad="50800" dist="38100" dir="2700000" algn="tl" rotWithShape="0">
              <a:srgbClr val="000000">
                <a:alpha val="43000"/>
              </a:srgbClr>
            </a:outerShdw>
          </a:effectLst>
        </p:spPr>
      </p:pic>
    </p:spTree>
    <p:custDataLst>
      <p:tags r:id="rId1"/>
    </p:custDataLst>
    <p:extLst>
      <p:ext uri="{BB962C8B-B14F-4D97-AF65-F5344CB8AC3E}">
        <p14:creationId xmlns:p14="http://schemas.microsoft.com/office/powerpoint/2010/main" val="2499768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292604" y="750262"/>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a:solidFill>
                  <a:srgbClr val="002060"/>
                </a:solidFill>
                <a:latin typeface="Arial" panose="020B0604020202020204" pitchFamily="34" charset="0"/>
                <a:cs typeface="Arial" panose="020B0604020202020204" pitchFamily="34" charset="0"/>
              </a:rPr>
              <a:t>Lab Activity</a:t>
            </a:r>
          </a:p>
          <a:p>
            <a:pPr algn="l"/>
            <a:endParaRPr lang="en-US" sz="2200" b="1" dirty="0">
              <a:solidFill>
                <a:srgbClr val="002060"/>
              </a:solidFill>
              <a:latin typeface="Arial" panose="020B0604020202020204" pitchFamily="34" charset="0"/>
              <a:cs typeface="Arial" panose="020B0604020202020204" pitchFamily="34" charset="0"/>
            </a:endParaRP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6" name="Rectangle 15">
            <a:extLst>
              <a:ext uri="{FF2B5EF4-FFF2-40B4-BE49-F238E27FC236}">
                <a16:creationId xmlns:a16="http://schemas.microsoft.com/office/drawing/2014/main" id="{678622E6-5B75-0274-BD0E-07E563387839}"/>
              </a:ext>
            </a:extLst>
          </p:cNvPr>
          <p:cNvSpPr/>
          <p:nvPr/>
        </p:nvSpPr>
        <p:spPr>
          <a:xfrm>
            <a:off x="457200" y="4114800"/>
            <a:ext cx="11734800" cy="2133600"/>
          </a:xfrm>
          <a:prstGeom prst="rect">
            <a:avLst/>
          </a:prstGeom>
          <a:solidFill>
            <a:srgbClr val="FCF3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2489689F-36E7-7881-4C3C-185362691848}"/>
              </a:ext>
            </a:extLst>
          </p:cNvPr>
          <p:cNvGrpSpPr/>
          <p:nvPr/>
        </p:nvGrpSpPr>
        <p:grpSpPr>
          <a:xfrm>
            <a:off x="8305800" y="685800"/>
            <a:ext cx="2971800" cy="4370614"/>
            <a:chOff x="8305800" y="685800"/>
            <a:chExt cx="2971800" cy="4370614"/>
          </a:xfrm>
        </p:grpSpPr>
        <p:sp>
          <p:nvSpPr>
            <p:cNvPr id="23" name="Oval 22">
              <a:extLst>
                <a:ext uri="{FF2B5EF4-FFF2-40B4-BE49-F238E27FC236}">
                  <a16:creationId xmlns:a16="http://schemas.microsoft.com/office/drawing/2014/main" id="{FD346213-B0D6-CF00-9B16-D6C17090298F}"/>
                </a:ext>
              </a:extLst>
            </p:cNvPr>
            <p:cNvSpPr/>
            <p:nvPr/>
          </p:nvSpPr>
          <p:spPr>
            <a:xfrm>
              <a:off x="8305800" y="2084614"/>
              <a:ext cx="2971800" cy="29718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5BB74208-07C7-6E54-9B81-528E03AE5E0B}"/>
                </a:ext>
              </a:extLst>
            </p:cNvPr>
            <p:cNvGrpSpPr/>
            <p:nvPr/>
          </p:nvGrpSpPr>
          <p:grpSpPr>
            <a:xfrm>
              <a:off x="8458200" y="685800"/>
              <a:ext cx="2667000" cy="4136571"/>
              <a:chOff x="8534400" y="1426029"/>
              <a:chExt cx="2667000" cy="4136571"/>
            </a:xfrm>
          </p:grpSpPr>
          <p:sp>
            <p:nvSpPr>
              <p:cNvPr id="25" name="Oval 24">
                <a:extLst>
                  <a:ext uri="{FF2B5EF4-FFF2-40B4-BE49-F238E27FC236}">
                    <a16:creationId xmlns:a16="http://schemas.microsoft.com/office/drawing/2014/main" id="{7027A8E6-EC4C-1C2E-11BA-6D4DE4580AAB}"/>
                  </a:ext>
                </a:extLst>
              </p:cNvPr>
              <p:cNvSpPr/>
              <p:nvPr/>
            </p:nvSpPr>
            <p:spPr>
              <a:xfrm>
                <a:off x="8534400" y="2895600"/>
                <a:ext cx="2667000" cy="2667000"/>
              </a:xfrm>
              <a:prstGeom prst="ellipse">
                <a:avLst/>
              </a:prstGeom>
              <a:solidFill>
                <a:srgbClr val="F8E1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5">
                <a:extLst>
                  <a:ext uri="{FF2B5EF4-FFF2-40B4-BE49-F238E27FC236}">
                    <a16:creationId xmlns:a16="http://schemas.microsoft.com/office/drawing/2014/main" id="{1082C203-7F84-D183-4312-3AA35A15AAFA}"/>
                  </a:ext>
                </a:extLst>
              </p:cNvPr>
              <p:cNvSpPr/>
              <p:nvPr/>
            </p:nvSpPr>
            <p:spPr>
              <a:xfrm>
                <a:off x="8958121" y="1426029"/>
                <a:ext cx="1819559" cy="2342780"/>
              </a:xfrm>
              <a:custGeom>
                <a:avLst/>
                <a:gdLst/>
                <a:ahLst/>
                <a:cxnLst/>
                <a:rect l="l" t="t" r="r" b="b"/>
                <a:pathLst>
                  <a:path w="1819559" h="2342780">
                    <a:moveTo>
                      <a:pt x="0" y="0"/>
                    </a:moveTo>
                    <a:lnTo>
                      <a:pt x="1819559" y="0"/>
                    </a:lnTo>
                    <a:lnTo>
                      <a:pt x="1819559" y="2342780"/>
                    </a:lnTo>
                    <a:lnTo>
                      <a:pt x="0" y="234278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lang="en-US"/>
              </a:p>
            </p:txBody>
          </p:sp>
        </p:grpSp>
      </p:grpSp>
      <p:sp>
        <p:nvSpPr>
          <p:cNvPr id="28" name="Text Placeholder 4">
            <a:extLst>
              <a:ext uri="{FF2B5EF4-FFF2-40B4-BE49-F238E27FC236}">
                <a16:creationId xmlns:a16="http://schemas.microsoft.com/office/drawing/2014/main" id="{21B89CD7-B53D-C4BE-D409-15C0D13545AB}"/>
              </a:ext>
            </a:extLst>
          </p:cNvPr>
          <p:cNvSpPr txBox="1">
            <a:spLocks/>
          </p:cNvSpPr>
          <p:nvPr/>
        </p:nvSpPr>
        <p:spPr>
          <a:xfrm>
            <a:off x="762000" y="4419600"/>
            <a:ext cx="6172200" cy="369332"/>
          </a:xfrm>
          <a:prstGeom prst="rect">
            <a:avLst/>
          </a:prstGeom>
        </p:spPr>
        <p:txBody>
          <a:bodyPr wrap="square">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defTabSz="914400">
              <a:spcBef>
                <a:spcPts val="0"/>
              </a:spcBef>
              <a:spcAft>
                <a:spcPts val="800"/>
              </a:spcAft>
              <a:defRPr/>
            </a:pPr>
            <a:r>
              <a:rPr lang="en-US" sz="1800" b="1" dirty="0">
                <a:latin typeface="Arial" panose="020B0604020202020204" pitchFamily="34" charset="0"/>
                <a:cs typeface="Arial" panose="020B0604020202020204" pitchFamily="34" charset="0"/>
              </a:rPr>
              <a:t>Lab 1.1:</a:t>
            </a:r>
            <a:r>
              <a:rPr lang="en-US" sz="1800" dirty="0">
                <a:latin typeface="Arial" panose="020B0604020202020204" pitchFamily="34" charset="0"/>
                <a:cs typeface="Arial" panose="020B0604020202020204" pitchFamily="34" charset="0"/>
              </a:rPr>
              <a:t> Performing Operations in Excel</a:t>
            </a:r>
          </a:p>
        </p:txBody>
      </p:sp>
    </p:spTree>
    <p:custDataLst>
      <p:tags r:id="rId1"/>
    </p:custDataLst>
    <p:extLst>
      <p:ext uri="{BB962C8B-B14F-4D97-AF65-F5344CB8AC3E}">
        <p14:creationId xmlns:p14="http://schemas.microsoft.com/office/powerpoint/2010/main" val="3647748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285750" y="740737"/>
            <a:ext cx="67056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a:solidFill>
                  <a:srgbClr val="002060"/>
                </a:solidFill>
                <a:latin typeface="Arial" panose="020B0604020202020204" pitchFamily="34" charset="0"/>
                <a:cs typeface="Arial" panose="020B0604020202020204" pitchFamily="34" charset="0"/>
              </a:rPr>
              <a:t>Conditional Formatting</a:t>
            </a:r>
          </a:p>
        </p:txBody>
      </p:sp>
      <p:sp>
        <p:nvSpPr>
          <p:cNvPr id="2" name="Text Placeholder 4">
            <a:extLst>
              <a:ext uri="{FF2B5EF4-FFF2-40B4-BE49-F238E27FC236}">
                <a16:creationId xmlns:a16="http://schemas.microsoft.com/office/drawing/2014/main" id="{9835D79F-345C-6435-F4A9-FE2A9E806174}"/>
              </a:ext>
            </a:extLst>
          </p:cNvPr>
          <p:cNvSpPr txBox="1">
            <a:spLocks/>
          </p:cNvSpPr>
          <p:nvPr/>
        </p:nvSpPr>
        <p:spPr>
          <a:xfrm>
            <a:off x="390525" y="1475023"/>
            <a:ext cx="5811058" cy="4114800"/>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a:spcBef>
                <a:spcPts val="0"/>
              </a:spcBef>
              <a:spcAft>
                <a:spcPts val="800"/>
              </a:spcAft>
            </a:pPr>
            <a:r>
              <a:rPr lang="en-US" sz="1800" dirty="0">
                <a:latin typeface="Arial" panose="020B0604020202020204" pitchFamily="34" charset="0"/>
                <a:cs typeface="Arial" panose="020B0604020202020204" pitchFamily="34" charset="0"/>
              </a:rPr>
              <a:t>Conditional formatting automatically changes the appearance of cells based on their values or user-set conditions.</a:t>
            </a:r>
          </a:p>
          <a:p>
            <a:pPr>
              <a:spcBef>
                <a:spcPts val="0"/>
              </a:spcBef>
              <a:spcAft>
                <a:spcPts val="800"/>
              </a:spcAft>
            </a:pPr>
            <a:r>
              <a:rPr lang="en-US" sz="1800" dirty="0">
                <a:latin typeface="Arial" panose="020B0604020202020204" pitchFamily="34" charset="0"/>
                <a:cs typeface="Arial" panose="020B0604020202020204" pitchFamily="34" charset="0"/>
              </a:rPr>
              <a:t>It helps users quickly identify important data like high or low values, duplicates, or trends.</a:t>
            </a:r>
          </a:p>
          <a:p>
            <a:pPr>
              <a:spcBef>
                <a:spcPts val="0"/>
              </a:spcBef>
              <a:spcAft>
                <a:spcPts val="800"/>
              </a:spcAft>
            </a:pPr>
            <a:r>
              <a:rPr lang="en-US" sz="1800" dirty="0">
                <a:latin typeface="Arial" panose="020B0604020202020204" pitchFamily="34" charset="0"/>
                <a:cs typeface="Arial" panose="020B0604020202020204" pitchFamily="34" charset="0"/>
              </a:rPr>
              <a:t>Cells can change color, font style, borders, or shading depending on specific rules.</a:t>
            </a:r>
          </a:p>
          <a:p>
            <a:pPr>
              <a:spcBef>
                <a:spcPts val="0"/>
              </a:spcBef>
              <a:spcAft>
                <a:spcPts val="800"/>
              </a:spcAft>
            </a:pPr>
            <a:r>
              <a:rPr lang="en-US" sz="1800" dirty="0">
                <a:latin typeface="Arial" panose="020B0604020202020204" pitchFamily="34" charset="0"/>
                <a:cs typeface="Arial" panose="020B0604020202020204" pitchFamily="34" charset="0"/>
              </a:rPr>
              <a:t>Rules can be based on conditions such as values greater than a target or text containing certain letters.</a:t>
            </a:r>
          </a:p>
          <a:p>
            <a:pPr>
              <a:spcBef>
                <a:spcPts val="0"/>
              </a:spcBef>
              <a:spcAft>
                <a:spcPts val="800"/>
              </a:spcAft>
            </a:pPr>
            <a:r>
              <a:rPr lang="en-US" sz="1800" dirty="0">
                <a:latin typeface="Arial" panose="020B0604020202020204" pitchFamily="34" charset="0"/>
                <a:cs typeface="Arial" panose="020B0604020202020204" pitchFamily="34" charset="0"/>
              </a:rPr>
              <a:t>Conditional formatting makes data easier and faster to analyze visually.</a:t>
            </a: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5" name="Group 4">
            <a:extLst>
              <a:ext uri="{FF2B5EF4-FFF2-40B4-BE49-F238E27FC236}">
                <a16:creationId xmlns:a16="http://schemas.microsoft.com/office/drawing/2014/main" id="{601D4E1A-0DFE-8B52-7E43-5ABB1879C5F4}"/>
              </a:ext>
            </a:extLst>
          </p:cNvPr>
          <p:cNvGrpSpPr/>
          <p:nvPr/>
        </p:nvGrpSpPr>
        <p:grpSpPr>
          <a:xfrm>
            <a:off x="0" y="6248400"/>
            <a:ext cx="12192000" cy="369425"/>
            <a:chOff x="0" y="6248400"/>
            <a:chExt cx="12192000" cy="369425"/>
          </a:xfrm>
        </p:grpSpPr>
        <p:sp>
          <p:nvSpPr>
            <p:cNvPr id="7" name="TextBox 6">
              <a:extLst>
                <a:ext uri="{FF2B5EF4-FFF2-40B4-BE49-F238E27FC236}">
                  <a16:creationId xmlns:a16="http://schemas.microsoft.com/office/drawing/2014/main" id="{53D5C61B-F8AF-6D5F-AD9D-C34C6DB7688D}"/>
                </a:ext>
              </a:extLst>
            </p:cNvPr>
            <p:cNvSpPr txBox="1"/>
            <p:nvPr/>
          </p:nvSpPr>
          <p:spPr>
            <a:xfrm>
              <a:off x="419655" y="6310048"/>
              <a:ext cx="2512226" cy="307777"/>
            </a:xfrm>
            <a:prstGeom prst="rect">
              <a:avLst/>
            </a:prstGeom>
            <a:noFill/>
          </p:spPr>
          <p:txBody>
            <a:bodyPr wrap="none" rtlCol="0">
              <a:spAutoFit/>
            </a:bodyPr>
            <a:lstStyle/>
            <a:p>
              <a:r>
                <a:rPr lang="en-US" sz="1400" b="1" dirty="0">
                  <a:solidFill>
                    <a:srgbClr val="0000FF"/>
                  </a:solidFill>
                  <a:latin typeface="Arial" panose="020B0604020202020204" pitchFamily="34" charset="0"/>
                  <a:cs typeface="Arial" panose="020B0604020202020204" pitchFamily="34" charset="0"/>
                </a:rPr>
                <a:t>Source: </a:t>
              </a:r>
              <a:r>
                <a:rPr lang="en-US" sz="1400" dirty="0">
                  <a:solidFill>
                    <a:srgbClr val="0000FF"/>
                  </a:solidFill>
                  <a:latin typeface="Arial" panose="020B0604020202020204" pitchFamily="34" charset="0"/>
                  <a:cs typeface="Arial" panose="020B0604020202020204" pitchFamily="34" charset="0"/>
                </a:rPr>
                <a:t>Add the source here</a:t>
              </a:r>
            </a:p>
          </p:txBody>
        </p:sp>
        <p:cxnSp>
          <p:nvCxnSpPr>
            <p:cNvPr id="9" name="Straight Connector 8">
              <a:extLst>
                <a:ext uri="{FF2B5EF4-FFF2-40B4-BE49-F238E27FC236}">
                  <a16:creationId xmlns:a16="http://schemas.microsoft.com/office/drawing/2014/main" id="{06D50C82-FFA3-3BA2-C15A-244CAB209789}"/>
                </a:ext>
              </a:extLst>
            </p:cNvPr>
            <p:cNvCxnSpPr/>
            <p:nvPr/>
          </p:nvCxnSpPr>
          <p:spPr>
            <a:xfrm>
              <a:off x="0" y="6248400"/>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8" name="Picture 2" descr="https://support.microsoft.com/images/en-us/f6c46b8d-82b4-44c4-825d-570dc0b089b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91943" y="2376274"/>
            <a:ext cx="5703550" cy="3045586"/>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285115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285750" y="740737"/>
            <a:ext cx="67056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a:solidFill>
                  <a:srgbClr val="002060"/>
                </a:solidFill>
                <a:latin typeface="Arial" panose="020B0604020202020204" pitchFamily="34" charset="0"/>
                <a:cs typeface="Arial" panose="020B0604020202020204" pitchFamily="34" charset="0"/>
              </a:rPr>
              <a:t>Charts in Excel</a:t>
            </a:r>
          </a:p>
        </p:txBody>
      </p:sp>
      <p:sp>
        <p:nvSpPr>
          <p:cNvPr id="2" name="Text Placeholder 4">
            <a:extLst>
              <a:ext uri="{FF2B5EF4-FFF2-40B4-BE49-F238E27FC236}">
                <a16:creationId xmlns:a16="http://schemas.microsoft.com/office/drawing/2014/main" id="{9835D79F-345C-6435-F4A9-FE2A9E806174}"/>
              </a:ext>
            </a:extLst>
          </p:cNvPr>
          <p:cNvSpPr txBox="1">
            <a:spLocks/>
          </p:cNvSpPr>
          <p:nvPr/>
        </p:nvSpPr>
        <p:spPr>
          <a:xfrm>
            <a:off x="390525" y="1475023"/>
            <a:ext cx="5811058" cy="4114800"/>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a:spcBef>
                <a:spcPts val="0"/>
              </a:spcBef>
              <a:spcAft>
                <a:spcPts val="800"/>
              </a:spcAft>
              <a:buNone/>
            </a:pPr>
            <a:r>
              <a:rPr lang="en-US" sz="1800" b="1" dirty="0">
                <a:latin typeface="Arial" panose="020B0604020202020204" pitchFamily="34" charset="0"/>
                <a:cs typeface="Arial" panose="020B0604020202020204" pitchFamily="34" charset="0"/>
              </a:rPr>
              <a:t>Chart Types and Uses​</a:t>
            </a:r>
          </a:p>
          <a:p>
            <a:pPr>
              <a:spcBef>
                <a:spcPts val="0"/>
              </a:spcBef>
              <a:spcAft>
                <a:spcPts val="800"/>
              </a:spcAft>
            </a:pPr>
            <a:r>
              <a:rPr lang="en-US" sz="1800" dirty="0">
                <a:latin typeface="Arial" panose="020B0604020202020204" pitchFamily="34" charset="0"/>
                <a:cs typeface="Arial" panose="020B0604020202020204" pitchFamily="34" charset="0"/>
              </a:rPr>
              <a:t>Column and Bar charts compare categories, Line charts show trends, Pie charts illustrate parts of a whole.​</a:t>
            </a:r>
          </a:p>
          <a:p>
            <a:pPr>
              <a:spcBef>
                <a:spcPts val="0"/>
              </a:spcBef>
              <a:spcAft>
                <a:spcPts val="800"/>
              </a:spcAft>
            </a:pPr>
            <a:endParaRPr lang="en-US" sz="1800" dirty="0">
              <a:latin typeface="Arial" panose="020B0604020202020204" pitchFamily="34" charset="0"/>
              <a:cs typeface="Arial" panose="020B0604020202020204" pitchFamily="34" charset="0"/>
            </a:endParaRPr>
          </a:p>
          <a:p>
            <a:pPr marL="0" indent="0">
              <a:spcBef>
                <a:spcPts val="0"/>
              </a:spcBef>
              <a:spcAft>
                <a:spcPts val="800"/>
              </a:spcAft>
              <a:buNone/>
            </a:pPr>
            <a:r>
              <a:rPr lang="en-US" sz="1800" b="1" dirty="0">
                <a:latin typeface="Arial" panose="020B0604020202020204" pitchFamily="34" charset="0"/>
                <a:cs typeface="Arial" panose="020B0604020202020204" pitchFamily="34" charset="0"/>
              </a:rPr>
              <a:t>Chart Design Best Practices​</a:t>
            </a:r>
          </a:p>
          <a:p>
            <a:pPr>
              <a:spcBef>
                <a:spcPts val="0"/>
              </a:spcBef>
              <a:spcAft>
                <a:spcPts val="800"/>
              </a:spcAft>
            </a:pPr>
            <a:r>
              <a:rPr lang="en-US" sz="1800" dirty="0">
                <a:latin typeface="Arial" panose="020B0604020202020204" pitchFamily="34" charset="0"/>
                <a:cs typeface="Arial" panose="020B0604020202020204" pitchFamily="34" charset="0"/>
              </a:rPr>
              <a:t>Use clear titles, sort bars logically, and avoid unnecessary 3D effects for clarity and effectiveness.​</a:t>
            </a:r>
          </a:p>
          <a:p>
            <a:pPr>
              <a:spcBef>
                <a:spcPts val="0"/>
              </a:spcBef>
              <a:spcAft>
                <a:spcPts val="800"/>
              </a:spcAft>
            </a:pPr>
            <a:endParaRPr lang="en-US" sz="1800" dirty="0">
              <a:latin typeface="Arial" panose="020B0604020202020204" pitchFamily="34" charset="0"/>
              <a:cs typeface="Arial" panose="020B0604020202020204" pitchFamily="34" charset="0"/>
            </a:endParaRPr>
          </a:p>
          <a:p>
            <a:pPr marL="0" indent="0">
              <a:spcBef>
                <a:spcPts val="0"/>
              </a:spcBef>
              <a:spcAft>
                <a:spcPts val="800"/>
              </a:spcAft>
              <a:buNone/>
            </a:pPr>
            <a:r>
              <a:rPr lang="en-US" sz="1800" b="1" dirty="0">
                <a:latin typeface="Arial" panose="020B0604020202020204" pitchFamily="34" charset="0"/>
                <a:cs typeface="Arial" panose="020B0604020202020204" pitchFamily="34" charset="0"/>
              </a:rPr>
              <a:t>Enhancing Readability​</a:t>
            </a:r>
          </a:p>
          <a:p>
            <a:pPr>
              <a:spcBef>
                <a:spcPts val="0"/>
              </a:spcBef>
              <a:spcAft>
                <a:spcPts val="800"/>
              </a:spcAft>
            </a:pPr>
            <a:r>
              <a:rPr lang="en-US" sz="1800" dirty="0">
                <a:latin typeface="Arial" panose="020B0604020202020204" pitchFamily="34" charset="0"/>
                <a:cs typeface="Arial" panose="020B0604020202020204" pitchFamily="34" charset="0"/>
              </a:rPr>
              <a:t>Good chart hygiene improves readability and helps audiences quickly grasp key messages.</a:t>
            </a: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5" name="Group 4">
            <a:extLst>
              <a:ext uri="{FF2B5EF4-FFF2-40B4-BE49-F238E27FC236}">
                <a16:creationId xmlns:a16="http://schemas.microsoft.com/office/drawing/2014/main" id="{601D4E1A-0DFE-8B52-7E43-5ABB1879C5F4}"/>
              </a:ext>
            </a:extLst>
          </p:cNvPr>
          <p:cNvGrpSpPr/>
          <p:nvPr/>
        </p:nvGrpSpPr>
        <p:grpSpPr>
          <a:xfrm>
            <a:off x="0" y="6248400"/>
            <a:ext cx="12192000" cy="369425"/>
            <a:chOff x="0" y="6248400"/>
            <a:chExt cx="12192000" cy="369425"/>
          </a:xfrm>
        </p:grpSpPr>
        <p:sp>
          <p:nvSpPr>
            <p:cNvPr id="7" name="TextBox 6">
              <a:extLst>
                <a:ext uri="{FF2B5EF4-FFF2-40B4-BE49-F238E27FC236}">
                  <a16:creationId xmlns:a16="http://schemas.microsoft.com/office/drawing/2014/main" id="{53D5C61B-F8AF-6D5F-AD9D-C34C6DB7688D}"/>
                </a:ext>
              </a:extLst>
            </p:cNvPr>
            <p:cNvSpPr txBox="1"/>
            <p:nvPr/>
          </p:nvSpPr>
          <p:spPr>
            <a:xfrm>
              <a:off x="419655" y="6310048"/>
              <a:ext cx="11041805" cy="307777"/>
            </a:xfrm>
            <a:prstGeom prst="rect">
              <a:avLst/>
            </a:prstGeom>
            <a:noFill/>
          </p:spPr>
          <p:txBody>
            <a:bodyPr wrap="none" rtlCol="0">
              <a:spAutoFit/>
            </a:bodyPr>
            <a:lstStyle/>
            <a:p>
              <a:r>
                <a:rPr lang="en-US" sz="1400" b="1" dirty="0">
                  <a:solidFill>
                    <a:srgbClr val="0000FF"/>
                  </a:solidFill>
                  <a:latin typeface="Arial" panose="020B0604020202020204" pitchFamily="34" charset="0"/>
                  <a:cs typeface="Arial" panose="020B0604020202020204" pitchFamily="34" charset="0"/>
                </a:rPr>
                <a:t>Source: </a:t>
              </a:r>
              <a:r>
                <a:rPr lang="en-US" sz="1200" dirty="0">
                  <a:solidFill>
                    <a:srgbClr val="0000FF"/>
                  </a:solidFill>
                  <a:latin typeface="Arial" panose="020B0604020202020204" pitchFamily="34" charset="0"/>
                  <a:cs typeface="Arial" panose="020B0604020202020204" pitchFamily="34" charset="0"/>
                </a:rPr>
                <a:t>https://upload.wikimedia.org/wikipedia/commons/thumb/7/73/Microsoft_Excel_2013-2019_logo.svg/1200px-Microsoft_Excel_2013-2019_logo.svg.png</a:t>
              </a:r>
            </a:p>
          </p:txBody>
        </p:sp>
        <p:cxnSp>
          <p:nvCxnSpPr>
            <p:cNvPr id="9" name="Straight Connector 8">
              <a:extLst>
                <a:ext uri="{FF2B5EF4-FFF2-40B4-BE49-F238E27FC236}">
                  <a16:creationId xmlns:a16="http://schemas.microsoft.com/office/drawing/2014/main" id="{06D50C82-FFA3-3BA2-C15A-244CAB209789}"/>
                </a:ext>
              </a:extLst>
            </p:cNvPr>
            <p:cNvCxnSpPr/>
            <p:nvPr/>
          </p:nvCxnSpPr>
          <p:spPr>
            <a:xfrm>
              <a:off x="0" y="6248400"/>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8" name="Picture 2" descr="https://upload.wikimedia.org/wikipedia/commons/thumb/7/73/Microsoft_Excel_2013-2019_logo.svg/1200px-Microsoft_Excel_2013-2019_logo.svg.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86600" y="1747854"/>
            <a:ext cx="3812886" cy="36000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888476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285750" y="740737"/>
            <a:ext cx="67056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a:solidFill>
                  <a:srgbClr val="002060"/>
                </a:solidFill>
                <a:latin typeface="Arial" panose="020B0604020202020204" pitchFamily="34" charset="0"/>
                <a:cs typeface="Arial" panose="020B0604020202020204" pitchFamily="34" charset="0"/>
              </a:rPr>
              <a:t>Charts in Excel</a:t>
            </a: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5" name="Group 4">
            <a:extLst>
              <a:ext uri="{FF2B5EF4-FFF2-40B4-BE49-F238E27FC236}">
                <a16:creationId xmlns:a16="http://schemas.microsoft.com/office/drawing/2014/main" id="{601D4E1A-0DFE-8B52-7E43-5ABB1879C5F4}"/>
              </a:ext>
            </a:extLst>
          </p:cNvPr>
          <p:cNvGrpSpPr/>
          <p:nvPr/>
        </p:nvGrpSpPr>
        <p:grpSpPr>
          <a:xfrm>
            <a:off x="0" y="6248400"/>
            <a:ext cx="12192000" cy="369425"/>
            <a:chOff x="0" y="6248400"/>
            <a:chExt cx="12192000" cy="369425"/>
          </a:xfrm>
        </p:grpSpPr>
        <p:sp>
          <p:nvSpPr>
            <p:cNvPr id="7" name="TextBox 6">
              <a:extLst>
                <a:ext uri="{FF2B5EF4-FFF2-40B4-BE49-F238E27FC236}">
                  <a16:creationId xmlns:a16="http://schemas.microsoft.com/office/drawing/2014/main" id="{53D5C61B-F8AF-6D5F-AD9D-C34C6DB7688D}"/>
                </a:ext>
              </a:extLst>
            </p:cNvPr>
            <p:cNvSpPr txBox="1"/>
            <p:nvPr/>
          </p:nvSpPr>
          <p:spPr>
            <a:xfrm>
              <a:off x="419655" y="6310048"/>
              <a:ext cx="1329210" cy="307777"/>
            </a:xfrm>
            <a:prstGeom prst="rect">
              <a:avLst/>
            </a:prstGeom>
            <a:noFill/>
          </p:spPr>
          <p:txBody>
            <a:bodyPr wrap="none" rtlCol="0">
              <a:spAutoFit/>
            </a:bodyPr>
            <a:lstStyle/>
            <a:p>
              <a:r>
                <a:rPr lang="en-US" sz="1400" b="1" dirty="0">
                  <a:solidFill>
                    <a:srgbClr val="0000FF"/>
                  </a:solidFill>
                  <a:latin typeface="Arial" panose="020B0604020202020204" pitchFamily="34" charset="0"/>
                  <a:cs typeface="Arial" panose="020B0604020202020204" pitchFamily="34" charset="0"/>
                </a:rPr>
                <a:t>Source: </a:t>
              </a:r>
              <a:r>
                <a:rPr lang="en-US" sz="1400" dirty="0" smtClean="0">
                  <a:solidFill>
                    <a:srgbClr val="0000FF"/>
                  </a:solidFill>
                  <a:latin typeface="Arial" panose="020B0604020202020204" pitchFamily="34" charset="0"/>
                  <a:cs typeface="Arial" panose="020B0604020202020204" pitchFamily="34" charset="0"/>
                </a:rPr>
                <a:t>Icons</a:t>
              </a:r>
              <a:endParaRPr lang="en-US" sz="1400" dirty="0">
                <a:solidFill>
                  <a:srgbClr val="0000FF"/>
                </a:solidFill>
                <a:latin typeface="Arial" panose="020B0604020202020204" pitchFamily="34" charset="0"/>
                <a:cs typeface="Arial" panose="020B0604020202020204" pitchFamily="34" charset="0"/>
              </a:endParaRPr>
            </a:p>
          </p:txBody>
        </p:sp>
        <p:cxnSp>
          <p:nvCxnSpPr>
            <p:cNvPr id="9" name="Straight Connector 8">
              <a:extLst>
                <a:ext uri="{FF2B5EF4-FFF2-40B4-BE49-F238E27FC236}">
                  <a16:creationId xmlns:a16="http://schemas.microsoft.com/office/drawing/2014/main" id="{06D50C82-FFA3-3BA2-C15A-244CAB209789}"/>
                </a:ext>
              </a:extLst>
            </p:cNvPr>
            <p:cNvCxnSpPr/>
            <p:nvPr/>
          </p:nvCxnSpPr>
          <p:spPr>
            <a:xfrm>
              <a:off x="0" y="6248400"/>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8" name="Text Placeholder 4">
            <a:extLst>
              <a:ext uri="{FF2B5EF4-FFF2-40B4-BE49-F238E27FC236}">
                <a16:creationId xmlns:a16="http://schemas.microsoft.com/office/drawing/2014/main" id="{9835D79F-345C-6435-F4A9-FE2A9E806174}"/>
              </a:ext>
            </a:extLst>
          </p:cNvPr>
          <p:cNvSpPr txBox="1">
            <a:spLocks/>
          </p:cNvSpPr>
          <p:nvPr/>
        </p:nvSpPr>
        <p:spPr>
          <a:xfrm>
            <a:off x="381000" y="1932223"/>
            <a:ext cx="3331029" cy="1670948"/>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algn="ctr">
              <a:spcBef>
                <a:spcPts val="0"/>
              </a:spcBef>
              <a:spcAft>
                <a:spcPts val="800"/>
              </a:spcAft>
              <a:buNone/>
            </a:pPr>
            <a:r>
              <a:rPr lang="en-US" sz="1800" b="1" dirty="0" smtClean="0">
                <a:latin typeface="Arial" panose="020B0604020202020204" pitchFamily="34" charset="0"/>
                <a:cs typeface="Arial" panose="020B0604020202020204" pitchFamily="34" charset="0"/>
              </a:rPr>
              <a:t>Bar Chart</a:t>
            </a:r>
          </a:p>
          <a:p>
            <a:pPr marL="0" indent="0" algn="ctr">
              <a:spcBef>
                <a:spcPts val="0"/>
              </a:spcBef>
              <a:spcAft>
                <a:spcPts val="800"/>
              </a:spcAft>
              <a:buNone/>
            </a:pPr>
            <a:r>
              <a:rPr lang="en-US" sz="1800" dirty="0" smtClean="0">
                <a:latin typeface="Arial" panose="020B0604020202020204" pitchFamily="34" charset="0"/>
                <a:cs typeface="Arial" panose="020B0604020202020204" pitchFamily="34" charset="0"/>
              </a:rPr>
              <a:t>A </a:t>
            </a:r>
            <a:r>
              <a:rPr lang="en-US" sz="1800" dirty="0">
                <a:latin typeface="Arial" panose="020B0604020202020204" pitchFamily="34" charset="0"/>
                <a:cs typeface="Arial" panose="020B0604020202020204" pitchFamily="34" charset="0"/>
              </a:rPr>
              <a:t>bar chart displays data as rectangular bars with lengths proportional to the values they represent</a:t>
            </a:r>
            <a:r>
              <a:rPr lang="en-US" sz="1800" dirty="0" smtClean="0">
                <a:latin typeface="Arial" panose="020B0604020202020204" pitchFamily="34" charset="0"/>
                <a:cs typeface="Arial" panose="020B0604020202020204" pitchFamily="34" charset="0"/>
              </a:rPr>
              <a:t>.</a:t>
            </a:r>
            <a:endParaRPr lang="en-US" sz="1800" dirty="0">
              <a:latin typeface="Arial" panose="020B0604020202020204" pitchFamily="34" charset="0"/>
              <a:cs typeface="Arial" panose="020B0604020202020204" pitchFamily="34" charset="0"/>
            </a:endParaRPr>
          </a:p>
        </p:txBody>
      </p:sp>
      <p:pic>
        <p:nvPicPr>
          <p:cNvPr id="11" name="Picture 10"/>
          <p:cNvPicPr>
            <a:picLocks noChangeAspect="1"/>
          </p:cNvPicPr>
          <p:nvPr/>
        </p:nvPicPr>
        <p:blipFill>
          <a:blip r:embed="rId4"/>
          <a:stretch>
            <a:fillRect/>
          </a:stretch>
        </p:blipFill>
        <p:spPr>
          <a:xfrm>
            <a:off x="983571" y="3603171"/>
            <a:ext cx="2125886" cy="2125886"/>
          </a:xfrm>
          <a:prstGeom prst="rect">
            <a:avLst/>
          </a:prstGeom>
        </p:spPr>
      </p:pic>
      <p:sp>
        <p:nvSpPr>
          <p:cNvPr id="12" name="Text Placeholder 4">
            <a:extLst>
              <a:ext uri="{FF2B5EF4-FFF2-40B4-BE49-F238E27FC236}">
                <a16:creationId xmlns:a16="http://schemas.microsoft.com/office/drawing/2014/main" id="{9835D79F-345C-6435-F4A9-FE2A9E806174}"/>
              </a:ext>
            </a:extLst>
          </p:cNvPr>
          <p:cNvSpPr txBox="1">
            <a:spLocks/>
          </p:cNvSpPr>
          <p:nvPr/>
        </p:nvSpPr>
        <p:spPr>
          <a:xfrm>
            <a:off x="4314600" y="1932223"/>
            <a:ext cx="3331029" cy="1670948"/>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algn="ctr">
              <a:spcBef>
                <a:spcPts val="0"/>
              </a:spcBef>
              <a:spcAft>
                <a:spcPts val="800"/>
              </a:spcAft>
              <a:buNone/>
            </a:pPr>
            <a:r>
              <a:rPr lang="en-US" sz="1800" b="1" dirty="0" smtClean="0">
                <a:latin typeface="Arial" panose="020B0604020202020204" pitchFamily="34" charset="0"/>
                <a:cs typeface="Arial" panose="020B0604020202020204" pitchFamily="34" charset="0"/>
              </a:rPr>
              <a:t>Line Chart</a:t>
            </a:r>
          </a:p>
          <a:p>
            <a:pPr marL="0" indent="0" algn="ctr">
              <a:spcBef>
                <a:spcPts val="0"/>
              </a:spcBef>
              <a:spcAft>
                <a:spcPts val="800"/>
              </a:spcAft>
              <a:buNone/>
            </a:pPr>
            <a:r>
              <a:rPr lang="en-US" sz="1800" dirty="0" smtClean="0">
                <a:latin typeface="Arial" panose="020B0604020202020204" pitchFamily="34" charset="0"/>
                <a:cs typeface="Arial" panose="020B0604020202020204" pitchFamily="34" charset="0"/>
              </a:rPr>
              <a:t>A </a:t>
            </a:r>
            <a:r>
              <a:rPr lang="en-US" sz="1800" dirty="0">
                <a:latin typeface="Arial" panose="020B0604020202020204" pitchFamily="34" charset="0"/>
                <a:cs typeface="Arial" panose="020B0604020202020204" pitchFamily="34" charset="0"/>
              </a:rPr>
              <a:t>Line charts help show trends or changes over </a:t>
            </a:r>
            <a:r>
              <a:rPr lang="en-US" sz="1800" dirty="0" smtClean="0">
                <a:latin typeface="Arial" panose="020B0604020202020204" pitchFamily="34" charset="0"/>
                <a:cs typeface="Arial" panose="020B0604020202020204" pitchFamily="34" charset="0"/>
              </a:rPr>
              <a:t>time.</a:t>
            </a:r>
            <a:endParaRPr lang="en-US" sz="1800" dirty="0">
              <a:latin typeface="Arial" panose="020B0604020202020204" pitchFamily="34" charset="0"/>
              <a:cs typeface="Arial" panose="020B0604020202020204" pitchFamily="34" charset="0"/>
            </a:endParaRPr>
          </a:p>
        </p:txBody>
      </p:sp>
      <p:sp>
        <p:nvSpPr>
          <p:cNvPr id="13" name="Text Placeholder 4">
            <a:extLst>
              <a:ext uri="{FF2B5EF4-FFF2-40B4-BE49-F238E27FC236}">
                <a16:creationId xmlns:a16="http://schemas.microsoft.com/office/drawing/2014/main" id="{9835D79F-345C-6435-F4A9-FE2A9E806174}"/>
              </a:ext>
            </a:extLst>
          </p:cNvPr>
          <p:cNvSpPr txBox="1">
            <a:spLocks/>
          </p:cNvSpPr>
          <p:nvPr/>
        </p:nvSpPr>
        <p:spPr>
          <a:xfrm>
            <a:off x="8248199" y="1932223"/>
            <a:ext cx="3331029" cy="1670948"/>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algn="ctr">
              <a:spcBef>
                <a:spcPts val="0"/>
              </a:spcBef>
              <a:spcAft>
                <a:spcPts val="800"/>
              </a:spcAft>
              <a:buNone/>
            </a:pPr>
            <a:r>
              <a:rPr lang="en-US" sz="1800" b="1" dirty="0" smtClean="0">
                <a:latin typeface="Arial" panose="020B0604020202020204" pitchFamily="34" charset="0"/>
                <a:cs typeface="Arial" panose="020B0604020202020204" pitchFamily="34" charset="0"/>
              </a:rPr>
              <a:t>Pie Chart</a:t>
            </a:r>
          </a:p>
          <a:p>
            <a:pPr marL="0" indent="0" algn="ctr">
              <a:spcBef>
                <a:spcPts val="0"/>
              </a:spcBef>
              <a:spcAft>
                <a:spcPts val="800"/>
              </a:spcAft>
              <a:buNone/>
            </a:pPr>
            <a:r>
              <a:rPr lang="en-US" sz="1800" dirty="0">
                <a:latin typeface="Arial" panose="020B0604020202020204" pitchFamily="34" charset="0"/>
                <a:cs typeface="Arial" panose="020B0604020202020204" pitchFamily="34" charset="0"/>
              </a:rPr>
              <a:t>A pie chart shows data as slices of a circle, with each slice representing a proportion of the whole</a:t>
            </a:r>
            <a:r>
              <a:rPr lang="en-US" sz="1800" dirty="0" smtClean="0">
                <a:latin typeface="Arial" panose="020B0604020202020204" pitchFamily="34" charset="0"/>
                <a:cs typeface="Arial" panose="020B0604020202020204" pitchFamily="34" charset="0"/>
              </a:rPr>
              <a:t>.</a:t>
            </a:r>
            <a:endParaRPr lang="en-US" sz="1800" dirty="0">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5"/>
          <a:stretch>
            <a:fillRect/>
          </a:stretch>
        </p:blipFill>
        <p:spPr>
          <a:xfrm>
            <a:off x="5032200" y="3601457"/>
            <a:ext cx="2127600" cy="2127600"/>
          </a:xfrm>
          <a:prstGeom prst="rect">
            <a:avLst/>
          </a:prstGeom>
        </p:spPr>
      </p:pic>
      <p:pic>
        <p:nvPicPr>
          <p:cNvPr id="15" name="Picture 14"/>
          <p:cNvPicPr>
            <a:picLocks noChangeAspect="1"/>
          </p:cNvPicPr>
          <p:nvPr/>
        </p:nvPicPr>
        <p:blipFill>
          <a:blip r:embed="rId6"/>
          <a:stretch>
            <a:fillRect/>
          </a:stretch>
        </p:blipFill>
        <p:spPr>
          <a:xfrm>
            <a:off x="8849913" y="3601457"/>
            <a:ext cx="2127600" cy="2127600"/>
          </a:xfrm>
          <a:prstGeom prst="rect">
            <a:avLst/>
          </a:prstGeom>
        </p:spPr>
      </p:pic>
    </p:spTree>
    <p:custDataLst>
      <p:tags r:id="rId1"/>
    </p:custDataLst>
    <p:extLst>
      <p:ext uri="{BB962C8B-B14F-4D97-AF65-F5344CB8AC3E}">
        <p14:creationId xmlns:p14="http://schemas.microsoft.com/office/powerpoint/2010/main" val="1326738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285750" y="740737"/>
            <a:ext cx="67056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a:solidFill>
                  <a:srgbClr val="002060"/>
                </a:solidFill>
                <a:latin typeface="Arial" panose="020B0604020202020204" pitchFamily="34" charset="0"/>
                <a:cs typeface="Arial" panose="020B0604020202020204" pitchFamily="34" charset="0"/>
              </a:rPr>
              <a:t>Pivot Tables and Pivot Charts</a:t>
            </a:r>
          </a:p>
        </p:txBody>
      </p:sp>
      <p:sp>
        <p:nvSpPr>
          <p:cNvPr id="2" name="Text Placeholder 4">
            <a:extLst>
              <a:ext uri="{FF2B5EF4-FFF2-40B4-BE49-F238E27FC236}">
                <a16:creationId xmlns:a16="http://schemas.microsoft.com/office/drawing/2014/main" id="{9835D79F-345C-6435-F4A9-FE2A9E806174}"/>
              </a:ext>
            </a:extLst>
          </p:cNvPr>
          <p:cNvSpPr txBox="1">
            <a:spLocks/>
          </p:cNvSpPr>
          <p:nvPr/>
        </p:nvSpPr>
        <p:spPr>
          <a:xfrm>
            <a:off x="390525" y="1475023"/>
            <a:ext cx="5811058" cy="4114800"/>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a:spcBef>
                <a:spcPts val="0"/>
              </a:spcBef>
              <a:spcAft>
                <a:spcPts val="800"/>
              </a:spcAft>
            </a:pPr>
            <a:r>
              <a:rPr lang="en-US" sz="1800" dirty="0">
                <a:latin typeface="Arial" panose="020B0604020202020204" pitchFamily="34" charset="0"/>
                <a:cs typeface="Arial" panose="020B0604020202020204" pitchFamily="34" charset="0"/>
              </a:rPr>
              <a:t>Pivot tables in Excel summarize, analyze, and explore large datasets quickly.</a:t>
            </a:r>
          </a:p>
          <a:p>
            <a:pPr>
              <a:spcBef>
                <a:spcPts val="0"/>
              </a:spcBef>
              <a:spcAft>
                <a:spcPts val="800"/>
              </a:spcAft>
            </a:pPr>
            <a:r>
              <a:rPr lang="en-US" sz="1800" dirty="0">
                <a:latin typeface="Arial" panose="020B0604020202020204" pitchFamily="34" charset="0"/>
                <a:cs typeface="Arial" panose="020B0604020202020204" pitchFamily="34" charset="0"/>
              </a:rPr>
              <a:t>Users can rearrange or "pivot" data dynamically to view different perspectives without changing the original data.</a:t>
            </a:r>
          </a:p>
          <a:p>
            <a:pPr>
              <a:spcBef>
                <a:spcPts val="0"/>
              </a:spcBef>
              <a:spcAft>
                <a:spcPts val="800"/>
              </a:spcAft>
            </a:pPr>
            <a:r>
              <a:rPr lang="en-US" sz="1800" dirty="0">
                <a:latin typeface="Arial" panose="020B0604020202020204" pitchFamily="34" charset="0"/>
                <a:cs typeface="Arial" panose="020B0604020202020204" pitchFamily="34" charset="0"/>
              </a:rPr>
              <a:t>Pivot tables perform tasks like counting, summing, averaging, and sorting through simple drag-and-drop actions.</a:t>
            </a:r>
          </a:p>
          <a:p>
            <a:pPr>
              <a:spcBef>
                <a:spcPts val="0"/>
              </a:spcBef>
              <a:spcAft>
                <a:spcPts val="800"/>
              </a:spcAft>
            </a:pPr>
            <a:r>
              <a:rPr lang="en-US" sz="1800" dirty="0">
                <a:latin typeface="Arial" panose="020B0604020202020204" pitchFamily="34" charset="0"/>
                <a:cs typeface="Arial" panose="020B0604020202020204" pitchFamily="34" charset="0"/>
              </a:rPr>
              <a:t>Pivot charts are visual representations of pivot table data and update automatically as the pivot table changes.</a:t>
            </a:r>
          </a:p>
          <a:p>
            <a:pPr>
              <a:spcBef>
                <a:spcPts val="0"/>
              </a:spcBef>
              <a:spcAft>
                <a:spcPts val="800"/>
              </a:spcAft>
            </a:pPr>
            <a:r>
              <a:rPr lang="en-US" sz="1800" dirty="0">
                <a:latin typeface="Arial" panose="020B0604020202020204" pitchFamily="34" charset="0"/>
                <a:cs typeface="Arial" panose="020B0604020202020204" pitchFamily="34" charset="0"/>
              </a:rPr>
              <a:t>Pivot charts make it easier to see patterns, trends, and comparisons visually.</a:t>
            </a: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5" name="Group 4">
            <a:extLst>
              <a:ext uri="{FF2B5EF4-FFF2-40B4-BE49-F238E27FC236}">
                <a16:creationId xmlns:a16="http://schemas.microsoft.com/office/drawing/2014/main" id="{601D4E1A-0DFE-8B52-7E43-5ABB1879C5F4}"/>
              </a:ext>
            </a:extLst>
          </p:cNvPr>
          <p:cNvGrpSpPr/>
          <p:nvPr/>
        </p:nvGrpSpPr>
        <p:grpSpPr>
          <a:xfrm>
            <a:off x="0" y="6248400"/>
            <a:ext cx="12192000" cy="369425"/>
            <a:chOff x="0" y="6248400"/>
            <a:chExt cx="12192000" cy="369425"/>
          </a:xfrm>
        </p:grpSpPr>
        <p:sp>
          <p:nvSpPr>
            <p:cNvPr id="7" name="TextBox 6">
              <a:extLst>
                <a:ext uri="{FF2B5EF4-FFF2-40B4-BE49-F238E27FC236}">
                  <a16:creationId xmlns:a16="http://schemas.microsoft.com/office/drawing/2014/main" id="{53D5C61B-F8AF-6D5F-AD9D-C34C6DB7688D}"/>
                </a:ext>
              </a:extLst>
            </p:cNvPr>
            <p:cNvSpPr txBox="1"/>
            <p:nvPr/>
          </p:nvSpPr>
          <p:spPr>
            <a:xfrm>
              <a:off x="419655" y="6310048"/>
              <a:ext cx="5716630" cy="307777"/>
            </a:xfrm>
            <a:prstGeom prst="rect">
              <a:avLst/>
            </a:prstGeom>
            <a:noFill/>
          </p:spPr>
          <p:txBody>
            <a:bodyPr wrap="none" rtlCol="0">
              <a:spAutoFit/>
            </a:bodyPr>
            <a:lstStyle/>
            <a:p>
              <a:r>
                <a:rPr lang="en-US" sz="1400" b="1" dirty="0">
                  <a:solidFill>
                    <a:srgbClr val="0000FF"/>
                  </a:solidFill>
                  <a:latin typeface="Arial" panose="020B0604020202020204" pitchFamily="34" charset="0"/>
                  <a:cs typeface="Arial" panose="020B0604020202020204" pitchFamily="34" charset="0"/>
                </a:rPr>
                <a:t>Source: </a:t>
              </a:r>
              <a:r>
                <a:rPr lang="en-US" sz="1400" dirty="0">
                  <a:solidFill>
                    <a:srgbClr val="0000FF"/>
                  </a:solidFill>
                  <a:latin typeface="Arial" panose="020B0604020202020204" pitchFamily="34" charset="0"/>
                  <a:cs typeface="Arial" panose="020B0604020202020204" pitchFamily="34" charset="0"/>
                </a:rPr>
                <a:t>https://uviclibraries.github.io/excel/images/excel-pivot-01.png</a:t>
              </a:r>
            </a:p>
          </p:txBody>
        </p:sp>
        <p:cxnSp>
          <p:nvCxnSpPr>
            <p:cNvPr id="9" name="Straight Connector 8">
              <a:extLst>
                <a:ext uri="{FF2B5EF4-FFF2-40B4-BE49-F238E27FC236}">
                  <a16:creationId xmlns:a16="http://schemas.microsoft.com/office/drawing/2014/main" id="{06D50C82-FFA3-3BA2-C15A-244CAB209789}"/>
                </a:ext>
              </a:extLst>
            </p:cNvPr>
            <p:cNvCxnSpPr/>
            <p:nvPr/>
          </p:nvCxnSpPr>
          <p:spPr>
            <a:xfrm>
              <a:off x="0" y="6248400"/>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8" name="Picture 2" descr="https://uviclibraries.github.io/excel/images/excel-pivot-01.png"/>
          <p:cNvPicPr>
            <a:picLocks noChangeAspect="1" noChangeArrowheads="1"/>
          </p:cNvPicPr>
          <p:nvPr/>
        </p:nvPicPr>
        <p:blipFill rotWithShape="1">
          <a:blip r:embed="rId4">
            <a:extLst>
              <a:ext uri="{28A0092B-C50C-407E-A947-70E740481C1C}">
                <a14:useLocalDpi xmlns:a14="http://schemas.microsoft.com/office/drawing/2010/main" val="0"/>
              </a:ext>
            </a:extLst>
          </a:blip>
          <a:srcRect l="22355" t="6240" r="25377" b="6556"/>
          <a:stretch/>
        </p:blipFill>
        <p:spPr bwMode="auto">
          <a:xfrm>
            <a:off x="7053805" y="1957939"/>
            <a:ext cx="3733801" cy="35052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028360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292604" y="750262"/>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a:solidFill>
                  <a:srgbClr val="002060"/>
                </a:solidFill>
                <a:latin typeface="Arial" panose="020B0604020202020204" pitchFamily="34" charset="0"/>
                <a:cs typeface="Arial" panose="020B0604020202020204" pitchFamily="34" charset="0"/>
              </a:rPr>
              <a:t>Lab Activity</a:t>
            </a:r>
          </a:p>
          <a:p>
            <a:pPr algn="l"/>
            <a:endParaRPr lang="en-US" sz="2200" b="1" dirty="0">
              <a:solidFill>
                <a:srgbClr val="002060"/>
              </a:solidFill>
              <a:latin typeface="Arial" panose="020B0604020202020204" pitchFamily="34" charset="0"/>
              <a:cs typeface="Arial" panose="020B0604020202020204" pitchFamily="34" charset="0"/>
            </a:endParaRP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6" name="Rectangle 15">
            <a:extLst>
              <a:ext uri="{FF2B5EF4-FFF2-40B4-BE49-F238E27FC236}">
                <a16:creationId xmlns:a16="http://schemas.microsoft.com/office/drawing/2014/main" id="{678622E6-5B75-0274-BD0E-07E563387839}"/>
              </a:ext>
            </a:extLst>
          </p:cNvPr>
          <p:cNvSpPr/>
          <p:nvPr/>
        </p:nvSpPr>
        <p:spPr>
          <a:xfrm>
            <a:off x="457200" y="4114800"/>
            <a:ext cx="11734800" cy="2133600"/>
          </a:xfrm>
          <a:prstGeom prst="rect">
            <a:avLst/>
          </a:prstGeom>
          <a:solidFill>
            <a:srgbClr val="FCF3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2489689F-36E7-7881-4C3C-185362691848}"/>
              </a:ext>
            </a:extLst>
          </p:cNvPr>
          <p:cNvGrpSpPr/>
          <p:nvPr/>
        </p:nvGrpSpPr>
        <p:grpSpPr>
          <a:xfrm>
            <a:off x="8305800" y="685800"/>
            <a:ext cx="2971800" cy="4370614"/>
            <a:chOff x="8305800" y="685800"/>
            <a:chExt cx="2971800" cy="4370614"/>
          </a:xfrm>
        </p:grpSpPr>
        <p:sp>
          <p:nvSpPr>
            <p:cNvPr id="23" name="Oval 22">
              <a:extLst>
                <a:ext uri="{FF2B5EF4-FFF2-40B4-BE49-F238E27FC236}">
                  <a16:creationId xmlns:a16="http://schemas.microsoft.com/office/drawing/2014/main" id="{FD346213-B0D6-CF00-9B16-D6C17090298F}"/>
                </a:ext>
              </a:extLst>
            </p:cNvPr>
            <p:cNvSpPr/>
            <p:nvPr/>
          </p:nvSpPr>
          <p:spPr>
            <a:xfrm>
              <a:off x="8305800" y="2084614"/>
              <a:ext cx="2971800" cy="29718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5BB74208-07C7-6E54-9B81-528E03AE5E0B}"/>
                </a:ext>
              </a:extLst>
            </p:cNvPr>
            <p:cNvGrpSpPr/>
            <p:nvPr/>
          </p:nvGrpSpPr>
          <p:grpSpPr>
            <a:xfrm>
              <a:off x="8458200" y="685800"/>
              <a:ext cx="2667000" cy="4136571"/>
              <a:chOff x="8534400" y="1426029"/>
              <a:chExt cx="2667000" cy="4136571"/>
            </a:xfrm>
          </p:grpSpPr>
          <p:sp>
            <p:nvSpPr>
              <p:cNvPr id="25" name="Oval 24">
                <a:extLst>
                  <a:ext uri="{FF2B5EF4-FFF2-40B4-BE49-F238E27FC236}">
                    <a16:creationId xmlns:a16="http://schemas.microsoft.com/office/drawing/2014/main" id="{7027A8E6-EC4C-1C2E-11BA-6D4DE4580AAB}"/>
                  </a:ext>
                </a:extLst>
              </p:cNvPr>
              <p:cNvSpPr/>
              <p:nvPr/>
            </p:nvSpPr>
            <p:spPr>
              <a:xfrm>
                <a:off x="8534400" y="2895600"/>
                <a:ext cx="2667000" cy="2667000"/>
              </a:xfrm>
              <a:prstGeom prst="ellipse">
                <a:avLst/>
              </a:prstGeom>
              <a:solidFill>
                <a:srgbClr val="F8E1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5">
                <a:extLst>
                  <a:ext uri="{FF2B5EF4-FFF2-40B4-BE49-F238E27FC236}">
                    <a16:creationId xmlns:a16="http://schemas.microsoft.com/office/drawing/2014/main" id="{1082C203-7F84-D183-4312-3AA35A15AAFA}"/>
                  </a:ext>
                </a:extLst>
              </p:cNvPr>
              <p:cNvSpPr/>
              <p:nvPr/>
            </p:nvSpPr>
            <p:spPr>
              <a:xfrm>
                <a:off x="8958121" y="1426029"/>
                <a:ext cx="1819559" cy="2342780"/>
              </a:xfrm>
              <a:custGeom>
                <a:avLst/>
                <a:gdLst/>
                <a:ahLst/>
                <a:cxnLst/>
                <a:rect l="l" t="t" r="r" b="b"/>
                <a:pathLst>
                  <a:path w="1819559" h="2342780">
                    <a:moveTo>
                      <a:pt x="0" y="0"/>
                    </a:moveTo>
                    <a:lnTo>
                      <a:pt x="1819559" y="0"/>
                    </a:lnTo>
                    <a:lnTo>
                      <a:pt x="1819559" y="2342780"/>
                    </a:lnTo>
                    <a:lnTo>
                      <a:pt x="0" y="234278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lang="en-US"/>
              </a:p>
            </p:txBody>
          </p:sp>
        </p:grpSp>
      </p:grpSp>
      <p:sp>
        <p:nvSpPr>
          <p:cNvPr id="28" name="Text Placeholder 4">
            <a:extLst>
              <a:ext uri="{FF2B5EF4-FFF2-40B4-BE49-F238E27FC236}">
                <a16:creationId xmlns:a16="http://schemas.microsoft.com/office/drawing/2014/main" id="{21B89CD7-B53D-C4BE-D409-15C0D13545AB}"/>
              </a:ext>
            </a:extLst>
          </p:cNvPr>
          <p:cNvSpPr txBox="1">
            <a:spLocks/>
          </p:cNvSpPr>
          <p:nvPr/>
        </p:nvSpPr>
        <p:spPr>
          <a:xfrm>
            <a:off x="762000" y="4419600"/>
            <a:ext cx="6172200" cy="369332"/>
          </a:xfrm>
          <a:prstGeom prst="rect">
            <a:avLst/>
          </a:prstGeom>
        </p:spPr>
        <p:txBody>
          <a:bodyPr wrap="square">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defTabSz="914400">
              <a:spcBef>
                <a:spcPts val="0"/>
              </a:spcBef>
              <a:spcAft>
                <a:spcPts val="800"/>
              </a:spcAft>
              <a:defRPr/>
            </a:pPr>
            <a:r>
              <a:rPr lang="en-US" sz="1800" b="1" dirty="0" smtClean="0">
                <a:latin typeface="Arial" panose="020B0604020202020204" pitchFamily="34" charset="0"/>
                <a:cs typeface="Arial" panose="020B0604020202020204" pitchFamily="34" charset="0"/>
              </a:rPr>
              <a:t>Lab </a:t>
            </a:r>
            <a:r>
              <a:rPr lang="en-US" sz="1800" b="1" dirty="0">
                <a:latin typeface="Arial" panose="020B0604020202020204" pitchFamily="34" charset="0"/>
                <a:cs typeface="Arial" panose="020B0604020202020204" pitchFamily="34" charset="0"/>
              </a:rPr>
              <a:t>1.2:</a:t>
            </a:r>
            <a:r>
              <a:rPr lang="en-US" sz="1800" dirty="0">
                <a:latin typeface="Arial" panose="020B0604020202020204" pitchFamily="34" charset="0"/>
                <a:cs typeface="Arial" panose="020B0604020202020204" pitchFamily="34" charset="0"/>
              </a:rPr>
              <a:t> Creating Pivot Tables and </a:t>
            </a:r>
            <a:r>
              <a:rPr lang="en-US" sz="1800" dirty="0" smtClean="0">
                <a:latin typeface="Arial" panose="020B0604020202020204" pitchFamily="34" charset="0"/>
                <a:cs typeface="Arial" panose="020B0604020202020204" pitchFamily="34" charset="0"/>
              </a:rPr>
              <a:t>Charts</a:t>
            </a:r>
            <a:endParaRPr lang="en-US" sz="1800"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7287499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285750" y="740737"/>
            <a:ext cx="67056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a:solidFill>
                  <a:srgbClr val="002060"/>
                </a:solidFill>
                <a:latin typeface="Arial" panose="020B0604020202020204" pitchFamily="34" charset="0"/>
                <a:cs typeface="Arial" panose="020B0604020202020204" pitchFamily="34" charset="0"/>
              </a:rPr>
              <a:t>What is Microsoft Copilot?</a:t>
            </a:r>
          </a:p>
        </p:txBody>
      </p:sp>
      <p:sp>
        <p:nvSpPr>
          <p:cNvPr id="2" name="Text Placeholder 4">
            <a:extLst>
              <a:ext uri="{FF2B5EF4-FFF2-40B4-BE49-F238E27FC236}">
                <a16:creationId xmlns:a16="http://schemas.microsoft.com/office/drawing/2014/main" id="{9835D79F-345C-6435-F4A9-FE2A9E806174}"/>
              </a:ext>
            </a:extLst>
          </p:cNvPr>
          <p:cNvSpPr txBox="1">
            <a:spLocks/>
          </p:cNvSpPr>
          <p:nvPr/>
        </p:nvSpPr>
        <p:spPr>
          <a:xfrm>
            <a:off x="390525" y="1475023"/>
            <a:ext cx="5811058" cy="4114800"/>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a:spcBef>
                <a:spcPts val="0"/>
              </a:spcBef>
              <a:spcAft>
                <a:spcPts val="800"/>
              </a:spcAft>
            </a:pPr>
            <a:r>
              <a:rPr lang="en-US" sz="1800" dirty="0">
                <a:latin typeface="Arial" panose="020B0604020202020204" pitchFamily="34" charset="0"/>
                <a:cs typeface="Arial" panose="020B0604020202020204" pitchFamily="34" charset="0"/>
              </a:rPr>
              <a:t>Microsoft Copilot is an AI-powered assistant that works through your web browser.</a:t>
            </a:r>
          </a:p>
          <a:p>
            <a:pPr>
              <a:spcBef>
                <a:spcPts val="0"/>
              </a:spcBef>
              <a:spcAft>
                <a:spcPts val="800"/>
              </a:spcAft>
            </a:pPr>
            <a:r>
              <a:rPr lang="en-US" sz="1800" dirty="0">
                <a:latin typeface="Arial" panose="020B0604020202020204" pitchFamily="34" charset="0"/>
                <a:cs typeface="Arial" panose="020B0604020202020204" pitchFamily="34" charset="0"/>
              </a:rPr>
              <a:t>Copilot uses large language models similar to ChatGPT to understand your requests.</a:t>
            </a:r>
          </a:p>
          <a:p>
            <a:pPr>
              <a:spcBef>
                <a:spcPts val="0"/>
              </a:spcBef>
              <a:spcAft>
                <a:spcPts val="800"/>
              </a:spcAft>
            </a:pPr>
            <a:r>
              <a:rPr lang="en-US" sz="1800" dirty="0">
                <a:latin typeface="Arial" panose="020B0604020202020204" pitchFamily="34" charset="0"/>
                <a:cs typeface="Arial" panose="020B0604020202020204" pitchFamily="34" charset="0"/>
              </a:rPr>
              <a:t>You can access Copilot for free at </a:t>
            </a:r>
            <a:r>
              <a:rPr lang="en-US" sz="1800" dirty="0">
                <a:latin typeface="Arial" panose="020B0604020202020204" pitchFamily="34" charset="0"/>
                <a:cs typeface="Arial" panose="020B0604020202020204" pitchFamily="34" charset="0"/>
                <a:hlinkClick r:id="rId4"/>
              </a:rPr>
              <a:t>https://copilot.microsoft.com/</a:t>
            </a:r>
            <a:r>
              <a:rPr lang="en-US" sz="1800" dirty="0">
                <a:latin typeface="Arial" panose="020B0604020202020204" pitchFamily="34" charset="0"/>
                <a:cs typeface="Arial" panose="020B0604020202020204" pitchFamily="34" charset="0"/>
              </a:rPr>
              <a:t> with your Microsoft account.</a:t>
            </a:r>
          </a:p>
          <a:p>
            <a:pPr>
              <a:spcBef>
                <a:spcPts val="0"/>
              </a:spcBef>
              <a:spcAft>
                <a:spcPts val="800"/>
              </a:spcAft>
            </a:pPr>
            <a:r>
              <a:rPr lang="en-US" sz="1800" dirty="0">
                <a:latin typeface="Arial" panose="020B0604020202020204" pitchFamily="34" charset="0"/>
                <a:cs typeface="Arial" panose="020B0604020202020204" pitchFamily="34" charset="0"/>
              </a:rPr>
              <a:t>Copilot helps you create, analyze, and plan content through natural conversation.</a:t>
            </a: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5" name="Group 4">
            <a:extLst>
              <a:ext uri="{FF2B5EF4-FFF2-40B4-BE49-F238E27FC236}">
                <a16:creationId xmlns:a16="http://schemas.microsoft.com/office/drawing/2014/main" id="{601D4E1A-0DFE-8B52-7E43-5ABB1879C5F4}"/>
              </a:ext>
            </a:extLst>
          </p:cNvPr>
          <p:cNvGrpSpPr/>
          <p:nvPr/>
        </p:nvGrpSpPr>
        <p:grpSpPr>
          <a:xfrm>
            <a:off x="0" y="6248400"/>
            <a:ext cx="12192000" cy="369425"/>
            <a:chOff x="0" y="6248400"/>
            <a:chExt cx="12192000" cy="369425"/>
          </a:xfrm>
        </p:grpSpPr>
        <p:sp>
          <p:nvSpPr>
            <p:cNvPr id="7" name="TextBox 6">
              <a:extLst>
                <a:ext uri="{FF2B5EF4-FFF2-40B4-BE49-F238E27FC236}">
                  <a16:creationId xmlns:a16="http://schemas.microsoft.com/office/drawing/2014/main" id="{53D5C61B-F8AF-6D5F-AD9D-C34C6DB7688D}"/>
                </a:ext>
              </a:extLst>
            </p:cNvPr>
            <p:cNvSpPr txBox="1"/>
            <p:nvPr/>
          </p:nvSpPr>
          <p:spPr>
            <a:xfrm>
              <a:off x="419655" y="6310048"/>
              <a:ext cx="9550756" cy="307777"/>
            </a:xfrm>
            <a:prstGeom prst="rect">
              <a:avLst/>
            </a:prstGeom>
            <a:noFill/>
          </p:spPr>
          <p:txBody>
            <a:bodyPr wrap="none" rtlCol="0">
              <a:spAutoFit/>
            </a:bodyPr>
            <a:lstStyle/>
            <a:p>
              <a:r>
                <a:rPr lang="en-US" sz="1400" b="1" dirty="0">
                  <a:solidFill>
                    <a:srgbClr val="0000FF"/>
                  </a:solidFill>
                  <a:latin typeface="Arial" panose="020B0604020202020204" pitchFamily="34" charset="0"/>
                  <a:cs typeface="Arial" panose="020B0604020202020204" pitchFamily="34" charset="0"/>
                </a:rPr>
                <a:t>Source: </a:t>
              </a:r>
              <a:r>
                <a:rPr lang="en-US" sz="1400" dirty="0">
                  <a:solidFill>
                    <a:srgbClr val="0000FF"/>
                  </a:solidFill>
                  <a:latin typeface="Arial" panose="020B0604020202020204" pitchFamily="34" charset="0"/>
                  <a:cs typeface="Arial" panose="020B0604020202020204" pitchFamily="34" charset="0"/>
                </a:rPr>
                <a:t>https://encrypted-tbn0.gstatic.com/images?q=tbn:ANd9GcQkiQFjnO5QEB364vvWA2HL4-g4QTWdaa1jMA&amp;s</a:t>
              </a:r>
            </a:p>
          </p:txBody>
        </p:sp>
        <p:cxnSp>
          <p:nvCxnSpPr>
            <p:cNvPr id="9" name="Straight Connector 8">
              <a:extLst>
                <a:ext uri="{FF2B5EF4-FFF2-40B4-BE49-F238E27FC236}">
                  <a16:creationId xmlns:a16="http://schemas.microsoft.com/office/drawing/2014/main" id="{06D50C82-FFA3-3BA2-C15A-244CAB209789}"/>
                </a:ext>
              </a:extLst>
            </p:cNvPr>
            <p:cNvCxnSpPr/>
            <p:nvPr/>
          </p:nvCxnSpPr>
          <p:spPr>
            <a:xfrm>
              <a:off x="0" y="6248400"/>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8" name="Picture 2" descr="Microsoft Copilot for Microsoft 365 | IOTAP Online Indi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62800" y="2057400"/>
            <a:ext cx="3600000" cy="36000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6319303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285750" y="740737"/>
            <a:ext cx="67056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a:solidFill>
                  <a:srgbClr val="002060"/>
                </a:solidFill>
                <a:latin typeface="Arial" panose="020B0604020202020204" pitchFamily="34" charset="0"/>
                <a:cs typeface="Arial" panose="020B0604020202020204" pitchFamily="34" charset="0"/>
              </a:rPr>
              <a:t>What You Can Access with Your Free Account</a:t>
            </a:r>
          </a:p>
        </p:txBody>
      </p:sp>
      <p:sp>
        <p:nvSpPr>
          <p:cNvPr id="2" name="Text Placeholder 4">
            <a:extLst>
              <a:ext uri="{FF2B5EF4-FFF2-40B4-BE49-F238E27FC236}">
                <a16:creationId xmlns:a16="http://schemas.microsoft.com/office/drawing/2014/main" id="{9835D79F-345C-6435-F4A9-FE2A9E806174}"/>
              </a:ext>
            </a:extLst>
          </p:cNvPr>
          <p:cNvSpPr txBox="1">
            <a:spLocks/>
          </p:cNvSpPr>
          <p:nvPr/>
        </p:nvSpPr>
        <p:spPr>
          <a:xfrm>
            <a:off x="390525" y="1475023"/>
            <a:ext cx="5811058" cy="4114800"/>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a:spcBef>
                <a:spcPts val="0"/>
              </a:spcBef>
              <a:spcAft>
                <a:spcPts val="800"/>
              </a:spcAft>
            </a:pPr>
            <a:r>
              <a:rPr lang="en-US" sz="1800" dirty="0">
                <a:latin typeface="Arial" panose="020B0604020202020204" pitchFamily="34" charset="0"/>
                <a:cs typeface="Arial" panose="020B0604020202020204" pitchFamily="34" charset="0"/>
              </a:rPr>
              <a:t>You can use Copilot Chat at </a:t>
            </a:r>
            <a:r>
              <a:rPr lang="en-US" sz="1800" dirty="0">
                <a:latin typeface="Arial" panose="020B0604020202020204" pitchFamily="34" charset="0"/>
                <a:cs typeface="Arial" panose="020B0604020202020204" pitchFamily="34" charset="0"/>
                <a:hlinkClick r:id="rId4"/>
              </a:rPr>
              <a:t>https://copilot.microsoft.com</a:t>
            </a:r>
            <a:r>
              <a:rPr lang="en-US" sz="1800" dirty="0" smtClean="0">
                <a:latin typeface="Arial" panose="020B0604020202020204" pitchFamily="34" charset="0"/>
                <a:cs typeface="Arial" panose="020B0604020202020204" pitchFamily="34" charset="0"/>
                <a:hlinkClick r:id="rId4"/>
              </a:rPr>
              <a:t>/</a:t>
            </a:r>
            <a:r>
              <a:rPr lang="en-US" sz="1800" dirty="0" smtClean="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as a free conversational AI tool.</a:t>
            </a:r>
          </a:p>
          <a:p>
            <a:pPr>
              <a:spcBef>
                <a:spcPts val="0"/>
              </a:spcBef>
              <a:spcAft>
                <a:spcPts val="800"/>
              </a:spcAft>
            </a:pPr>
            <a:r>
              <a:rPr lang="en-US" sz="1800" dirty="0">
                <a:latin typeface="Arial" panose="020B0604020202020204" pitchFamily="34" charset="0"/>
                <a:cs typeface="Arial" panose="020B0604020202020204" pitchFamily="34" charset="0"/>
              </a:rPr>
              <a:t>You can access Word Online, Excel Online, and PowerPoint Online through OneDrive.</a:t>
            </a:r>
          </a:p>
          <a:p>
            <a:pPr>
              <a:spcBef>
                <a:spcPts val="0"/>
              </a:spcBef>
              <a:spcAft>
                <a:spcPts val="800"/>
              </a:spcAft>
            </a:pPr>
            <a:r>
              <a:rPr lang="en-US" sz="1800" dirty="0">
                <a:latin typeface="Arial" panose="020B0604020202020204" pitchFamily="34" charset="0"/>
                <a:cs typeface="Arial" panose="020B0604020202020204" pitchFamily="34" charset="0"/>
              </a:rPr>
              <a:t>You receive 5GB of free cloud storage for your files on OneDrive.</a:t>
            </a:r>
          </a:p>
          <a:p>
            <a:pPr>
              <a:spcBef>
                <a:spcPts val="0"/>
              </a:spcBef>
              <a:spcAft>
                <a:spcPts val="800"/>
              </a:spcAft>
            </a:pPr>
            <a:r>
              <a:rPr lang="en-US" sz="1800" dirty="0">
                <a:latin typeface="Arial" panose="020B0604020202020204" pitchFamily="34" charset="0"/>
                <a:cs typeface="Arial" panose="020B0604020202020204" pitchFamily="34" charset="0"/>
              </a:rPr>
              <a:t>You have the ability to share and collaborate on documents online with others.</a:t>
            </a: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5" name="Group 4">
            <a:extLst>
              <a:ext uri="{FF2B5EF4-FFF2-40B4-BE49-F238E27FC236}">
                <a16:creationId xmlns:a16="http://schemas.microsoft.com/office/drawing/2014/main" id="{601D4E1A-0DFE-8B52-7E43-5ABB1879C5F4}"/>
              </a:ext>
            </a:extLst>
          </p:cNvPr>
          <p:cNvGrpSpPr/>
          <p:nvPr/>
        </p:nvGrpSpPr>
        <p:grpSpPr>
          <a:xfrm>
            <a:off x="0" y="6248400"/>
            <a:ext cx="12192000" cy="369425"/>
            <a:chOff x="0" y="6248400"/>
            <a:chExt cx="12192000" cy="369425"/>
          </a:xfrm>
        </p:grpSpPr>
        <p:sp>
          <p:nvSpPr>
            <p:cNvPr id="7" name="TextBox 6">
              <a:extLst>
                <a:ext uri="{FF2B5EF4-FFF2-40B4-BE49-F238E27FC236}">
                  <a16:creationId xmlns:a16="http://schemas.microsoft.com/office/drawing/2014/main" id="{53D5C61B-F8AF-6D5F-AD9D-C34C6DB7688D}"/>
                </a:ext>
              </a:extLst>
            </p:cNvPr>
            <p:cNvSpPr txBox="1"/>
            <p:nvPr/>
          </p:nvSpPr>
          <p:spPr>
            <a:xfrm>
              <a:off x="419655" y="6310048"/>
              <a:ext cx="9409051" cy="307777"/>
            </a:xfrm>
            <a:prstGeom prst="rect">
              <a:avLst/>
            </a:prstGeom>
            <a:noFill/>
          </p:spPr>
          <p:txBody>
            <a:bodyPr wrap="none" rtlCol="0">
              <a:spAutoFit/>
            </a:bodyPr>
            <a:lstStyle/>
            <a:p>
              <a:r>
                <a:rPr lang="en-US" sz="1400" b="1" dirty="0">
                  <a:solidFill>
                    <a:srgbClr val="0000FF"/>
                  </a:solidFill>
                  <a:latin typeface="Arial" panose="020B0604020202020204" pitchFamily="34" charset="0"/>
                  <a:cs typeface="Arial" panose="020B0604020202020204" pitchFamily="34" charset="0"/>
                </a:rPr>
                <a:t>Source: </a:t>
              </a:r>
              <a:r>
                <a:rPr lang="en-US" sz="1400" dirty="0">
                  <a:solidFill>
                    <a:srgbClr val="0000FF"/>
                  </a:solidFill>
                  <a:latin typeface="Arial" panose="020B0604020202020204" pitchFamily="34" charset="0"/>
                  <a:cs typeface="Arial" panose="020B0604020202020204" pitchFamily="34" charset="0"/>
                </a:rPr>
                <a:t>https://encrypted-tbn0.gstatic.com/images?q=tbn:ANd9GcRTzKV-WuvfOX-ySjduFyH1KppID7WZ2FQfTA&amp;s</a:t>
              </a:r>
            </a:p>
          </p:txBody>
        </p:sp>
        <p:cxnSp>
          <p:nvCxnSpPr>
            <p:cNvPr id="9" name="Straight Connector 8">
              <a:extLst>
                <a:ext uri="{FF2B5EF4-FFF2-40B4-BE49-F238E27FC236}">
                  <a16:creationId xmlns:a16="http://schemas.microsoft.com/office/drawing/2014/main" id="{06D50C82-FFA3-3BA2-C15A-244CAB209789}"/>
                </a:ext>
              </a:extLst>
            </p:cNvPr>
            <p:cNvCxnSpPr/>
            <p:nvPr/>
          </p:nvCxnSpPr>
          <p:spPr>
            <a:xfrm>
              <a:off x="0" y="6248400"/>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8" name="Picture 2" descr="Copilot Studio - Everything We Know So Far | eWay-Blo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91942" y="2198382"/>
            <a:ext cx="5760000" cy="36000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9237728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285750" y="740737"/>
            <a:ext cx="67056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a:solidFill>
                  <a:srgbClr val="002060"/>
                </a:solidFill>
                <a:latin typeface="Arial" panose="020B0604020202020204" pitchFamily="34" charset="0"/>
                <a:cs typeface="Arial" panose="020B0604020202020204" pitchFamily="34" charset="0"/>
              </a:rPr>
              <a:t>Why Use Copilot?</a:t>
            </a: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5" name="Group 4">
            <a:extLst>
              <a:ext uri="{FF2B5EF4-FFF2-40B4-BE49-F238E27FC236}">
                <a16:creationId xmlns:a16="http://schemas.microsoft.com/office/drawing/2014/main" id="{601D4E1A-0DFE-8B52-7E43-5ABB1879C5F4}"/>
              </a:ext>
            </a:extLst>
          </p:cNvPr>
          <p:cNvGrpSpPr/>
          <p:nvPr/>
        </p:nvGrpSpPr>
        <p:grpSpPr>
          <a:xfrm>
            <a:off x="0" y="6248400"/>
            <a:ext cx="12192000" cy="369425"/>
            <a:chOff x="0" y="6248400"/>
            <a:chExt cx="12192000" cy="369425"/>
          </a:xfrm>
        </p:grpSpPr>
        <p:sp>
          <p:nvSpPr>
            <p:cNvPr id="7" name="TextBox 6">
              <a:extLst>
                <a:ext uri="{FF2B5EF4-FFF2-40B4-BE49-F238E27FC236}">
                  <a16:creationId xmlns:a16="http://schemas.microsoft.com/office/drawing/2014/main" id="{53D5C61B-F8AF-6D5F-AD9D-C34C6DB7688D}"/>
                </a:ext>
              </a:extLst>
            </p:cNvPr>
            <p:cNvSpPr txBox="1"/>
            <p:nvPr/>
          </p:nvSpPr>
          <p:spPr>
            <a:xfrm>
              <a:off x="419655" y="6310048"/>
              <a:ext cx="8868133" cy="307777"/>
            </a:xfrm>
            <a:prstGeom prst="rect">
              <a:avLst/>
            </a:prstGeom>
            <a:noFill/>
          </p:spPr>
          <p:txBody>
            <a:bodyPr wrap="none" rtlCol="0">
              <a:spAutoFit/>
            </a:bodyPr>
            <a:lstStyle/>
            <a:p>
              <a:r>
                <a:rPr lang="en-US" sz="1400" b="1" dirty="0">
                  <a:solidFill>
                    <a:srgbClr val="0000FF"/>
                  </a:solidFill>
                  <a:latin typeface="Arial" panose="020B0604020202020204" pitchFamily="34" charset="0"/>
                  <a:cs typeface="Arial" panose="020B0604020202020204" pitchFamily="34" charset="0"/>
                </a:rPr>
                <a:t>Source: </a:t>
              </a:r>
              <a:r>
                <a:rPr lang="en-US" sz="1400" dirty="0">
                  <a:solidFill>
                    <a:srgbClr val="0000FF"/>
                  </a:solidFill>
                  <a:latin typeface="Arial" panose="020B0604020202020204" pitchFamily="34" charset="0"/>
                  <a:cs typeface="Arial" panose="020B0604020202020204" pitchFamily="34" charset="0"/>
                </a:rPr>
                <a:t>https://cdn.neweratech.com/us/wp-content/uploads/sites/5/2024/07/10_use_cases_of_framework.jpg</a:t>
              </a:r>
            </a:p>
          </p:txBody>
        </p:sp>
        <p:cxnSp>
          <p:nvCxnSpPr>
            <p:cNvPr id="9" name="Straight Connector 8">
              <a:extLst>
                <a:ext uri="{FF2B5EF4-FFF2-40B4-BE49-F238E27FC236}">
                  <a16:creationId xmlns:a16="http://schemas.microsoft.com/office/drawing/2014/main" id="{06D50C82-FFA3-3BA2-C15A-244CAB209789}"/>
                </a:ext>
              </a:extLst>
            </p:cNvPr>
            <p:cNvCxnSpPr/>
            <p:nvPr/>
          </p:nvCxnSpPr>
          <p:spPr>
            <a:xfrm>
              <a:off x="0" y="6248400"/>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8" name="Picture 2" descr="Microsoft 365 Copilot Use Cases | 10 Cases to Reveal its Potential"/>
          <p:cNvPicPr>
            <a:picLocks noChangeAspect="1" noChangeArrowheads="1"/>
          </p:cNvPicPr>
          <p:nvPr/>
        </p:nvPicPr>
        <p:blipFill rotWithShape="1">
          <a:blip r:embed="rId4">
            <a:extLst>
              <a:ext uri="{28A0092B-C50C-407E-A947-70E740481C1C}">
                <a14:useLocalDpi xmlns:a14="http://schemas.microsoft.com/office/drawing/2010/main" val="0"/>
              </a:ext>
            </a:extLst>
          </a:blip>
          <a:srcRect t="15117" b="12752"/>
          <a:stretch/>
        </p:blipFill>
        <p:spPr bwMode="auto">
          <a:xfrm>
            <a:off x="1141191" y="1942845"/>
            <a:ext cx="9999470" cy="4055084"/>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8726281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285750" y="740737"/>
            <a:ext cx="67056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a:solidFill>
                  <a:srgbClr val="002060"/>
                </a:solidFill>
                <a:latin typeface="Arial" panose="020B0604020202020204" pitchFamily="34" charset="0"/>
                <a:cs typeface="Arial" panose="020B0604020202020204" pitchFamily="34" charset="0"/>
              </a:rPr>
              <a:t>The Art of Prompt Engineering</a:t>
            </a:r>
          </a:p>
        </p:txBody>
      </p:sp>
      <p:sp>
        <p:nvSpPr>
          <p:cNvPr id="2" name="Text Placeholder 4">
            <a:extLst>
              <a:ext uri="{FF2B5EF4-FFF2-40B4-BE49-F238E27FC236}">
                <a16:creationId xmlns:a16="http://schemas.microsoft.com/office/drawing/2014/main" id="{9835D79F-345C-6435-F4A9-FE2A9E806174}"/>
              </a:ext>
            </a:extLst>
          </p:cNvPr>
          <p:cNvSpPr txBox="1">
            <a:spLocks/>
          </p:cNvSpPr>
          <p:nvPr/>
        </p:nvSpPr>
        <p:spPr>
          <a:xfrm>
            <a:off x="390525" y="1475023"/>
            <a:ext cx="5811058" cy="4114800"/>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a:spcBef>
                <a:spcPts val="0"/>
              </a:spcBef>
              <a:spcAft>
                <a:spcPts val="800"/>
              </a:spcAft>
            </a:pPr>
            <a:r>
              <a:rPr lang="en-US" sz="1800" dirty="0">
                <a:latin typeface="Arial" panose="020B0604020202020204" pitchFamily="34" charset="0"/>
                <a:cs typeface="Arial" panose="020B0604020202020204" pitchFamily="34" charset="0"/>
              </a:rPr>
              <a:t>A prompt is the instruction or question you give to Copilot to get a response.</a:t>
            </a:r>
          </a:p>
          <a:p>
            <a:pPr>
              <a:spcBef>
                <a:spcPts val="0"/>
              </a:spcBef>
              <a:spcAft>
                <a:spcPts val="800"/>
              </a:spcAft>
            </a:pPr>
            <a:r>
              <a:rPr lang="en-US" sz="1800" dirty="0">
                <a:latin typeface="Arial" panose="020B0604020202020204" pitchFamily="34" charset="0"/>
                <a:cs typeface="Arial" panose="020B0604020202020204" pitchFamily="34" charset="0"/>
              </a:rPr>
              <a:t>Good prompts are clear, specific, and provide sufficient context for the AI.</a:t>
            </a:r>
          </a:p>
          <a:p>
            <a:pPr>
              <a:spcBef>
                <a:spcPts val="0"/>
              </a:spcBef>
              <a:spcAft>
                <a:spcPts val="800"/>
              </a:spcAft>
            </a:pPr>
            <a:r>
              <a:rPr lang="en-US" sz="1800" dirty="0">
                <a:latin typeface="Arial" panose="020B0604020202020204" pitchFamily="34" charset="0"/>
                <a:cs typeface="Arial" panose="020B0604020202020204" pitchFamily="34" charset="0"/>
              </a:rPr>
              <a:t>Poor prompts are vague, too broad, or lack the necessary details for quality output.</a:t>
            </a:r>
          </a:p>
          <a:p>
            <a:pPr>
              <a:spcBef>
                <a:spcPts val="0"/>
              </a:spcBef>
              <a:spcAft>
                <a:spcPts val="800"/>
              </a:spcAft>
            </a:pPr>
            <a:r>
              <a:rPr lang="en-US" sz="1800" dirty="0">
                <a:latin typeface="Arial" panose="020B0604020202020204" pitchFamily="34" charset="0"/>
                <a:cs typeface="Arial" panose="020B0604020202020204" pitchFamily="34" charset="0"/>
              </a:rPr>
              <a:t>Iteration is a normal part of the process where you refine your prompt based on initial results.</a:t>
            </a: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5" name="Group 4">
            <a:extLst>
              <a:ext uri="{FF2B5EF4-FFF2-40B4-BE49-F238E27FC236}">
                <a16:creationId xmlns:a16="http://schemas.microsoft.com/office/drawing/2014/main" id="{601D4E1A-0DFE-8B52-7E43-5ABB1879C5F4}"/>
              </a:ext>
            </a:extLst>
          </p:cNvPr>
          <p:cNvGrpSpPr/>
          <p:nvPr/>
        </p:nvGrpSpPr>
        <p:grpSpPr>
          <a:xfrm>
            <a:off x="0" y="6248400"/>
            <a:ext cx="12192000" cy="369425"/>
            <a:chOff x="0" y="6248400"/>
            <a:chExt cx="12192000" cy="369425"/>
          </a:xfrm>
        </p:grpSpPr>
        <p:sp>
          <p:nvSpPr>
            <p:cNvPr id="7" name="TextBox 6">
              <a:extLst>
                <a:ext uri="{FF2B5EF4-FFF2-40B4-BE49-F238E27FC236}">
                  <a16:creationId xmlns:a16="http://schemas.microsoft.com/office/drawing/2014/main" id="{53D5C61B-F8AF-6D5F-AD9D-C34C6DB7688D}"/>
                </a:ext>
              </a:extLst>
            </p:cNvPr>
            <p:cNvSpPr txBox="1"/>
            <p:nvPr/>
          </p:nvSpPr>
          <p:spPr>
            <a:xfrm>
              <a:off x="419655" y="6310048"/>
              <a:ext cx="5710218" cy="307777"/>
            </a:xfrm>
            <a:prstGeom prst="rect">
              <a:avLst/>
            </a:prstGeom>
            <a:noFill/>
          </p:spPr>
          <p:txBody>
            <a:bodyPr wrap="none" rtlCol="0">
              <a:spAutoFit/>
            </a:bodyPr>
            <a:lstStyle/>
            <a:p>
              <a:r>
                <a:rPr lang="en-US" sz="1400" b="1" dirty="0">
                  <a:solidFill>
                    <a:srgbClr val="0000FF"/>
                  </a:solidFill>
                  <a:latin typeface="Arial" panose="020B0604020202020204" pitchFamily="34" charset="0"/>
                  <a:cs typeface="Arial" panose="020B0604020202020204" pitchFamily="34" charset="0"/>
                </a:rPr>
                <a:t>Source: </a:t>
              </a:r>
              <a:r>
                <a:rPr lang="en-US" sz="1400" dirty="0">
                  <a:solidFill>
                    <a:srgbClr val="0000FF"/>
                  </a:solidFill>
                  <a:latin typeface="Arial" panose="020B0604020202020204" pitchFamily="34" charset="0"/>
                  <a:cs typeface="Arial" panose="020B0604020202020204" pitchFamily="34" charset="0"/>
                </a:rPr>
                <a:t>https://miro.medium.com/1*JHh_d-exwA5NSaJZVCjQzg.png</a:t>
              </a:r>
            </a:p>
          </p:txBody>
        </p:sp>
        <p:cxnSp>
          <p:nvCxnSpPr>
            <p:cNvPr id="9" name="Straight Connector 8">
              <a:extLst>
                <a:ext uri="{FF2B5EF4-FFF2-40B4-BE49-F238E27FC236}">
                  <a16:creationId xmlns:a16="http://schemas.microsoft.com/office/drawing/2014/main" id="{06D50C82-FFA3-3BA2-C15A-244CAB209789}"/>
                </a:ext>
              </a:extLst>
            </p:cNvPr>
            <p:cNvCxnSpPr/>
            <p:nvPr/>
          </p:nvCxnSpPr>
          <p:spPr>
            <a:xfrm>
              <a:off x="0" y="6248400"/>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8" name="Picture 2" descr="The Art of Prompt Engineering. Turning AI from Tool to Teammate | by Anon  hossain | Medium"/>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80234" y="1932223"/>
            <a:ext cx="5399999" cy="36000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8986147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285750" y="740737"/>
            <a:ext cx="67056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a:solidFill>
                  <a:srgbClr val="002060"/>
                </a:solidFill>
                <a:latin typeface="Arial" panose="020B0604020202020204" pitchFamily="34" charset="0"/>
                <a:cs typeface="Arial" panose="020B0604020202020204" pitchFamily="34" charset="0"/>
              </a:rPr>
              <a:t>Example Prompts – Good vs. Poor</a:t>
            </a:r>
          </a:p>
        </p:txBody>
      </p:sp>
      <p:sp>
        <p:nvSpPr>
          <p:cNvPr id="2" name="Text Placeholder 4">
            <a:extLst>
              <a:ext uri="{FF2B5EF4-FFF2-40B4-BE49-F238E27FC236}">
                <a16:creationId xmlns:a16="http://schemas.microsoft.com/office/drawing/2014/main" id="{9835D79F-345C-6435-F4A9-FE2A9E806174}"/>
              </a:ext>
            </a:extLst>
          </p:cNvPr>
          <p:cNvSpPr txBox="1">
            <a:spLocks/>
          </p:cNvSpPr>
          <p:nvPr/>
        </p:nvSpPr>
        <p:spPr>
          <a:xfrm>
            <a:off x="390525" y="1475023"/>
            <a:ext cx="5811058" cy="4114800"/>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a:spcBef>
                <a:spcPts val="0"/>
              </a:spcBef>
              <a:spcAft>
                <a:spcPts val="800"/>
              </a:spcAft>
            </a:pPr>
            <a:r>
              <a:rPr lang="en-US" sz="1800" dirty="0">
                <a:latin typeface="Arial" panose="020B0604020202020204" pitchFamily="34" charset="0"/>
                <a:cs typeface="Arial" panose="020B0604020202020204" pitchFamily="34" charset="0"/>
              </a:rPr>
              <a:t>Enter the content here</a:t>
            </a: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5" name="Group 4">
            <a:extLst>
              <a:ext uri="{FF2B5EF4-FFF2-40B4-BE49-F238E27FC236}">
                <a16:creationId xmlns:a16="http://schemas.microsoft.com/office/drawing/2014/main" id="{601D4E1A-0DFE-8B52-7E43-5ABB1879C5F4}"/>
              </a:ext>
            </a:extLst>
          </p:cNvPr>
          <p:cNvGrpSpPr/>
          <p:nvPr/>
        </p:nvGrpSpPr>
        <p:grpSpPr>
          <a:xfrm>
            <a:off x="0" y="6248400"/>
            <a:ext cx="12192000" cy="369425"/>
            <a:chOff x="0" y="6248400"/>
            <a:chExt cx="12192000" cy="369425"/>
          </a:xfrm>
        </p:grpSpPr>
        <p:sp>
          <p:nvSpPr>
            <p:cNvPr id="7" name="TextBox 6">
              <a:extLst>
                <a:ext uri="{FF2B5EF4-FFF2-40B4-BE49-F238E27FC236}">
                  <a16:creationId xmlns:a16="http://schemas.microsoft.com/office/drawing/2014/main" id="{53D5C61B-F8AF-6D5F-AD9D-C34C6DB7688D}"/>
                </a:ext>
              </a:extLst>
            </p:cNvPr>
            <p:cNvSpPr txBox="1"/>
            <p:nvPr/>
          </p:nvSpPr>
          <p:spPr>
            <a:xfrm>
              <a:off x="419655" y="6310048"/>
              <a:ext cx="851515" cy="307777"/>
            </a:xfrm>
            <a:prstGeom prst="rect">
              <a:avLst/>
            </a:prstGeom>
            <a:noFill/>
          </p:spPr>
          <p:txBody>
            <a:bodyPr wrap="none" rtlCol="0">
              <a:spAutoFit/>
            </a:bodyPr>
            <a:lstStyle/>
            <a:p>
              <a:r>
                <a:rPr lang="en-US" sz="1400" b="1" dirty="0" smtClean="0">
                  <a:solidFill>
                    <a:srgbClr val="0000FF"/>
                  </a:solidFill>
                  <a:latin typeface="Arial" panose="020B0604020202020204" pitchFamily="34" charset="0"/>
                  <a:cs typeface="Arial" panose="020B0604020202020204" pitchFamily="34" charset="0"/>
                </a:rPr>
                <a:t>Source:</a:t>
              </a:r>
              <a:endParaRPr lang="en-US" sz="1400" dirty="0">
                <a:solidFill>
                  <a:srgbClr val="0000FF"/>
                </a:solidFill>
                <a:latin typeface="Arial" panose="020B0604020202020204" pitchFamily="34" charset="0"/>
                <a:cs typeface="Arial" panose="020B0604020202020204" pitchFamily="34" charset="0"/>
              </a:endParaRPr>
            </a:p>
          </p:txBody>
        </p:sp>
        <p:cxnSp>
          <p:nvCxnSpPr>
            <p:cNvPr id="9" name="Straight Connector 8">
              <a:extLst>
                <a:ext uri="{FF2B5EF4-FFF2-40B4-BE49-F238E27FC236}">
                  <a16:creationId xmlns:a16="http://schemas.microsoft.com/office/drawing/2014/main" id="{06D50C82-FFA3-3BA2-C15A-244CAB209789}"/>
                </a:ext>
              </a:extLst>
            </p:cNvPr>
            <p:cNvCxnSpPr/>
            <p:nvPr/>
          </p:nvCxnSpPr>
          <p:spPr>
            <a:xfrm>
              <a:off x="0" y="6248400"/>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8" name="Diagram 7"/>
          <p:cNvGraphicFramePr/>
          <p:nvPr>
            <p:extLst>
              <p:ext uri="{D42A27DB-BD31-4B8C-83A1-F6EECF244321}">
                <p14:modId xmlns:p14="http://schemas.microsoft.com/office/powerpoint/2010/main" val="3070594375"/>
              </p:ext>
            </p:extLst>
          </p:nvPr>
        </p:nvGraphicFramePr>
        <p:xfrm>
          <a:off x="381000" y="2168455"/>
          <a:ext cx="3701143" cy="365985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1" name="Diagram 10"/>
          <p:cNvGraphicFramePr/>
          <p:nvPr>
            <p:extLst>
              <p:ext uri="{D42A27DB-BD31-4B8C-83A1-F6EECF244321}">
                <p14:modId xmlns:p14="http://schemas.microsoft.com/office/powerpoint/2010/main" val="1164301330"/>
              </p:ext>
            </p:extLst>
          </p:nvPr>
        </p:nvGraphicFramePr>
        <p:xfrm>
          <a:off x="4082143" y="2168455"/>
          <a:ext cx="3700800" cy="366120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aphicFrame>
        <p:nvGraphicFramePr>
          <p:cNvPr id="12" name="Diagram 11"/>
          <p:cNvGraphicFramePr/>
          <p:nvPr>
            <p:extLst>
              <p:ext uri="{D42A27DB-BD31-4B8C-83A1-F6EECF244321}">
                <p14:modId xmlns:p14="http://schemas.microsoft.com/office/powerpoint/2010/main" val="853046447"/>
              </p:ext>
            </p:extLst>
          </p:nvPr>
        </p:nvGraphicFramePr>
        <p:xfrm>
          <a:off x="8055429" y="2167782"/>
          <a:ext cx="3700800" cy="3661200"/>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spTree>
    <p:custDataLst>
      <p:tags r:id="rId1"/>
    </p:custDataLst>
    <p:extLst>
      <p:ext uri="{BB962C8B-B14F-4D97-AF65-F5344CB8AC3E}">
        <p14:creationId xmlns:p14="http://schemas.microsoft.com/office/powerpoint/2010/main" val="26666653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292604" y="750262"/>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a:solidFill>
                  <a:srgbClr val="002060"/>
                </a:solidFill>
                <a:latin typeface="Arial" panose="020B0604020202020204" pitchFamily="34" charset="0"/>
                <a:cs typeface="Arial" panose="020B0604020202020204" pitchFamily="34" charset="0"/>
              </a:rPr>
              <a:t>Lab Activity</a:t>
            </a:r>
          </a:p>
          <a:p>
            <a:pPr algn="l"/>
            <a:endParaRPr lang="en-US" sz="2200" b="1" dirty="0">
              <a:solidFill>
                <a:srgbClr val="002060"/>
              </a:solidFill>
              <a:latin typeface="Arial" panose="020B0604020202020204" pitchFamily="34" charset="0"/>
              <a:cs typeface="Arial" panose="020B0604020202020204" pitchFamily="34" charset="0"/>
            </a:endParaRP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6" name="Rectangle 15">
            <a:extLst>
              <a:ext uri="{FF2B5EF4-FFF2-40B4-BE49-F238E27FC236}">
                <a16:creationId xmlns:a16="http://schemas.microsoft.com/office/drawing/2014/main" id="{678622E6-5B75-0274-BD0E-07E563387839}"/>
              </a:ext>
            </a:extLst>
          </p:cNvPr>
          <p:cNvSpPr/>
          <p:nvPr/>
        </p:nvSpPr>
        <p:spPr>
          <a:xfrm>
            <a:off x="457200" y="4114800"/>
            <a:ext cx="11734800" cy="2133600"/>
          </a:xfrm>
          <a:prstGeom prst="rect">
            <a:avLst/>
          </a:prstGeom>
          <a:solidFill>
            <a:srgbClr val="FCF3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2489689F-36E7-7881-4C3C-185362691848}"/>
              </a:ext>
            </a:extLst>
          </p:cNvPr>
          <p:cNvGrpSpPr/>
          <p:nvPr/>
        </p:nvGrpSpPr>
        <p:grpSpPr>
          <a:xfrm>
            <a:off x="8305800" y="685800"/>
            <a:ext cx="2971800" cy="4370614"/>
            <a:chOff x="8305800" y="685800"/>
            <a:chExt cx="2971800" cy="4370614"/>
          </a:xfrm>
        </p:grpSpPr>
        <p:sp>
          <p:nvSpPr>
            <p:cNvPr id="23" name="Oval 22">
              <a:extLst>
                <a:ext uri="{FF2B5EF4-FFF2-40B4-BE49-F238E27FC236}">
                  <a16:creationId xmlns:a16="http://schemas.microsoft.com/office/drawing/2014/main" id="{FD346213-B0D6-CF00-9B16-D6C17090298F}"/>
                </a:ext>
              </a:extLst>
            </p:cNvPr>
            <p:cNvSpPr/>
            <p:nvPr/>
          </p:nvSpPr>
          <p:spPr>
            <a:xfrm>
              <a:off x="8305800" y="2084614"/>
              <a:ext cx="2971800" cy="29718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5BB74208-07C7-6E54-9B81-528E03AE5E0B}"/>
                </a:ext>
              </a:extLst>
            </p:cNvPr>
            <p:cNvGrpSpPr/>
            <p:nvPr/>
          </p:nvGrpSpPr>
          <p:grpSpPr>
            <a:xfrm>
              <a:off x="8458200" y="685800"/>
              <a:ext cx="2667000" cy="4136571"/>
              <a:chOff x="8534400" y="1426029"/>
              <a:chExt cx="2667000" cy="4136571"/>
            </a:xfrm>
          </p:grpSpPr>
          <p:sp>
            <p:nvSpPr>
              <p:cNvPr id="25" name="Oval 24">
                <a:extLst>
                  <a:ext uri="{FF2B5EF4-FFF2-40B4-BE49-F238E27FC236}">
                    <a16:creationId xmlns:a16="http://schemas.microsoft.com/office/drawing/2014/main" id="{7027A8E6-EC4C-1C2E-11BA-6D4DE4580AAB}"/>
                  </a:ext>
                </a:extLst>
              </p:cNvPr>
              <p:cNvSpPr/>
              <p:nvPr/>
            </p:nvSpPr>
            <p:spPr>
              <a:xfrm>
                <a:off x="8534400" y="2895600"/>
                <a:ext cx="2667000" cy="2667000"/>
              </a:xfrm>
              <a:prstGeom prst="ellipse">
                <a:avLst/>
              </a:prstGeom>
              <a:solidFill>
                <a:srgbClr val="F8E1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5">
                <a:extLst>
                  <a:ext uri="{FF2B5EF4-FFF2-40B4-BE49-F238E27FC236}">
                    <a16:creationId xmlns:a16="http://schemas.microsoft.com/office/drawing/2014/main" id="{1082C203-7F84-D183-4312-3AA35A15AAFA}"/>
                  </a:ext>
                </a:extLst>
              </p:cNvPr>
              <p:cNvSpPr/>
              <p:nvPr/>
            </p:nvSpPr>
            <p:spPr>
              <a:xfrm>
                <a:off x="8958121" y="1426029"/>
                <a:ext cx="1819559" cy="2342780"/>
              </a:xfrm>
              <a:custGeom>
                <a:avLst/>
                <a:gdLst/>
                <a:ahLst/>
                <a:cxnLst/>
                <a:rect l="l" t="t" r="r" b="b"/>
                <a:pathLst>
                  <a:path w="1819559" h="2342780">
                    <a:moveTo>
                      <a:pt x="0" y="0"/>
                    </a:moveTo>
                    <a:lnTo>
                      <a:pt x="1819559" y="0"/>
                    </a:lnTo>
                    <a:lnTo>
                      <a:pt x="1819559" y="2342780"/>
                    </a:lnTo>
                    <a:lnTo>
                      <a:pt x="0" y="234278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lang="en-US"/>
              </a:p>
            </p:txBody>
          </p:sp>
        </p:grpSp>
      </p:grpSp>
      <p:sp>
        <p:nvSpPr>
          <p:cNvPr id="28" name="Text Placeholder 4">
            <a:extLst>
              <a:ext uri="{FF2B5EF4-FFF2-40B4-BE49-F238E27FC236}">
                <a16:creationId xmlns:a16="http://schemas.microsoft.com/office/drawing/2014/main" id="{21B89CD7-B53D-C4BE-D409-15C0D13545AB}"/>
              </a:ext>
            </a:extLst>
          </p:cNvPr>
          <p:cNvSpPr txBox="1">
            <a:spLocks/>
          </p:cNvSpPr>
          <p:nvPr/>
        </p:nvSpPr>
        <p:spPr>
          <a:xfrm>
            <a:off x="762000" y="4419600"/>
            <a:ext cx="6172200" cy="369332"/>
          </a:xfrm>
          <a:prstGeom prst="rect">
            <a:avLst/>
          </a:prstGeom>
        </p:spPr>
        <p:txBody>
          <a:bodyPr wrap="square">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defTabSz="914400">
              <a:spcBef>
                <a:spcPts val="0"/>
              </a:spcBef>
              <a:spcAft>
                <a:spcPts val="800"/>
              </a:spcAft>
              <a:defRPr/>
            </a:pPr>
            <a:r>
              <a:rPr lang="en-US" sz="1800" b="1" dirty="0" smtClean="0">
                <a:latin typeface="Arial" panose="020B0604020202020204" pitchFamily="34" charset="0"/>
                <a:cs typeface="Arial" panose="020B0604020202020204" pitchFamily="34" charset="0"/>
              </a:rPr>
              <a:t>Lab 1.3</a:t>
            </a:r>
            <a:r>
              <a:rPr lang="en-US" sz="1800" b="1" dirty="0">
                <a:latin typeface="Arial" panose="020B0604020202020204" pitchFamily="34" charset="0"/>
                <a:cs typeface="Arial" panose="020B0604020202020204" pitchFamily="34" charset="0"/>
              </a:rPr>
              <a:t>:</a:t>
            </a:r>
            <a:r>
              <a:rPr lang="en-US" sz="1800" dirty="0">
                <a:latin typeface="Arial" panose="020B0604020202020204" pitchFamily="34" charset="0"/>
                <a:cs typeface="Arial" panose="020B0604020202020204" pitchFamily="34" charset="0"/>
              </a:rPr>
              <a:t> AI Automation in Excel</a:t>
            </a:r>
          </a:p>
        </p:txBody>
      </p:sp>
    </p:spTree>
    <p:custDataLst>
      <p:tags r:id="rId1"/>
    </p:custDataLst>
    <p:extLst>
      <p:ext uri="{BB962C8B-B14F-4D97-AF65-F5344CB8AC3E}">
        <p14:creationId xmlns:p14="http://schemas.microsoft.com/office/powerpoint/2010/main" val="23336410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292604" y="750262"/>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a:solidFill>
                  <a:srgbClr val="002060"/>
                </a:solidFill>
                <a:latin typeface="Arial" panose="020B0604020202020204" pitchFamily="34" charset="0"/>
                <a:cs typeface="Arial" panose="020B0604020202020204" pitchFamily="34" charset="0"/>
              </a:rPr>
              <a:t>Lab Activity</a:t>
            </a:r>
          </a:p>
          <a:p>
            <a:pPr algn="l"/>
            <a:endParaRPr lang="en-US" sz="2200" b="1" dirty="0">
              <a:solidFill>
                <a:srgbClr val="002060"/>
              </a:solidFill>
              <a:latin typeface="Arial" panose="020B0604020202020204" pitchFamily="34" charset="0"/>
              <a:cs typeface="Arial" panose="020B0604020202020204" pitchFamily="34" charset="0"/>
            </a:endParaRP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6" name="Rectangle 15">
            <a:extLst>
              <a:ext uri="{FF2B5EF4-FFF2-40B4-BE49-F238E27FC236}">
                <a16:creationId xmlns:a16="http://schemas.microsoft.com/office/drawing/2014/main" id="{678622E6-5B75-0274-BD0E-07E563387839}"/>
              </a:ext>
            </a:extLst>
          </p:cNvPr>
          <p:cNvSpPr/>
          <p:nvPr/>
        </p:nvSpPr>
        <p:spPr>
          <a:xfrm>
            <a:off x="457200" y="4114800"/>
            <a:ext cx="11734800" cy="2133600"/>
          </a:xfrm>
          <a:prstGeom prst="rect">
            <a:avLst/>
          </a:prstGeom>
          <a:solidFill>
            <a:srgbClr val="FCF3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2489689F-36E7-7881-4C3C-185362691848}"/>
              </a:ext>
            </a:extLst>
          </p:cNvPr>
          <p:cNvGrpSpPr/>
          <p:nvPr/>
        </p:nvGrpSpPr>
        <p:grpSpPr>
          <a:xfrm>
            <a:off x="8305800" y="685800"/>
            <a:ext cx="2971800" cy="4370614"/>
            <a:chOff x="8305800" y="685800"/>
            <a:chExt cx="2971800" cy="4370614"/>
          </a:xfrm>
        </p:grpSpPr>
        <p:sp>
          <p:nvSpPr>
            <p:cNvPr id="23" name="Oval 22">
              <a:extLst>
                <a:ext uri="{FF2B5EF4-FFF2-40B4-BE49-F238E27FC236}">
                  <a16:creationId xmlns:a16="http://schemas.microsoft.com/office/drawing/2014/main" id="{FD346213-B0D6-CF00-9B16-D6C17090298F}"/>
                </a:ext>
              </a:extLst>
            </p:cNvPr>
            <p:cNvSpPr/>
            <p:nvPr/>
          </p:nvSpPr>
          <p:spPr>
            <a:xfrm>
              <a:off x="8305800" y="2084614"/>
              <a:ext cx="2971800" cy="29718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5BB74208-07C7-6E54-9B81-528E03AE5E0B}"/>
                </a:ext>
              </a:extLst>
            </p:cNvPr>
            <p:cNvGrpSpPr/>
            <p:nvPr/>
          </p:nvGrpSpPr>
          <p:grpSpPr>
            <a:xfrm>
              <a:off x="8458200" y="685800"/>
              <a:ext cx="2667000" cy="4136571"/>
              <a:chOff x="8534400" y="1426029"/>
              <a:chExt cx="2667000" cy="4136571"/>
            </a:xfrm>
          </p:grpSpPr>
          <p:sp>
            <p:nvSpPr>
              <p:cNvPr id="25" name="Oval 24">
                <a:extLst>
                  <a:ext uri="{FF2B5EF4-FFF2-40B4-BE49-F238E27FC236}">
                    <a16:creationId xmlns:a16="http://schemas.microsoft.com/office/drawing/2014/main" id="{7027A8E6-EC4C-1C2E-11BA-6D4DE4580AAB}"/>
                  </a:ext>
                </a:extLst>
              </p:cNvPr>
              <p:cNvSpPr/>
              <p:nvPr/>
            </p:nvSpPr>
            <p:spPr>
              <a:xfrm>
                <a:off x="8534400" y="2895600"/>
                <a:ext cx="2667000" cy="2667000"/>
              </a:xfrm>
              <a:prstGeom prst="ellipse">
                <a:avLst/>
              </a:prstGeom>
              <a:solidFill>
                <a:srgbClr val="F8E1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5">
                <a:extLst>
                  <a:ext uri="{FF2B5EF4-FFF2-40B4-BE49-F238E27FC236}">
                    <a16:creationId xmlns:a16="http://schemas.microsoft.com/office/drawing/2014/main" id="{1082C203-7F84-D183-4312-3AA35A15AAFA}"/>
                  </a:ext>
                </a:extLst>
              </p:cNvPr>
              <p:cNvSpPr/>
              <p:nvPr/>
            </p:nvSpPr>
            <p:spPr>
              <a:xfrm>
                <a:off x="8958121" y="1426029"/>
                <a:ext cx="1819559" cy="2342780"/>
              </a:xfrm>
              <a:custGeom>
                <a:avLst/>
                <a:gdLst/>
                <a:ahLst/>
                <a:cxnLst/>
                <a:rect l="l" t="t" r="r" b="b"/>
                <a:pathLst>
                  <a:path w="1819559" h="2342780">
                    <a:moveTo>
                      <a:pt x="0" y="0"/>
                    </a:moveTo>
                    <a:lnTo>
                      <a:pt x="1819559" y="0"/>
                    </a:lnTo>
                    <a:lnTo>
                      <a:pt x="1819559" y="2342780"/>
                    </a:lnTo>
                    <a:lnTo>
                      <a:pt x="0" y="234278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lang="en-US"/>
              </a:p>
            </p:txBody>
          </p:sp>
        </p:grpSp>
      </p:grpSp>
      <p:sp>
        <p:nvSpPr>
          <p:cNvPr id="28" name="Text Placeholder 4">
            <a:extLst>
              <a:ext uri="{FF2B5EF4-FFF2-40B4-BE49-F238E27FC236}">
                <a16:creationId xmlns:a16="http://schemas.microsoft.com/office/drawing/2014/main" id="{21B89CD7-B53D-C4BE-D409-15C0D13545AB}"/>
              </a:ext>
            </a:extLst>
          </p:cNvPr>
          <p:cNvSpPr txBox="1">
            <a:spLocks/>
          </p:cNvSpPr>
          <p:nvPr/>
        </p:nvSpPr>
        <p:spPr>
          <a:xfrm>
            <a:off x="762000" y="4419600"/>
            <a:ext cx="6172200" cy="369332"/>
          </a:xfrm>
          <a:prstGeom prst="rect">
            <a:avLst/>
          </a:prstGeom>
        </p:spPr>
        <p:txBody>
          <a:bodyPr wrap="square">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defTabSz="914400">
              <a:spcBef>
                <a:spcPts val="0"/>
              </a:spcBef>
              <a:spcAft>
                <a:spcPts val="800"/>
              </a:spcAft>
              <a:defRPr/>
            </a:pPr>
            <a:r>
              <a:rPr lang="en-US" sz="1800" b="1" dirty="0" smtClean="0">
                <a:latin typeface="Arial" panose="020B0604020202020204" pitchFamily="34" charset="0"/>
                <a:cs typeface="Arial" panose="020B0604020202020204" pitchFamily="34" charset="0"/>
              </a:rPr>
              <a:t>Lab 1.4:</a:t>
            </a:r>
            <a:r>
              <a:rPr lang="en-US" sz="1800" dirty="0" smtClean="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Using Copilot in Excel</a:t>
            </a:r>
          </a:p>
        </p:txBody>
      </p:sp>
    </p:spTree>
    <p:custDataLst>
      <p:tags r:id="rId1"/>
    </p:custDataLst>
    <p:extLst>
      <p:ext uri="{BB962C8B-B14F-4D97-AF65-F5344CB8AC3E}">
        <p14:creationId xmlns:p14="http://schemas.microsoft.com/office/powerpoint/2010/main" val="15458700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302129" y="740737"/>
            <a:ext cx="117755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a:solidFill>
                  <a:srgbClr val="002060"/>
                </a:solidFill>
                <a:latin typeface="Arial" panose="020B0604020202020204" pitchFamily="34" charset="0"/>
                <a:cs typeface="Arial" panose="020B0604020202020204" pitchFamily="34" charset="0"/>
              </a:rPr>
              <a:t>Summary</a:t>
            </a:r>
          </a:p>
        </p:txBody>
      </p:sp>
      <p:sp>
        <p:nvSpPr>
          <p:cNvPr id="2" name="Text Placeholder 4">
            <a:extLst>
              <a:ext uri="{FF2B5EF4-FFF2-40B4-BE49-F238E27FC236}">
                <a16:creationId xmlns:a16="http://schemas.microsoft.com/office/drawing/2014/main" id="{976EDFFF-7E60-F4A2-ECDA-81CD89054335}"/>
              </a:ext>
            </a:extLst>
          </p:cNvPr>
          <p:cNvSpPr txBox="1">
            <a:spLocks/>
          </p:cNvSpPr>
          <p:nvPr/>
        </p:nvSpPr>
        <p:spPr>
          <a:xfrm>
            <a:off x="381000" y="1185356"/>
            <a:ext cx="5811058" cy="3691444"/>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spcBef>
                <a:spcPts val="0"/>
              </a:spcBef>
              <a:spcAft>
                <a:spcPts val="800"/>
              </a:spcAft>
              <a:buFont typeface="Arial" pitchFamily="34" charset="0"/>
              <a:buNone/>
            </a:pPr>
            <a:r>
              <a:rPr lang="en-US" sz="1800" b="1" dirty="0" smtClean="0">
                <a:latin typeface="Arial" panose="020B0604020202020204" pitchFamily="34" charset="0"/>
                <a:cs typeface="Arial" panose="020B0604020202020204" pitchFamily="34" charset="0"/>
              </a:rPr>
              <a:t>We learned </a:t>
            </a:r>
            <a:r>
              <a:rPr lang="en-US" sz="1800" b="1" dirty="0">
                <a:latin typeface="Arial" panose="020B0604020202020204" pitchFamily="34" charset="0"/>
                <a:cs typeface="Arial" panose="020B0604020202020204" pitchFamily="34" charset="0"/>
              </a:rPr>
              <a:t>in this Chapter:</a:t>
            </a:r>
          </a:p>
          <a:p>
            <a:pPr marL="228600" indent="-228600">
              <a:spcBef>
                <a:spcPts val="0"/>
              </a:spcBef>
              <a:spcAft>
                <a:spcPts val="800"/>
              </a:spcAft>
            </a:pPr>
            <a:r>
              <a:rPr lang="en-US" sz="1800" dirty="0">
                <a:latin typeface="Arial" panose="020B0604020202020204" pitchFamily="34" charset="0"/>
                <a:cs typeface="Arial" panose="020B0604020202020204" pitchFamily="34" charset="0"/>
              </a:rPr>
              <a:t>How to use Microsoft Excel for organizing data, performing calculations with formulas, and creating </a:t>
            </a:r>
            <a:r>
              <a:rPr lang="en-US" sz="1800" dirty="0" smtClean="0">
                <a:latin typeface="Arial" panose="020B0604020202020204" pitchFamily="34" charset="0"/>
                <a:cs typeface="Arial" panose="020B0604020202020204" pitchFamily="34" charset="0"/>
              </a:rPr>
              <a:t>charts.</a:t>
            </a:r>
            <a:endParaRPr lang="en-US" sz="1800" dirty="0">
              <a:latin typeface="Arial" panose="020B0604020202020204" pitchFamily="34" charset="0"/>
              <a:cs typeface="Arial" panose="020B0604020202020204" pitchFamily="34" charset="0"/>
            </a:endParaRPr>
          </a:p>
          <a:p>
            <a:pPr marL="228600" indent="-228600">
              <a:spcBef>
                <a:spcPts val="0"/>
              </a:spcBef>
              <a:spcAft>
                <a:spcPts val="800"/>
              </a:spcAft>
            </a:pPr>
            <a:r>
              <a:rPr lang="en-US" sz="1800" dirty="0">
                <a:latin typeface="Arial" panose="020B0604020202020204" pitchFamily="34" charset="0"/>
                <a:cs typeface="Arial" panose="020B0604020202020204" pitchFamily="34" charset="0"/>
              </a:rPr>
              <a:t>How to enter different types of </a:t>
            </a:r>
            <a:r>
              <a:rPr lang="en-US" sz="1800" dirty="0" smtClean="0">
                <a:latin typeface="Arial" panose="020B0604020202020204" pitchFamily="34" charset="0"/>
                <a:cs typeface="Arial" panose="020B0604020202020204" pitchFamily="34" charset="0"/>
              </a:rPr>
              <a:t>data and </a:t>
            </a:r>
            <a:r>
              <a:rPr lang="en-US" sz="1800" dirty="0">
                <a:latin typeface="Arial" panose="020B0604020202020204" pitchFamily="34" charset="0"/>
                <a:cs typeface="Arial" panose="020B0604020202020204" pitchFamily="34" charset="0"/>
              </a:rPr>
              <a:t>use basic </a:t>
            </a:r>
            <a:r>
              <a:rPr lang="en-US" sz="1800" dirty="0" smtClean="0">
                <a:latin typeface="Arial" panose="020B0604020202020204" pitchFamily="34" charset="0"/>
                <a:cs typeface="Arial" panose="020B0604020202020204" pitchFamily="34" charset="0"/>
              </a:rPr>
              <a:t>formulas to perform calculations</a:t>
            </a:r>
            <a:r>
              <a:rPr lang="en-US" sz="1800" dirty="0">
                <a:latin typeface="Arial" panose="020B0604020202020204" pitchFamily="34" charset="0"/>
                <a:cs typeface="Arial" panose="020B0604020202020204" pitchFamily="34" charset="0"/>
              </a:rPr>
              <a:t>.</a:t>
            </a:r>
          </a:p>
          <a:p>
            <a:pPr marL="228600" indent="-228600">
              <a:spcBef>
                <a:spcPts val="0"/>
              </a:spcBef>
              <a:spcAft>
                <a:spcPts val="800"/>
              </a:spcAft>
            </a:pPr>
            <a:r>
              <a:rPr lang="en-US" sz="1800" dirty="0" smtClean="0">
                <a:latin typeface="Arial" panose="020B0604020202020204" pitchFamily="34" charset="0"/>
                <a:cs typeface="Arial" panose="020B0604020202020204" pitchFamily="34" charset="0"/>
              </a:rPr>
              <a:t>How </a:t>
            </a:r>
            <a:r>
              <a:rPr lang="en-US" sz="1800" dirty="0">
                <a:latin typeface="Arial" panose="020B0604020202020204" pitchFamily="34" charset="0"/>
                <a:cs typeface="Arial" panose="020B0604020202020204" pitchFamily="34" charset="0"/>
              </a:rPr>
              <a:t>to sort and filter data to organize large </a:t>
            </a:r>
            <a:r>
              <a:rPr lang="en-US" sz="1800" dirty="0" smtClean="0">
                <a:latin typeface="Arial" panose="020B0604020202020204" pitchFamily="34" charset="0"/>
                <a:cs typeface="Arial" panose="020B0604020202020204" pitchFamily="34" charset="0"/>
              </a:rPr>
              <a:t>datasets.</a:t>
            </a:r>
            <a:endParaRPr lang="en-US" sz="1800" dirty="0">
              <a:latin typeface="Arial" panose="020B0604020202020204" pitchFamily="34" charset="0"/>
              <a:cs typeface="Arial" panose="020B0604020202020204" pitchFamily="34" charset="0"/>
            </a:endParaRPr>
          </a:p>
          <a:p>
            <a:pPr marL="228600" indent="-228600">
              <a:spcBef>
                <a:spcPts val="0"/>
              </a:spcBef>
              <a:spcAft>
                <a:spcPts val="800"/>
              </a:spcAft>
            </a:pPr>
            <a:r>
              <a:rPr lang="en-US" sz="1800" dirty="0">
                <a:latin typeface="Arial" panose="020B0604020202020204" pitchFamily="34" charset="0"/>
                <a:cs typeface="Arial" panose="020B0604020202020204" pitchFamily="34" charset="0"/>
              </a:rPr>
              <a:t>How to use conditional formatting to highlight important data and create </a:t>
            </a:r>
            <a:r>
              <a:rPr lang="en-US" sz="1800" dirty="0" smtClean="0">
                <a:latin typeface="Arial" panose="020B0604020202020204" pitchFamily="34" charset="0"/>
                <a:cs typeface="Arial" panose="020B0604020202020204" pitchFamily="34" charset="0"/>
              </a:rPr>
              <a:t>charts.</a:t>
            </a:r>
            <a:endParaRPr lang="en-US" sz="1800" dirty="0">
              <a:latin typeface="Arial" panose="020B0604020202020204" pitchFamily="34" charset="0"/>
              <a:cs typeface="Arial" panose="020B0604020202020204" pitchFamily="34" charset="0"/>
            </a:endParaRPr>
          </a:p>
          <a:p>
            <a:pPr marL="228600" indent="-228600">
              <a:spcBef>
                <a:spcPts val="0"/>
              </a:spcBef>
              <a:spcAft>
                <a:spcPts val="800"/>
              </a:spcAft>
            </a:pPr>
            <a:r>
              <a:rPr lang="en-US" sz="1800" dirty="0" smtClean="0">
                <a:latin typeface="Arial" panose="020B0604020202020204" pitchFamily="34" charset="0"/>
                <a:cs typeface="Arial" panose="020B0604020202020204" pitchFamily="34" charset="0"/>
              </a:rPr>
              <a:t>How </a:t>
            </a:r>
            <a:r>
              <a:rPr lang="en-US" sz="1800" dirty="0">
                <a:latin typeface="Arial" panose="020B0604020202020204" pitchFamily="34" charset="0"/>
                <a:cs typeface="Arial" panose="020B0604020202020204" pitchFamily="34" charset="0"/>
              </a:rPr>
              <a:t>to build pivot tables and pivot </a:t>
            </a:r>
            <a:r>
              <a:rPr lang="en-US" sz="1800" dirty="0" smtClean="0">
                <a:latin typeface="Arial" panose="020B0604020202020204" pitchFamily="34" charset="0"/>
                <a:cs typeface="Arial" panose="020B0604020202020204" pitchFamily="34" charset="0"/>
              </a:rPr>
              <a:t>charts.</a:t>
            </a:r>
            <a:endParaRPr lang="en-US" sz="1800" dirty="0">
              <a:latin typeface="Arial" panose="020B0604020202020204" pitchFamily="34" charset="0"/>
              <a:cs typeface="Arial" panose="020B0604020202020204" pitchFamily="34" charset="0"/>
            </a:endParaRPr>
          </a:p>
          <a:p>
            <a:pPr marL="228600" indent="-228600">
              <a:spcBef>
                <a:spcPts val="0"/>
              </a:spcBef>
              <a:spcAft>
                <a:spcPts val="800"/>
              </a:spcAft>
            </a:pPr>
            <a:r>
              <a:rPr lang="en-US" sz="1800" dirty="0" smtClean="0">
                <a:latin typeface="Arial" panose="020B0604020202020204" pitchFamily="34" charset="0"/>
                <a:cs typeface="Arial" panose="020B0604020202020204" pitchFamily="34" charset="0"/>
              </a:rPr>
              <a:t>How to use </a:t>
            </a:r>
            <a:r>
              <a:rPr lang="en-US" sz="1800" dirty="0">
                <a:latin typeface="Arial" panose="020B0604020202020204" pitchFamily="34" charset="0"/>
                <a:cs typeface="Arial" panose="020B0604020202020204" pitchFamily="34" charset="0"/>
              </a:rPr>
              <a:t>Microsoft </a:t>
            </a:r>
            <a:r>
              <a:rPr lang="en-US" sz="1800" dirty="0" smtClean="0">
                <a:latin typeface="Arial" panose="020B0604020202020204" pitchFamily="34" charset="0"/>
                <a:cs typeface="Arial" panose="020B0604020202020204" pitchFamily="34" charset="0"/>
              </a:rPr>
              <a:t>Copilot </a:t>
            </a:r>
            <a:r>
              <a:rPr lang="en-US" sz="1800" dirty="0">
                <a:latin typeface="Arial" panose="020B0604020202020204" pitchFamily="34" charset="0"/>
                <a:cs typeface="Arial" panose="020B0604020202020204" pitchFamily="34" charset="0"/>
              </a:rPr>
              <a:t>to help with Excel tasks, document writing, and data analysis.</a:t>
            </a:r>
          </a:p>
          <a:p>
            <a:pPr marL="228600" indent="-228600">
              <a:spcBef>
                <a:spcPts val="0"/>
              </a:spcBef>
              <a:spcAft>
                <a:spcPts val="800"/>
              </a:spcAft>
            </a:pPr>
            <a:r>
              <a:rPr lang="en-US" sz="1800" dirty="0" smtClean="0">
                <a:latin typeface="Arial" panose="020B0604020202020204" pitchFamily="34" charset="0"/>
                <a:cs typeface="Arial" panose="020B0604020202020204" pitchFamily="34" charset="0"/>
              </a:rPr>
              <a:t>How </a:t>
            </a:r>
            <a:r>
              <a:rPr lang="en-US" sz="1800" dirty="0">
                <a:latin typeface="Arial" panose="020B0604020202020204" pitchFamily="34" charset="0"/>
                <a:cs typeface="Arial" panose="020B0604020202020204" pitchFamily="34" charset="0"/>
              </a:rPr>
              <a:t>to combine Excel skills with Copilot to automate tasks, generate insights faster, and improve overall productivity in your work.</a:t>
            </a:r>
            <a:endParaRPr lang="en-US" sz="1800" dirty="0">
              <a:latin typeface="Arial" panose="020B0604020202020204" pitchFamily="34" charset="0"/>
              <a:cs typeface="Arial" panose="020B0604020202020204" pitchFamily="34" charset="0"/>
            </a:endParaRPr>
          </a:p>
        </p:txBody>
      </p:sp>
      <p:sp>
        <p:nvSpPr>
          <p:cNvPr id="3" name="Freeform 2">
            <a:extLst>
              <a:ext uri="{FF2B5EF4-FFF2-40B4-BE49-F238E27FC236}">
                <a16:creationId xmlns:a16="http://schemas.microsoft.com/office/drawing/2014/main" id="{C603D4E8-9BAA-B8B5-0D8A-9F11B05FF385}"/>
              </a:ext>
            </a:extLst>
          </p:cNvPr>
          <p:cNvSpPr/>
          <p:nvPr/>
        </p:nvSpPr>
        <p:spPr>
          <a:xfrm>
            <a:off x="6858000" y="1447800"/>
            <a:ext cx="4478694" cy="4114800"/>
          </a:xfrm>
          <a:custGeom>
            <a:avLst/>
            <a:gdLst/>
            <a:ahLst/>
            <a:cxnLst/>
            <a:rect l="l" t="t" r="r" b="b"/>
            <a:pathLst>
              <a:path w="4478694" h="4114800">
                <a:moveTo>
                  <a:pt x="0" y="0"/>
                </a:moveTo>
                <a:lnTo>
                  <a:pt x="4478694" y="0"/>
                </a:lnTo>
                <a:lnTo>
                  <a:pt x="4478694"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Tree>
    <p:custDataLst>
      <p:tags r:id="rId1"/>
    </p:custDataLst>
    <p:extLst>
      <p:ext uri="{BB962C8B-B14F-4D97-AF65-F5344CB8AC3E}">
        <p14:creationId xmlns:p14="http://schemas.microsoft.com/office/powerpoint/2010/main" val="2832016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295275" y="750262"/>
            <a:ext cx="111252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a:solidFill>
                  <a:srgbClr val="002060"/>
                </a:solidFill>
                <a:latin typeface="Arial" panose="020B0604020202020204" pitchFamily="34" charset="0"/>
                <a:cs typeface="Arial" panose="020B0604020202020204" pitchFamily="34" charset="0"/>
              </a:rPr>
              <a:t>Reference</a:t>
            </a:r>
          </a:p>
        </p:txBody>
      </p:sp>
      <p:sp>
        <p:nvSpPr>
          <p:cNvPr id="8" name="Text Placeholder 4">
            <a:extLst>
              <a:ext uri="{FF2B5EF4-FFF2-40B4-BE49-F238E27FC236}">
                <a16:creationId xmlns:a16="http://schemas.microsoft.com/office/drawing/2014/main" id="{8FB8E816-E868-A86A-9AC1-52D61C79325A}"/>
              </a:ext>
            </a:extLst>
          </p:cNvPr>
          <p:cNvSpPr txBox="1">
            <a:spLocks/>
          </p:cNvSpPr>
          <p:nvPr/>
        </p:nvSpPr>
        <p:spPr>
          <a:xfrm>
            <a:off x="295275" y="1143862"/>
            <a:ext cx="11297458" cy="3223550"/>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342900" lvl="0" indent="-342900">
              <a:lnSpc>
                <a:spcPct val="107000"/>
              </a:lnSpc>
              <a:spcAft>
                <a:spcPts val="0"/>
              </a:spcAft>
              <a:buFont typeface="Symbol" panose="05050102010706020507" pitchFamily="18" charset="2"/>
              <a:buChar char=""/>
            </a:pPr>
            <a:r>
              <a:rPr lang="en-IN" sz="1800" dirty="0" smtClean="0">
                <a:latin typeface="Arial" panose="020B0604020202020204" pitchFamily="34" charset="0"/>
                <a:ea typeface="Calibri" panose="020F0502020204030204" pitchFamily="34" charset="0"/>
                <a:cs typeface="Gautami"/>
                <a:hlinkClick r:id="rId3"/>
              </a:rPr>
              <a:t>https</a:t>
            </a:r>
            <a:r>
              <a:rPr lang="en-IN" sz="1800" dirty="0">
                <a:latin typeface="Arial" panose="020B0604020202020204" pitchFamily="34" charset="0"/>
                <a:ea typeface="Calibri" panose="020F0502020204030204" pitchFamily="34" charset="0"/>
                <a:cs typeface="Gautami"/>
                <a:hlinkClick r:id="rId3"/>
              </a:rPr>
              <a:t>://support.microsoft.com/en-us/office/create-a-chart-from-start-to-finish-0baf399e-dd61-4e18-8a73-b3fd5d5680c2</a:t>
            </a:r>
            <a:endParaRPr lang="en-IN" sz="1800" dirty="0">
              <a:latin typeface="Arial" panose="020B0604020202020204" pitchFamily="34" charset="0"/>
              <a:ea typeface="Calibri" panose="020F0502020204030204" pitchFamily="34" charset="0"/>
              <a:cs typeface="Gautami"/>
            </a:endParaRPr>
          </a:p>
          <a:p>
            <a:pPr marL="342900" lvl="0" indent="-342900">
              <a:lnSpc>
                <a:spcPct val="107000"/>
              </a:lnSpc>
              <a:spcAft>
                <a:spcPts val="0"/>
              </a:spcAft>
              <a:buFont typeface="Symbol" panose="05050102010706020507" pitchFamily="18" charset="2"/>
              <a:buChar char=""/>
            </a:pPr>
            <a:r>
              <a:rPr lang="en-IN" sz="1800" dirty="0" smtClean="0">
                <a:latin typeface="Arial" panose="020B0604020202020204" pitchFamily="34" charset="0"/>
                <a:ea typeface="Calibri" panose="020F0502020204030204" pitchFamily="34" charset="0"/>
                <a:cs typeface="Gautami"/>
                <a:hlinkClick r:id="rId4"/>
              </a:rPr>
              <a:t>https</a:t>
            </a:r>
            <a:r>
              <a:rPr lang="en-IN" sz="1800" dirty="0">
                <a:latin typeface="Arial" panose="020B0604020202020204" pitchFamily="34" charset="0"/>
                <a:ea typeface="Calibri" panose="020F0502020204030204" pitchFamily="34" charset="0"/>
                <a:cs typeface="Gautami"/>
                <a:hlinkClick r:id="rId4"/>
              </a:rPr>
              <a:t>://support.microsoft.com/en-us/office/create-a-pivottable-to-analyze-worksheet-data-a9a84538-bfe9-40a9-a8e9-f99134456576</a:t>
            </a:r>
            <a:endParaRPr lang="en-IN" sz="1800" dirty="0">
              <a:latin typeface="Arial" panose="020B0604020202020204" pitchFamily="34" charset="0"/>
              <a:ea typeface="Calibri" panose="020F0502020204030204" pitchFamily="34" charset="0"/>
              <a:cs typeface="Gautami"/>
            </a:endParaRPr>
          </a:p>
          <a:p>
            <a:pPr marL="342900" lvl="0" indent="-342900">
              <a:lnSpc>
                <a:spcPct val="107000"/>
              </a:lnSpc>
              <a:spcAft>
                <a:spcPts val="0"/>
              </a:spcAft>
              <a:buFont typeface="Symbol" panose="05050102010706020507" pitchFamily="18" charset="2"/>
              <a:buChar char=""/>
            </a:pPr>
            <a:r>
              <a:rPr lang="en-IN" sz="1800" dirty="0" smtClean="0">
                <a:latin typeface="Arial" panose="020B0604020202020204" pitchFamily="34" charset="0"/>
                <a:ea typeface="Calibri" panose="020F0502020204030204" pitchFamily="34" charset="0"/>
                <a:cs typeface="Gautami"/>
                <a:hlinkClick r:id="rId5"/>
              </a:rPr>
              <a:t>https</a:t>
            </a:r>
            <a:r>
              <a:rPr lang="en-IN" sz="1800" dirty="0">
                <a:latin typeface="Arial" panose="020B0604020202020204" pitchFamily="34" charset="0"/>
                <a:ea typeface="Calibri" panose="020F0502020204030204" pitchFamily="34" charset="0"/>
                <a:cs typeface="Gautami"/>
                <a:hlinkClick r:id="rId5"/>
              </a:rPr>
              <a:t>://edu.gcfglobal.org/en/excel/charts/1/</a:t>
            </a:r>
            <a:endParaRPr lang="en-IN" sz="1800" dirty="0">
              <a:latin typeface="Arial" panose="020B0604020202020204" pitchFamily="34" charset="0"/>
              <a:ea typeface="Calibri" panose="020F0502020204030204" pitchFamily="34" charset="0"/>
              <a:cs typeface="Gautami"/>
            </a:endParaRPr>
          </a:p>
          <a:p>
            <a:pPr marL="342900" lvl="0" indent="-342900">
              <a:lnSpc>
                <a:spcPct val="107000"/>
              </a:lnSpc>
              <a:spcAft>
                <a:spcPts val="0"/>
              </a:spcAft>
              <a:buFont typeface="Symbol" panose="05050102010706020507" pitchFamily="18" charset="2"/>
              <a:buChar char=""/>
            </a:pPr>
            <a:r>
              <a:rPr lang="en-IN" sz="1800" dirty="0" smtClean="0">
                <a:latin typeface="Arial" panose="020B0604020202020204" pitchFamily="34" charset="0"/>
                <a:ea typeface="Calibri" panose="020F0502020204030204" pitchFamily="34" charset="0"/>
                <a:cs typeface="Gautami"/>
                <a:hlinkClick r:id="rId6"/>
              </a:rPr>
              <a:t>https</a:t>
            </a:r>
            <a:r>
              <a:rPr lang="en-IN" sz="1800" dirty="0">
                <a:latin typeface="Arial" panose="020B0604020202020204" pitchFamily="34" charset="0"/>
                <a:ea typeface="Calibri" panose="020F0502020204030204" pitchFamily="34" charset="0"/>
                <a:cs typeface="Gautami"/>
                <a:hlinkClick r:id="rId6"/>
              </a:rPr>
              <a:t>://www.tutorialspoint.com/excel_charts/excel_pivotcharts.htm</a:t>
            </a:r>
            <a:endParaRPr lang="en-IN" sz="1800" dirty="0">
              <a:latin typeface="Arial" panose="020B0604020202020204" pitchFamily="34" charset="0"/>
              <a:ea typeface="Calibri" panose="020F0502020204030204" pitchFamily="34" charset="0"/>
              <a:cs typeface="Gautami"/>
            </a:endParaRPr>
          </a:p>
          <a:p>
            <a:pPr marL="342900" lvl="0" indent="-342900">
              <a:lnSpc>
                <a:spcPct val="107000"/>
              </a:lnSpc>
              <a:spcAft>
                <a:spcPts val="0"/>
              </a:spcAft>
              <a:buFont typeface="Symbol" panose="05050102010706020507" pitchFamily="18" charset="2"/>
              <a:buChar char=""/>
            </a:pPr>
            <a:r>
              <a:rPr lang="en-IN" sz="1800" dirty="0" smtClean="0">
                <a:latin typeface="Arial" panose="020B0604020202020204" pitchFamily="34" charset="0"/>
                <a:ea typeface="Calibri" panose="020F0502020204030204" pitchFamily="34" charset="0"/>
                <a:cs typeface="Gautami"/>
                <a:hlinkClick r:id="rId7"/>
              </a:rPr>
              <a:t>https</a:t>
            </a:r>
            <a:r>
              <a:rPr lang="en-IN" sz="1800" dirty="0">
                <a:latin typeface="Arial" panose="020B0604020202020204" pitchFamily="34" charset="0"/>
                <a:ea typeface="Calibri" panose="020F0502020204030204" pitchFamily="34" charset="0"/>
                <a:cs typeface="Gautami"/>
                <a:hlinkClick r:id="rId7"/>
              </a:rPr>
              <a:t>://www.geeksforgeeks.org/excel/top-5-excel-data-cleaning-techniques-to-know-in-2023/</a:t>
            </a:r>
            <a:endParaRPr lang="en-IN" sz="1800" dirty="0">
              <a:latin typeface="Arial" panose="020B0604020202020204" pitchFamily="34" charset="0"/>
              <a:ea typeface="Calibri" panose="020F0502020204030204" pitchFamily="34" charset="0"/>
              <a:cs typeface="Gautami"/>
            </a:endParaRPr>
          </a:p>
          <a:p>
            <a:pPr marL="342900" lvl="0" indent="-342900">
              <a:lnSpc>
                <a:spcPct val="107000"/>
              </a:lnSpc>
              <a:spcAft>
                <a:spcPts val="0"/>
              </a:spcAft>
              <a:buFont typeface="Symbol" panose="05050102010706020507" pitchFamily="18" charset="2"/>
              <a:buChar char=""/>
            </a:pPr>
            <a:r>
              <a:rPr lang="en-IN" sz="1800" dirty="0" smtClean="0">
                <a:latin typeface="Arial" panose="020B0604020202020204" pitchFamily="34" charset="0"/>
                <a:ea typeface="Calibri" panose="020F0502020204030204" pitchFamily="34" charset="0"/>
                <a:cs typeface="Gautami"/>
                <a:hlinkClick r:id="rId8"/>
              </a:rPr>
              <a:t>https</a:t>
            </a:r>
            <a:r>
              <a:rPr lang="en-IN" sz="1800" dirty="0">
                <a:latin typeface="Arial" panose="020B0604020202020204" pitchFamily="34" charset="0"/>
                <a:ea typeface="Calibri" panose="020F0502020204030204" pitchFamily="34" charset="0"/>
                <a:cs typeface="Gautami"/>
                <a:hlinkClick r:id="rId8"/>
              </a:rPr>
              <a:t>://www.excel-easy.com/examples/pivot-chart.html</a:t>
            </a:r>
            <a:endParaRPr lang="en-IN" sz="1800" dirty="0">
              <a:latin typeface="Arial" panose="020B0604020202020204" pitchFamily="34" charset="0"/>
              <a:ea typeface="Calibri" panose="020F0502020204030204" pitchFamily="34" charset="0"/>
              <a:cs typeface="Gautami"/>
            </a:endParaRPr>
          </a:p>
          <a:p>
            <a:pPr marL="342900" lvl="0" indent="-342900">
              <a:lnSpc>
                <a:spcPct val="107000"/>
              </a:lnSpc>
              <a:spcAft>
                <a:spcPts val="0"/>
              </a:spcAft>
              <a:buFont typeface="Symbol" panose="05050102010706020507" pitchFamily="18" charset="2"/>
              <a:buChar char=""/>
            </a:pPr>
            <a:r>
              <a:rPr lang="en-IN" sz="1800" dirty="0" smtClean="0">
                <a:latin typeface="Arial" panose="020B0604020202020204" pitchFamily="34" charset="0"/>
                <a:ea typeface="Calibri" panose="020F0502020204030204" pitchFamily="34" charset="0"/>
                <a:cs typeface="Gautami"/>
                <a:hlinkClick r:id="rId9"/>
              </a:rPr>
              <a:t>https</a:t>
            </a:r>
            <a:r>
              <a:rPr lang="en-IN" sz="1800" dirty="0">
                <a:latin typeface="Arial" panose="020B0604020202020204" pitchFamily="34" charset="0"/>
                <a:ea typeface="Calibri" panose="020F0502020204030204" pitchFamily="34" charset="0"/>
                <a:cs typeface="Gautami"/>
                <a:hlinkClick r:id="rId9"/>
              </a:rPr>
              <a:t>://corporatefinanceinstitute.com/resources/excel/advanced-excel-formulas-must-know/</a:t>
            </a:r>
            <a:endParaRPr lang="en-IN" sz="1800" dirty="0">
              <a:latin typeface="Arial" panose="020B0604020202020204" pitchFamily="34" charset="0"/>
              <a:ea typeface="Calibri" panose="020F0502020204030204" pitchFamily="34" charset="0"/>
              <a:cs typeface="Gautami"/>
            </a:endParaRPr>
          </a:p>
          <a:p>
            <a:pPr marL="342900" lvl="0" indent="-342900">
              <a:lnSpc>
                <a:spcPct val="107000"/>
              </a:lnSpc>
              <a:spcAft>
                <a:spcPts val="0"/>
              </a:spcAft>
              <a:buFont typeface="Symbol" panose="05050102010706020507" pitchFamily="18" charset="2"/>
              <a:buChar char=""/>
            </a:pPr>
            <a:r>
              <a:rPr lang="en-IN" sz="1800" dirty="0" smtClean="0">
                <a:latin typeface="Arial" panose="020B0604020202020204" pitchFamily="34" charset="0"/>
                <a:ea typeface="Calibri" panose="020F0502020204030204" pitchFamily="34" charset="0"/>
                <a:cs typeface="Gautami"/>
                <a:hlinkClick r:id="rId10"/>
              </a:rPr>
              <a:t>https</a:t>
            </a:r>
            <a:r>
              <a:rPr lang="en-IN" sz="1800" dirty="0">
                <a:latin typeface="Arial" panose="020B0604020202020204" pitchFamily="34" charset="0"/>
                <a:ea typeface="Calibri" panose="020F0502020204030204" pitchFamily="34" charset="0"/>
                <a:cs typeface="Gautami"/>
                <a:hlinkClick r:id="rId10"/>
              </a:rPr>
              <a:t>://support.microsoft.com/en-us/office/text-functions-reference-cccd86ad-547d-4ea9-a065-7bb697c2a56e</a:t>
            </a:r>
            <a:endParaRPr lang="en-IN" sz="1800" dirty="0">
              <a:latin typeface="Arial" panose="020B0604020202020204" pitchFamily="34" charset="0"/>
              <a:ea typeface="Calibri" panose="020F0502020204030204" pitchFamily="34" charset="0"/>
              <a:cs typeface="Gautami"/>
            </a:endParaRPr>
          </a:p>
          <a:p>
            <a:pPr marL="342900" lvl="0" indent="-342900">
              <a:lnSpc>
                <a:spcPct val="107000"/>
              </a:lnSpc>
              <a:spcAft>
                <a:spcPts val="0"/>
              </a:spcAft>
              <a:buFont typeface="Symbol" panose="05050102010706020507" pitchFamily="18" charset="2"/>
              <a:buChar char=""/>
            </a:pPr>
            <a:r>
              <a:rPr lang="en-IN" sz="1800" dirty="0" smtClean="0">
                <a:latin typeface="Arial" panose="020B0604020202020204" pitchFamily="34" charset="0"/>
                <a:ea typeface="Calibri" panose="020F0502020204030204" pitchFamily="34" charset="0"/>
                <a:cs typeface="Gautami"/>
                <a:hlinkClick r:id="rId11"/>
              </a:rPr>
              <a:t>https</a:t>
            </a:r>
            <a:r>
              <a:rPr lang="en-IN" sz="1800" dirty="0">
                <a:latin typeface="Arial" panose="020B0604020202020204" pitchFamily="34" charset="0"/>
                <a:ea typeface="Calibri" panose="020F0502020204030204" pitchFamily="34" charset="0"/>
                <a:cs typeface="Gautami"/>
                <a:hlinkClick r:id="rId11"/>
              </a:rPr>
              <a:t>://</a:t>
            </a:r>
            <a:r>
              <a:rPr lang="en-IN" sz="1800" dirty="0" smtClean="0">
                <a:latin typeface="Arial" panose="020B0604020202020204" pitchFamily="34" charset="0"/>
                <a:ea typeface="Calibri" panose="020F0502020204030204" pitchFamily="34" charset="0"/>
                <a:cs typeface="Gautami"/>
                <a:hlinkClick r:id="rId11"/>
              </a:rPr>
              <a:t>support.microsoft.com/en-us/office/top-ten-ways-to-clean-your-data-2844b620-677c-47a7-ac3e-c2e157d1db19</a:t>
            </a:r>
            <a:endParaRPr lang="en-IN" sz="1800" dirty="0" smtClean="0">
              <a:latin typeface="Arial" panose="020B0604020202020204" pitchFamily="34" charset="0"/>
              <a:ea typeface="Calibri" panose="020F0502020204030204" pitchFamily="34" charset="0"/>
              <a:cs typeface="Gautami"/>
            </a:endParaRPr>
          </a:p>
          <a:p>
            <a:pPr marL="342900" lvl="0" indent="-342900">
              <a:lnSpc>
                <a:spcPct val="107000"/>
              </a:lnSpc>
              <a:spcAft>
                <a:spcPts val="0"/>
              </a:spcAft>
              <a:buFont typeface="Symbol" panose="05050102010706020507" pitchFamily="18" charset="2"/>
              <a:buChar char=""/>
            </a:pPr>
            <a:r>
              <a:rPr lang="en-IN" sz="1800" dirty="0" smtClean="0">
                <a:latin typeface="Arial" panose="020B0604020202020204" pitchFamily="34" charset="0"/>
                <a:ea typeface="Calibri" panose="020F0502020204030204" pitchFamily="34" charset="0"/>
                <a:cs typeface="Gautami"/>
                <a:hlinkClick r:id="rId12"/>
              </a:rPr>
              <a:t>https</a:t>
            </a:r>
            <a:r>
              <a:rPr lang="en-IN" sz="1800" dirty="0">
                <a:latin typeface="Arial" panose="020B0604020202020204" pitchFamily="34" charset="0"/>
                <a:ea typeface="Calibri" panose="020F0502020204030204" pitchFamily="34" charset="0"/>
                <a:cs typeface="Gautami"/>
                <a:hlinkClick r:id="rId12"/>
              </a:rPr>
              <a:t>://www.thewallstreetschool.com/blog/understanding-text-functions-in-excel/</a:t>
            </a:r>
            <a:endParaRPr lang="en-IN" sz="1800" dirty="0">
              <a:latin typeface="Arial" panose="020B0604020202020204" pitchFamily="34" charset="0"/>
              <a:ea typeface="Calibri" panose="020F0502020204030204" pitchFamily="34" charset="0"/>
              <a:cs typeface="Gautami"/>
            </a:endParaRPr>
          </a:p>
          <a:p>
            <a:pPr marL="342900" lvl="0" indent="-342900">
              <a:lnSpc>
                <a:spcPct val="107000"/>
              </a:lnSpc>
              <a:spcAft>
                <a:spcPts val="0"/>
              </a:spcAft>
              <a:buFont typeface="Symbol" panose="05050102010706020507" pitchFamily="18" charset="2"/>
              <a:buChar char=""/>
            </a:pPr>
            <a:r>
              <a:rPr lang="en-IN" sz="1800" dirty="0" smtClean="0">
                <a:latin typeface="Arial" panose="020B0604020202020204" pitchFamily="34" charset="0"/>
                <a:ea typeface="Calibri" panose="020F0502020204030204" pitchFamily="34" charset="0"/>
                <a:cs typeface="Gautami"/>
                <a:hlinkClick r:id="rId13"/>
              </a:rPr>
              <a:t>https</a:t>
            </a:r>
            <a:r>
              <a:rPr lang="en-IN" sz="1800" dirty="0">
                <a:latin typeface="Arial" panose="020B0604020202020204" pitchFamily="34" charset="0"/>
                <a:ea typeface="Calibri" panose="020F0502020204030204" pitchFamily="34" charset="0"/>
                <a:cs typeface="Gautami"/>
                <a:hlinkClick r:id="rId13"/>
              </a:rPr>
              <a:t>://www.w3schools.com/excel/excel_formulas.php</a:t>
            </a:r>
            <a:endParaRPr lang="en-IN" sz="1800" dirty="0">
              <a:latin typeface="Arial" panose="020B0604020202020204" pitchFamily="34" charset="0"/>
              <a:ea typeface="Calibri" panose="020F0502020204030204" pitchFamily="34" charset="0"/>
              <a:cs typeface="Gautami"/>
            </a:endParaRPr>
          </a:p>
          <a:p>
            <a:pPr marL="342900" lvl="0" indent="-342900">
              <a:lnSpc>
                <a:spcPct val="107000"/>
              </a:lnSpc>
              <a:spcAft>
                <a:spcPts val="0"/>
              </a:spcAft>
              <a:buFont typeface="Symbol" panose="05050102010706020507" pitchFamily="18" charset="2"/>
              <a:buChar char=""/>
            </a:pPr>
            <a:r>
              <a:rPr lang="en-IN" sz="1800" dirty="0">
                <a:latin typeface="Arial" panose="020B0604020202020204" pitchFamily="34" charset="0"/>
                <a:ea typeface="Calibri" panose="020F0502020204030204" pitchFamily="34" charset="0"/>
                <a:cs typeface="Gautami"/>
                <a:hlinkClick r:id="rId14"/>
              </a:rPr>
              <a:t>https://www.geeksforgeeks.org/excel/pivot-tables-in-excel</a:t>
            </a:r>
            <a:r>
              <a:rPr lang="en-IN" sz="1800" dirty="0" smtClean="0">
                <a:latin typeface="Arial" panose="020B0604020202020204" pitchFamily="34" charset="0"/>
                <a:ea typeface="Calibri" panose="020F0502020204030204" pitchFamily="34" charset="0"/>
                <a:cs typeface="Gautami"/>
                <a:hlinkClick r:id="rId14"/>
              </a:rPr>
              <a:t>/</a:t>
            </a:r>
            <a:endParaRPr lang="en-IN" sz="1800" dirty="0" smtClean="0">
              <a:latin typeface="Arial" panose="020B0604020202020204" pitchFamily="34" charset="0"/>
              <a:ea typeface="Calibri" panose="020F0502020204030204" pitchFamily="34" charset="0"/>
              <a:cs typeface="Gautami"/>
            </a:endParaRPr>
          </a:p>
        </p:txBody>
      </p:sp>
    </p:spTree>
    <p:custDataLst>
      <p:tags r:id="rId1"/>
    </p:custDataLst>
    <p:extLst>
      <p:ext uri="{BB962C8B-B14F-4D97-AF65-F5344CB8AC3E}">
        <p14:creationId xmlns:p14="http://schemas.microsoft.com/office/powerpoint/2010/main" val="42683526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295275" y="750262"/>
            <a:ext cx="111252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a:solidFill>
                  <a:srgbClr val="002060"/>
                </a:solidFill>
                <a:latin typeface="Arial" panose="020B0604020202020204" pitchFamily="34" charset="0"/>
                <a:cs typeface="Arial" panose="020B0604020202020204" pitchFamily="34" charset="0"/>
              </a:rPr>
              <a:t>Reference</a:t>
            </a:r>
          </a:p>
        </p:txBody>
      </p:sp>
      <p:sp>
        <p:nvSpPr>
          <p:cNvPr id="8" name="Text Placeholder 4">
            <a:extLst>
              <a:ext uri="{FF2B5EF4-FFF2-40B4-BE49-F238E27FC236}">
                <a16:creationId xmlns:a16="http://schemas.microsoft.com/office/drawing/2014/main" id="{8FB8E816-E868-A86A-9AC1-52D61C79325A}"/>
              </a:ext>
            </a:extLst>
          </p:cNvPr>
          <p:cNvSpPr txBox="1">
            <a:spLocks/>
          </p:cNvSpPr>
          <p:nvPr/>
        </p:nvSpPr>
        <p:spPr>
          <a:xfrm>
            <a:off x="295275" y="1143862"/>
            <a:ext cx="11297458" cy="3223550"/>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342900" lvl="0" indent="-342900">
              <a:lnSpc>
                <a:spcPct val="107000"/>
              </a:lnSpc>
              <a:spcAft>
                <a:spcPts val="0"/>
              </a:spcAft>
              <a:buFont typeface="Symbol" panose="05050102010706020507" pitchFamily="18" charset="2"/>
              <a:buChar char=""/>
            </a:pPr>
            <a:r>
              <a:rPr lang="en-IN" sz="1800" dirty="0">
                <a:latin typeface="Arial" panose="020B0604020202020204" pitchFamily="34" charset="0"/>
                <a:ea typeface="Calibri" panose="020F0502020204030204" pitchFamily="34" charset="0"/>
                <a:cs typeface="Gautami"/>
                <a:hlinkClick r:id="rId3"/>
              </a:rPr>
              <a:t>https://</a:t>
            </a:r>
            <a:r>
              <a:rPr lang="en-IN" sz="1800" dirty="0" smtClean="0">
                <a:latin typeface="Arial" panose="020B0604020202020204" pitchFamily="34" charset="0"/>
                <a:ea typeface="Calibri" panose="020F0502020204030204" pitchFamily="34" charset="0"/>
                <a:cs typeface="Gautami"/>
                <a:hlinkClick r:id="rId3"/>
              </a:rPr>
              <a:t>support.microsoft.com/en-us/office/get-started-with-copilot-in-excel-d7110502-0334-4b4f-a175-a73abdfc118a</a:t>
            </a:r>
            <a:endParaRPr lang="en-IN" sz="1800" dirty="0" smtClean="0">
              <a:latin typeface="Arial" panose="020B0604020202020204" pitchFamily="34" charset="0"/>
              <a:ea typeface="Calibri" panose="020F0502020204030204" pitchFamily="34" charset="0"/>
              <a:cs typeface="Gautami"/>
            </a:endParaRPr>
          </a:p>
          <a:p>
            <a:pPr marL="342900" lvl="0" indent="-342900">
              <a:lnSpc>
                <a:spcPct val="107000"/>
              </a:lnSpc>
              <a:spcAft>
                <a:spcPts val="0"/>
              </a:spcAft>
              <a:buFont typeface="Symbol" panose="05050102010706020507" pitchFamily="18" charset="2"/>
              <a:buChar char=""/>
            </a:pPr>
            <a:r>
              <a:rPr lang="en-IN" sz="1800" dirty="0">
                <a:latin typeface="Arial" panose="020B0604020202020204" pitchFamily="34" charset="0"/>
                <a:ea typeface="Calibri" panose="020F0502020204030204" pitchFamily="34" charset="0"/>
                <a:cs typeface="Gautami"/>
                <a:hlinkClick r:id="rId4"/>
              </a:rPr>
              <a:t>https://</a:t>
            </a:r>
            <a:r>
              <a:rPr lang="en-IN" sz="1800" dirty="0" smtClean="0">
                <a:latin typeface="Arial" panose="020B0604020202020204" pitchFamily="34" charset="0"/>
                <a:ea typeface="Calibri" panose="020F0502020204030204" pitchFamily="34" charset="0"/>
                <a:cs typeface="Gautami"/>
                <a:hlinkClick r:id="rId4"/>
              </a:rPr>
              <a:t>www.computerworld.com/article/4119411/11-cool-things-copilot-can-do-in-excel.html</a:t>
            </a:r>
            <a:endParaRPr lang="en-IN" sz="1800" dirty="0" smtClean="0">
              <a:latin typeface="Arial" panose="020B0604020202020204" pitchFamily="34" charset="0"/>
              <a:ea typeface="Calibri" panose="020F0502020204030204" pitchFamily="34" charset="0"/>
              <a:cs typeface="Gautami"/>
            </a:endParaRPr>
          </a:p>
          <a:p>
            <a:pPr marL="342900" lvl="0" indent="-342900">
              <a:lnSpc>
                <a:spcPct val="107000"/>
              </a:lnSpc>
              <a:spcAft>
                <a:spcPts val="0"/>
              </a:spcAft>
              <a:buFont typeface="Symbol" panose="05050102010706020507" pitchFamily="18" charset="2"/>
              <a:buChar char=""/>
            </a:pPr>
            <a:r>
              <a:rPr lang="en-IN" sz="1800" dirty="0">
                <a:latin typeface="Arial" panose="020B0604020202020204" pitchFamily="34" charset="0"/>
                <a:ea typeface="Calibri" panose="020F0502020204030204" pitchFamily="34" charset="0"/>
                <a:cs typeface="Gautami"/>
                <a:hlinkClick r:id="rId5"/>
              </a:rPr>
              <a:t>https://learn.microsoft.com/en-us/copilot</a:t>
            </a:r>
            <a:r>
              <a:rPr lang="en-IN" sz="1800" dirty="0" smtClean="0">
                <a:latin typeface="Arial" panose="020B0604020202020204" pitchFamily="34" charset="0"/>
                <a:ea typeface="Calibri" panose="020F0502020204030204" pitchFamily="34" charset="0"/>
                <a:cs typeface="Gautami"/>
                <a:hlinkClick r:id="rId5"/>
              </a:rPr>
              <a:t>/</a:t>
            </a:r>
            <a:endParaRPr lang="en-IN" sz="1800" dirty="0">
              <a:latin typeface="Arial" panose="020B0604020202020204" pitchFamily="34" charset="0"/>
              <a:ea typeface="Calibri" panose="020F0502020204030204" pitchFamily="34" charset="0"/>
              <a:cs typeface="Gautami"/>
            </a:endParaRPr>
          </a:p>
        </p:txBody>
      </p:sp>
    </p:spTree>
    <p:custDataLst>
      <p:tags r:id="rId1"/>
    </p:custDataLst>
    <p:extLst>
      <p:ext uri="{BB962C8B-B14F-4D97-AF65-F5344CB8AC3E}">
        <p14:creationId xmlns:p14="http://schemas.microsoft.com/office/powerpoint/2010/main" val="15292809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2952749" y="1665112"/>
            <a:ext cx="6286502" cy="2395256"/>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0" b="1">
                <a:solidFill>
                  <a:srgbClr val="484F9E"/>
                </a:solidFill>
                <a:latin typeface="Arial" panose="020B0604020202020204" pitchFamily="34" charset="0"/>
                <a:cs typeface="Arial" panose="020B0604020202020204" pitchFamily="34" charset="0"/>
              </a:rPr>
              <a:t>QUIZ</a:t>
            </a:r>
          </a:p>
        </p:txBody>
      </p:sp>
      <p:sp>
        <p:nvSpPr>
          <p:cNvPr id="9" name="Title 3">
            <a:extLst>
              <a:ext uri="{FF2B5EF4-FFF2-40B4-BE49-F238E27FC236}">
                <a16:creationId xmlns:a16="http://schemas.microsoft.com/office/drawing/2014/main" id="{105F7530-0D39-06C4-D372-2B9649861D5D}"/>
              </a:ext>
            </a:extLst>
          </p:cNvPr>
          <p:cNvSpPr txBox="1">
            <a:spLocks/>
          </p:cNvSpPr>
          <p:nvPr/>
        </p:nvSpPr>
        <p:spPr>
          <a:xfrm>
            <a:off x="5253313" y="4308528"/>
            <a:ext cx="1881314"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600" b="1">
                <a:solidFill>
                  <a:srgbClr val="002060"/>
                </a:solidFill>
                <a:latin typeface="Arial" panose="020B0604020202020204" pitchFamily="34" charset="0"/>
                <a:cs typeface="Arial" panose="020B0604020202020204" pitchFamily="34" charset="0"/>
              </a:rPr>
              <a:t>Let’s Start</a:t>
            </a:r>
          </a:p>
        </p:txBody>
      </p:sp>
      <p:pic>
        <p:nvPicPr>
          <p:cNvPr id="8" name="Picture 7" descr="A cartoon of plants and flowers&#10;&#10;Description automatically generated">
            <a:extLst>
              <a:ext uri="{FF2B5EF4-FFF2-40B4-BE49-F238E27FC236}">
                <a16:creationId xmlns:a16="http://schemas.microsoft.com/office/drawing/2014/main" id="{4370FDC2-37FE-1078-8957-F74CF2D41C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9777" y="1295403"/>
            <a:ext cx="10212447" cy="4778828"/>
          </a:xfrm>
          <a:prstGeom prst="rect">
            <a:avLst/>
          </a:prstGeom>
        </p:spPr>
      </p:pic>
    </p:spTree>
    <p:extLst>
      <p:ext uri="{BB962C8B-B14F-4D97-AF65-F5344CB8AC3E}">
        <p14:creationId xmlns:p14="http://schemas.microsoft.com/office/powerpoint/2010/main" val="622800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58DE8C5-AD3A-E2A6-47DE-FD7F0A04BE7F}"/>
              </a:ext>
            </a:extLst>
          </p:cNvPr>
          <p:cNvGrpSpPr/>
          <p:nvPr/>
        </p:nvGrpSpPr>
        <p:grpSpPr>
          <a:xfrm rot="20804835">
            <a:off x="8105974" y="1314838"/>
            <a:ext cx="3032304" cy="4163210"/>
            <a:chOff x="5763589" y="866981"/>
            <a:chExt cx="2725091" cy="3741420"/>
          </a:xfrm>
        </p:grpSpPr>
        <p:pic>
          <p:nvPicPr>
            <p:cNvPr id="8" name="Picture 7" descr="A group of question marks&#10;&#10;Description automatically generated">
              <a:extLst>
                <a:ext uri="{FF2B5EF4-FFF2-40B4-BE49-F238E27FC236}">
                  <a16:creationId xmlns:a16="http://schemas.microsoft.com/office/drawing/2014/main" id="{52009D03-B2B0-B126-1674-DA8311D3C627}"/>
                </a:ext>
              </a:extLst>
            </p:cNvPr>
            <p:cNvPicPr>
              <a:picLocks noChangeAspect="1"/>
            </p:cNvPicPr>
            <p:nvPr/>
          </p:nvPicPr>
          <p:blipFill rotWithShape="1">
            <a:blip r:embed="rId3"/>
            <a:srcRect r="35860"/>
            <a:stretch/>
          </p:blipFill>
          <p:spPr>
            <a:xfrm>
              <a:off x="5763589" y="866981"/>
              <a:ext cx="2399746" cy="3741420"/>
            </a:xfrm>
            <a:prstGeom prst="rect">
              <a:avLst/>
            </a:prstGeom>
          </p:spPr>
        </p:pic>
        <p:sp>
          <p:nvSpPr>
            <p:cNvPr id="9" name="Rectangle 8">
              <a:extLst>
                <a:ext uri="{FF2B5EF4-FFF2-40B4-BE49-F238E27FC236}">
                  <a16:creationId xmlns:a16="http://schemas.microsoft.com/office/drawing/2014/main" id="{8F109B04-4735-E7FD-5B0C-5A10B230C533}"/>
                </a:ext>
              </a:extLst>
            </p:cNvPr>
            <p:cNvSpPr/>
            <p:nvPr/>
          </p:nvSpPr>
          <p:spPr>
            <a:xfrm>
              <a:off x="7749540" y="3276600"/>
              <a:ext cx="739140" cy="9999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grpSp>
      <p:pic>
        <p:nvPicPr>
          <p:cNvPr id="10" name="Picture 2" descr="Free vector question marks background">
            <a:extLst>
              <a:ext uri="{FF2B5EF4-FFF2-40B4-BE49-F238E27FC236}">
                <a16:creationId xmlns:a16="http://schemas.microsoft.com/office/drawing/2014/main" id="{581E641B-B0AF-BEFB-66C3-62201536FC54}"/>
              </a:ext>
            </a:extLst>
          </p:cNvPr>
          <p:cNvPicPr>
            <a:picLocks noChangeAspect="1" noChangeArrowheads="1"/>
          </p:cNvPicPr>
          <p:nvPr/>
        </p:nvPicPr>
        <p:blipFill rotWithShape="1">
          <a:blip r:embed="rId4">
            <a:alphaModFix amt="10000"/>
            <a:extLst>
              <a:ext uri="{28A0092B-C50C-407E-A947-70E740481C1C}">
                <a14:useLocalDpi xmlns:a14="http://schemas.microsoft.com/office/drawing/2010/main" val="0"/>
              </a:ext>
            </a:extLst>
          </a:blip>
          <a:srcRect b="27719"/>
          <a:stretch/>
        </p:blipFill>
        <p:spPr bwMode="auto">
          <a:xfrm>
            <a:off x="0" y="751247"/>
            <a:ext cx="12169100" cy="5859335"/>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61;g5fab984687_2_0">
            <a:extLst>
              <a:ext uri="{FF2B5EF4-FFF2-40B4-BE49-F238E27FC236}">
                <a16:creationId xmlns:a16="http://schemas.microsoft.com/office/drawing/2014/main" id="{0D5D7E4D-3C3E-5B6C-3D56-30E42ADA7828}"/>
              </a:ext>
            </a:extLst>
          </p:cNvPr>
          <p:cNvSpPr txBox="1">
            <a:spLocks/>
          </p:cNvSpPr>
          <p:nvPr/>
        </p:nvSpPr>
        <p:spPr>
          <a:xfrm>
            <a:off x="282878" y="723165"/>
            <a:ext cx="3907423" cy="4288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2200" b="1">
                <a:solidFill>
                  <a:srgbClr val="213163"/>
                </a:solidFill>
              </a:rPr>
              <a:t>Quiz</a:t>
            </a:r>
            <a:endParaRPr lang="en-US" sz="2200"/>
          </a:p>
        </p:txBody>
      </p:sp>
      <p:grpSp>
        <p:nvGrpSpPr>
          <p:cNvPr id="12" name="Group 11">
            <a:extLst>
              <a:ext uri="{FF2B5EF4-FFF2-40B4-BE49-F238E27FC236}">
                <a16:creationId xmlns:a16="http://schemas.microsoft.com/office/drawing/2014/main" id="{A3C729A3-A716-8B4A-7CF1-D80898FED2CA}"/>
              </a:ext>
            </a:extLst>
          </p:cNvPr>
          <p:cNvGrpSpPr/>
          <p:nvPr/>
        </p:nvGrpSpPr>
        <p:grpSpPr>
          <a:xfrm>
            <a:off x="1" y="5582921"/>
            <a:ext cx="12192000" cy="1107234"/>
            <a:chOff x="229036" y="4299585"/>
            <a:chExt cx="8640644" cy="623995"/>
          </a:xfrm>
        </p:grpSpPr>
        <p:sp>
          <p:nvSpPr>
            <p:cNvPr id="13" name="Rectangle 12">
              <a:extLst>
                <a:ext uri="{FF2B5EF4-FFF2-40B4-BE49-F238E27FC236}">
                  <a16:creationId xmlns:a16="http://schemas.microsoft.com/office/drawing/2014/main" id="{8A77CB77-EB9C-C37B-ED9F-64E5CEF1556F}"/>
                </a:ext>
              </a:extLst>
            </p:cNvPr>
            <p:cNvSpPr/>
            <p:nvPr/>
          </p:nvSpPr>
          <p:spPr>
            <a:xfrm>
              <a:off x="229036" y="4299585"/>
              <a:ext cx="8640644" cy="623995"/>
            </a:xfrm>
            <a:prstGeom prst="rect">
              <a:avLst/>
            </a:prstGeom>
            <a:solidFill>
              <a:srgbClr val="CDE0FF">
                <a:alpha val="59000"/>
              </a:srgb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TextBox 13">
              <a:extLst>
                <a:ext uri="{FF2B5EF4-FFF2-40B4-BE49-F238E27FC236}">
                  <a16:creationId xmlns:a16="http://schemas.microsoft.com/office/drawing/2014/main" id="{E1F0CCD2-56D3-6ED7-A4D2-DC293A4DECED}"/>
                </a:ext>
              </a:extLst>
            </p:cNvPr>
            <p:cNvSpPr txBox="1"/>
            <p:nvPr/>
          </p:nvSpPr>
          <p:spPr>
            <a:xfrm>
              <a:off x="429516" y="4386401"/>
              <a:ext cx="6851486" cy="450973"/>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IN" sz="2200" b="1" dirty="0">
                  <a:latin typeface="Arial"/>
                  <a:cs typeface="Arial"/>
                </a:rPr>
                <a:t>Answer: </a:t>
              </a:r>
              <a:r>
                <a:rPr lang="en-IN" sz="2200" b="1" dirty="0" smtClean="0">
                  <a:latin typeface="Arial"/>
                  <a:cs typeface="Arial"/>
                </a:rPr>
                <a:t>C</a:t>
              </a:r>
              <a:endParaRPr lang="en-IN" sz="2200" b="1" dirty="0">
                <a:latin typeface="Arial"/>
                <a:cs typeface="Arial"/>
              </a:endParaRPr>
            </a:p>
            <a:p>
              <a:r>
                <a:rPr lang="en-IN" sz="2200" b="1" dirty="0">
                  <a:latin typeface="Arial"/>
                  <a:cs typeface="Arial"/>
                </a:rPr>
                <a:t>=MAX(B2:B10)</a:t>
              </a:r>
              <a:endParaRPr lang="en-US" sz="2000" dirty="0">
                <a:latin typeface="Arial" panose="020B0604020202020204" pitchFamily="34" charset="0"/>
                <a:cs typeface="Arial" panose="020B0604020202020204" pitchFamily="34" charset="0"/>
              </a:endParaRPr>
            </a:p>
          </p:txBody>
        </p:sp>
      </p:grpSp>
      <p:sp>
        <p:nvSpPr>
          <p:cNvPr id="17" name="TextBox 16">
            <a:extLst>
              <a:ext uri="{FF2B5EF4-FFF2-40B4-BE49-F238E27FC236}">
                <a16:creationId xmlns:a16="http://schemas.microsoft.com/office/drawing/2014/main" id="{F67DEA04-9A38-2BC5-6A24-6F2AA4D4C1F4}"/>
              </a:ext>
            </a:extLst>
          </p:cNvPr>
          <p:cNvSpPr txBox="1"/>
          <p:nvPr/>
        </p:nvSpPr>
        <p:spPr>
          <a:xfrm>
            <a:off x="282878" y="1380927"/>
            <a:ext cx="6448763" cy="2575064"/>
          </a:xfrm>
          <a:prstGeom prst="rect">
            <a:avLst/>
          </a:prstGeom>
          <a:noFill/>
        </p:spPr>
        <p:txBody>
          <a:bodyPr wrap="square" lIns="121920" tIns="60960" rIns="121920" bIns="60960" rtlCol="0" anchor="t">
            <a:spAutoFit/>
          </a:bodyPr>
          <a:lstStyle/>
          <a:p>
            <a:pPr>
              <a:spcAft>
                <a:spcPts val="800"/>
              </a:spcAft>
            </a:pPr>
            <a:r>
              <a:rPr lang="en-US" b="1" dirty="0" smtClean="0">
                <a:latin typeface="Arial" panose="020B0604020202020204" pitchFamily="34" charset="0"/>
                <a:cs typeface="Arial" panose="020B0604020202020204" pitchFamily="34" charset="0"/>
              </a:rPr>
              <a:t>1. Which </a:t>
            </a:r>
            <a:r>
              <a:rPr lang="en-US" b="1" dirty="0">
                <a:latin typeface="Arial" panose="020B0604020202020204" pitchFamily="34" charset="0"/>
                <a:cs typeface="Arial" panose="020B0604020202020204" pitchFamily="34" charset="0"/>
              </a:rPr>
              <a:t>Excel formula would you use to find the highest marks in a range of cells B2 to B10?</a:t>
            </a:r>
          </a:p>
          <a:p>
            <a:pPr marL="342900" indent="-342900">
              <a:spcAft>
                <a:spcPts val="800"/>
              </a:spcAft>
              <a:buAutoNum type="alphaLcParenR"/>
            </a:pPr>
            <a:endParaRPr lang="en-US" b="1" dirty="0">
              <a:latin typeface="Arial" panose="020B0604020202020204" pitchFamily="34" charset="0"/>
              <a:cs typeface="Arial" panose="020B0604020202020204" pitchFamily="34" charset="0"/>
            </a:endParaRPr>
          </a:p>
          <a:p>
            <a:pPr marL="342900" indent="-342900">
              <a:spcAft>
                <a:spcPts val="800"/>
              </a:spcAft>
              <a:buFont typeface="+mj-lt"/>
              <a:buAutoNum type="alphaLcParenR"/>
            </a:pPr>
            <a:r>
              <a:rPr lang="en-US" dirty="0" smtClean="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SUM(B2:B10)</a:t>
            </a:r>
          </a:p>
          <a:p>
            <a:pPr marL="342900" indent="-342900">
              <a:spcAft>
                <a:spcPts val="800"/>
              </a:spcAft>
              <a:buFont typeface="+mj-lt"/>
              <a:buAutoNum type="alphaLcParenR"/>
            </a:pPr>
            <a:r>
              <a:rPr lang="en-US" dirty="0" smtClean="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AVERAGE(B2:B10)</a:t>
            </a:r>
          </a:p>
          <a:p>
            <a:pPr marL="342900" indent="-342900">
              <a:spcAft>
                <a:spcPts val="800"/>
              </a:spcAft>
              <a:buFont typeface="+mj-lt"/>
              <a:buAutoNum type="alphaLcParenR"/>
            </a:pPr>
            <a:r>
              <a:rPr lang="en-US" dirty="0" smtClean="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MAX(B2:B10)</a:t>
            </a:r>
          </a:p>
          <a:p>
            <a:pPr marL="342900" indent="-342900">
              <a:spcAft>
                <a:spcPts val="800"/>
              </a:spcAft>
              <a:buFont typeface="+mj-lt"/>
              <a:buAutoNum type="alphaLcParenR"/>
            </a:pPr>
            <a:r>
              <a:rPr lang="en-US" dirty="0" smtClean="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COUNT(B2:B10)</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76851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58DE8C5-AD3A-E2A6-47DE-FD7F0A04BE7F}"/>
              </a:ext>
            </a:extLst>
          </p:cNvPr>
          <p:cNvGrpSpPr/>
          <p:nvPr/>
        </p:nvGrpSpPr>
        <p:grpSpPr>
          <a:xfrm rot="20804835">
            <a:off x="8105974" y="1314838"/>
            <a:ext cx="3032304" cy="4163210"/>
            <a:chOff x="5763589" y="866981"/>
            <a:chExt cx="2725091" cy="3741420"/>
          </a:xfrm>
        </p:grpSpPr>
        <p:pic>
          <p:nvPicPr>
            <p:cNvPr id="8" name="Picture 7" descr="A group of question marks&#10;&#10;Description automatically generated">
              <a:extLst>
                <a:ext uri="{FF2B5EF4-FFF2-40B4-BE49-F238E27FC236}">
                  <a16:creationId xmlns:a16="http://schemas.microsoft.com/office/drawing/2014/main" id="{52009D03-B2B0-B126-1674-DA8311D3C627}"/>
                </a:ext>
              </a:extLst>
            </p:cNvPr>
            <p:cNvPicPr>
              <a:picLocks noChangeAspect="1"/>
            </p:cNvPicPr>
            <p:nvPr/>
          </p:nvPicPr>
          <p:blipFill rotWithShape="1">
            <a:blip r:embed="rId3"/>
            <a:srcRect r="35860"/>
            <a:stretch/>
          </p:blipFill>
          <p:spPr>
            <a:xfrm>
              <a:off x="5763589" y="866981"/>
              <a:ext cx="2399746" cy="3741420"/>
            </a:xfrm>
            <a:prstGeom prst="rect">
              <a:avLst/>
            </a:prstGeom>
          </p:spPr>
        </p:pic>
        <p:sp>
          <p:nvSpPr>
            <p:cNvPr id="9" name="Rectangle 8">
              <a:extLst>
                <a:ext uri="{FF2B5EF4-FFF2-40B4-BE49-F238E27FC236}">
                  <a16:creationId xmlns:a16="http://schemas.microsoft.com/office/drawing/2014/main" id="{8F109B04-4735-E7FD-5B0C-5A10B230C533}"/>
                </a:ext>
              </a:extLst>
            </p:cNvPr>
            <p:cNvSpPr/>
            <p:nvPr/>
          </p:nvSpPr>
          <p:spPr>
            <a:xfrm>
              <a:off x="7749540" y="3276600"/>
              <a:ext cx="739140" cy="9999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grpSp>
      <p:pic>
        <p:nvPicPr>
          <p:cNvPr id="10" name="Picture 2" descr="Free vector question marks background">
            <a:extLst>
              <a:ext uri="{FF2B5EF4-FFF2-40B4-BE49-F238E27FC236}">
                <a16:creationId xmlns:a16="http://schemas.microsoft.com/office/drawing/2014/main" id="{581E641B-B0AF-BEFB-66C3-62201536FC54}"/>
              </a:ext>
            </a:extLst>
          </p:cNvPr>
          <p:cNvPicPr>
            <a:picLocks noChangeAspect="1" noChangeArrowheads="1"/>
          </p:cNvPicPr>
          <p:nvPr/>
        </p:nvPicPr>
        <p:blipFill rotWithShape="1">
          <a:blip r:embed="rId4">
            <a:alphaModFix amt="10000"/>
            <a:extLst>
              <a:ext uri="{28A0092B-C50C-407E-A947-70E740481C1C}">
                <a14:useLocalDpi xmlns:a14="http://schemas.microsoft.com/office/drawing/2010/main" val="0"/>
              </a:ext>
            </a:extLst>
          </a:blip>
          <a:srcRect b="27719"/>
          <a:stretch/>
        </p:blipFill>
        <p:spPr bwMode="auto">
          <a:xfrm>
            <a:off x="0" y="751247"/>
            <a:ext cx="12169100" cy="5859335"/>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61;g5fab984687_2_0">
            <a:extLst>
              <a:ext uri="{FF2B5EF4-FFF2-40B4-BE49-F238E27FC236}">
                <a16:creationId xmlns:a16="http://schemas.microsoft.com/office/drawing/2014/main" id="{0D5D7E4D-3C3E-5B6C-3D56-30E42ADA7828}"/>
              </a:ext>
            </a:extLst>
          </p:cNvPr>
          <p:cNvSpPr txBox="1">
            <a:spLocks/>
          </p:cNvSpPr>
          <p:nvPr/>
        </p:nvSpPr>
        <p:spPr>
          <a:xfrm>
            <a:off x="282878" y="723165"/>
            <a:ext cx="3907423" cy="4288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2200" b="1">
                <a:solidFill>
                  <a:srgbClr val="213163"/>
                </a:solidFill>
              </a:rPr>
              <a:t>Quiz</a:t>
            </a:r>
            <a:endParaRPr lang="en-US" sz="2200"/>
          </a:p>
        </p:txBody>
      </p:sp>
      <p:grpSp>
        <p:nvGrpSpPr>
          <p:cNvPr id="12" name="Group 11">
            <a:extLst>
              <a:ext uri="{FF2B5EF4-FFF2-40B4-BE49-F238E27FC236}">
                <a16:creationId xmlns:a16="http://schemas.microsoft.com/office/drawing/2014/main" id="{A3C729A3-A716-8B4A-7CF1-D80898FED2CA}"/>
              </a:ext>
            </a:extLst>
          </p:cNvPr>
          <p:cNvGrpSpPr/>
          <p:nvPr/>
        </p:nvGrpSpPr>
        <p:grpSpPr>
          <a:xfrm>
            <a:off x="1" y="5582921"/>
            <a:ext cx="12192000" cy="1107234"/>
            <a:chOff x="229036" y="4299585"/>
            <a:chExt cx="8640644" cy="623995"/>
          </a:xfrm>
        </p:grpSpPr>
        <p:sp>
          <p:nvSpPr>
            <p:cNvPr id="13" name="Rectangle 12">
              <a:extLst>
                <a:ext uri="{FF2B5EF4-FFF2-40B4-BE49-F238E27FC236}">
                  <a16:creationId xmlns:a16="http://schemas.microsoft.com/office/drawing/2014/main" id="{8A77CB77-EB9C-C37B-ED9F-64E5CEF1556F}"/>
                </a:ext>
              </a:extLst>
            </p:cNvPr>
            <p:cNvSpPr/>
            <p:nvPr/>
          </p:nvSpPr>
          <p:spPr>
            <a:xfrm>
              <a:off x="229036" y="4299585"/>
              <a:ext cx="8640644" cy="623995"/>
            </a:xfrm>
            <a:prstGeom prst="rect">
              <a:avLst/>
            </a:prstGeom>
            <a:solidFill>
              <a:srgbClr val="CDE0FF">
                <a:alpha val="59000"/>
              </a:srgb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TextBox 13">
              <a:extLst>
                <a:ext uri="{FF2B5EF4-FFF2-40B4-BE49-F238E27FC236}">
                  <a16:creationId xmlns:a16="http://schemas.microsoft.com/office/drawing/2014/main" id="{E1F0CCD2-56D3-6ED7-A4D2-DC293A4DECED}"/>
                </a:ext>
              </a:extLst>
            </p:cNvPr>
            <p:cNvSpPr txBox="1"/>
            <p:nvPr/>
          </p:nvSpPr>
          <p:spPr>
            <a:xfrm>
              <a:off x="429516" y="4386401"/>
              <a:ext cx="7397886" cy="450973"/>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IN" sz="2200" b="1" dirty="0">
                  <a:latin typeface="Arial"/>
                  <a:cs typeface="Arial"/>
                </a:rPr>
                <a:t>Answer: </a:t>
              </a:r>
              <a:r>
                <a:rPr lang="en-IN" sz="2200" b="1" dirty="0" smtClean="0">
                  <a:latin typeface="Arial"/>
                  <a:cs typeface="Arial"/>
                </a:rPr>
                <a:t>B</a:t>
              </a:r>
              <a:endParaRPr lang="en-IN" sz="2200" b="1" dirty="0">
                <a:latin typeface="Arial"/>
                <a:cs typeface="Arial"/>
              </a:endParaRPr>
            </a:p>
            <a:p>
              <a:r>
                <a:rPr lang="en-US" sz="2200" b="1" dirty="0">
                  <a:latin typeface="Arial"/>
                  <a:cs typeface="Arial"/>
                </a:rPr>
                <a:t>Sorting permanently rearranges data while filtering temporarily hides rows</a:t>
              </a:r>
              <a:endParaRPr lang="en-US" sz="2000" b="1" dirty="0">
                <a:latin typeface="Arial" panose="020B0604020202020204" pitchFamily="34" charset="0"/>
                <a:cs typeface="Arial" panose="020B0604020202020204" pitchFamily="34" charset="0"/>
              </a:endParaRPr>
            </a:p>
          </p:txBody>
        </p:sp>
      </p:grpSp>
      <p:sp>
        <p:nvSpPr>
          <p:cNvPr id="17" name="TextBox 16">
            <a:extLst>
              <a:ext uri="{FF2B5EF4-FFF2-40B4-BE49-F238E27FC236}">
                <a16:creationId xmlns:a16="http://schemas.microsoft.com/office/drawing/2014/main" id="{F67DEA04-9A38-2BC5-6A24-6F2AA4D4C1F4}"/>
              </a:ext>
            </a:extLst>
          </p:cNvPr>
          <p:cNvSpPr txBox="1"/>
          <p:nvPr/>
        </p:nvSpPr>
        <p:spPr>
          <a:xfrm>
            <a:off x="282878" y="1380927"/>
            <a:ext cx="6448763" cy="3406061"/>
          </a:xfrm>
          <a:prstGeom prst="rect">
            <a:avLst/>
          </a:prstGeom>
          <a:noFill/>
        </p:spPr>
        <p:txBody>
          <a:bodyPr wrap="square" lIns="121920" tIns="60960" rIns="121920" bIns="60960" rtlCol="0" anchor="t">
            <a:spAutoFit/>
          </a:bodyPr>
          <a:lstStyle/>
          <a:p>
            <a:pPr>
              <a:spcAft>
                <a:spcPts val="800"/>
              </a:spcAft>
            </a:pPr>
            <a:r>
              <a:rPr lang="en-US" b="1" dirty="0" smtClean="0">
                <a:latin typeface="Arial" panose="020B0604020202020204" pitchFamily="34" charset="0"/>
                <a:cs typeface="Arial" panose="020B0604020202020204" pitchFamily="34" charset="0"/>
              </a:rPr>
              <a:t>2. What </a:t>
            </a:r>
            <a:r>
              <a:rPr lang="en-US" b="1" dirty="0">
                <a:latin typeface="Arial" panose="020B0604020202020204" pitchFamily="34" charset="0"/>
                <a:cs typeface="Arial" panose="020B0604020202020204" pitchFamily="34" charset="0"/>
              </a:rPr>
              <a:t>is the main difference between sorting </a:t>
            </a:r>
            <a:r>
              <a:rPr lang="en-US" b="1" dirty="0" smtClean="0">
                <a:latin typeface="Arial" panose="020B0604020202020204" pitchFamily="34" charset="0"/>
                <a:cs typeface="Arial" panose="020B0604020202020204" pitchFamily="34" charset="0"/>
              </a:rPr>
              <a:t>and filtering </a:t>
            </a:r>
            <a:r>
              <a:rPr lang="en-US" b="1" dirty="0">
                <a:latin typeface="Arial" panose="020B0604020202020204" pitchFamily="34" charset="0"/>
                <a:cs typeface="Arial" panose="020B0604020202020204" pitchFamily="34" charset="0"/>
              </a:rPr>
              <a:t>data in Excel</a:t>
            </a:r>
            <a:r>
              <a:rPr lang="en-US" b="1" dirty="0" smtClean="0">
                <a:latin typeface="Arial" panose="020B0604020202020204" pitchFamily="34" charset="0"/>
                <a:cs typeface="Arial" panose="020B0604020202020204" pitchFamily="34" charset="0"/>
              </a:rPr>
              <a:t>?</a:t>
            </a:r>
          </a:p>
          <a:p>
            <a:pPr marL="342900" indent="-342900">
              <a:spcAft>
                <a:spcPts val="800"/>
              </a:spcAft>
              <a:buAutoNum type="arabicPeriod"/>
            </a:pPr>
            <a:endParaRPr lang="en-US" b="1" dirty="0">
              <a:latin typeface="Arial" panose="020B0604020202020204" pitchFamily="34" charset="0"/>
              <a:cs typeface="Arial" panose="020B0604020202020204" pitchFamily="34" charset="0"/>
            </a:endParaRPr>
          </a:p>
          <a:p>
            <a:pPr marL="342900" indent="-342900">
              <a:spcAft>
                <a:spcPts val="800"/>
              </a:spcAft>
              <a:buFont typeface="+mj-lt"/>
              <a:buAutoNum type="alphaLcParenR"/>
            </a:pPr>
            <a:r>
              <a:rPr lang="en-US" dirty="0" smtClean="0">
                <a:latin typeface="Arial" panose="020B0604020202020204" pitchFamily="34" charset="0"/>
                <a:cs typeface="Arial" panose="020B0604020202020204" pitchFamily="34" charset="0"/>
              </a:rPr>
              <a:t>Sorting </a:t>
            </a:r>
            <a:r>
              <a:rPr lang="en-US" dirty="0">
                <a:latin typeface="Arial" panose="020B0604020202020204" pitchFamily="34" charset="0"/>
                <a:cs typeface="Arial" panose="020B0604020202020204" pitchFamily="34" charset="0"/>
              </a:rPr>
              <a:t>temporarily hides data while filtering permanently rearranges it</a:t>
            </a:r>
          </a:p>
          <a:p>
            <a:pPr marL="342900" indent="-342900">
              <a:spcAft>
                <a:spcPts val="800"/>
              </a:spcAft>
              <a:buFont typeface="+mj-lt"/>
              <a:buAutoNum type="alphaLcParenR"/>
            </a:pPr>
            <a:r>
              <a:rPr lang="en-US" dirty="0" smtClean="0">
                <a:latin typeface="Arial" panose="020B0604020202020204" pitchFamily="34" charset="0"/>
                <a:cs typeface="Arial" panose="020B0604020202020204" pitchFamily="34" charset="0"/>
              </a:rPr>
              <a:t>Sorting </a:t>
            </a:r>
            <a:r>
              <a:rPr lang="en-US" dirty="0">
                <a:latin typeface="Arial" panose="020B0604020202020204" pitchFamily="34" charset="0"/>
                <a:cs typeface="Arial" panose="020B0604020202020204" pitchFamily="34" charset="0"/>
              </a:rPr>
              <a:t>permanently rearranges data while filtering temporarily hides rows</a:t>
            </a:r>
          </a:p>
          <a:p>
            <a:pPr marL="342900" indent="-342900">
              <a:spcAft>
                <a:spcPts val="800"/>
              </a:spcAft>
              <a:buFont typeface="+mj-lt"/>
              <a:buAutoNum type="alphaLcParenR"/>
            </a:pPr>
            <a:r>
              <a:rPr lang="en-US" dirty="0" smtClean="0">
                <a:latin typeface="Arial" panose="020B0604020202020204" pitchFamily="34" charset="0"/>
                <a:cs typeface="Arial" panose="020B0604020202020204" pitchFamily="34" charset="0"/>
              </a:rPr>
              <a:t>Both </a:t>
            </a:r>
            <a:r>
              <a:rPr lang="en-US" dirty="0">
                <a:latin typeface="Arial" panose="020B0604020202020204" pitchFamily="34" charset="0"/>
                <a:cs typeface="Arial" panose="020B0604020202020204" pitchFamily="34" charset="0"/>
              </a:rPr>
              <a:t>sorting and filtering permanently delete unwanted data</a:t>
            </a:r>
          </a:p>
          <a:p>
            <a:pPr marL="342900" indent="-342900">
              <a:spcAft>
                <a:spcPts val="800"/>
              </a:spcAft>
              <a:buFont typeface="+mj-lt"/>
              <a:buAutoNum type="alphaLcParenR"/>
            </a:pPr>
            <a:r>
              <a:rPr lang="en-US" dirty="0" smtClean="0">
                <a:latin typeface="Arial" panose="020B0604020202020204" pitchFamily="34" charset="0"/>
                <a:cs typeface="Arial" panose="020B0604020202020204" pitchFamily="34" charset="0"/>
              </a:rPr>
              <a:t>Sorting </a:t>
            </a:r>
            <a:r>
              <a:rPr lang="en-US" dirty="0">
                <a:latin typeface="Arial" panose="020B0604020202020204" pitchFamily="34" charset="0"/>
                <a:cs typeface="Arial" panose="020B0604020202020204" pitchFamily="34" charset="0"/>
              </a:rPr>
              <a:t>and filtering perform the same function in Excel</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7991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58DE8C5-AD3A-E2A6-47DE-FD7F0A04BE7F}"/>
              </a:ext>
            </a:extLst>
          </p:cNvPr>
          <p:cNvGrpSpPr/>
          <p:nvPr/>
        </p:nvGrpSpPr>
        <p:grpSpPr>
          <a:xfrm rot="20804835">
            <a:off x="8105974" y="1314838"/>
            <a:ext cx="3032304" cy="4163210"/>
            <a:chOff x="5763589" y="866981"/>
            <a:chExt cx="2725091" cy="3741420"/>
          </a:xfrm>
        </p:grpSpPr>
        <p:pic>
          <p:nvPicPr>
            <p:cNvPr id="8" name="Picture 7" descr="A group of question marks&#10;&#10;Description automatically generated">
              <a:extLst>
                <a:ext uri="{FF2B5EF4-FFF2-40B4-BE49-F238E27FC236}">
                  <a16:creationId xmlns:a16="http://schemas.microsoft.com/office/drawing/2014/main" id="{52009D03-B2B0-B126-1674-DA8311D3C627}"/>
                </a:ext>
              </a:extLst>
            </p:cNvPr>
            <p:cNvPicPr>
              <a:picLocks noChangeAspect="1"/>
            </p:cNvPicPr>
            <p:nvPr/>
          </p:nvPicPr>
          <p:blipFill rotWithShape="1">
            <a:blip r:embed="rId3"/>
            <a:srcRect r="35860"/>
            <a:stretch/>
          </p:blipFill>
          <p:spPr>
            <a:xfrm>
              <a:off x="5763589" y="866981"/>
              <a:ext cx="2399746" cy="3741420"/>
            </a:xfrm>
            <a:prstGeom prst="rect">
              <a:avLst/>
            </a:prstGeom>
          </p:spPr>
        </p:pic>
        <p:sp>
          <p:nvSpPr>
            <p:cNvPr id="9" name="Rectangle 8">
              <a:extLst>
                <a:ext uri="{FF2B5EF4-FFF2-40B4-BE49-F238E27FC236}">
                  <a16:creationId xmlns:a16="http://schemas.microsoft.com/office/drawing/2014/main" id="{8F109B04-4735-E7FD-5B0C-5A10B230C533}"/>
                </a:ext>
              </a:extLst>
            </p:cNvPr>
            <p:cNvSpPr/>
            <p:nvPr/>
          </p:nvSpPr>
          <p:spPr>
            <a:xfrm>
              <a:off x="7749540" y="3276600"/>
              <a:ext cx="739140" cy="9999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grpSp>
      <p:pic>
        <p:nvPicPr>
          <p:cNvPr id="10" name="Picture 2" descr="Free vector question marks background">
            <a:extLst>
              <a:ext uri="{FF2B5EF4-FFF2-40B4-BE49-F238E27FC236}">
                <a16:creationId xmlns:a16="http://schemas.microsoft.com/office/drawing/2014/main" id="{581E641B-B0AF-BEFB-66C3-62201536FC54}"/>
              </a:ext>
            </a:extLst>
          </p:cNvPr>
          <p:cNvPicPr>
            <a:picLocks noChangeAspect="1" noChangeArrowheads="1"/>
          </p:cNvPicPr>
          <p:nvPr/>
        </p:nvPicPr>
        <p:blipFill rotWithShape="1">
          <a:blip r:embed="rId4">
            <a:alphaModFix amt="10000"/>
            <a:extLst>
              <a:ext uri="{28A0092B-C50C-407E-A947-70E740481C1C}">
                <a14:useLocalDpi xmlns:a14="http://schemas.microsoft.com/office/drawing/2010/main" val="0"/>
              </a:ext>
            </a:extLst>
          </a:blip>
          <a:srcRect b="27719"/>
          <a:stretch/>
        </p:blipFill>
        <p:spPr bwMode="auto">
          <a:xfrm>
            <a:off x="0" y="751247"/>
            <a:ext cx="12169100" cy="5859335"/>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61;g5fab984687_2_0">
            <a:extLst>
              <a:ext uri="{FF2B5EF4-FFF2-40B4-BE49-F238E27FC236}">
                <a16:creationId xmlns:a16="http://schemas.microsoft.com/office/drawing/2014/main" id="{0D5D7E4D-3C3E-5B6C-3D56-30E42ADA7828}"/>
              </a:ext>
            </a:extLst>
          </p:cNvPr>
          <p:cNvSpPr txBox="1">
            <a:spLocks/>
          </p:cNvSpPr>
          <p:nvPr/>
        </p:nvSpPr>
        <p:spPr>
          <a:xfrm>
            <a:off x="282878" y="723165"/>
            <a:ext cx="3907423" cy="4288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2200" b="1">
                <a:solidFill>
                  <a:srgbClr val="213163"/>
                </a:solidFill>
              </a:rPr>
              <a:t>Quiz</a:t>
            </a:r>
            <a:endParaRPr lang="en-US" sz="2200"/>
          </a:p>
        </p:txBody>
      </p:sp>
      <p:grpSp>
        <p:nvGrpSpPr>
          <p:cNvPr id="12" name="Group 11">
            <a:extLst>
              <a:ext uri="{FF2B5EF4-FFF2-40B4-BE49-F238E27FC236}">
                <a16:creationId xmlns:a16="http://schemas.microsoft.com/office/drawing/2014/main" id="{A3C729A3-A716-8B4A-7CF1-D80898FED2CA}"/>
              </a:ext>
            </a:extLst>
          </p:cNvPr>
          <p:cNvGrpSpPr/>
          <p:nvPr/>
        </p:nvGrpSpPr>
        <p:grpSpPr>
          <a:xfrm>
            <a:off x="1" y="5582921"/>
            <a:ext cx="12192000" cy="1107234"/>
            <a:chOff x="229036" y="4299585"/>
            <a:chExt cx="8640644" cy="623995"/>
          </a:xfrm>
        </p:grpSpPr>
        <p:sp>
          <p:nvSpPr>
            <p:cNvPr id="13" name="Rectangle 12">
              <a:extLst>
                <a:ext uri="{FF2B5EF4-FFF2-40B4-BE49-F238E27FC236}">
                  <a16:creationId xmlns:a16="http://schemas.microsoft.com/office/drawing/2014/main" id="{8A77CB77-EB9C-C37B-ED9F-64E5CEF1556F}"/>
                </a:ext>
              </a:extLst>
            </p:cNvPr>
            <p:cNvSpPr/>
            <p:nvPr/>
          </p:nvSpPr>
          <p:spPr>
            <a:xfrm>
              <a:off x="229036" y="4299585"/>
              <a:ext cx="8640644" cy="623995"/>
            </a:xfrm>
            <a:prstGeom prst="rect">
              <a:avLst/>
            </a:prstGeom>
            <a:solidFill>
              <a:srgbClr val="CDE0FF">
                <a:alpha val="59000"/>
              </a:srgb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TextBox 13">
              <a:extLst>
                <a:ext uri="{FF2B5EF4-FFF2-40B4-BE49-F238E27FC236}">
                  <a16:creationId xmlns:a16="http://schemas.microsoft.com/office/drawing/2014/main" id="{E1F0CCD2-56D3-6ED7-A4D2-DC293A4DECED}"/>
                </a:ext>
              </a:extLst>
            </p:cNvPr>
            <p:cNvSpPr txBox="1"/>
            <p:nvPr/>
          </p:nvSpPr>
          <p:spPr>
            <a:xfrm>
              <a:off x="429516" y="4386401"/>
              <a:ext cx="6851486" cy="450973"/>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IN" sz="2200" b="1" dirty="0">
                  <a:latin typeface="Arial"/>
                  <a:cs typeface="Arial"/>
                </a:rPr>
                <a:t>Answer: </a:t>
              </a:r>
              <a:r>
                <a:rPr lang="en-IN" sz="2200" b="1" dirty="0" smtClean="0">
                  <a:latin typeface="Arial"/>
                  <a:cs typeface="Arial"/>
                </a:rPr>
                <a:t>B</a:t>
              </a:r>
              <a:endParaRPr lang="en-IN" sz="2200" b="1" dirty="0">
                <a:latin typeface="Arial"/>
                <a:cs typeface="Arial"/>
              </a:endParaRPr>
            </a:p>
            <a:p>
              <a:r>
                <a:rPr lang="en-US" sz="2200" b="1" dirty="0">
                  <a:latin typeface="Arial"/>
                  <a:cs typeface="Arial"/>
                </a:rPr>
                <a:t>A new column with calculated values using formulas</a:t>
              </a:r>
              <a:endParaRPr lang="en-US" sz="2000" dirty="0">
                <a:latin typeface="Arial" panose="020B0604020202020204" pitchFamily="34" charset="0"/>
                <a:cs typeface="Arial" panose="020B0604020202020204" pitchFamily="34" charset="0"/>
              </a:endParaRPr>
            </a:p>
          </p:txBody>
        </p:sp>
      </p:grpSp>
      <p:sp>
        <p:nvSpPr>
          <p:cNvPr id="17" name="TextBox 16">
            <a:extLst>
              <a:ext uri="{FF2B5EF4-FFF2-40B4-BE49-F238E27FC236}">
                <a16:creationId xmlns:a16="http://schemas.microsoft.com/office/drawing/2014/main" id="{F67DEA04-9A38-2BC5-6A24-6F2AA4D4C1F4}"/>
              </a:ext>
            </a:extLst>
          </p:cNvPr>
          <p:cNvSpPr txBox="1"/>
          <p:nvPr/>
        </p:nvSpPr>
        <p:spPr>
          <a:xfrm>
            <a:off x="282878" y="1380927"/>
            <a:ext cx="6448763" cy="2575064"/>
          </a:xfrm>
          <a:prstGeom prst="rect">
            <a:avLst/>
          </a:prstGeom>
          <a:noFill/>
        </p:spPr>
        <p:txBody>
          <a:bodyPr wrap="square" lIns="121920" tIns="60960" rIns="121920" bIns="60960" rtlCol="0" anchor="t">
            <a:spAutoFit/>
          </a:bodyPr>
          <a:lstStyle/>
          <a:p>
            <a:pPr>
              <a:spcAft>
                <a:spcPts val="800"/>
              </a:spcAft>
            </a:pPr>
            <a:r>
              <a:rPr lang="en-US" b="1" dirty="0" smtClean="0">
                <a:latin typeface="Arial" panose="020B0604020202020204" pitchFamily="34" charset="0"/>
                <a:cs typeface="Arial" panose="020B0604020202020204" pitchFamily="34" charset="0"/>
              </a:rPr>
              <a:t>3. Which </a:t>
            </a:r>
            <a:r>
              <a:rPr lang="en-US" b="1" dirty="0">
                <a:latin typeface="Arial" panose="020B0604020202020204" pitchFamily="34" charset="0"/>
                <a:cs typeface="Arial" panose="020B0604020202020204" pitchFamily="34" charset="0"/>
              </a:rPr>
              <a:t>of the following is a feature you can ask Copilot to create directly in Excel?</a:t>
            </a:r>
          </a:p>
          <a:p>
            <a:pPr>
              <a:spcAft>
                <a:spcPts val="800"/>
              </a:spcAft>
            </a:pPr>
            <a:endParaRPr lang="en-US" b="1" dirty="0">
              <a:latin typeface="Arial" panose="020B0604020202020204" pitchFamily="34" charset="0"/>
              <a:cs typeface="Arial" panose="020B0604020202020204" pitchFamily="34" charset="0"/>
            </a:endParaRPr>
          </a:p>
          <a:p>
            <a:pPr marL="342900" indent="-342900">
              <a:spcAft>
                <a:spcPts val="800"/>
              </a:spcAft>
              <a:buFont typeface="+mj-lt"/>
              <a:buAutoNum type="alphaLcParenR"/>
            </a:pPr>
            <a:r>
              <a:rPr lang="en-US" dirty="0" smtClean="0">
                <a:latin typeface="Arial" panose="020B0604020202020204" pitchFamily="34" charset="0"/>
                <a:cs typeface="Arial" panose="020B0604020202020204" pitchFamily="34" charset="0"/>
              </a:rPr>
              <a:t>A </a:t>
            </a:r>
            <a:r>
              <a:rPr lang="en-US" dirty="0">
                <a:latin typeface="Arial" panose="020B0604020202020204" pitchFamily="34" charset="0"/>
                <a:cs typeface="Arial" panose="020B0604020202020204" pitchFamily="34" charset="0"/>
              </a:rPr>
              <a:t>new Microsoft account</a:t>
            </a:r>
          </a:p>
          <a:p>
            <a:pPr marL="342900" indent="-342900">
              <a:spcAft>
                <a:spcPts val="800"/>
              </a:spcAft>
              <a:buFont typeface="+mj-lt"/>
              <a:buAutoNum type="alphaLcParenR"/>
            </a:pPr>
            <a:r>
              <a:rPr lang="en-US" dirty="0" smtClean="0">
                <a:latin typeface="Arial" panose="020B0604020202020204" pitchFamily="34" charset="0"/>
                <a:cs typeface="Arial" panose="020B0604020202020204" pitchFamily="34" charset="0"/>
              </a:rPr>
              <a:t>A </a:t>
            </a:r>
            <a:r>
              <a:rPr lang="en-US" dirty="0">
                <a:latin typeface="Arial" panose="020B0604020202020204" pitchFamily="34" charset="0"/>
                <a:cs typeface="Arial" panose="020B0604020202020204" pitchFamily="34" charset="0"/>
              </a:rPr>
              <a:t>new column with calculated values using formulas</a:t>
            </a:r>
          </a:p>
          <a:p>
            <a:pPr marL="342900" indent="-342900">
              <a:spcAft>
                <a:spcPts val="800"/>
              </a:spcAft>
              <a:buFont typeface="+mj-lt"/>
              <a:buAutoNum type="alphaLcParenR"/>
            </a:pPr>
            <a:r>
              <a:rPr lang="en-US" dirty="0" smtClean="0">
                <a:latin typeface="Arial" panose="020B0604020202020204" pitchFamily="34" charset="0"/>
                <a:cs typeface="Arial" panose="020B0604020202020204" pitchFamily="34" charset="0"/>
              </a:rPr>
              <a:t>A </a:t>
            </a:r>
            <a:r>
              <a:rPr lang="en-US" dirty="0">
                <a:latin typeface="Arial" panose="020B0604020202020204" pitchFamily="34" charset="0"/>
                <a:cs typeface="Arial" panose="020B0604020202020204" pitchFamily="34" charset="0"/>
              </a:rPr>
              <a:t>new web browser window</a:t>
            </a:r>
          </a:p>
          <a:p>
            <a:pPr marL="342900" indent="-342900">
              <a:spcAft>
                <a:spcPts val="800"/>
              </a:spcAft>
              <a:buFont typeface="+mj-lt"/>
              <a:buAutoNum type="alphaLcParenR"/>
            </a:pPr>
            <a:r>
              <a:rPr lang="en-US" dirty="0" smtClean="0">
                <a:latin typeface="Arial" panose="020B0604020202020204" pitchFamily="34" charset="0"/>
                <a:cs typeface="Arial" panose="020B0604020202020204" pitchFamily="34" charset="0"/>
              </a:rPr>
              <a:t>A </a:t>
            </a:r>
            <a:r>
              <a:rPr lang="en-US" dirty="0">
                <a:latin typeface="Arial" panose="020B0604020202020204" pitchFamily="34" charset="0"/>
                <a:cs typeface="Arial" panose="020B0604020202020204" pitchFamily="34" charset="0"/>
              </a:rPr>
              <a:t>new PowerPoint presentation file</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4896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58DE8C5-AD3A-E2A6-47DE-FD7F0A04BE7F}"/>
              </a:ext>
            </a:extLst>
          </p:cNvPr>
          <p:cNvGrpSpPr/>
          <p:nvPr/>
        </p:nvGrpSpPr>
        <p:grpSpPr>
          <a:xfrm rot="20804835">
            <a:off x="8105974" y="1314838"/>
            <a:ext cx="3032304" cy="4163210"/>
            <a:chOff x="5763589" y="866981"/>
            <a:chExt cx="2725091" cy="3741420"/>
          </a:xfrm>
        </p:grpSpPr>
        <p:pic>
          <p:nvPicPr>
            <p:cNvPr id="8" name="Picture 7" descr="A group of question marks&#10;&#10;Description automatically generated">
              <a:extLst>
                <a:ext uri="{FF2B5EF4-FFF2-40B4-BE49-F238E27FC236}">
                  <a16:creationId xmlns:a16="http://schemas.microsoft.com/office/drawing/2014/main" id="{52009D03-B2B0-B126-1674-DA8311D3C627}"/>
                </a:ext>
              </a:extLst>
            </p:cNvPr>
            <p:cNvPicPr>
              <a:picLocks noChangeAspect="1"/>
            </p:cNvPicPr>
            <p:nvPr/>
          </p:nvPicPr>
          <p:blipFill rotWithShape="1">
            <a:blip r:embed="rId3"/>
            <a:srcRect r="35860"/>
            <a:stretch/>
          </p:blipFill>
          <p:spPr>
            <a:xfrm>
              <a:off x="5763589" y="866981"/>
              <a:ext cx="2399746" cy="3741420"/>
            </a:xfrm>
            <a:prstGeom prst="rect">
              <a:avLst/>
            </a:prstGeom>
          </p:spPr>
        </p:pic>
        <p:sp>
          <p:nvSpPr>
            <p:cNvPr id="9" name="Rectangle 8">
              <a:extLst>
                <a:ext uri="{FF2B5EF4-FFF2-40B4-BE49-F238E27FC236}">
                  <a16:creationId xmlns:a16="http://schemas.microsoft.com/office/drawing/2014/main" id="{8F109B04-4735-E7FD-5B0C-5A10B230C533}"/>
                </a:ext>
              </a:extLst>
            </p:cNvPr>
            <p:cNvSpPr/>
            <p:nvPr/>
          </p:nvSpPr>
          <p:spPr>
            <a:xfrm>
              <a:off x="7749540" y="3276600"/>
              <a:ext cx="739140" cy="9999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grpSp>
      <p:pic>
        <p:nvPicPr>
          <p:cNvPr id="10" name="Picture 2" descr="Free vector question marks background">
            <a:extLst>
              <a:ext uri="{FF2B5EF4-FFF2-40B4-BE49-F238E27FC236}">
                <a16:creationId xmlns:a16="http://schemas.microsoft.com/office/drawing/2014/main" id="{581E641B-B0AF-BEFB-66C3-62201536FC54}"/>
              </a:ext>
            </a:extLst>
          </p:cNvPr>
          <p:cNvPicPr>
            <a:picLocks noChangeAspect="1" noChangeArrowheads="1"/>
          </p:cNvPicPr>
          <p:nvPr/>
        </p:nvPicPr>
        <p:blipFill rotWithShape="1">
          <a:blip r:embed="rId4">
            <a:alphaModFix amt="10000"/>
            <a:extLst>
              <a:ext uri="{28A0092B-C50C-407E-A947-70E740481C1C}">
                <a14:useLocalDpi xmlns:a14="http://schemas.microsoft.com/office/drawing/2010/main" val="0"/>
              </a:ext>
            </a:extLst>
          </a:blip>
          <a:srcRect b="27719"/>
          <a:stretch/>
        </p:blipFill>
        <p:spPr bwMode="auto">
          <a:xfrm>
            <a:off x="0" y="751247"/>
            <a:ext cx="12169100" cy="5859335"/>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61;g5fab984687_2_0">
            <a:extLst>
              <a:ext uri="{FF2B5EF4-FFF2-40B4-BE49-F238E27FC236}">
                <a16:creationId xmlns:a16="http://schemas.microsoft.com/office/drawing/2014/main" id="{0D5D7E4D-3C3E-5B6C-3D56-30E42ADA7828}"/>
              </a:ext>
            </a:extLst>
          </p:cNvPr>
          <p:cNvSpPr txBox="1">
            <a:spLocks/>
          </p:cNvSpPr>
          <p:nvPr/>
        </p:nvSpPr>
        <p:spPr>
          <a:xfrm>
            <a:off x="282878" y="723165"/>
            <a:ext cx="3907423" cy="4288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2200" b="1">
                <a:solidFill>
                  <a:srgbClr val="213163"/>
                </a:solidFill>
              </a:rPr>
              <a:t>Quiz</a:t>
            </a:r>
            <a:endParaRPr lang="en-US" sz="2200"/>
          </a:p>
        </p:txBody>
      </p:sp>
      <p:grpSp>
        <p:nvGrpSpPr>
          <p:cNvPr id="12" name="Group 11">
            <a:extLst>
              <a:ext uri="{FF2B5EF4-FFF2-40B4-BE49-F238E27FC236}">
                <a16:creationId xmlns:a16="http://schemas.microsoft.com/office/drawing/2014/main" id="{A3C729A3-A716-8B4A-7CF1-D80898FED2CA}"/>
              </a:ext>
            </a:extLst>
          </p:cNvPr>
          <p:cNvGrpSpPr/>
          <p:nvPr/>
        </p:nvGrpSpPr>
        <p:grpSpPr>
          <a:xfrm>
            <a:off x="1" y="5582921"/>
            <a:ext cx="12192000" cy="1107234"/>
            <a:chOff x="229036" y="4299585"/>
            <a:chExt cx="8640644" cy="623995"/>
          </a:xfrm>
        </p:grpSpPr>
        <p:sp>
          <p:nvSpPr>
            <p:cNvPr id="13" name="Rectangle 12">
              <a:extLst>
                <a:ext uri="{FF2B5EF4-FFF2-40B4-BE49-F238E27FC236}">
                  <a16:creationId xmlns:a16="http://schemas.microsoft.com/office/drawing/2014/main" id="{8A77CB77-EB9C-C37B-ED9F-64E5CEF1556F}"/>
                </a:ext>
              </a:extLst>
            </p:cNvPr>
            <p:cNvSpPr/>
            <p:nvPr/>
          </p:nvSpPr>
          <p:spPr>
            <a:xfrm>
              <a:off x="229036" y="4299585"/>
              <a:ext cx="8640644" cy="623995"/>
            </a:xfrm>
            <a:prstGeom prst="rect">
              <a:avLst/>
            </a:prstGeom>
            <a:solidFill>
              <a:srgbClr val="CDE0FF">
                <a:alpha val="59000"/>
              </a:srgb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TextBox 13">
              <a:extLst>
                <a:ext uri="{FF2B5EF4-FFF2-40B4-BE49-F238E27FC236}">
                  <a16:creationId xmlns:a16="http://schemas.microsoft.com/office/drawing/2014/main" id="{E1F0CCD2-56D3-6ED7-A4D2-DC293A4DECED}"/>
                </a:ext>
              </a:extLst>
            </p:cNvPr>
            <p:cNvSpPr txBox="1"/>
            <p:nvPr/>
          </p:nvSpPr>
          <p:spPr>
            <a:xfrm>
              <a:off x="429516" y="4386401"/>
              <a:ext cx="8345657" cy="450973"/>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IN" sz="2200" b="1" dirty="0">
                  <a:latin typeface="Arial"/>
                  <a:cs typeface="Arial"/>
                </a:rPr>
                <a:t>Answer: </a:t>
              </a:r>
              <a:r>
                <a:rPr lang="en-IN" sz="2200" b="1" dirty="0" smtClean="0">
                  <a:latin typeface="Arial"/>
                  <a:cs typeface="Arial"/>
                </a:rPr>
                <a:t>D</a:t>
              </a:r>
              <a:endParaRPr lang="en-IN" sz="2200" b="1" dirty="0">
                <a:latin typeface="Arial"/>
                <a:cs typeface="Arial"/>
              </a:endParaRPr>
            </a:p>
            <a:p>
              <a:r>
                <a:rPr lang="en-US" sz="2200" b="1" dirty="0" smtClean="0">
                  <a:latin typeface="Arial"/>
                  <a:cs typeface="Arial"/>
                </a:rPr>
                <a:t>Write </a:t>
              </a:r>
              <a:r>
                <a:rPr lang="en-US" sz="2200" b="1" dirty="0">
                  <a:latin typeface="Arial"/>
                  <a:cs typeface="Arial"/>
                </a:rPr>
                <a:t>a 300-word introduction about the impact of AI on education for college </a:t>
              </a:r>
              <a:r>
                <a:rPr lang="en-US" sz="2200" b="1" dirty="0" smtClean="0">
                  <a:latin typeface="Arial"/>
                  <a:cs typeface="Arial"/>
                </a:rPr>
                <a:t>students</a:t>
              </a:r>
              <a:endParaRPr lang="en-US" sz="2200" b="1" dirty="0">
                <a:latin typeface="Arial"/>
                <a:cs typeface="Arial"/>
              </a:endParaRPr>
            </a:p>
          </p:txBody>
        </p:sp>
      </p:grpSp>
      <p:sp>
        <p:nvSpPr>
          <p:cNvPr id="17" name="TextBox 16">
            <a:extLst>
              <a:ext uri="{FF2B5EF4-FFF2-40B4-BE49-F238E27FC236}">
                <a16:creationId xmlns:a16="http://schemas.microsoft.com/office/drawing/2014/main" id="{F67DEA04-9A38-2BC5-6A24-6F2AA4D4C1F4}"/>
              </a:ext>
            </a:extLst>
          </p:cNvPr>
          <p:cNvSpPr txBox="1"/>
          <p:nvPr/>
        </p:nvSpPr>
        <p:spPr>
          <a:xfrm>
            <a:off x="282878" y="1380927"/>
            <a:ext cx="6448763" cy="2852063"/>
          </a:xfrm>
          <a:prstGeom prst="rect">
            <a:avLst/>
          </a:prstGeom>
          <a:noFill/>
        </p:spPr>
        <p:txBody>
          <a:bodyPr wrap="square" lIns="121920" tIns="60960" rIns="121920" bIns="60960" rtlCol="0" anchor="t">
            <a:spAutoFit/>
          </a:bodyPr>
          <a:lstStyle/>
          <a:p>
            <a:pPr>
              <a:spcAft>
                <a:spcPts val="800"/>
              </a:spcAft>
            </a:pPr>
            <a:r>
              <a:rPr lang="en-US" b="1" dirty="0" smtClean="0">
                <a:latin typeface="Arial" panose="020B0604020202020204" pitchFamily="34" charset="0"/>
                <a:cs typeface="Arial" panose="020B0604020202020204" pitchFamily="34" charset="0"/>
              </a:rPr>
              <a:t>1</a:t>
            </a:r>
            <a:r>
              <a:rPr lang="en-US" b="1" dirty="0">
                <a:latin typeface="Arial" panose="020B0604020202020204" pitchFamily="34" charset="0"/>
                <a:cs typeface="Arial" panose="020B0604020202020204" pitchFamily="34" charset="0"/>
              </a:rPr>
              <a:t>. Which of the following is an example of a GOOD prompt for Microsoft Copilot?</a:t>
            </a:r>
          </a:p>
          <a:p>
            <a:pPr>
              <a:spcAft>
                <a:spcPts val="800"/>
              </a:spcAft>
            </a:pPr>
            <a:endParaRPr lang="en-US" b="1" dirty="0">
              <a:latin typeface="Arial" panose="020B0604020202020204" pitchFamily="34" charset="0"/>
              <a:cs typeface="Arial" panose="020B0604020202020204" pitchFamily="34" charset="0"/>
            </a:endParaRPr>
          </a:p>
          <a:p>
            <a:pPr marL="342900" indent="-342900">
              <a:spcAft>
                <a:spcPts val="800"/>
              </a:spcAft>
              <a:buFont typeface="+mj-lt"/>
              <a:buAutoNum type="alphaLcParenR"/>
            </a:pPr>
            <a:r>
              <a:rPr lang="en-US" dirty="0" smtClean="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Help with Excel"</a:t>
            </a:r>
          </a:p>
          <a:p>
            <a:pPr marL="342900" indent="-342900">
              <a:spcAft>
                <a:spcPts val="800"/>
              </a:spcAft>
              <a:buFont typeface="+mj-lt"/>
              <a:buAutoNum type="alphaLcParenR"/>
            </a:pPr>
            <a:r>
              <a:rPr lang="en-US" dirty="0" smtClean="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Make something"</a:t>
            </a:r>
          </a:p>
          <a:p>
            <a:pPr marL="342900" indent="-342900">
              <a:spcAft>
                <a:spcPts val="800"/>
              </a:spcAft>
              <a:buFont typeface="+mj-lt"/>
              <a:buAutoNum type="alphaLcParenR"/>
            </a:pPr>
            <a:r>
              <a:rPr lang="en-US" dirty="0" smtClean="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Tell me about </a:t>
            </a:r>
            <a:r>
              <a:rPr lang="en-US" dirty="0" smtClean="0">
                <a:latin typeface="Arial" panose="020B0604020202020204" pitchFamily="34" charset="0"/>
                <a:cs typeface="Arial" panose="020B0604020202020204" pitchFamily="34" charset="0"/>
              </a:rPr>
              <a:t>technology“</a:t>
            </a:r>
          </a:p>
          <a:p>
            <a:pPr marL="342900" indent="-342900">
              <a:spcAft>
                <a:spcPts val="800"/>
              </a:spcAft>
              <a:buFont typeface="+mj-lt"/>
              <a:buAutoNum type="alphaLcParenR"/>
            </a:pPr>
            <a:r>
              <a:rPr lang="en-US" dirty="0">
                <a:latin typeface="Arial" panose="020B0604020202020204" pitchFamily="34" charset="0"/>
                <a:cs typeface="Arial" panose="020B0604020202020204" pitchFamily="34" charset="0"/>
              </a:rPr>
              <a:t>"Write a 300-word introduction about the impact of AI on education for college students</a:t>
            </a:r>
            <a:r>
              <a:rPr lang="en-US" dirty="0" smtClean="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88066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58DE8C5-AD3A-E2A6-47DE-FD7F0A04BE7F}"/>
              </a:ext>
            </a:extLst>
          </p:cNvPr>
          <p:cNvGrpSpPr/>
          <p:nvPr/>
        </p:nvGrpSpPr>
        <p:grpSpPr>
          <a:xfrm rot="20804835">
            <a:off x="8105974" y="1314838"/>
            <a:ext cx="3032304" cy="4163210"/>
            <a:chOff x="5763589" y="866981"/>
            <a:chExt cx="2725091" cy="3741420"/>
          </a:xfrm>
        </p:grpSpPr>
        <p:pic>
          <p:nvPicPr>
            <p:cNvPr id="8" name="Picture 7" descr="A group of question marks&#10;&#10;Description automatically generated">
              <a:extLst>
                <a:ext uri="{FF2B5EF4-FFF2-40B4-BE49-F238E27FC236}">
                  <a16:creationId xmlns:a16="http://schemas.microsoft.com/office/drawing/2014/main" id="{52009D03-B2B0-B126-1674-DA8311D3C627}"/>
                </a:ext>
              </a:extLst>
            </p:cNvPr>
            <p:cNvPicPr>
              <a:picLocks noChangeAspect="1"/>
            </p:cNvPicPr>
            <p:nvPr/>
          </p:nvPicPr>
          <p:blipFill rotWithShape="1">
            <a:blip r:embed="rId3"/>
            <a:srcRect r="35860"/>
            <a:stretch/>
          </p:blipFill>
          <p:spPr>
            <a:xfrm>
              <a:off x="5763589" y="866981"/>
              <a:ext cx="2399746" cy="3741420"/>
            </a:xfrm>
            <a:prstGeom prst="rect">
              <a:avLst/>
            </a:prstGeom>
          </p:spPr>
        </p:pic>
        <p:sp>
          <p:nvSpPr>
            <p:cNvPr id="9" name="Rectangle 8">
              <a:extLst>
                <a:ext uri="{FF2B5EF4-FFF2-40B4-BE49-F238E27FC236}">
                  <a16:creationId xmlns:a16="http://schemas.microsoft.com/office/drawing/2014/main" id="{8F109B04-4735-E7FD-5B0C-5A10B230C533}"/>
                </a:ext>
              </a:extLst>
            </p:cNvPr>
            <p:cNvSpPr/>
            <p:nvPr/>
          </p:nvSpPr>
          <p:spPr>
            <a:xfrm>
              <a:off x="7749540" y="3276600"/>
              <a:ext cx="739140" cy="9999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grpSp>
      <p:pic>
        <p:nvPicPr>
          <p:cNvPr id="10" name="Picture 2" descr="Free vector question marks background">
            <a:extLst>
              <a:ext uri="{FF2B5EF4-FFF2-40B4-BE49-F238E27FC236}">
                <a16:creationId xmlns:a16="http://schemas.microsoft.com/office/drawing/2014/main" id="{581E641B-B0AF-BEFB-66C3-62201536FC54}"/>
              </a:ext>
            </a:extLst>
          </p:cNvPr>
          <p:cNvPicPr>
            <a:picLocks noChangeAspect="1" noChangeArrowheads="1"/>
          </p:cNvPicPr>
          <p:nvPr/>
        </p:nvPicPr>
        <p:blipFill rotWithShape="1">
          <a:blip r:embed="rId4">
            <a:alphaModFix amt="10000"/>
            <a:extLst>
              <a:ext uri="{28A0092B-C50C-407E-A947-70E740481C1C}">
                <a14:useLocalDpi xmlns:a14="http://schemas.microsoft.com/office/drawing/2010/main" val="0"/>
              </a:ext>
            </a:extLst>
          </a:blip>
          <a:srcRect b="27719"/>
          <a:stretch/>
        </p:blipFill>
        <p:spPr bwMode="auto">
          <a:xfrm>
            <a:off x="0" y="751247"/>
            <a:ext cx="12169100" cy="5859335"/>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61;g5fab984687_2_0">
            <a:extLst>
              <a:ext uri="{FF2B5EF4-FFF2-40B4-BE49-F238E27FC236}">
                <a16:creationId xmlns:a16="http://schemas.microsoft.com/office/drawing/2014/main" id="{0D5D7E4D-3C3E-5B6C-3D56-30E42ADA7828}"/>
              </a:ext>
            </a:extLst>
          </p:cNvPr>
          <p:cNvSpPr txBox="1">
            <a:spLocks/>
          </p:cNvSpPr>
          <p:nvPr/>
        </p:nvSpPr>
        <p:spPr>
          <a:xfrm>
            <a:off x="282878" y="723165"/>
            <a:ext cx="3907423" cy="4288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2200" b="1">
                <a:solidFill>
                  <a:srgbClr val="213163"/>
                </a:solidFill>
              </a:rPr>
              <a:t>Quiz</a:t>
            </a:r>
            <a:endParaRPr lang="en-US" sz="2200"/>
          </a:p>
        </p:txBody>
      </p:sp>
      <p:grpSp>
        <p:nvGrpSpPr>
          <p:cNvPr id="12" name="Group 11">
            <a:extLst>
              <a:ext uri="{FF2B5EF4-FFF2-40B4-BE49-F238E27FC236}">
                <a16:creationId xmlns:a16="http://schemas.microsoft.com/office/drawing/2014/main" id="{A3C729A3-A716-8B4A-7CF1-D80898FED2CA}"/>
              </a:ext>
            </a:extLst>
          </p:cNvPr>
          <p:cNvGrpSpPr/>
          <p:nvPr/>
        </p:nvGrpSpPr>
        <p:grpSpPr>
          <a:xfrm>
            <a:off x="1" y="5582921"/>
            <a:ext cx="12192000" cy="1107234"/>
            <a:chOff x="229036" y="4299585"/>
            <a:chExt cx="8640644" cy="623995"/>
          </a:xfrm>
        </p:grpSpPr>
        <p:sp>
          <p:nvSpPr>
            <p:cNvPr id="13" name="Rectangle 12">
              <a:extLst>
                <a:ext uri="{FF2B5EF4-FFF2-40B4-BE49-F238E27FC236}">
                  <a16:creationId xmlns:a16="http://schemas.microsoft.com/office/drawing/2014/main" id="{8A77CB77-EB9C-C37B-ED9F-64E5CEF1556F}"/>
                </a:ext>
              </a:extLst>
            </p:cNvPr>
            <p:cNvSpPr/>
            <p:nvPr/>
          </p:nvSpPr>
          <p:spPr>
            <a:xfrm>
              <a:off x="229036" y="4299585"/>
              <a:ext cx="8640644" cy="623995"/>
            </a:xfrm>
            <a:prstGeom prst="rect">
              <a:avLst/>
            </a:prstGeom>
            <a:solidFill>
              <a:srgbClr val="CDE0FF">
                <a:alpha val="59000"/>
              </a:srgb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TextBox 13">
              <a:extLst>
                <a:ext uri="{FF2B5EF4-FFF2-40B4-BE49-F238E27FC236}">
                  <a16:creationId xmlns:a16="http://schemas.microsoft.com/office/drawing/2014/main" id="{E1F0CCD2-56D3-6ED7-A4D2-DC293A4DECED}"/>
                </a:ext>
              </a:extLst>
            </p:cNvPr>
            <p:cNvSpPr txBox="1"/>
            <p:nvPr/>
          </p:nvSpPr>
          <p:spPr>
            <a:xfrm>
              <a:off x="429516" y="4386401"/>
              <a:ext cx="6851486" cy="450973"/>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IN" sz="2200" b="1" dirty="0">
                  <a:latin typeface="Arial"/>
                  <a:cs typeface="Arial"/>
                </a:rPr>
                <a:t>Answer: </a:t>
              </a:r>
              <a:r>
                <a:rPr lang="en-IN" sz="2200" b="1" dirty="0" smtClean="0">
                  <a:latin typeface="Arial"/>
                  <a:cs typeface="Arial"/>
                </a:rPr>
                <a:t>C</a:t>
              </a:r>
              <a:endParaRPr lang="en-IN" sz="2200" b="1" dirty="0">
                <a:latin typeface="Arial"/>
                <a:cs typeface="Arial"/>
              </a:endParaRPr>
            </a:p>
            <a:p>
              <a:r>
                <a:rPr lang="en-US" sz="2200" b="1" dirty="0">
                  <a:latin typeface="Arial"/>
                  <a:cs typeface="Arial"/>
                </a:rPr>
                <a:t>Suggest the best chart type and generate it </a:t>
              </a:r>
              <a:r>
                <a:rPr lang="en-US" sz="2200" b="1" dirty="0" smtClean="0">
                  <a:latin typeface="Arial"/>
                  <a:cs typeface="Arial"/>
                </a:rPr>
                <a:t>automatically</a:t>
              </a:r>
              <a:endParaRPr lang="en-US" sz="2200" b="1" dirty="0">
                <a:latin typeface="Arial"/>
                <a:cs typeface="Arial"/>
              </a:endParaRPr>
            </a:p>
          </p:txBody>
        </p:sp>
      </p:grpSp>
      <p:sp>
        <p:nvSpPr>
          <p:cNvPr id="17" name="TextBox 16">
            <a:extLst>
              <a:ext uri="{FF2B5EF4-FFF2-40B4-BE49-F238E27FC236}">
                <a16:creationId xmlns:a16="http://schemas.microsoft.com/office/drawing/2014/main" id="{F67DEA04-9A38-2BC5-6A24-6F2AA4D4C1F4}"/>
              </a:ext>
            </a:extLst>
          </p:cNvPr>
          <p:cNvSpPr txBox="1"/>
          <p:nvPr/>
        </p:nvSpPr>
        <p:spPr>
          <a:xfrm>
            <a:off x="282878" y="1380927"/>
            <a:ext cx="6448763" cy="2575064"/>
          </a:xfrm>
          <a:prstGeom prst="rect">
            <a:avLst/>
          </a:prstGeom>
          <a:noFill/>
        </p:spPr>
        <p:txBody>
          <a:bodyPr wrap="square" lIns="121920" tIns="60960" rIns="121920" bIns="60960" rtlCol="0" anchor="t">
            <a:spAutoFit/>
          </a:bodyPr>
          <a:lstStyle/>
          <a:p>
            <a:pPr>
              <a:spcAft>
                <a:spcPts val="800"/>
              </a:spcAft>
            </a:pPr>
            <a:r>
              <a:rPr lang="en-US" b="1" dirty="0" smtClean="0">
                <a:latin typeface="Arial" panose="020B0604020202020204" pitchFamily="34" charset="0"/>
                <a:cs typeface="Arial" panose="020B0604020202020204" pitchFamily="34" charset="0"/>
              </a:rPr>
              <a:t>5. What </a:t>
            </a:r>
            <a:r>
              <a:rPr lang="en-US" b="1" dirty="0">
                <a:latin typeface="Arial" panose="020B0604020202020204" pitchFamily="34" charset="0"/>
                <a:cs typeface="Arial" panose="020B0604020202020204" pitchFamily="34" charset="0"/>
              </a:rPr>
              <a:t>can you ask Copilot to do when working with Excel data analysis?</a:t>
            </a:r>
          </a:p>
          <a:p>
            <a:pPr>
              <a:spcAft>
                <a:spcPts val="800"/>
              </a:spcAft>
            </a:pPr>
            <a:endParaRPr lang="en-US" b="1" dirty="0">
              <a:latin typeface="Arial" panose="020B0604020202020204" pitchFamily="34" charset="0"/>
              <a:cs typeface="Arial" panose="020B0604020202020204" pitchFamily="34" charset="0"/>
            </a:endParaRPr>
          </a:p>
          <a:p>
            <a:pPr marL="342900" indent="-342900">
              <a:spcAft>
                <a:spcPts val="800"/>
              </a:spcAft>
              <a:buFont typeface="+mj-lt"/>
              <a:buAutoNum type="alphaUcPeriod"/>
            </a:pPr>
            <a:r>
              <a:rPr lang="en-US" dirty="0" smtClean="0">
                <a:latin typeface="Arial" panose="020B0604020202020204" pitchFamily="34" charset="0"/>
                <a:cs typeface="Arial" panose="020B0604020202020204" pitchFamily="34" charset="0"/>
              </a:rPr>
              <a:t>Create </a:t>
            </a:r>
            <a:r>
              <a:rPr lang="en-US" dirty="0">
                <a:latin typeface="Arial" panose="020B0604020202020204" pitchFamily="34" charset="0"/>
                <a:cs typeface="Arial" panose="020B0604020202020204" pitchFamily="34" charset="0"/>
              </a:rPr>
              <a:t>a new Microsoft Word document</a:t>
            </a:r>
          </a:p>
          <a:p>
            <a:pPr marL="342900" indent="-342900">
              <a:spcAft>
                <a:spcPts val="800"/>
              </a:spcAft>
              <a:buFont typeface="+mj-lt"/>
              <a:buAutoNum type="alphaUcPeriod"/>
            </a:pPr>
            <a:r>
              <a:rPr lang="en-US" dirty="0" smtClean="0">
                <a:latin typeface="Arial" panose="020B0604020202020204" pitchFamily="34" charset="0"/>
                <a:cs typeface="Arial" panose="020B0604020202020204" pitchFamily="34" charset="0"/>
              </a:rPr>
              <a:t>Design </a:t>
            </a:r>
            <a:r>
              <a:rPr lang="en-US" dirty="0">
                <a:latin typeface="Arial" panose="020B0604020202020204" pitchFamily="34" charset="0"/>
                <a:cs typeface="Arial" panose="020B0604020202020204" pitchFamily="34" charset="0"/>
              </a:rPr>
              <a:t>a company logo</a:t>
            </a:r>
          </a:p>
          <a:p>
            <a:pPr marL="342900" indent="-342900">
              <a:spcAft>
                <a:spcPts val="800"/>
              </a:spcAft>
              <a:buFont typeface="+mj-lt"/>
              <a:buAutoNum type="alphaUcPeriod"/>
            </a:pPr>
            <a:r>
              <a:rPr lang="en-US" dirty="0">
                <a:latin typeface="Arial" panose="020B0604020202020204" pitchFamily="34" charset="0"/>
                <a:cs typeface="Arial" panose="020B0604020202020204" pitchFamily="34" charset="0"/>
              </a:rPr>
              <a:t>Suggest the best chart type and generate it automatically</a:t>
            </a:r>
          </a:p>
          <a:p>
            <a:pPr marL="342900" indent="-342900">
              <a:spcAft>
                <a:spcPts val="800"/>
              </a:spcAft>
              <a:buFont typeface="+mj-lt"/>
              <a:buAutoNum type="alphaUcPeriod"/>
            </a:pPr>
            <a:r>
              <a:rPr lang="en-US" dirty="0" smtClean="0">
                <a:latin typeface="Arial" panose="020B0604020202020204" pitchFamily="34" charset="0"/>
                <a:cs typeface="Arial" panose="020B0604020202020204" pitchFamily="34" charset="0"/>
              </a:rPr>
              <a:t>Schedule </a:t>
            </a:r>
            <a:r>
              <a:rPr lang="en-US" dirty="0">
                <a:latin typeface="Arial" panose="020B0604020202020204" pitchFamily="34" charset="0"/>
                <a:cs typeface="Arial" panose="020B0604020202020204" pitchFamily="34" charset="0"/>
              </a:rPr>
              <a:t>a meeting in Outlook</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4802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0E178734-7E1D-0740-E039-E64D8B06102C}"/>
              </a:ext>
            </a:extLst>
          </p:cNvPr>
          <p:cNvSpPr txBox="1">
            <a:spLocks/>
          </p:cNvSpPr>
          <p:nvPr/>
        </p:nvSpPr>
        <p:spPr>
          <a:xfrm>
            <a:off x="4230058" y="2971800"/>
            <a:ext cx="3770942" cy="990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5000" b="1" dirty="0">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286673999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418</TotalTime>
  <Words>3939</Words>
  <Application>Microsoft Office PowerPoint</Application>
  <PresentationFormat>Widescreen</PresentationFormat>
  <Paragraphs>356</Paragraphs>
  <Slides>32</Slides>
  <Notes>21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32</vt:i4>
      </vt:variant>
    </vt:vector>
  </HeadingPairs>
  <TitlesOfParts>
    <vt:vector size="39" baseType="lpstr">
      <vt:lpstr>Aptos</vt:lpstr>
      <vt:lpstr>Arial</vt:lpstr>
      <vt:lpstr>Calibri</vt:lpstr>
      <vt:lpstr>Gautami</vt:lpstr>
      <vt:lpstr>Symbol</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Sagar Chetan Mehta</cp:lastModifiedBy>
  <cp:revision>21</cp:revision>
  <dcterms:created xsi:type="dcterms:W3CDTF">2024-05-21T11:55:07Z</dcterms:created>
  <dcterms:modified xsi:type="dcterms:W3CDTF">2026-03-05T09:03:47Z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9C66A616-42E4-4EAC-B385-AC0C45CFC5CC</vt:lpwstr>
  </property>
  <property fmtid="{D5CDD505-2E9C-101B-9397-08002B2CF9AE}" pid="3" name="ArticulatePath">
    <vt:lpwstr>https://edunetfoundationorg-my.sharepoint.com/personal/kaisar_edunetfoundation_org/Documents/Beutified ppt/MSITI/Micro Degree/Template/microdigree-Template</vt:lpwstr>
  </property>
</Properties>
</file>