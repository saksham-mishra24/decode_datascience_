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notesSlides/notesSlide4.xml" ContentType="application/vnd.openxmlformats-officedocument.presentationml.notesSlide+xml"/>
  <Override PartName="/ppt/tags/tag8.xml" ContentType="application/vnd.openxmlformats-officedocument.presentationml.tags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notesSlides/notesSlide6.xml" ContentType="application/vnd.openxmlformats-officedocument.presentationml.notesSlide+xml"/>
  <Override PartName="/ppt/tags/tag10.xml" ContentType="application/vnd.openxmlformats-officedocument.presentationml.tags+xml"/>
  <Override PartName="/ppt/notesSlides/notesSlide7.xml" ContentType="application/vnd.openxmlformats-officedocument.presentationml.notesSlide+xml"/>
  <Override PartName="/ppt/tags/tag11.xml" ContentType="application/vnd.openxmlformats-officedocument.presentationml.tags+xml"/>
  <Override PartName="/ppt/notesSlides/notesSlide8.xml" ContentType="application/vnd.openxmlformats-officedocument.presentationml.notesSlide+xml"/>
  <Override PartName="/ppt/tags/tag12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13.xml" ContentType="application/vnd.openxmlformats-officedocument.presentationml.tags+xml"/>
  <Override PartName="/ppt/notesSlides/notesSlide1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14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15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ags/tag16.xml" ContentType="application/vnd.openxmlformats-officedocument.presentationml.tags+xml"/>
  <Override PartName="/ppt/notesSlides/notesSlide16.xml" ContentType="application/vnd.openxmlformats-officedocument.presentationml.notesSlide+xml"/>
  <Override PartName="/ppt/tags/tag17.xml" ContentType="application/vnd.openxmlformats-officedocument.presentationml.tags+xml"/>
  <Override PartName="/ppt/notesSlides/notesSlide17.xml" ContentType="application/vnd.openxmlformats-officedocument.presentationml.notesSlide+xml"/>
  <Override PartName="/ppt/tags/tag18.xml" ContentType="application/vnd.openxmlformats-officedocument.presentationml.tags+xml"/>
  <Override PartName="/ppt/notesSlides/notesSlide18.xml" ContentType="application/vnd.openxmlformats-officedocument.presentationml.notesSlide+xml"/>
  <Override PartName="/ppt/tags/tag19.xml" ContentType="application/vnd.openxmlformats-officedocument.presentationml.tags+xml"/>
  <Override PartName="/ppt/notesSlides/notesSlide19.xml" ContentType="application/vnd.openxmlformats-officedocument.presentationml.notesSlide+xml"/>
  <Override PartName="/ppt/tags/tag20.xml" ContentType="application/vnd.openxmlformats-officedocument.presentationml.tags+xml"/>
  <Override PartName="/ppt/notesSlides/notesSlide20.xml" ContentType="application/vnd.openxmlformats-officedocument.presentationml.notesSlide+xml"/>
  <Override PartName="/ppt/tags/tag21.xml" ContentType="application/vnd.openxmlformats-officedocument.presentationml.tags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0" r:id="rId2"/>
  </p:sldMasterIdLst>
  <p:notesMasterIdLst>
    <p:notesMasterId r:id="rId33"/>
  </p:notesMasterIdLst>
  <p:sldIdLst>
    <p:sldId id="256" r:id="rId3"/>
    <p:sldId id="257" r:id="rId4"/>
    <p:sldId id="470" r:id="rId5"/>
    <p:sldId id="471" r:id="rId6"/>
    <p:sldId id="473" r:id="rId7"/>
    <p:sldId id="522" r:id="rId8"/>
    <p:sldId id="542" r:id="rId9"/>
    <p:sldId id="543" r:id="rId10"/>
    <p:sldId id="523" r:id="rId11"/>
    <p:sldId id="524" r:id="rId12"/>
    <p:sldId id="521" r:id="rId13"/>
    <p:sldId id="520" r:id="rId14"/>
    <p:sldId id="526" r:id="rId15"/>
    <p:sldId id="529" r:id="rId16"/>
    <p:sldId id="528" r:id="rId17"/>
    <p:sldId id="535" r:id="rId18"/>
    <p:sldId id="527" r:id="rId19"/>
    <p:sldId id="536" r:id="rId20"/>
    <p:sldId id="531" r:id="rId21"/>
    <p:sldId id="532" r:id="rId22"/>
    <p:sldId id="512" r:id="rId23"/>
    <p:sldId id="513" r:id="rId24"/>
    <p:sldId id="263" r:id="rId25"/>
    <p:sldId id="264" r:id="rId26"/>
    <p:sldId id="537" r:id="rId27"/>
    <p:sldId id="533" r:id="rId28"/>
    <p:sldId id="539" r:id="rId29"/>
    <p:sldId id="534" r:id="rId30"/>
    <p:sldId id="540" r:id="rId31"/>
    <p:sldId id="519" r:id="rId32"/>
  </p:sldIdLst>
  <p:sldSz cx="12192000" cy="6858000"/>
  <p:notesSz cx="6858000" cy="9144000"/>
  <p:custDataLst>
    <p:tags r:id="rId3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2" userDrawn="1">
          <p15:clr>
            <a:srgbClr val="A4A3A4"/>
          </p15:clr>
        </p15:guide>
        <p15:guide id="2" pos="240" userDrawn="1">
          <p15:clr>
            <a:srgbClr val="A4A3A4"/>
          </p15:clr>
        </p15:guide>
        <p15:guide id="3" orient="horz" pos="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DE0FF"/>
    <a:srgbClr val="0066FF"/>
    <a:srgbClr val="F3F8FF"/>
    <a:srgbClr val="E7F0FF"/>
    <a:srgbClr val="484F9E"/>
    <a:srgbClr val="F9B334"/>
    <a:srgbClr val="BEBFD3"/>
    <a:srgbClr val="ACCBFF"/>
    <a:srgbClr val="839BFF"/>
    <a:srgbClr val="80350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B6E99B-C35E-FA79-20EB-E908D105CDC8}" v="20" dt="2026-03-05T10:23:37.0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7470" autoAdjust="0"/>
  </p:normalViewPr>
  <p:slideViewPr>
    <p:cSldViewPr snapToGrid="0">
      <p:cViewPr varScale="1">
        <p:scale>
          <a:sx n="65" d="100"/>
          <a:sy n="65" d="100"/>
        </p:scale>
        <p:origin x="700" y="44"/>
      </p:cViewPr>
      <p:guideLst>
        <p:guide orient="horz" pos="672"/>
        <p:guide pos="240"/>
        <p:guide orient="horz" pos="8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microsoft.com/office/2015/10/relationships/revisionInfo" Target="revisionInfo.xml"/><Relationship Id="rId21" Type="http://schemas.openxmlformats.org/officeDocument/2006/relationships/slide" Target="slides/slide19.xml"/><Relationship Id="rId34" Type="http://schemas.openxmlformats.org/officeDocument/2006/relationships/tags" Target="tags/tag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9B8076B-AB20-48DC-9A4B-42537663CFA1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B6CE28BF-157D-46F3-97C4-0D5834070897}">
      <dgm:prSet phldrT="[Text]"/>
      <dgm:spPr/>
      <dgm:t>
        <a:bodyPr/>
        <a:lstStyle/>
        <a:p>
          <a:pPr>
            <a:buNone/>
          </a:pPr>
          <a:r>
            <a:rPr lang="en-IN" b="1" dirty="0"/>
            <a:t>Data Collection</a:t>
          </a:r>
          <a:endParaRPr lang="en-IN" dirty="0"/>
        </a:p>
      </dgm:t>
    </dgm:pt>
    <dgm:pt modelId="{06A2F512-7748-4886-BA1C-457396530F00}" type="parTrans" cxnId="{A11D2593-E5D9-44D3-9C95-BC9DE960E663}">
      <dgm:prSet/>
      <dgm:spPr/>
      <dgm:t>
        <a:bodyPr/>
        <a:lstStyle/>
        <a:p>
          <a:endParaRPr lang="en-IN"/>
        </a:p>
      </dgm:t>
    </dgm:pt>
    <dgm:pt modelId="{753D5831-BBAE-42E4-9BA8-1BFB023B16A9}" type="sibTrans" cxnId="{A11D2593-E5D9-44D3-9C95-BC9DE960E663}">
      <dgm:prSet/>
      <dgm:spPr/>
      <dgm:t>
        <a:bodyPr/>
        <a:lstStyle/>
        <a:p>
          <a:endParaRPr lang="en-IN"/>
        </a:p>
      </dgm:t>
    </dgm:pt>
    <dgm:pt modelId="{C17A0B9D-1840-4AA9-862B-53C127D146E1}">
      <dgm:prSet/>
      <dgm:spPr/>
      <dgm:t>
        <a:bodyPr/>
        <a:lstStyle/>
        <a:p>
          <a:r>
            <a:rPr lang="en-IN" b="1"/>
            <a:t>Data Cleaning &amp; Visualization</a:t>
          </a:r>
          <a:endParaRPr lang="en-IN" b="1" dirty="0"/>
        </a:p>
      </dgm:t>
    </dgm:pt>
    <dgm:pt modelId="{01E046F3-4AE1-462A-992B-FD650E52C908}" type="parTrans" cxnId="{76DAB6E5-F263-4EE3-B709-2F6C5B54060E}">
      <dgm:prSet/>
      <dgm:spPr/>
      <dgm:t>
        <a:bodyPr/>
        <a:lstStyle/>
        <a:p>
          <a:endParaRPr lang="en-IN"/>
        </a:p>
      </dgm:t>
    </dgm:pt>
    <dgm:pt modelId="{713A0868-066C-4F9F-A697-466A19D6C951}" type="sibTrans" cxnId="{76DAB6E5-F263-4EE3-B709-2F6C5B54060E}">
      <dgm:prSet/>
      <dgm:spPr/>
      <dgm:t>
        <a:bodyPr/>
        <a:lstStyle/>
        <a:p>
          <a:endParaRPr lang="en-IN"/>
        </a:p>
      </dgm:t>
    </dgm:pt>
    <dgm:pt modelId="{66988FE8-AC33-49E4-9EBE-931AD244A923}">
      <dgm:prSet/>
      <dgm:spPr/>
      <dgm:t>
        <a:bodyPr/>
        <a:lstStyle/>
        <a:p>
          <a:r>
            <a:rPr lang="en-IN" b="1" dirty="0"/>
            <a:t>GitHub &amp; </a:t>
          </a:r>
          <a:r>
            <a:rPr lang="en-IN" b="1" dirty="0" err="1"/>
            <a:t>Jupyter</a:t>
          </a:r>
          <a:r>
            <a:rPr lang="en-IN" b="1" dirty="0"/>
            <a:t> Notebook</a:t>
          </a:r>
          <a:endParaRPr lang="en-IN" dirty="0"/>
        </a:p>
      </dgm:t>
    </dgm:pt>
    <dgm:pt modelId="{DCF23B85-F398-4120-9CAA-23D13E868E1A}" type="parTrans" cxnId="{AB97B2EB-D1FE-484F-8020-4C1C19218A9C}">
      <dgm:prSet/>
      <dgm:spPr/>
      <dgm:t>
        <a:bodyPr/>
        <a:lstStyle/>
        <a:p>
          <a:endParaRPr lang="en-IN"/>
        </a:p>
      </dgm:t>
    </dgm:pt>
    <dgm:pt modelId="{DFB7B996-3DD6-477E-8F09-5466DE07249C}" type="sibTrans" cxnId="{AB97B2EB-D1FE-484F-8020-4C1C19218A9C}">
      <dgm:prSet/>
      <dgm:spPr/>
      <dgm:t>
        <a:bodyPr/>
        <a:lstStyle/>
        <a:p>
          <a:endParaRPr lang="en-IN"/>
        </a:p>
      </dgm:t>
    </dgm:pt>
    <dgm:pt modelId="{065C50A8-02F5-4A4C-986D-57C6058F0612}">
      <dgm:prSet/>
      <dgm:spPr/>
      <dgm:t>
        <a:bodyPr/>
        <a:lstStyle/>
        <a:p>
          <a:r>
            <a:rPr lang="en-IN" b="1"/>
            <a:t>Azure </a:t>
          </a:r>
          <a:r>
            <a:rPr lang="en-IN" b="1" dirty="0"/>
            <a:t>Cloud Exploration</a:t>
          </a:r>
          <a:endParaRPr lang="en-IN" dirty="0"/>
        </a:p>
      </dgm:t>
    </dgm:pt>
    <dgm:pt modelId="{B31CDCA1-1CC6-4C32-9402-9F0F5CB5E6FC}" type="parTrans" cxnId="{B6E5A2B8-4BEF-4480-8632-40D54368ED18}">
      <dgm:prSet/>
      <dgm:spPr/>
      <dgm:t>
        <a:bodyPr/>
        <a:lstStyle/>
        <a:p>
          <a:endParaRPr lang="en-IN"/>
        </a:p>
      </dgm:t>
    </dgm:pt>
    <dgm:pt modelId="{E6EB6B3B-7146-4F46-A555-CEAD25E38B00}" type="sibTrans" cxnId="{B6E5A2B8-4BEF-4480-8632-40D54368ED18}">
      <dgm:prSet/>
      <dgm:spPr/>
      <dgm:t>
        <a:bodyPr/>
        <a:lstStyle/>
        <a:p>
          <a:endParaRPr lang="en-IN"/>
        </a:p>
      </dgm:t>
    </dgm:pt>
    <dgm:pt modelId="{16A118CE-BA21-4FAC-B8F1-E1890057F1DD}" type="pres">
      <dgm:prSet presAssocID="{89B8076B-AB20-48DC-9A4B-42537663CFA1}" presName="Name0" presStyleCnt="0">
        <dgm:presLayoutVars>
          <dgm:dir/>
          <dgm:animLvl val="lvl"/>
          <dgm:resizeHandles val="exact"/>
        </dgm:presLayoutVars>
      </dgm:prSet>
      <dgm:spPr/>
    </dgm:pt>
    <dgm:pt modelId="{1AB16BEA-CF74-4847-AAC0-0C0ADCE2ACBF}" type="pres">
      <dgm:prSet presAssocID="{B6CE28BF-157D-46F3-97C4-0D5834070897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A5A20376-5B65-42E0-B7FB-ADCA7B034B18}" type="pres">
      <dgm:prSet presAssocID="{753D5831-BBAE-42E4-9BA8-1BFB023B16A9}" presName="parTxOnlySpace" presStyleCnt="0"/>
      <dgm:spPr/>
    </dgm:pt>
    <dgm:pt modelId="{372FD867-63CE-4194-BE2F-E19EB0444E93}" type="pres">
      <dgm:prSet presAssocID="{C17A0B9D-1840-4AA9-862B-53C127D146E1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FD8E0D98-C174-4847-A7C2-9B7DF73E250E}" type="pres">
      <dgm:prSet presAssocID="{713A0868-066C-4F9F-A697-466A19D6C951}" presName="parTxOnlySpace" presStyleCnt="0"/>
      <dgm:spPr/>
    </dgm:pt>
    <dgm:pt modelId="{2F9FFE2F-8E8A-45E9-A8F1-27430164BF77}" type="pres">
      <dgm:prSet presAssocID="{66988FE8-AC33-49E4-9EBE-931AD244A923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C1812C62-C9A5-4201-93F5-A5A3E2F1EB9B}" type="pres">
      <dgm:prSet presAssocID="{DFB7B996-3DD6-477E-8F09-5466DE07249C}" presName="parTxOnlySpace" presStyleCnt="0"/>
      <dgm:spPr/>
    </dgm:pt>
    <dgm:pt modelId="{670E5A55-0B9F-45EB-B369-48A8CE0A5BCB}" type="pres">
      <dgm:prSet presAssocID="{065C50A8-02F5-4A4C-986D-57C6058F0612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A11D2593-E5D9-44D3-9C95-BC9DE960E663}" srcId="{89B8076B-AB20-48DC-9A4B-42537663CFA1}" destId="{B6CE28BF-157D-46F3-97C4-0D5834070897}" srcOrd="0" destOrd="0" parTransId="{06A2F512-7748-4886-BA1C-457396530F00}" sibTransId="{753D5831-BBAE-42E4-9BA8-1BFB023B16A9}"/>
    <dgm:cxn modelId="{508E1F98-2090-40AD-9240-49A7F1493E38}" type="presOf" srcId="{B6CE28BF-157D-46F3-97C4-0D5834070897}" destId="{1AB16BEA-CF74-4847-AAC0-0C0ADCE2ACBF}" srcOrd="0" destOrd="0" presId="urn:microsoft.com/office/officeart/2005/8/layout/chevron1"/>
    <dgm:cxn modelId="{6A8E62A3-3CFF-4DB7-9412-17F8E9ADC445}" type="presOf" srcId="{66988FE8-AC33-49E4-9EBE-931AD244A923}" destId="{2F9FFE2F-8E8A-45E9-A8F1-27430164BF77}" srcOrd="0" destOrd="0" presId="urn:microsoft.com/office/officeart/2005/8/layout/chevron1"/>
    <dgm:cxn modelId="{B6E5A2B8-4BEF-4480-8632-40D54368ED18}" srcId="{89B8076B-AB20-48DC-9A4B-42537663CFA1}" destId="{065C50A8-02F5-4A4C-986D-57C6058F0612}" srcOrd="3" destOrd="0" parTransId="{B31CDCA1-1CC6-4C32-9402-9F0F5CB5E6FC}" sibTransId="{E6EB6B3B-7146-4F46-A555-CEAD25E38B00}"/>
    <dgm:cxn modelId="{9FD4B6BF-4B6C-4A8D-9FB9-77A3AB05E4C0}" type="presOf" srcId="{89B8076B-AB20-48DC-9A4B-42537663CFA1}" destId="{16A118CE-BA21-4FAC-B8F1-E1890057F1DD}" srcOrd="0" destOrd="0" presId="urn:microsoft.com/office/officeart/2005/8/layout/chevron1"/>
    <dgm:cxn modelId="{B99E86D6-FE0C-4A1E-B3CA-FB9DAD89708E}" type="presOf" srcId="{065C50A8-02F5-4A4C-986D-57C6058F0612}" destId="{670E5A55-0B9F-45EB-B369-48A8CE0A5BCB}" srcOrd="0" destOrd="0" presId="urn:microsoft.com/office/officeart/2005/8/layout/chevron1"/>
    <dgm:cxn modelId="{76DAB6E5-F263-4EE3-B709-2F6C5B54060E}" srcId="{89B8076B-AB20-48DC-9A4B-42537663CFA1}" destId="{C17A0B9D-1840-4AA9-862B-53C127D146E1}" srcOrd="1" destOrd="0" parTransId="{01E046F3-4AE1-462A-992B-FD650E52C908}" sibTransId="{713A0868-066C-4F9F-A697-466A19D6C951}"/>
    <dgm:cxn modelId="{AB97B2EB-D1FE-484F-8020-4C1C19218A9C}" srcId="{89B8076B-AB20-48DC-9A4B-42537663CFA1}" destId="{66988FE8-AC33-49E4-9EBE-931AD244A923}" srcOrd="2" destOrd="0" parTransId="{DCF23B85-F398-4120-9CAA-23D13E868E1A}" sibTransId="{DFB7B996-3DD6-477E-8F09-5466DE07249C}"/>
    <dgm:cxn modelId="{5CE48CEE-9B9F-42EE-A3A8-2D7625342CA5}" type="presOf" srcId="{C17A0B9D-1840-4AA9-862B-53C127D146E1}" destId="{372FD867-63CE-4194-BE2F-E19EB0444E93}" srcOrd="0" destOrd="0" presId="urn:microsoft.com/office/officeart/2005/8/layout/chevron1"/>
    <dgm:cxn modelId="{045CB6F4-24B9-45C7-966B-CC4311FB6B60}" type="presParOf" srcId="{16A118CE-BA21-4FAC-B8F1-E1890057F1DD}" destId="{1AB16BEA-CF74-4847-AAC0-0C0ADCE2ACBF}" srcOrd="0" destOrd="0" presId="urn:microsoft.com/office/officeart/2005/8/layout/chevron1"/>
    <dgm:cxn modelId="{5D4928FE-8292-4564-AB48-5646C2837CF0}" type="presParOf" srcId="{16A118CE-BA21-4FAC-B8F1-E1890057F1DD}" destId="{A5A20376-5B65-42E0-B7FB-ADCA7B034B18}" srcOrd="1" destOrd="0" presId="urn:microsoft.com/office/officeart/2005/8/layout/chevron1"/>
    <dgm:cxn modelId="{93C3EF9F-E9A9-447D-8DFF-3800F19795E4}" type="presParOf" srcId="{16A118CE-BA21-4FAC-B8F1-E1890057F1DD}" destId="{372FD867-63CE-4194-BE2F-E19EB0444E93}" srcOrd="2" destOrd="0" presId="urn:microsoft.com/office/officeart/2005/8/layout/chevron1"/>
    <dgm:cxn modelId="{AEFC8967-D9CC-40CB-BEEE-F572C741CFE9}" type="presParOf" srcId="{16A118CE-BA21-4FAC-B8F1-E1890057F1DD}" destId="{FD8E0D98-C174-4847-A7C2-9B7DF73E250E}" srcOrd="3" destOrd="0" presId="urn:microsoft.com/office/officeart/2005/8/layout/chevron1"/>
    <dgm:cxn modelId="{3969ECD8-DE88-4D57-A074-39837A7C055A}" type="presParOf" srcId="{16A118CE-BA21-4FAC-B8F1-E1890057F1DD}" destId="{2F9FFE2F-8E8A-45E9-A8F1-27430164BF77}" srcOrd="4" destOrd="0" presId="urn:microsoft.com/office/officeart/2005/8/layout/chevron1"/>
    <dgm:cxn modelId="{E3827588-F52D-46FF-B187-F43452A4D6A3}" type="presParOf" srcId="{16A118CE-BA21-4FAC-B8F1-E1890057F1DD}" destId="{C1812C62-C9A5-4201-93F5-A5A3E2F1EB9B}" srcOrd="5" destOrd="0" presId="urn:microsoft.com/office/officeart/2005/8/layout/chevron1"/>
    <dgm:cxn modelId="{93B1D11D-67D7-4159-88BD-2B049F95D054}" type="presParOf" srcId="{16A118CE-BA21-4FAC-B8F1-E1890057F1DD}" destId="{670E5A55-0B9F-45EB-B369-48A8CE0A5BCB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B16BEA-CF74-4847-AAC0-0C0ADCE2ACBF}">
      <dsp:nvSpPr>
        <dsp:cNvPr id="0" name=""/>
        <dsp:cNvSpPr/>
      </dsp:nvSpPr>
      <dsp:spPr>
        <a:xfrm>
          <a:off x="3853" y="1705474"/>
          <a:ext cx="2243015" cy="89720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/>
            <a:t>Data Collection</a:t>
          </a:r>
          <a:endParaRPr lang="en-IN" sz="1600" kern="1200" dirty="0"/>
        </a:p>
      </dsp:txBody>
      <dsp:txXfrm>
        <a:off x="452456" y="1705474"/>
        <a:ext cx="1345809" cy="897206"/>
      </dsp:txXfrm>
    </dsp:sp>
    <dsp:sp modelId="{372FD867-63CE-4194-BE2F-E19EB0444E93}">
      <dsp:nvSpPr>
        <dsp:cNvPr id="0" name=""/>
        <dsp:cNvSpPr/>
      </dsp:nvSpPr>
      <dsp:spPr>
        <a:xfrm>
          <a:off x="2022567" y="1705474"/>
          <a:ext cx="2243015" cy="89720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/>
            <a:t>Data Cleaning &amp; Visualization</a:t>
          </a:r>
          <a:endParaRPr lang="en-IN" sz="1600" b="1" kern="1200" dirty="0"/>
        </a:p>
      </dsp:txBody>
      <dsp:txXfrm>
        <a:off x="2471170" y="1705474"/>
        <a:ext cx="1345809" cy="897206"/>
      </dsp:txXfrm>
    </dsp:sp>
    <dsp:sp modelId="{2F9FFE2F-8E8A-45E9-A8F1-27430164BF77}">
      <dsp:nvSpPr>
        <dsp:cNvPr id="0" name=""/>
        <dsp:cNvSpPr/>
      </dsp:nvSpPr>
      <dsp:spPr>
        <a:xfrm>
          <a:off x="4041281" y="1705474"/>
          <a:ext cx="2243015" cy="89720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 dirty="0"/>
            <a:t>GitHub &amp; </a:t>
          </a:r>
          <a:r>
            <a:rPr lang="en-IN" sz="1600" b="1" kern="1200" dirty="0" err="1"/>
            <a:t>Jupyter</a:t>
          </a:r>
          <a:r>
            <a:rPr lang="en-IN" sz="1600" b="1" kern="1200" dirty="0"/>
            <a:t> Notebook</a:t>
          </a:r>
          <a:endParaRPr lang="en-IN" sz="1600" kern="1200" dirty="0"/>
        </a:p>
      </dsp:txBody>
      <dsp:txXfrm>
        <a:off x="4489884" y="1705474"/>
        <a:ext cx="1345809" cy="897206"/>
      </dsp:txXfrm>
    </dsp:sp>
    <dsp:sp modelId="{670E5A55-0B9F-45EB-B369-48A8CE0A5BCB}">
      <dsp:nvSpPr>
        <dsp:cNvPr id="0" name=""/>
        <dsp:cNvSpPr/>
      </dsp:nvSpPr>
      <dsp:spPr>
        <a:xfrm>
          <a:off x="6059995" y="1705474"/>
          <a:ext cx="2243015" cy="89720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/>
            <a:t>Azure </a:t>
          </a:r>
          <a:r>
            <a:rPr lang="en-IN" sz="1600" b="1" kern="1200" dirty="0"/>
            <a:t>Cloud Exploration</a:t>
          </a:r>
          <a:endParaRPr lang="en-IN" sz="1600" kern="1200" dirty="0"/>
        </a:p>
      </dsp:txBody>
      <dsp:txXfrm>
        <a:off x="6508598" y="1705474"/>
        <a:ext cx="1345809" cy="8972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B617E5-F3A5-47F0-AA4C-1BC069E72CED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0FC4EF-F040-4629-96AB-A33446C1CF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4600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portal.azure.com/" TargetMode="External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Introduction to the Case Study:</a:t>
            </a:r>
            <a:endParaRPr lang="en-US" dirty="0"/>
          </a:p>
          <a:p>
            <a:r>
              <a:rPr lang="en-US" dirty="0"/>
              <a:t>This project demonstrates how </a:t>
            </a:r>
            <a:r>
              <a:rPr lang="en-US" b="1" dirty="0"/>
              <a:t>AI-powered tools</a:t>
            </a:r>
            <a:r>
              <a:rPr lang="en-US" dirty="0"/>
              <a:t> can be applied to real-world retail analytics.</a:t>
            </a:r>
          </a:p>
          <a:p>
            <a:r>
              <a:rPr lang="en-US" dirty="0"/>
              <a:t>The focus is on </a:t>
            </a:r>
            <a:r>
              <a:rPr lang="en-US" b="1" dirty="0"/>
              <a:t>predicting product demand</a:t>
            </a:r>
            <a:r>
              <a:rPr lang="en-US" dirty="0"/>
              <a:t> and supporting inventory planning using historical sales data.</a:t>
            </a:r>
          </a:p>
          <a:p>
            <a:r>
              <a:rPr lang="en-US" b="1" dirty="0"/>
              <a:t>Practical Relevance:</a:t>
            </a:r>
            <a:endParaRPr lang="en-US" dirty="0"/>
          </a:p>
          <a:p>
            <a:r>
              <a:rPr lang="en-US" dirty="0"/>
              <a:t>Inspired by </a:t>
            </a:r>
            <a:r>
              <a:rPr lang="en-US" b="1" dirty="0"/>
              <a:t>Walmart’s industry practices</a:t>
            </a:r>
            <a:r>
              <a:rPr lang="en-US" dirty="0"/>
              <a:t>, the case study integrates </a:t>
            </a:r>
            <a:r>
              <a:rPr lang="en-US" b="1" dirty="0"/>
              <a:t>data cleaning, visualization, forecasting, and cloud-based analytics</a:t>
            </a:r>
            <a:r>
              <a:rPr lang="en-US" dirty="0"/>
              <a:t>.</a:t>
            </a:r>
          </a:p>
          <a:p>
            <a:r>
              <a:rPr lang="en-US" dirty="0"/>
              <a:t>Students will experience an </a:t>
            </a:r>
            <a:r>
              <a:rPr lang="en-US" b="1" dirty="0"/>
              <a:t>end-to-end workflow</a:t>
            </a:r>
            <a:r>
              <a:rPr lang="en-US" dirty="0"/>
              <a:t>, combining Excel, Python, and Azure.</a:t>
            </a:r>
          </a:p>
          <a:p>
            <a:r>
              <a:rPr lang="en-US" b="1" dirty="0"/>
              <a:t>Learning Goals:</a:t>
            </a:r>
            <a:endParaRPr lang="en-US" dirty="0"/>
          </a:p>
          <a:p>
            <a:r>
              <a:rPr lang="en-US" dirty="0"/>
              <a:t>Understand how </a:t>
            </a:r>
            <a:r>
              <a:rPr lang="en-US" b="1" dirty="0"/>
              <a:t>AI-assisted productivity tools</a:t>
            </a:r>
            <a:r>
              <a:rPr lang="en-US" dirty="0"/>
              <a:t> streamline data analysis.</a:t>
            </a:r>
          </a:p>
          <a:p>
            <a:r>
              <a:rPr lang="en-US" dirty="0"/>
              <a:t>Learn to </a:t>
            </a:r>
            <a:r>
              <a:rPr lang="en-US" b="1" dirty="0"/>
              <a:t>generate actionable insights</a:t>
            </a:r>
            <a:r>
              <a:rPr lang="en-US" dirty="0"/>
              <a:t> that inform data-driven decisions in retail.</a:t>
            </a:r>
          </a:p>
          <a:p>
            <a:r>
              <a:rPr lang="en-US" b="1" dirty="0"/>
              <a:t>Key Takeaway:</a:t>
            </a:r>
            <a:endParaRPr lang="en-US" dirty="0"/>
          </a:p>
          <a:p>
            <a:r>
              <a:rPr lang="en-US" dirty="0"/>
              <a:t>By the end of this project, students will see how </a:t>
            </a:r>
            <a:r>
              <a:rPr lang="en-US" b="1" dirty="0"/>
              <a:t>AI, programming, and cloud technologies</a:t>
            </a:r>
            <a:r>
              <a:rPr lang="en-US" dirty="0"/>
              <a:t> work together to solve practical business problems in retail analytics.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0FC4EF-F040-4629-96AB-A33446C1CF54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37824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Objectives</a:t>
            </a:r>
          </a:p>
          <a:p>
            <a:r>
              <a:rPr lang="en-US" b="1" dirty="0"/>
              <a:t>Case Study Integration:</a:t>
            </a:r>
            <a:endParaRPr lang="en-US" dirty="0"/>
          </a:p>
          <a:p>
            <a:r>
              <a:rPr lang="en-US" dirty="0"/>
              <a:t>The project is </a:t>
            </a:r>
            <a:r>
              <a:rPr lang="en-US" b="1" dirty="0"/>
              <a:t>practical and case study–based</a:t>
            </a:r>
            <a:r>
              <a:rPr lang="en-US" dirty="0"/>
              <a:t>, allowing students to apply AI productivity tools in a real-world retail scenario.</a:t>
            </a:r>
          </a:p>
          <a:p>
            <a:r>
              <a:rPr lang="en-US" b="1" dirty="0"/>
              <a:t>Data Analysis:</a:t>
            </a:r>
            <a:endParaRPr lang="en-US" dirty="0"/>
          </a:p>
          <a:p>
            <a:r>
              <a:rPr lang="en-US" dirty="0"/>
              <a:t>Use </a:t>
            </a:r>
            <a:r>
              <a:rPr lang="en-US" b="1" dirty="0"/>
              <a:t>Microsoft Excel Copilot</a:t>
            </a:r>
            <a:r>
              <a:rPr lang="en-US" dirty="0"/>
              <a:t> to clean, validate, and analyze retail sales data efficiently.</a:t>
            </a:r>
          </a:p>
          <a:p>
            <a:r>
              <a:rPr lang="en-US" b="1" dirty="0"/>
              <a:t>Python Programming:</a:t>
            </a:r>
            <a:endParaRPr lang="en-US" dirty="0"/>
          </a:p>
          <a:p>
            <a:r>
              <a:rPr lang="en-US" dirty="0"/>
              <a:t>Use </a:t>
            </a:r>
            <a:r>
              <a:rPr lang="en-US" b="1" dirty="0"/>
              <a:t>GitHub Copilot</a:t>
            </a:r>
            <a:r>
              <a:rPr lang="en-US" dirty="0"/>
              <a:t> to generate, debug, and run Python code for forecasting and data processing.</a:t>
            </a:r>
          </a:p>
          <a:p>
            <a:r>
              <a:rPr lang="en-US" b="1" dirty="0"/>
              <a:t>Cloud Exploration:</a:t>
            </a:r>
            <a:endParaRPr lang="en-US" dirty="0"/>
          </a:p>
          <a:p>
            <a:r>
              <a:rPr lang="en-US" dirty="0"/>
              <a:t>Explore </a:t>
            </a:r>
            <a:r>
              <a:rPr lang="en-US" b="1" dirty="0"/>
              <a:t>Microsoft Azure</a:t>
            </a:r>
            <a:r>
              <a:rPr lang="en-US" dirty="0"/>
              <a:t> for cloud storage, dataset management, and scalable analytics workflows.</a:t>
            </a:r>
          </a:p>
          <a:p>
            <a:r>
              <a:rPr lang="en-US" b="1" dirty="0"/>
              <a:t>End-to-End Workflow:</a:t>
            </a:r>
            <a:endParaRPr lang="en-US" dirty="0"/>
          </a:p>
          <a:p>
            <a:r>
              <a:rPr lang="en-US" dirty="0"/>
              <a:t>Integrate Excel, Python, and Azure into a </a:t>
            </a:r>
            <a:r>
              <a:rPr lang="en-US" b="1" dirty="0"/>
              <a:t>complete AI-assisted analytics workflow</a:t>
            </a:r>
            <a:r>
              <a:rPr lang="en-US" dirty="0"/>
              <a:t> from raw data to actionable insights.</a:t>
            </a:r>
          </a:p>
          <a:p>
            <a:r>
              <a:rPr lang="en-US" b="1" dirty="0"/>
              <a:t>AI-Driven Decision Making:</a:t>
            </a:r>
            <a:endParaRPr lang="en-US" dirty="0"/>
          </a:p>
          <a:p>
            <a:r>
              <a:rPr lang="en-US" dirty="0"/>
              <a:t>Understand how AI tools support </a:t>
            </a:r>
            <a:r>
              <a:rPr lang="en-US" b="1" dirty="0"/>
              <a:t>data-driven decisions in retail</a:t>
            </a:r>
            <a:r>
              <a:rPr lang="en-US" dirty="0"/>
              <a:t>, inspired by industry practices like Walmart’s demand forecasting.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0FC4EF-F040-4629-96AB-A33446C1CF5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67066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Key Skills / Learning Outcomes</a:t>
            </a:r>
          </a:p>
          <a:p>
            <a:r>
              <a:rPr lang="en-US" b="1" dirty="0"/>
              <a:t>Data Cleaning &amp; Analysis:</a:t>
            </a:r>
            <a:endParaRPr lang="en-US" dirty="0"/>
          </a:p>
          <a:p>
            <a:r>
              <a:rPr lang="en-US" dirty="0"/>
              <a:t>Students learn to </a:t>
            </a:r>
            <a:r>
              <a:rPr lang="en-US" b="1" dirty="0"/>
              <a:t>clean, validate, and analyze datasets</a:t>
            </a:r>
            <a:r>
              <a:rPr lang="en-US" dirty="0"/>
              <a:t> efficiently using </a:t>
            </a:r>
            <a:r>
              <a:rPr lang="en-US" b="1" dirty="0"/>
              <a:t>Microsoft Excel Copilot</a:t>
            </a:r>
            <a:r>
              <a:rPr lang="en-US" dirty="0"/>
              <a:t>, saving time and reducing errors.</a:t>
            </a:r>
          </a:p>
          <a:p>
            <a:r>
              <a:rPr lang="en-US" b="1" dirty="0"/>
              <a:t>Python Programming:</a:t>
            </a:r>
            <a:endParaRPr lang="en-US" dirty="0"/>
          </a:p>
          <a:p>
            <a:r>
              <a:rPr lang="en-US" dirty="0"/>
              <a:t>Use </a:t>
            </a:r>
            <a:r>
              <a:rPr lang="en-US" b="1" dirty="0"/>
              <a:t>GitHub Copilot</a:t>
            </a:r>
            <a:r>
              <a:rPr lang="en-US" dirty="0"/>
              <a:t> to generate, debug, and optimize Python programs for </a:t>
            </a:r>
            <a:r>
              <a:rPr lang="en-US" b="1" dirty="0"/>
              <a:t>data processing and forecasting</a:t>
            </a:r>
            <a:r>
              <a:rPr lang="en-US" dirty="0"/>
              <a:t>.</a:t>
            </a:r>
          </a:p>
          <a:p>
            <a:r>
              <a:rPr lang="en-US" b="1" dirty="0"/>
              <a:t>Cloud Data Management:</a:t>
            </a:r>
            <a:endParaRPr lang="en-US" dirty="0"/>
          </a:p>
          <a:p>
            <a:r>
              <a:rPr lang="en-US" dirty="0"/>
              <a:t>Store, manage, and access datasets using </a:t>
            </a:r>
            <a:r>
              <a:rPr lang="en-US" b="1" dirty="0"/>
              <a:t>Microsoft Azure</a:t>
            </a:r>
            <a:r>
              <a:rPr lang="en-US" dirty="0"/>
              <a:t>, demonstrating </a:t>
            </a:r>
            <a:r>
              <a:rPr lang="en-US" b="1" dirty="0"/>
              <a:t>cloud-based data workflows</a:t>
            </a:r>
            <a:r>
              <a:rPr lang="en-US" dirty="0"/>
              <a:t>.</a:t>
            </a:r>
          </a:p>
          <a:p>
            <a:r>
              <a:rPr lang="en-US" b="1" dirty="0"/>
              <a:t>Integrated Workflow:</a:t>
            </a:r>
            <a:endParaRPr lang="en-US" dirty="0"/>
          </a:p>
          <a:p>
            <a:r>
              <a:rPr lang="en-US" dirty="0"/>
              <a:t>Combine Excel, Python, and Azure into a </a:t>
            </a:r>
            <a:r>
              <a:rPr lang="en-US" b="1" dirty="0"/>
              <a:t>complete end-to-end AI-assisted analytics workflow</a:t>
            </a:r>
            <a:r>
              <a:rPr lang="en-US" dirty="0"/>
              <a:t>, from raw data to actionable insights.</a:t>
            </a:r>
          </a:p>
          <a:p>
            <a:r>
              <a:rPr lang="en-US" b="1" dirty="0"/>
              <a:t>Business Insight &amp; Application:</a:t>
            </a:r>
            <a:endParaRPr lang="en-US" dirty="0"/>
          </a:p>
          <a:p>
            <a:r>
              <a:rPr lang="en-US" dirty="0"/>
              <a:t>Interpret results to make </a:t>
            </a:r>
            <a:r>
              <a:rPr lang="en-US" b="1" dirty="0"/>
              <a:t>data-driven decisions</a:t>
            </a:r>
            <a:r>
              <a:rPr lang="en-US" dirty="0"/>
              <a:t>.</a:t>
            </a:r>
          </a:p>
          <a:p>
            <a:r>
              <a:rPr lang="en-US" dirty="0"/>
              <a:t>Apply these skills to a </a:t>
            </a:r>
            <a:r>
              <a:rPr lang="en-US" b="1" dirty="0"/>
              <a:t>realistic retail demand forecasting case study</a:t>
            </a:r>
            <a:r>
              <a:rPr lang="en-US" dirty="0"/>
              <a:t>, inspired by </a:t>
            </a:r>
            <a:r>
              <a:rPr lang="en-US" b="1" dirty="0"/>
              <a:t>Walmart industry practices</a:t>
            </a:r>
            <a:r>
              <a:rPr lang="en-US" dirty="0"/>
              <a:t>, demonstrating practical application of AI-powered tools.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0FC4EF-F040-4629-96AB-A33446C1CF5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50292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AI-Driven Retail Analytics at Walmart</a:t>
            </a:r>
          </a:p>
          <a:p>
            <a:r>
              <a:rPr lang="en-US" b="1" dirty="0"/>
              <a:t>Context:</a:t>
            </a:r>
            <a:endParaRPr lang="en-US" dirty="0"/>
          </a:p>
          <a:p>
            <a:r>
              <a:rPr lang="en-US" dirty="0"/>
              <a:t>Large retail chains like Walmart manage </a:t>
            </a:r>
            <a:r>
              <a:rPr lang="en-US" b="1" dirty="0"/>
              <a:t>thousands of products</a:t>
            </a:r>
            <a:r>
              <a:rPr lang="en-US" dirty="0"/>
              <a:t> across multiple stores and online channels.</a:t>
            </a:r>
          </a:p>
          <a:p>
            <a:r>
              <a:rPr lang="en-US" dirty="0"/>
              <a:t>Predicting inventory needs is </a:t>
            </a:r>
            <a:r>
              <a:rPr lang="en-US" b="1" dirty="0"/>
              <a:t>complex</a:t>
            </a:r>
            <a:r>
              <a:rPr lang="en-US" dirty="0"/>
              <a:t> due to </a:t>
            </a:r>
            <a:r>
              <a:rPr lang="en-US" b="1" dirty="0"/>
              <a:t>seasonal demand, regional preferences, and changing customer behavior</a:t>
            </a:r>
            <a:r>
              <a:rPr lang="en-US" dirty="0"/>
              <a:t>.</a:t>
            </a:r>
          </a:p>
          <a:p>
            <a:r>
              <a:rPr lang="en-US" b="1" dirty="0"/>
              <a:t>Solution:</a:t>
            </a:r>
            <a:endParaRPr lang="en-US" dirty="0"/>
          </a:p>
          <a:p>
            <a:r>
              <a:rPr lang="en-US" dirty="0"/>
              <a:t>Walmart uses </a:t>
            </a:r>
            <a:r>
              <a:rPr lang="en-US" b="1" dirty="0"/>
              <a:t>AI-driven analytics</a:t>
            </a:r>
            <a:r>
              <a:rPr lang="en-US" dirty="0"/>
              <a:t> and </a:t>
            </a:r>
            <a:r>
              <a:rPr lang="en-US" b="1" dirty="0"/>
              <a:t>machine learning systems</a:t>
            </a:r>
            <a:r>
              <a:rPr lang="en-US" dirty="0"/>
              <a:t>.</a:t>
            </a:r>
          </a:p>
          <a:p>
            <a:r>
              <a:rPr lang="en-US" dirty="0"/>
              <a:t>These systems analyze </a:t>
            </a:r>
            <a:r>
              <a:rPr lang="en-US" b="1" dirty="0"/>
              <a:t>historical sales, promotions, weather patterns, and customer trends</a:t>
            </a:r>
            <a:r>
              <a:rPr lang="en-US" dirty="0"/>
              <a:t>.</a:t>
            </a:r>
          </a:p>
          <a:p>
            <a:r>
              <a:rPr lang="en-US" b="1" dirty="0"/>
              <a:t>Benefits:</a:t>
            </a:r>
            <a:endParaRPr lang="en-US" dirty="0"/>
          </a:p>
          <a:p>
            <a:r>
              <a:rPr lang="en-US" dirty="0"/>
              <a:t>Enables </a:t>
            </a:r>
            <a:r>
              <a:rPr lang="en-US" b="1" dirty="0"/>
              <a:t>more accurate demand forecasting</a:t>
            </a:r>
            <a:r>
              <a:rPr lang="en-US" dirty="0"/>
              <a:t>.</a:t>
            </a:r>
          </a:p>
          <a:p>
            <a:r>
              <a:rPr lang="en-US" dirty="0"/>
              <a:t>Supports </a:t>
            </a:r>
            <a:r>
              <a:rPr lang="en-US" b="1" dirty="0"/>
              <a:t>efficient inventory planning</a:t>
            </a:r>
            <a:r>
              <a:rPr lang="en-US" dirty="0"/>
              <a:t> across stores and warehouses.</a:t>
            </a:r>
          </a:p>
          <a:p>
            <a:r>
              <a:rPr lang="en-US" dirty="0"/>
              <a:t>Helps reduce </a:t>
            </a:r>
            <a:r>
              <a:rPr lang="en-US" b="1" dirty="0"/>
              <a:t>stockouts, overstocking, and supply chain inefficiencies</a:t>
            </a:r>
            <a:r>
              <a:rPr lang="en-US" dirty="0"/>
              <a:t>.</a:t>
            </a:r>
          </a:p>
          <a:p>
            <a:r>
              <a:rPr lang="en-US" b="1" dirty="0"/>
              <a:t>Takeaway:</a:t>
            </a:r>
            <a:endParaRPr lang="en-US" dirty="0"/>
          </a:p>
          <a:p>
            <a:r>
              <a:rPr lang="en-US" dirty="0"/>
              <a:t>AI and ML tools transform traditional retail planning into a </a:t>
            </a:r>
            <a:r>
              <a:rPr lang="en-US" b="1" dirty="0"/>
              <a:t>proactive, data-driven process</a:t>
            </a:r>
            <a:r>
              <a:rPr lang="en-US" dirty="0"/>
              <a:t>, improving customer satisfaction and operational efficiency.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387AB6-0C90-4C13-BFEE-4EBE8F3CA032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57842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FEBD5-84F3-7C5E-BAC5-3E3A20960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D00DBB-2B7C-528D-AE98-1B7D64CBD2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E350B6-F585-3593-4C53-431F324288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Retail Analytics Insight</a:t>
            </a:r>
          </a:p>
          <a:p>
            <a:r>
              <a:rPr lang="en-US" b="1" dirty="0"/>
              <a:t>Question Context:</a:t>
            </a:r>
            <a:endParaRPr lang="en-US" dirty="0"/>
          </a:p>
          <a:p>
            <a:r>
              <a:rPr lang="en-US" dirty="0"/>
              <a:t>Understanding </a:t>
            </a:r>
            <a:r>
              <a:rPr lang="en-US" b="1" dirty="0"/>
              <a:t>holiday vs non-holiday sales patterns</a:t>
            </a:r>
            <a:r>
              <a:rPr lang="en-US" dirty="0"/>
              <a:t> helps retailers anticipate demand.</a:t>
            </a:r>
          </a:p>
          <a:p>
            <a:r>
              <a:rPr lang="en-US" dirty="0"/>
              <a:t>The correct answer is </a:t>
            </a:r>
            <a:r>
              <a:rPr lang="en-US" b="1" dirty="0"/>
              <a:t>b) To identify trends and adjust inventory during peak periods</a:t>
            </a:r>
            <a:r>
              <a:rPr lang="en-US" dirty="0"/>
              <a:t>.</a:t>
            </a:r>
          </a:p>
          <a:p>
            <a:r>
              <a:rPr lang="en-US" b="1" dirty="0"/>
              <a:t>Traditional Approach:</a:t>
            </a:r>
            <a:endParaRPr lang="en-US" dirty="0"/>
          </a:p>
          <a:p>
            <a:r>
              <a:rPr lang="en-US" dirty="0"/>
              <a:t>Manual spreadsheet analysis and comparing historical trends.</a:t>
            </a:r>
          </a:p>
          <a:p>
            <a:r>
              <a:rPr lang="en-US" dirty="0"/>
              <a:t>Inventory decisions are often </a:t>
            </a:r>
            <a:r>
              <a:rPr lang="en-US" b="1" dirty="0"/>
              <a:t>reactive</a:t>
            </a:r>
            <a:r>
              <a:rPr lang="en-US" dirty="0"/>
              <a:t>, not proactive.</a:t>
            </a:r>
          </a:p>
          <a:p>
            <a:r>
              <a:rPr lang="en-US" b="1" dirty="0"/>
              <a:t>Consequences:</a:t>
            </a:r>
            <a:endParaRPr lang="en-US" dirty="0"/>
          </a:p>
          <a:p>
            <a:r>
              <a:rPr lang="en-US" dirty="0"/>
              <a:t>Can lead to </a:t>
            </a:r>
            <a:r>
              <a:rPr lang="en-US" b="1" dirty="0"/>
              <a:t>stock shortages</a:t>
            </a:r>
            <a:r>
              <a:rPr lang="en-US" dirty="0"/>
              <a:t> for high-demand products.</a:t>
            </a:r>
          </a:p>
          <a:p>
            <a:r>
              <a:rPr lang="en-US" dirty="0"/>
              <a:t>May cause </a:t>
            </a:r>
            <a:r>
              <a:rPr lang="en-US" b="1" dirty="0"/>
              <a:t>overstocking</a:t>
            </a:r>
            <a:r>
              <a:rPr lang="en-US" dirty="0"/>
              <a:t> of slow-moving items.</a:t>
            </a:r>
          </a:p>
          <a:p>
            <a:r>
              <a:rPr lang="en-US" dirty="0"/>
              <a:t>Results in </a:t>
            </a:r>
            <a:r>
              <a:rPr lang="en-US" b="1" dirty="0"/>
              <a:t>inefficient supply chain decisions</a:t>
            </a:r>
            <a:r>
              <a:rPr lang="en-US" dirty="0"/>
              <a:t> and lost revenue.</a:t>
            </a:r>
          </a:p>
          <a:p>
            <a:r>
              <a:rPr lang="en-US" b="1" dirty="0"/>
              <a:t>Takeaway:</a:t>
            </a:r>
            <a:endParaRPr lang="en-US" dirty="0"/>
          </a:p>
          <a:p>
            <a:r>
              <a:rPr lang="en-US" b="1" dirty="0"/>
              <a:t>AI-assisted analysis</a:t>
            </a:r>
            <a:r>
              <a:rPr lang="en-US" dirty="0"/>
              <a:t> allows retailers to identify trends </a:t>
            </a:r>
            <a:r>
              <a:rPr lang="en-US" b="1" dirty="0"/>
              <a:t>early</a:t>
            </a:r>
            <a:r>
              <a:rPr lang="en-US" dirty="0"/>
              <a:t>, optimize inventory, and make </a:t>
            </a:r>
            <a:r>
              <a:rPr lang="en-US" b="1" dirty="0"/>
              <a:t>data-driven decisions</a:t>
            </a:r>
            <a:r>
              <a:rPr lang="en-US" dirty="0"/>
              <a:t> to reduce errors and improve supply chain efficiency.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D9D090-70C8-D319-02F9-9339EF4CB5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387AB6-0C90-4C13-BFEE-4EBE8F3CA032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2096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36CDA-83B6-3F24-E005-E21B275DD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9E3A78-03A9-7DEE-4527-F23B8F9F0E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D7BD90-7C1E-DE56-C84B-6CD07D8A13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Problems with Traditional Methods</a:t>
            </a:r>
          </a:p>
          <a:p>
            <a:r>
              <a:rPr lang="en-US" b="1" dirty="0"/>
              <a:t>Context:</a:t>
            </a:r>
            <a:endParaRPr lang="en-US" dirty="0"/>
          </a:p>
          <a:p>
            <a:r>
              <a:rPr lang="en-US" dirty="0"/>
              <a:t>Traditionally, retail demand forecasting relied on </a:t>
            </a:r>
            <a:r>
              <a:rPr lang="en-US" b="1" dirty="0"/>
              <a:t>manual spreadsheet analysis</a:t>
            </a:r>
            <a:r>
              <a:rPr lang="en-US" dirty="0"/>
              <a:t>.</a:t>
            </a:r>
          </a:p>
          <a:p>
            <a:r>
              <a:rPr lang="en-US" dirty="0"/>
              <a:t>Store managers and analysts would compare </a:t>
            </a:r>
            <a:r>
              <a:rPr lang="en-US" b="1" dirty="0"/>
              <a:t>historical trends</a:t>
            </a:r>
            <a:r>
              <a:rPr lang="en-US" dirty="0"/>
              <a:t> and make inventory decisions manually.</a:t>
            </a:r>
          </a:p>
          <a:p>
            <a:r>
              <a:rPr lang="en-US" b="1" dirty="0"/>
              <a:t>Key Challenges:</a:t>
            </a:r>
            <a:endParaRPr lang="en-US" dirty="0"/>
          </a:p>
          <a:p>
            <a:r>
              <a:rPr lang="en-US" b="1" dirty="0"/>
              <a:t>Reactive planning:</a:t>
            </a:r>
            <a:r>
              <a:rPr lang="en-US" dirty="0"/>
              <a:t> Decisions were often made </a:t>
            </a:r>
            <a:r>
              <a:rPr lang="en-US" b="1" dirty="0"/>
              <a:t>after issues occurred</a:t>
            </a:r>
            <a:r>
              <a:rPr lang="en-US" dirty="0"/>
              <a:t>, not proactively.</a:t>
            </a:r>
          </a:p>
          <a:p>
            <a:r>
              <a:rPr lang="en-US" b="1" dirty="0"/>
              <a:t>Stock shortages:</a:t>
            </a:r>
            <a:r>
              <a:rPr lang="en-US" dirty="0"/>
              <a:t> High-demand products were frequently out of stock.</a:t>
            </a:r>
          </a:p>
          <a:p>
            <a:r>
              <a:rPr lang="en-US" b="1" dirty="0"/>
              <a:t>Overstocking:</a:t>
            </a:r>
            <a:r>
              <a:rPr lang="en-US" dirty="0"/>
              <a:t> Slow-moving items were over-purchased, increasing holding costs.</a:t>
            </a:r>
          </a:p>
          <a:p>
            <a:r>
              <a:rPr lang="en-US" b="1" dirty="0"/>
              <a:t>Time-consuming and error-prone:</a:t>
            </a:r>
            <a:r>
              <a:rPr lang="en-US" dirty="0"/>
              <a:t> Manual data handling is </a:t>
            </a:r>
            <a:r>
              <a:rPr lang="en-US" b="1" dirty="0"/>
              <a:t>inefficient and prone to mistakes</a:t>
            </a:r>
            <a:r>
              <a:rPr lang="en-US" dirty="0"/>
              <a:t>.</a:t>
            </a:r>
          </a:p>
          <a:p>
            <a:r>
              <a:rPr lang="en-US" b="1" dirty="0"/>
              <a:t>Impact on Business:</a:t>
            </a:r>
            <a:endParaRPr lang="en-US" dirty="0"/>
          </a:p>
          <a:p>
            <a:r>
              <a:rPr lang="en-US" dirty="0"/>
              <a:t>Led to </a:t>
            </a:r>
            <a:r>
              <a:rPr lang="en-US" b="1" dirty="0"/>
              <a:t>inefficient supply chain operations</a:t>
            </a:r>
            <a:r>
              <a:rPr lang="en-US" dirty="0"/>
              <a:t>.</a:t>
            </a:r>
          </a:p>
          <a:p>
            <a:r>
              <a:rPr lang="en-US" dirty="0"/>
              <a:t>Increased </a:t>
            </a:r>
            <a:r>
              <a:rPr lang="en-US" b="1" dirty="0"/>
              <a:t>lost sales and operational costs</a:t>
            </a:r>
            <a:r>
              <a:rPr lang="en-US" dirty="0"/>
              <a:t>.</a:t>
            </a:r>
          </a:p>
          <a:p>
            <a:r>
              <a:rPr lang="en-US" dirty="0"/>
              <a:t>Limited the ability to respond quickly to </a:t>
            </a:r>
            <a:r>
              <a:rPr lang="en-US" b="1" dirty="0"/>
              <a:t>seasonal demand or customer behavior changes</a:t>
            </a:r>
            <a:r>
              <a:rPr lang="en-US" dirty="0"/>
              <a:t>.</a:t>
            </a:r>
          </a:p>
          <a:p>
            <a:r>
              <a:rPr lang="en-US" b="1" dirty="0"/>
              <a:t>Transition to AI Tools:</a:t>
            </a:r>
            <a:endParaRPr lang="en-US" dirty="0"/>
          </a:p>
          <a:p>
            <a:r>
              <a:rPr lang="en-US" dirty="0"/>
              <a:t>These challenges motivate the adoption of </a:t>
            </a:r>
            <a:r>
              <a:rPr lang="en-US" b="1" dirty="0"/>
              <a:t>AI-assisted tools</a:t>
            </a:r>
            <a:r>
              <a:rPr lang="en-US" dirty="0"/>
              <a:t> like Excel Copilot, GitHub Copilot, and Azure for </a:t>
            </a:r>
            <a:r>
              <a:rPr lang="en-US" b="1" dirty="0"/>
              <a:t>faster, accurate, and scalable retail analytics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8FDF46-B9D4-1B9A-5BDC-A3E3FF0BA6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387AB6-0C90-4C13-BFEE-4EBE8F3CA032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77666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0CA91-89A0-09B9-F763-E3B033511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4EDCBC-F443-67EE-3870-4E53E52686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8EC671-35AD-D026-C223-4DE4998BD3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Key Benefits of AI-Assisted Retail Analytics</a:t>
            </a:r>
          </a:p>
          <a:p>
            <a:r>
              <a:rPr lang="en-US" b="1" dirty="0"/>
              <a:t>Faster Insights:</a:t>
            </a:r>
            <a:r>
              <a:rPr lang="en-US" dirty="0"/>
              <a:t> AI tools automate data cleaning, analysis, and reporting.</a:t>
            </a:r>
          </a:p>
          <a:p>
            <a:r>
              <a:rPr lang="en-US" b="1" dirty="0"/>
              <a:t>Accurate Demand Forecasting:</a:t>
            </a:r>
            <a:r>
              <a:rPr lang="en-US" dirty="0"/>
              <a:t> Predict sales more precisely using historical data and patterns.</a:t>
            </a:r>
          </a:p>
          <a:p>
            <a:r>
              <a:rPr lang="en-US" b="1" dirty="0"/>
              <a:t>Optimized Inventory Management:</a:t>
            </a:r>
            <a:r>
              <a:rPr lang="en-US" dirty="0"/>
              <a:t> Reduce stockouts and overstocking by anticipating demand.</a:t>
            </a:r>
          </a:p>
          <a:p>
            <a:r>
              <a:rPr lang="en-US" b="1" dirty="0"/>
              <a:t>Data-Driven Decision Making:</a:t>
            </a:r>
            <a:r>
              <a:rPr lang="en-US" dirty="0"/>
              <a:t> Supports proactive decisions for promotions, stocking, and supply chain planning.</a:t>
            </a:r>
          </a:p>
          <a:p>
            <a:r>
              <a:rPr lang="en-US" b="1" dirty="0"/>
              <a:t>Scalable Analytics:</a:t>
            </a:r>
            <a:r>
              <a:rPr lang="en-US" dirty="0"/>
              <a:t> Handle large datasets across multiple stores and channels efficiently.</a:t>
            </a:r>
          </a:p>
          <a:p>
            <a:r>
              <a:rPr lang="en-US" b="1" dirty="0"/>
              <a:t>Reduced Manual Effort:</a:t>
            </a:r>
            <a:r>
              <a:rPr lang="en-US" dirty="0"/>
              <a:t> Minimize human errors and save time in routine analytics tasks.</a:t>
            </a:r>
          </a:p>
          <a:p>
            <a:r>
              <a:rPr lang="en-US" b="1" dirty="0"/>
              <a:t>Integration Across Tools:</a:t>
            </a:r>
            <a:r>
              <a:rPr lang="en-US" dirty="0"/>
              <a:t> Combines Excel, Python, and cloud platforms for an end-to-end workflow.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322FC0-E65D-9863-CE98-AA9B12BC39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387AB6-0C90-4C13-BFEE-4EBE8F3CA032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90894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4231F-692B-E5D9-4147-27E769833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1F24A3-19BF-B40E-655B-8A5691AEEA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CE969D-0ADF-AF46-C793-148686044B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The use of AI-based forecasting has helped Walmart:</a:t>
            </a:r>
          </a:p>
          <a:p>
            <a:pPr lvl="1" algn="just"/>
            <a:r>
              <a:rPr lang="en-US" sz="1534" dirty="0">
                <a:latin typeface="Arial" panose="020B0604020202020204" pitchFamily="34" charset="0"/>
                <a:cs typeface="Arial" panose="020B0604020202020204" pitchFamily="34" charset="0"/>
              </a:rPr>
              <a:t>Improve inventory availability in stores</a:t>
            </a:r>
          </a:p>
          <a:p>
            <a:pPr lvl="1" algn="just"/>
            <a:r>
              <a:rPr lang="en-US" sz="1534" dirty="0">
                <a:latin typeface="Arial" panose="020B0604020202020204" pitchFamily="34" charset="0"/>
                <a:cs typeface="Arial" panose="020B0604020202020204" pitchFamily="34" charset="0"/>
              </a:rPr>
              <a:t>Reduce overstocking and wastage</a:t>
            </a:r>
          </a:p>
          <a:p>
            <a:pPr lvl="1" algn="just"/>
            <a:r>
              <a:rPr lang="en-US" sz="1534" dirty="0">
                <a:latin typeface="Arial" panose="020B0604020202020204" pitchFamily="34" charset="0"/>
                <a:cs typeface="Arial" panose="020B0604020202020204" pitchFamily="34" charset="0"/>
              </a:rPr>
              <a:t>Optimize supply chain planning</a:t>
            </a:r>
          </a:p>
          <a:p>
            <a:pPr lvl="1" algn="just"/>
            <a:r>
              <a:rPr lang="en-US" sz="1534" dirty="0">
                <a:latin typeface="Arial" panose="020B0604020202020204" pitchFamily="34" charset="0"/>
                <a:cs typeface="Arial" panose="020B0604020202020204" pitchFamily="34" charset="0"/>
              </a:rPr>
              <a:t>Respond faster to seasonal demand changes</a:t>
            </a:r>
          </a:p>
          <a:p>
            <a:pPr algn="just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These AI-enabled systems allow retailers to move from reactive decision-making to data-driven predictive planning.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1CA0C5-2BB4-63E3-8623-C3AA27A0AE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387AB6-0C90-4C13-BFEE-4EBE8F3CA032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10554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7D243-EAF5-6D34-7E8F-048DD8989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A36673-B12D-95E3-8246-554F00D33D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2DA669-0A22-AA89-C6B8-EECFCE9465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Integrated Project Overview</a:t>
            </a:r>
            <a:endParaRPr lang="en-US" dirty="0"/>
          </a:p>
          <a:p>
            <a:r>
              <a:rPr lang="en-US" dirty="0"/>
              <a:t>Apply concepts from earlier modules to perform a </a:t>
            </a:r>
            <a:r>
              <a:rPr lang="en-US" b="1" dirty="0"/>
              <a:t>practical AI-assisted data analytics workflow</a:t>
            </a:r>
            <a:r>
              <a:rPr lang="en-US" dirty="0"/>
              <a:t>.</a:t>
            </a:r>
          </a:p>
          <a:p>
            <a:r>
              <a:rPr lang="en-US" dirty="0"/>
              <a:t>Guided case study inspired by </a:t>
            </a:r>
            <a:r>
              <a:rPr lang="en-US" b="1" dirty="0"/>
              <a:t>retail demand forecasting practices used by Walmart</a:t>
            </a:r>
            <a:r>
              <a:rPr lang="en-US" dirty="0"/>
              <a:t>.</a:t>
            </a:r>
          </a:p>
          <a:p>
            <a:r>
              <a:rPr lang="en-US" dirty="0"/>
              <a:t>Integrates AI-assisted tools learned previously:</a:t>
            </a:r>
          </a:p>
          <a:p>
            <a:pPr lvl="1"/>
            <a:r>
              <a:rPr lang="en-US" b="1" dirty="0"/>
              <a:t>Data analysis</a:t>
            </a:r>
            <a:r>
              <a:rPr lang="en-US" dirty="0"/>
              <a:t> with Microsoft Excel Copilot</a:t>
            </a:r>
          </a:p>
          <a:p>
            <a:pPr lvl="1"/>
            <a:r>
              <a:rPr lang="en-US" b="1" dirty="0"/>
              <a:t>Python-based forecasting</a:t>
            </a:r>
            <a:r>
              <a:rPr lang="en-US" dirty="0"/>
              <a:t> with GitHub Copilot</a:t>
            </a:r>
          </a:p>
          <a:p>
            <a:pPr lvl="1"/>
            <a:r>
              <a:rPr lang="en-US" b="1" dirty="0"/>
              <a:t>Cloud exploration and storage</a:t>
            </a:r>
            <a:r>
              <a:rPr lang="en-US" dirty="0"/>
              <a:t> using Microsoft Azure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98EDDE-325C-7D86-47A2-D6F0F359A0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387AB6-0C90-4C13-BFEE-4EBE8F3CA032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09728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AI-Assisted Retail Analytics Workflow (Integrated Project)</a:t>
            </a:r>
          </a:p>
          <a:p>
            <a:r>
              <a:rPr lang="en-IN" b="1" dirty="0"/>
              <a:t>Step 1 – Data Collection</a:t>
            </a:r>
            <a:endParaRPr lang="en-IN" dirty="0"/>
          </a:p>
          <a:p>
            <a:pPr lvl="1"/>
            <a:r>
              <a:rPr lang="en-IN" dirty="0"/>
              <a:t>Download retail sales dataset (Walmart dataset).</a:t>
            </a:r>
          </a:p>
          <a:p>
            <a:pPr lvl="1"/>
            <a:r>
              <a:rPr lang="en-IN" dirty="0"/>
              <a:t>Organize in project directory for analysis.</a:t>
            </a:r>
          </a:p>
          <a:p>
            <a:r>
              <a:rPr lang="en-IN" b="1" dirty="0"/>
              <a:t>Step 2 – Data Cleaning &amp; Visualization (Excel Copilot)</a:t>
            </a:r>
            <a:endParaRPr lang="en-IN" dirty="0"/>
          </a:p>
          <a:p>
            <a:pPr lvl="1"/>
            <a:r>
              <a:rPr lang="en-IN" dirty="0"/>
              <a:t>Inspect dataset for missing values and duplicates.</a:t>
            </a:r>
          </a:p>
          <a:p>
            <a:pPr lvl="1"/>
            <a:r>
              <a:rPr lang="en-IN" dirty="0"/>
              <a:t>Standardize date and numeric formats.</a:t>
            </a:r>
          </a:p>
          <a:p>
            <a:pPr lvl="1"/>
            <a:r>
              <a:rPr lang="en-IN" dirty="0"/>
              <a:t>Generate summary statistics and charts (e.g., sales trends, holiday vs non-holiday).</a:t>
            </a:r>
          </a:p>
          <a:p>
            <a:r>
              <a:rPr lang="en-IN" b="1" dirty="0"/>
              <a:t>Step 3 – Demand Forecasting (Python &amp; GitHub Copilot)</a:t>
            </a:r>
            <a:endParaRPr lang="en-IN" dirty="0"/>
          </a:p>
          <a:p>
            <a:pPr lvl="1"/>
            <a:r>
              <a:rPr lang="en-IN" dirty="0"/>
              <a:t>Load cleaned data into Python/</a:t>
            </a:r>
            <a:r>
              <a:rPr lang="en-IN" dirty="0" err="1"/>
              <a:t>Jupyter</a:t>
            </a:r>
            <a:r>
              <a:rPr lang="en-IN" dirty="0"/>
              <a:t> Notebook.</a:t>
            </a:r>
          </a:p>
          <a:p>
            <a:pPr lvl="1"/>
            <a:r>
              <a:rPr lang="en-IN" dirty="0"/>
              <a:t>Train a predictive model (Linear Regression or AI-assisted model).</a:t>
            </a:r>
          </a:p>
          <a:p>
            <a:pPr lvl="1"/>
            <a:r>
              <a:rPr lang="en-IN" dirty="0"/>
              <a:t>Visualize </a:t>
            </a:r>
            <a:r>
              <a:rPr lang="en-IN" b="1" dirty="0"/>
              <a:t>Actual vs Predicted sales</a:t>
            </a:r>
            <a:r>
              <a:rPr lang="en-IN" dirty="0"/>
              <a:t> and forecast next 4 weeks.</a:t>
            </a:r>
          </a:p>
          <a:p>
            <a:r>
              <a:rPr lang="en-IN" b="1" dirty="0"/>
              <a:t>Step 4 – Cloud Exploration (Microsoft Azure)</a:t>
            </a:r>
            <a:endParaRPr lang="en-IN" dirty="0"/>
          </a:p>
          <a:p>
            <a:pPr lvl="1"/>
            <a:r>
              <a:rPr lang="en-IN" dirty="0"/>
              <a:t>Upload dataset to Azure Blob Storage.</a:t>
            </a:r>
          </a:p>
          <a:p>
            <a:pPr lvl="1"/>
            <a:r>
              <a:rPr lang="en-IN" dirty="0"/>
              <a:t>Explore analytics options using Azure Machine Learning or Notebooks.</a:t>
            </a:r>
          </a:p>
          <a:p>
            <a:pPr lvl="1"/>
            <a:r>
              <a:rPr lang="en-IN" dirty="0"/>
              <a:t>Connect dataset to cloud for scalable storage and computation.</a:t>
            </a:r>
          </a:p>
          <a:p>
            <a:r>
              <a:rPr lang="en-IN" b="1" dirty="0"/>
              <a:t>Step 5 – Integration &amp; Insights</a:t>
            </a:r>
            <a:endParaRPr lang="en-IN" dirty="0"/>
          </a:p>
          <a:p>
            <a:pPr lvl="1"/>
            <a:r>
              <a:rPr lang="en-IN" dirty="0"/>
              <a:t>Combine analysis, forecasts, and cloud exploration into actionable insights.</a:t>
            </a:r>
          </a:p>
          <a:p>
            <a:pPr lvl="1"/>
            <a:r>
              <a:rPr lang="en-IN" dirty="0"/>
              <a:t>Demonstrates end-to-end </a:t>
            </a:r>
            <a:r>
              <a:rPr lang="en-IN" b="1" dirty="0"/>
              <a:t>AI-assisted data analytics workflow</a:t>
            </a:r>
            <a:r>
              <a:rPr lang="en-IN" dirty="0"/>
              <a:t> in retail.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0FC4EF-F040-4629-96AB-A33446C1CF54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5716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link takes to the lab manual for this activity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0FC4EF-F040-4629-96AB-A33446C1CF54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44080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A9F2F-DD17-8321-4832-68F12122C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CD6F1C-EF57-B3CD-BF4F-41B26D5B4C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10C397-C10F-EF13-B6E1-CCF2B92F59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Dataset Used</a:t>
            </a:r>
          </a:p>
          <a:p>
            <a:r>
              <a:rPr lang="en-US" b="1" dirty="0"/>
              <a:t>Introduction:</a:t>
            </a:r>
            <a:endParaRPr lang="en-US" dirty="0"/>
          </a:p>
          <a:p>
            <a:r>
              <a:rPr lang="en-US" dirty="0"/>
              <a:t>For this case study, we used the </a:t>
            </a:r>
            <a:r>
              <a:rPr lang="en-US" b="1" dirty="0"/>
              <a:t>Walmart Store Sales Forecasting dataset</a:t>
            </a:r>
            <a:r>
              <a:rPr lang="en-US" dirty="0"/>
              <a:t>, a publicly available dataset.</a:t>
            </a:r>
          </a:p>
          <a:p>
            <a:r>
              <a:rPr lang="en-US" b="1" dirty="0"/>
              <a:t>Source &amp; Background:</a:t>
            </a:r>
            <a:endParaRPr lang="en-US" dirty="0"/>
          </a:p>
          <a:p>
            <a:r>
              <a:rPr lang="en-US" dirty="0"/>
              <a:t>The dataset is inspired by real-world </a:t>
            </a:r>
            <a:r>
              <a:rPr lang="en-US" b="1" dirty="0"/>
              <a:t>retail demand prediction challenges at Walmart</a:t>
            </a:r>
            <a:r>
              <a:rPr lang="en-US" dirty="0"/>
              <a:t>.</a:t>
            </a:r>
          </a:p>
          <a:p>
            <a:r>
              <a:rPr lang="en-US" dirty="0"/>
              <a:t>It contains </a:t>
            </a:r>
            <a:r>
              <a:rPr lang="en-US" b="1" dirty="0"/>
              <a:t>historical weekly sales</a:t>
            </a:r>
            <a:r>
              <a:rPr lang="en-US" dirty="0"/>
              <a:t> from multiple stores, including details like store number, department, date, weekly sales, and holidays.</a:t>
            </a:r>
          </a:p>
          <a:p>
            <a:r>
              <a:rPr lang="en-US" b="1" dirty="0"/>
              <a:t>Purpose in This Case Study:</a:t>
            </a:r>
            <a:endParaRPr lang="en-US" dirty="0"/>
          </a:p>
          <a:p>
            <a:r>
              <a:rPr lang="en-US" dirty="0"/>
              <a:t>Helps us </a:t>
            </a:r>
            <a:r>
              <a:rPr lang="en-US" b="1" dirty="0"/>
              <a:t>analyze sales trends</a:t>
            </a:r>
            <a:r>
              <a:rPr lang="en-US" dirty="0"/>
              <a:t> and understand retail patterns.</a:t>
            </a:r>
          </a:p>
          <a:p>
            <a:r>
              <a:rPr lang="en-US" dirty="0"/>
              <a:t>Used for </a:t>
            </a:r>
            <a:r>
              <a:rPr lang="en-US" b="1" dirty="0"/>
              <a:t>data cleaning, visualization, and forecasting</a:t>
            </a:r>
            <a:r>
              <a:rPr lang="en-US" dirty="0"/>
              <a:t>.</a:t>
            </a:r>
          </a:p>
          <a:p>
            <a:r>
              <a:rPr lang="en-US" dirty="0"/>
              <a:t>Demonstrates how </a:t>
            </a:r>
            <a:r>
              <a:rPr lang="en-US" b="1" dirty="0"/>
              <a:t>AI-assisted tools</a:t>
            </a:r>
            <a:r>
              <a:rPr lang="en-US" dirty="0"/>
              <a:t> like Excel Copilot, GitHub Copilot, and Azure can work together for an </a:t>
            </a:r>
            <a:r>
              <a:rPr lang="en-US" b="1" dirty="0"/>
              <a:t>end-to-end analytics workflow</a:t>
            </a:r>
            <a:r>
              <a:rPr lang="en-US" dirty="0"/>
              <a:t>.</a:t>
            </a:r>
          </a:p>
          <a:p>
            <a:r>
              <a:rPr lang="en-US" b="1" dirty="0"/>
              <a:t>Additional Note:</a:t>
            </a:r>
            <a:endParaRPr lang="en-US" dirty="0"/>
          </a:p>
          <a:p>
            <a:r>
              <a:rPr lang="en-US" dirty="0"/>
              <a:t>The dataset is publicly accessible on </a:t>
            </a:r>
            <a:r>
              <a:rPr lang="en-US" b="1" dirty="0"/>
              <a:t>Kaggle</a:t>
            </a:r>
            <a:r>
              <a:rPr lang="en-US" dirty="0"/>
              <a:t>, so students can download and replicate the workflow for practice.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8511EC-49C6-5F60-0573-11BEBEA8D5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387AB6-0C90-4C13-BFEE-4EBE8F3CA032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37703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Walmart Retail Case Study &amp; Dataset</a:t>
            </a:r>
          </a:p>
          <a:p>
            <a:r>
              <a:rPr lang="en-US" b="1" dirty="0"/>
              <a:t>Case Study Context:</a:t>
            </a:r>
            <a:endParaRPr lang="en-US" dirty="0"/>
          </a:p>
          <a:p>
            <a:r>
              <a:rPr lang="en-US" dirty="0"/>
              <a:t>This project simulates a </a:t>
            </a:r>
            <a:r>
              <a:rPr lang="en-US" b="1" dirty="0"/>
              <a:t>retail demand forecasting workflow</a:t>
            </a:r>
            <a:r>
              <a:rPr lang="en-US" dirty="0"/>
              <a:t>, inspired by </a:t>
            </a:r>
            <a:r>
              <a:rPr lang="en-US" b="1" dirty="0"/>
              <a:t>real-world practices at Walmart</a:t>
            </a:r>
            <a:r>
              <a:rPr lang="en-US" dirty="0"/>
              <a:t>.</a:t>
            </a:r>
          </a:p>
          <a:p>
            <a:r>
              <a:rPr lang="en-US" dirty="0"/>
              <a:t>The goal is to show how AI-assisted tools can analyze sales, forecast demand, and support decision-making in retail.</a:t>
            </a:r>
          </a:p>
          <a:p>
            <a:r>
              <a:rPr lang="en-US" b="1" dirty="0"/>
              <a:t>Dataset Used:</a:t>
            </a:r>
            <a:endParaRPr lang="en-US" dirty="0"/>
          </a:p>
          <a:p>
            <a:r>
              <a:rPr lang="en-US" b="1" dirty="0"/>
              <a:t>Walmart Store Sales Forecasting Dataset</a:t>
            </a:r>
            <a:r>
              <a:rPr lang="en-US" dirty="0"/>
              <a:t> from Kaggle.</a:t>
            </a:r>
          </a:p>
          <a:p>
            <a:r>
              <a:rPr lang="en-US" dirty="0"/>
              <a:t>Contains historical </a:t>
            </a:r>
            <a:r>
              <a:rPr lang="en-US" b="1" dirty="0"/>
              <a:t>weekly sales, store and department IDs, holidays, and dates</a:t>
            </a:r>
            <a:r>
              <a:rPr lang="en-US" dirty="0"/>
              <a:t>.</a:t>
            </a:r>
          </a:p>
          <a:p>
            <a:r>
              <a:rPr lang="en-US" dirty="0"/>
              <a:t>Provides a realistic scenario to </a:t>
            </a:r>
            <a:r>
              <a:rPr lang="en-US" b="1" dirty="0"/>
              <a:t>analyze trends, prepare data, and generate forecasts</a:t>
            </a:r>
            <a:r>
              <a:rPr lang="en-US" dirty="0"/>
              <a:t>.</a:t>
            </a:r>
          </a:p>
          <a:p>
            <a:r>
              <a:rPr lang="en-US" b="1" dirty="0"/>
              <a:t>Purpose in Lab:</a:t>
            </a:r>
            <a:endParaRPr lang="en-US" dirty="0"/>
          </a:p>
          <a:p>
            <a:r>
              <a:rPr lang="en-US" dirty="0"/>
              <a:t>Learn </a:t>
            </a:r>
            <a:r>
              <a:rPr lang="en-US" b="1" dirty="0"/>
              <a:t>data cleaning and visualization</a:t>
            </a:r>
            <a:r>
              <a:rPr lang="en-US" dirty="0"/>
              <a:t> with Excel Copilot.</a:t>
            </a:r>
          </a:p>
          <a:p>
            <a:r>
              <a:rPr lang="en-US" dirty="0"/>
              <a:t>Build </a:t>
            </a:r>
            <a:r>
              <a:rPr lang="en-US" b="1" dirty="0"/>
              <a:t>Python-based forecasting models</a:t>
            </a:r>
            <a:r>
              <a:rPr lang="en-US" dirty="0"/>
              <a:t> with GitHub Copilot.</a:t>
            </a:r>
          </a:p>
          <a:p>
            <a:r>
              <a:rPr lang="en-US" dirty="0"/>
              <a:t>Explore </a:t>
            </a:r>
            <a:r>
              <a:rPr lang="en-US" b="1" dirty="0"/>
              <a:t>cloud storage and analytics</a:t>
            </a:r>
            <a:r>
              <a:rPr lang="en-US" dirty="0"/>
              <a:t> using Microsoft Azure.</a:t>
            </a:r>
          </a:p>
          <a:p>
            <a:r>
              <a:rPr lang="en-US" b="1" dirty="0"/>
              <a:t>Takeaway:</a:t>
            </a:r>
            <a:endParaRPr lang="en-US" dirty="0"/>
          </a:p>
          <a:p>
            <a:r>
              <a:rPr lang="en-US" dirty="0"/>
              <a:t>The dataset serves as a practical foundation to </a:t>
            </a:r>
            <a:r>
              <a:rPr lang="en-US" b="1" dirty="0"/>
              <a:t>integrate AI, programming, and cloud tools</a:t>
            </a:r>
            <a:r>
              <a:rPr lang="en-US" dirty="0"/>
              <a:t> into a single analytics workflow, replicating professional retail analytics.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0FC4EF-F040-4629-96AB-A33446C1CF54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32615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E4F1F-73E9-2C17-C76D-3276F6278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5F357E-2413-6125-734B-7783214F06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5F3DF0-5EBA-F496-E550-916FD1BA41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Data Cleaning</a:t>
            </a:r>
          </a:p>
          <a:p>
            <a:r>
              <a:rPr lang="en-US" b="1" dirty="0"/>
              <a:t>Objective:</a:t>
            </a:r>
            <a:endParaRPr lang="en-US" dirty="0"/>
          </a:p>
          <a:p>
            <a:r>
              <a:rPr lang="en-US" dirty="0"/>
              <a:t>In this step, we clean the retail dataset and generate </a:t>
            </a:r>
            <a:r>
              <a:rPr lang="en-US" b="1" dirty="0"/>
              <a:t>basic insights</a:t>
            </a:r>
            <a:r>
              <a:rPr lang="en-US" dirty="0"/>
              <a:t> using </a:t>
            </a:r>
            <a:r>
              <a:rPr lang="en-US" b="1" dirty="0"/>
              <a:t>Microsoft Excel Copilot</a:t>
            </a:r>
            <a:r>
              <a:rPr lang="en-US" dirty="0"/>
              <a:t>.</a:t>
            </a:r>
          </a:p>
          <a:p>
            <a:r>
              <a:rPr lang="en-US" b="1" dirty="0"/>
              <a:t>Inspect the Dataset:</a:t>
            </a:r>
            <a:endParaRPr lang="en-US" dirty="0"/>
          </a:p>
          <a:p>
            <a:r>
              <a:rPr lang="en-US" dirty="0"/>
              <a:t>We first review the columns to understand the attributes available, such as </a:t>
            </a:r>
            <a:r>
              <a:rPr lang="en-US" b="1" dirty="0"/>
              <a:t>Store, Dept, Date, </a:t>
            </a:r>
            <a:r>
              <a:rPr lang="en-US" b="1" dirty="0" err="1"/>
              <a:t>Weekly_Sales</a:t>
            </a:r>
            <a:r>
              <a:rPr lang="en-US" b="1" dirty="0"/>
              <a:t>, and </a:t>
            </a:r>
            <a:r>
              <a:rPr lang="en-US" b="1" dirty="0" err="1"/>
              <a:t>IsHoliday</a:t>
            </a:r>
            <a:r>
              <a:rPr lang="en-US" dirty="0"/>
              <a:t>.</a:t>
            </a:r>
          </a:p>
          <a:p>
            <a:r>
              <a:rPr lang="en-US" b="1" dirty="0"/>
              <a:t>Cleaning Tasks:</a:t>
            </a:r>
            <a:endParaRPr lang="en-US" dirty="0"/>
          </a:p>
          <a:p>
            <a:r>
              <a:rPr lang="en-US" dirty="0"/>
              <a:t>Identify and handle </a:t>
            </a:r>
            <a:r>
              <a:rPr lang="en-US" b="1" dirty="0"/>
              <a:t>missing values</a:t>
            </a:r>
            <a:r>
              <a:rPr lang="en-US" dirty="0"/>
              <a:t> to ensure data completeness.</a:t>
            </a:r>
          </a:p>
          <a:p>
            <a:r>
              <a:rPr lang="en-US" b="1" dirty="0"/>
              <a:t>Remove duplicate records</a:t>
            </a:r>
            <a:r>
              <a:rPr lang="en-US" dirty="0"/>
              <a:t> to avoid errors in analysis.</a:t>
            </a:r>
          </a:p>
          <a:p>
            <a:r>
              <a:rPr lang="en-US" dirty="0"/>
              <a:t>Standardize numeric formats and date columns for consistency.</a:t>
            </a:r>
          </a:p>
          <a:p>
            <a:r>
              <a:rPr lang="en-US" b="1" dirty="0"/>
              <a:t>Generate Summary:</a:t>
            </a:r>
            <a:endParaRPr lang="en-US" dirty="0"/>
          </a:p>
          <a:p>
            <a:r>
              <a:rPr lang="en-US" dirty="0"/>
              <a:t>Use Excel Copilot to create </a:t>
            </a:r>
            <a:r>
              <a:rPr lang="en-US" b="1" dirty="0"/>
              <a:t>summary statistics</a:t>
            </a:r>
            <a:r>
              <a:rPr lang="en-US" dirty="0"/>
              <a:t>, such as total and average sales per store or department.</a:t>
            </a:r>
          </a:p>
          <a:p>
            <a:r>
              <a:rPr lang="en-US" dirty="0"/>
              <a:t>Helps in understanding </a:t>
            </a:r>
            <a:r>
              <a:rPr lang="en-US" b="1" dirty="0"/>
              <a:t>overall trends</a:t>
            </a:r>
            <a:r>
              <a:rPr lang="en-US" dirty="0"/>
              <a:t> before building forecasting models.</a:t>
            </a:r>
          </a:p>
          <a:p>
            <a:r>
              <a:rPr lang="en-US" b="1" dirty="0"/>
              <a:t>Takeaway:</a:t>
            </a:r>
            <a:endParaRPr lang="en-US" dirty="0"/>
          </a:p>
          <a:p>
            <a:r>
              <a:rPr lang="en-US" dirty="0"/>
              <a:t>Data cleaning ensures </a:t>
            </a:r>
            <a:r>
              <a:rPr lang="en-US" b="1" dirty="0"/>
              <a:t>accuracy, reliability, and readiness</a:t>
            </a:r>
            <a:r>
              <a:rPr lang="en-US" dirty="0"/>
              <a:t> for analysis and AI-assisted forecasting.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31BCD2-4E65-E1C3-B156-463A170194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387AB6-0C90-4C13-BFEE-4EBE8F3CA032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5706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Data Cleaning (Excel Copilot)</a:t>
            </a:r>
          </a:p>
          <a:p>
            <a:r>
              <a:rPr lang="en-US" b="1" dirty="0"/>
              <a:t>Screenshot 1 – Dataset Preview:</a:t>
            </a:r>
            <a:endParaRPr lang="en-US" dirty="0"/>
          </a:p>
          <a:p>
            <a:r>
              <a:rPr lang="en-US" dirty="0"/>
              <a:t>Shows the </a:t>
            </a:r>
            <a:r>
              <a:rPr lang="en-US" b="1" dirty="0"/>
              <a:t>original dataset</a:t>
            </a:r>
            <a:r>
              <a:rPr lang="en-US" dirty="0"/>
              <a:t> with columns like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Store, Dept, Date,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Weekly_Sales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IsHoliday</a:t>
            </a:r>
            <a:r>
              <a:rPr lang="en-US" dirty="0"/>
              <a:t>.</a:t>
            </a:r>
          </a:p>
          <a:p>
            <a:r>
              <a:rPr lang="en-US" dirty="0"/>
              <a:t>Helps demonstrate that we inspected the dataset before cleaning.</a:t>
            </a:r>
          </a:p>
          <a:p>
            <a:r>
              <a:rPr lang="en-US" b="1" dirty="0"/>
              <a:t>Screenshot 2 – Missing Values Check:</a:t>
            </a:r>
            <a:endParaRPr lang="en-US" dirty="0"/>
          </a:p>
          <a:p>
            <a:r>
              <a:rPr lang="en-US" dirty="0"/>
              <a:t>Highlights </a:t>
            </a:r>
            <a:r>
              <a:rPr lang="en-US" b="1" dirty="0"/>
              <a:t>cells with missing data</a:t>
            </a:r>
            <a:r>
              <a:rPr lang="en-US" dirty="0"/>
              <a:t> using Excel filters or Copilot suggestions.</a:t>
            </a:r>
          </a:p>
          <a:p>
            <a:r>
              <a:rPr lang="en-US" dirty="0"/>
              <a:t>Shows how we identified incomplete or inconsistent entries.</a:t>
            </a:r>
          </a:p>
          <a:p>
            <a:r>
              <a:rPr lang="en-US" b="1" dirty="0"/>
              <a:t>Screenshot 3 – Remove Duplicates:</a:t>
            </a:r>
            <a:endParaRPr lang="en-US" dirty="0"/>
          </a:p>
          <a:p>
            <a:r>
              <a:rPr lang="en-US" dirty="0"/>
              <a:t>Demonstrates the </a:t>
            </a:r>
            <a:r>
              <a:rPr lang="en-US" b="1" dirty="0"/>
              <a:t>duplicate removal process</a:t>
            </a:r>
            <a:r>
              <a:rPr lang="en-US" dirty="0"/>
              <a:t> using Excel tools or Copilot.</a:t>
            </a:r>
          </a:p>
          <a:p>
            <a:r>
              <a:rPr lang="en-US" dirty="0"/>
              <a:t>Confirms that each row represents a unique sales record.</a:t>
            </a:r>
          </a:p>
          <a:p>
            <a:r>
              <a:rPr lang="en-US" b="1" dirty="0"/>
              <a:t>Screenshot 4 – Data Summary / Insights:</a:t>
            </a:r>
            <a:endParaRPr lang="en-US" dirty="0"/>
          </a:p>
          <a:p>
            <a:r>
              <a:rPr lang="en-US" dirty="0"/>
              <a:t>Shows </a:t>
            </a:r>
            <a:r>
              <a:rPr lang="en-US" b="1" dirty="0"/>
              <a:t>summary statistics</a:t>
            </a:r>
            <a:r>
              <a:rPr lang="en-US" dirty="0"/>
              <a:t> generated by Excel Copilot, such as total sales, average sales per store, or department.</a:t>
            </a:r>
          </a:p>
          <a:p>
            <a:r>
              <a:rPr lang="en-US" dirty="0"/>
              <a:t>Visualizes early trends in sales before forecasting.</a:t>
            </a:r>
          </a:p>
          <a:p>
            <a:r>
              <a:rPr lang="en-US" b="1" dirty="0"/>
              <a:t>Key Point to Mention:</a:t>
            </a:r>
            <a:endParaRPr lang="en-US" dirty="0"/>
          </a:p>
          <a:p>
            <a:r>
              <a:rPr lang="en-US" dirty="0"/>
              <a:t>Each screenshot captures </a:t>
            </a:r>
            <a:r>
              <a:rPr lang="en-US" b="1" dirty="0"/>
              <a:t>how AI-assisted Excel Copilot simplifies cleaning and provides insights</a:t>
            </a:r>
            <a:r>
              <a:rPr lang="en-US" dirty="0"/>
              <a:t>, making the dataset ready for forecasting.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0FC4EF-F040-4629-96AB-A33446C1CF54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33007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75712-33E9-61F8-F534-C22ED7587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9DC831-26BC-F1D9-DF3A-12783CA86C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FA9F97-9261-45A0-547A-1C51A1C046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Demand Forecasting (Task 3)</a:t>
            </a:r>
          </a:p>
          <a:p>
            <a:r>
              <a:rPr lang="en-US" b="1" dirty="0"/>
              <a:t>Setup:</a:t>
            </a:r>
            <a:endParaRPr lang="en-US" dirty="0"/>
          </a:p>
          <a:p>
            <a:r>
              <a:rPr lang="en-US" dirty="0"/>
              <a:t>Open </a:t>
            </a:r>
            <a:r>
              <a:rPr lang="en-US" b="1" dirty="0"/>
              <a:t>VS Code</a:t>
            </a:r>
            <a:r>
              <a:rPr lang="en-US" dirty="0"/>
              <a:t> or </a:t>
            </a:r>
            <a:r>
              <a:rPr lang="en-US" b="1" dirty="0"/>
              <a:t>GitHub </a:t>
            </a:r>
            <a:r>
              <a:rPr lang="en-US" b="1" dirty="0" err="1"/>
              <a:t>Codespaces</a:t>
            </a:r>
            <a:r>
              <a:rPr lang="en-US" dirty="0"/>
              <a:t> with </a:t>
            </a:r>
            <a:r>
              <a:rPr lang="en-US" b="1" dirty="0"/>
              <a:t>GitHub Copilot enabled</a:t>
            </a:r>
            <a:r>
              <a:rPr lang="en-US" dirty="0"/>
              <a:t>.</a:t>
            </a:r>
          </a:p>
          <a:p>
            <a:r>
              <a:rPr lang="en-US" dirty="0"/>
              <a:t>Ensure Python and required libraries like </a:t>
            </a:r>
            <a:r>
              <a:rPr lang="en-US" b="1" dirty="0"/>
              <a:t>pandas, matplotlib, and scikit-learn</a:t>
            </a:r>
            <a:r>
              <a:rPr lang="en-US" dirty="0"/>
              <a:t> are installed.</a:t>
            </a:r>
          </a:p>
          <a:p>
            <a:r>
              <a:rPr lang="en-US" b="1" dirty="0"/>
              <a:t>Load Data:</a:t>
            </a:r>
            <a:endParaRPr lang="en-US" dirty="0"/>
          </a:p>
          <a:p>
            <a:r>
              <a:rPr lang="en-US" dirty="0"/>
              <a:t>Import the </a:t>
            </a:r>
            <a:r>
              <a:rPr lang="en-US" b="1" dirty="0"/>
              <a:t>cleaned Walmart dataset</a:t>
            </a:r>
            <a:r>
              <a:rPr lang="en-US" dirty="0"/>
              <a:t> from Step 2 into Python or </a:t>
            </a:r>
            <a:r>
              <a:rPr lang="en-US" dirty="0" err="1"/>
              <a:t>Jupyter</a:t>
            </a:r>
            <a:r>
              <a:rPr lang="en-US" dirty="0"/>
              <a:t> Notebook.</a:t>
            </a:r>
          </a:p>
          <a:p>
            <a:r>
              <a:rPr lang="en-US" dirty="0"/>
              <a:t>This ensures we are working with </a:t>
            </a:r>
            <a:r>
              <a:rPr lang="en-US" b="1" dirty="0"/>
              <a:t>verified, cleaned data</a:t>
            </a:r>
            <a:r>
              <a:rPr lang="en-US" dirty="0"/>
              <a:t> for accurate forecasting.</a:t>
            </a:r>
          </a:p>
          <a:p>
            <a:r>
              <a:rPr lang="en-US" b="1" dirty="0"/>
              <a:t>Using GitHub Copilot:</a:t>
            </a:r>
            <a:endParaRPr lang="en-US" dirty="0"/>
          </a:p>
          <a:p>
            <a:r>
              <a:rPr lang="en-US" dirty="0"/>
              <a:t>Type prompts in your Python file or notebook, for example: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"Create a demand forecasting model for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Weekly_Sales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endParaRPr lang="en-US" dirty="0"/>
          </a:p>
          <a:p>
            <a:pPr lvl="1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"Train and predict next 4 weeks sales"</a:t>
            </a:r>
            <a:endParaRPr lang="en-US" dirty="0"/>
          </a:p>
          <a:p>
            <a:r>
              <a:rPr lang="en-US" dirty="0"/>
              <a:t>Copilot will </a:t>
            </a:r>
            <a:r>
              <a:rPr lang="en-US" b="1" dirty="0"/>
              <a:t>suggest Python code</a:t>
            </a:r>
            <a:r>
              <a:rPr lang="en-US" dirty="0"/>
              <a:t> for:</a:t>
            </a:r>
          </a:p>
          <a:p>
            <a:pPr lvl="1"/>
            <a:r>
              <a:rPr lang="en-US" dirty="0"/>
              <a:t>Preparing data for modeling</a:t>
            </a:r>
          </a:p>
          <a:p>
            <a:pPr lvl="1"/>
            <a:r>
              <a:rPr lang="en-US" dirty="0"/>
              <a:t>Training a regression or predictive model</a:t>
            </a:r>
          </a:p>
          <a:p>
            <a:pPr lvl="1"/>
            <a:r>
              <a:rPr lang="en-US" dirty="0"/>
              <a:t>Plotting actual vs predicted sales</a:t>
            </a:r>
          </a:p>
          <a:p>
            <a:r>
              <a:rPr lang="en-US" b="1" dirty="0"/>
              <a:t>Objective:</a:t>
            </a:r>
            <a:endParaRPr lang="en-US" dirty="0"/>
          </a:p>
          <a:p>
            <a:r>
              <a:rPr lang="en-US" dirty="0"/>
              <a:t>The goal is to </a:t>
            </a:r>
            <a:r>
              <a:rPr lang="en-US" b="1" dirty="0"/>
              <a:t>automate forecasting</a:t>
            </a:r>
            <a:r>
              <a:rPr lang="en-US" dirty="0"/>
              <a:t> and generate </a:t>
            </a:r>
            <a:r>
              <a:rPr lang="en-US" b="1" dirty="0"/>
              <a:t>predictions for upcoming weeks</a:t>
            </a:r>
            <a:r>
              <a:rPr lang="en-US" dirty="0"/>
              <a:t>.</a:t>
            </a:r>
          </a:p>
          <a:p>
            <a:r>
              <a:rPr lang="en-US" dirty="0"/>
              <a:t>This step demonstrates </a:t>
            </a:r>
            <a:r>
              <a:rPr lang="en-US" b="1" dirty="0"/>
              <a:t>AI-assisted coding</a:t>
            </a:r>
            <a:r>
              <a:rPr lang="en-US" dirty="0"/>
              <a:t> to accelerate data analytics.</a:t>
            </a:r>
          </a:p>
          <a:p>
            <a:r>
              <a:rPr lang="en-US" b="1" dirty="0"/>
              <a:t>Key Takeaway:</a:t>
            </a:r>
            <a:endParaRPr lang="en-US" dirty="0"/>
          </a:p>
          <a:p>
            <a:r>
              <a:rPr lang="en-US" dirty="0"/>
              <a:t>Copilot helps quickly create forecasting scripts, enabling us to focus on </a:t>
            </a:r>
            <a:r>
              <a:rPr lang="en-US" b="1" dirty="0"/>
              <a:t>analysis and interpretation of results</a:t>
            </a:r>
            <a:r>
              <a:rPr lang="en-US" dirty="0"/>
              <a:t> rather than writing all code manually.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74089-5E02-BC11-E6FE-182EAEE102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387AB6-0C90-4C13-BFEE-4EBE8F3CA032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93695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6A392-1258-F4AA-CE98-ADBAA9F92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6C6456-A937-D6B2-827C-58FEA0E8E8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2B8F0D-EFBB-702E-B312-ABB33987D7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Demand Forecasting (Task 3)</a:t>
            </a:r>
          </a:p>
          <a:p>
            <a:r>
              <a:rPr lang="en-US" b="1" dirty="0"/>
              <a:t>Setup:</a:t>
            </a:r>
            <a:endParaRPr lang="en-US" dirty="0"/>
          </a:p>
          <a:p>
            <a:r>
              <a:rPr lang="en-US" dirty="0"/>
              <a:t>Open </a:t>
            </a:r>
            <a:r>
              <a:rPr lang="en-US" b="1" dirty="0"/>
              <a:t>VS Code</a:t>
            </a:r>
            <a:r>
              <a:rPr lang="en-US" dirty="0"/>
              <a:t> or </a:t>
            </a:r>
            <a:r>
              <a:rPr lang="en-US" b="1" dirty="0"/>
              <a:t>GitHub </a:t>
            </a:r>
            <a:r>
              <a:rPr lang="en-US" b="1" dirty="0" err="1"/>
              <a:t>Codespaces</a:t>
            </a:r>
            <a:r>
              <a:rPr lang="en-US" dirty="0"/>
              <a:t> with </a:t>
            </a:r>
            <a:r>
              <a:rPr lang="en-US" b="1" dirty="0"/>
              <a:t>GitHub Copilot enabled</a:t>
            </a:r>
            <a:r>
              <a:rPr lang="en-US" dirty="0"/>
              <a:t>.</a:t>
            </a:r>
          </a:p>
          <a:p>
            <a:r>
              <a:rPr lang="en-US" dirty="0"/>
              <a:t>Ensure Python and required libraries like </a:t>
            </a:r>
            <a:r>
              <a:rPr lang="en-US" b="1" dirty="0"/>
              <a:t>pandas, matplotlib, and scikit-learn</a:t>
            </a:r>
            <a:r>
              <a:rPr lang="en-US" dirty="0"/>
              <a:t> are installed.</a:t>
            </a:r>
          </a:p>
          <a:p>
            <a:r>
              <a:rPr lang="en-US" b="1" dirty="0"/>
              <a:t>Load Data:</a:t>
            </a:r>
            <a:endParaRPr lang="en-US" dirty="0"/>
          </a:p>
          <a:p>
            <a:r>
              <a:rPr lang="en-US" dirty="0"/>
              <a:t>Import the </a:t>
            </a:r>
            <a:r>
              <a:rPr lang="en-US" b="1" dirty="0"/>
              <a:t>cleaned Walmart dataset</a:t>
            </a:r>
            <a:r>
              <a:rPr lang="en-US" dirty="0"/>
              <a:t> from Step 2 into Python or </a:t>
            </a:r>
            <a:r>
              <a:rPr lang="en-US" dirty="0" err="1"/>
              <a:t>Jupyter</a:t>
            </a:r>
            <a:r>
              <a:rPr lang="en-US" dirty="0"/>
              <a:t> Notebook.</a:t>
            </a:r>
          </a:p>
          <a:p>
            <a:r>
              <a:rPr lang="en-US" dirty="0"/>
              <a:t>This ensures we are working with </a:t>
            </a:r>
            <a:r>
              <a:rPr lang="en-US" b="1" dirty="0"/>
              <a:t>verified, cleaned data</a:t>
            </a:r>
            <a:r>
              <a:rPr lang="en-US" dirty="0"/>
              <a:t> for accurate forecasting.</a:t>
            </a:r>
          </a:p>
          <a:p>
            <a:r>
              <a:rPr lang="en-US" b="1" dirty="0"/>
              <a:t>Using GitHub Copilot:</a:t>
            </a:r>
            <a:endParaRPr lang="en-US" dirty="0"/>
          </a:p>
          <a:p>
            <a:r>
              <a:rPr lang="en-US" dirty="0"/>
              <a:t>Type prompts in your Python file or notebook, for example: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"Create a demand forecasting model for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Weekly_Sales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endParaRPr lang="en-US" dirty="0"/>
          </a:p>
          <a:p>
            <a:pPr lvl="1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"Train and predict next 4 weeks sales"</a:t>
            </a:r>
            <a:endParaRPr lang="en-US" dirty="0"/>
          </a:p>
          <a:p>
            <a:r>
              <a:rPr lang="en-US" dirty="0"/>
              <a:t>Copilot will </a:t>
            </a:r>
            <a:r>
              <a:rPr lang="en-US" b="1" dirty="0"/>
              <a:t>suggest Python code</a:t>
            </a:r>
            <a:r>
              <a:rPr lang="en-US" dirty="0"/>
              <a:t> for:</a:t>
            </a:r>
          </a:p>
          <a:p>
            <a:pPr lvl="1"/>
            <a:r>
              <a:rPr lang="en-US" dirty="0"/>
              <a:t>Preparing data for modeling</a:t>
            </a:r>
          </a:p>
          <a:p>
            <a:pPr lvl="1"/>
            <a:r>
              <a:rPr lang="en-US" dirty="0"/>
              <a:t>Training a regression or predictive model</a:t>
            </a:r>
          </a:p>
          <a:p>
            <a:pPr lvl="1"/>
            <a:r>
              <a:rPr lang="en-US" dirty="0"/>
              <a:t>Plotting actual vs predicted sales</a:t>
            </a:r>
          </a:p>
          <a:p>
            <a:r>
              <a:rPr lang="en-US" b="1" dirty="0"/>
              <a:t>Objective:</a:t>
            </a:r>
            <a:endParaRPr lang="en-US" dirty="0"/>
          </a:p>
          <a:p>
            <a:r>
              <a:rPr lang="en-US" dirty="0"/>
              <a:t>The goal is to </a:t>
            </a:r>
            <a:r>
              <a:rPr lang="en-US" b="1" dirty="0"/>
              <a:t>automate forecasting</a:t>
            </a:r>
            <a:r>
              <a:rPr lang="en-US" dirty="0"/>
              <a:t> and generate </a:t>
            </a:r>
            <a:r>
              <a:rPr lang="en-US" b="1" dirty="0"/>
              <a:t>predictions for upcoming weeks</a:t>
            </a:r>
            <a:r>
              <a:rPr lang="en-US" dirty="0"/>
              <a:t>.</a:t>
            </a:r>
          </a:p>
          <a:p>
            <a:r>
              <a:rPr lang="en-US" dirty="0"/>
              <a:t>This step demonstrates </a:t>
            </a:r>
            <a:r>
              <a:rPr lang="en-US" b="1" dirty="0"/>
              <a:t>AI-assisted coding</a:t>
            </a:r>
            <a:r>
              <a:rPr lang="en-US" dirty="0"/>
              <a:t> to accelerate data analytics.</a:t>
            </a:r>
          </a:p>
          <a:p>
            <a:r>
              <a:rPr lang="en-US" b="1" dirty="0"/>
              <a:t>Key Takeaway:</a:t>
            </a:r>
            <a:endParaRPr lang="en-US" dirty="0"/>
          </a:p>
          <a:p>
            <a:r>
              <a:rPr lang="en-US" dirty="0"/>
              <a:t>Copilot helps quickly create forecasting scripts, enabling us to focus on </a:t>
            </a:r>
            <a:r>
              <a:rPr lang="en-US" b="1" dirty="0"/>
              <a:t>analysis and interpretation of results</a:t>
            </a:r>
            <a:r>
              <a:rPr lang="en-US" dirty="0"/>
              <a:t> rather than writing all code manually.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371163-E66B-56AA-6A40-57EC3A05F3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387AB6-0C90-4C13-BFEE-4EBE8F3CA032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7251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2595E-6D07-6595-FC06-6146672C4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461A48-F2FB-4A45-B96E-B1B91618FA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47644C-6B1F-AE16-4685-79F8B17619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Azure Cloud Exploration (Task 4)</a:t>
            </a:r>
          </a:p>
          <a:p>
            <a:r>
              <a:rPr lang="en-US" b="1" dirty="0"/>
              <a:t>Sign in to Azure Portal:</a:t>
            </a:r>
            <a:endParaRPr lang="en-US" dirty="0"/>
          </a:p>
          <a:p>
            <a:r>
              <a:rPr lang="en-US" dirty="0"/>
              <a:t>Access the portal at </a:t>
            </a:r>
            <a:r>
              <a:rPr lang="en-US" dirty="0">
                <a:hlinkClick r:id="rId3"/>
              </a:rPr>
              <a:t>https://portal.azure.com</a:t>
            </a:r>
            <a:r>
              <a:rPr lang="en-US" dirty="0"/>
              <a:t> using your </a:t>
            </a:r>
            <a:r>
              <a:rPr lang="en-US" b="1" dirty="0"/>
              <a:t>student or organization account</a:t>
            </a:r>
            <a:r>
              <a:rPr lang="en-US" dirty="0"/>
              <a:t>.</a:t>
            </a:r>
          </a:p>
          <a:p>
            <a:r>
              <a:rPr lang="en-US" dirty="0"/>
              <a:t>This gives access to all </a:t>
            </a:r>
            <a:r>
              <a:rPr lang="en-US" b="1" dirty="0"/>
              <a:t>cloud services</a:t>
            </a:r>
            <a:r>
              <a:rPr lang="en-US" dirty="0"/>
              <a:t> for data storage, computation, and analytics.</a:t>
            </a:r>
          </a:p>
          <a:p>
            <a:r>
              <a:rPr lang="en-US" b="1" dirty="0"/>
              <a:t>Explore Azure Services:</a:t>
            </a:r>
            <a:endParaRPr lang="en-US" dirty="0"/>
          </a:p>
          <a:p>
            <a:r>
              <a:rPr lang="en-US" b="1" dirty="0"/>
              <a:t>Azure Storage:</a:t>
            </a:r>
            <a:r>
              <a:rPr lang="en-US" dirty="0"/>
              <a:t> Used to </a:t>
            </a:r>
            <a:r>
              <a:rPr lang="en-US" b="1" dirty="0"/>
              <a:t>store datasets</a:t>
            </a:r>
            <a:r>
              <a:rPr lang="en-US" dirty="0"/>
              <a:t> securely in the cloud.</a:t>
            </a:r>
          </a:p>
          <a:p>
            <a:r>
              <a:rPr lang="en-US" b="1" dirty="0"/>
              <a:t>Azure Machine Learning:</a:t>
            </a:r>
            <a:r>
              <a:rPr lang="en-US" dirty="0"/>
              <a:t> Allows running </a:t>
            </a:r>
            <a:r>
              <a:rPr lang="en-US" b="1" dirty="0"/>
              <a:t>AI/ML experiments and notebooks</a:t>
            </a:r>
            <a:r>
              <a:rPr lang="en-US" dirty="0"/>
              <a:t> without local setup.</a:t>
            </a:r>
          </a:p>
          <a:p>
            <a:r>
              <a:rPr lang="en-US" dirty="0"/>
              <a:t>Optional services like </a:t>
            </a:r>
            <a:r>
              <a:rPr lang="en-US" b="1" dirty="0"/>
              <a:t>Azure Virtual Machines, Synapse, or Databricks</a:t>
            </a:r>
            <a:r>
              <a:rPr lang="en-US" dirty="0"/>
              <a:t> can handle larger-scale analytics.</a:t>
            </a:r>
          </a:p>
          <a:p>
            <a:r>
              <a:rPr lang="en-US" b="1" dirty="0"/>
              <a:t>Upload Dataset:</a:t>
            </a:r>
            <a:endParaRPr lang="en-US" dirty="0"/>
          </a:p>
          <a:p>
            <a:r>
              <a:rPr lang="en-US" dirty="0"/>
              <a:t>Create a </a:t>
            </a:r>
            <a:r>
              <a:rPr lang="en-US" b="1" dirty="0"/>
              <a:t>Resource Group</a:t>
            </a:r>
            <a:r>
              <a:rPr lang="en-US" dirty="0"/>
              <a:t> (e.g.,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WalmartSalesRG</a:t>
            </a:r>
            <a:r>
              <a:rPr lang="en-US" dirty="0"/>
              <a:t>).</a:t>
            </a:r>
          </a:p>
          <a:p>
            <a:r>
              <a:rPr lang="en-US" dirty="0"/>
              <a:t>Create a </a:t>
            </a:r>
            <a:r>
              <a:rPr lang="en-US" b="1" dirty="0"/>
              <a:t>Storage Account</a:t>
            </a:r>
            <a:r>
              <a:rPr lang="en-US" dirty="0"/>
              <a:t> → then a </a:t>
            </a:r>
            <a:r>
              <a:rPr lang="en-US" b="1" dirty="0"/>
              <a:t>Blob Container</a:t>
            </a:r>
            <a:r>
              <a:rPr lang="en-US" dirty="0"/>
              <a:t> → upload the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walmart_sales.csv</a:t>
            </a:r>
            <a:r>
              <a:rPr lang="en-US" dirty="0"/>
              <a:t> file.</a:t>
            </a:r>
          </a:p>
          <a:p>
            <a:r>
              <a:rPr lang="en-US" dirty="0"/>
              <a:t>This enables your </a:t>
            </a:r>
            <a:r>
              <a:rPr lang="en-US" b="1" dirty="0"/>
              <a:t>Python scripts or notebooks</a:t>
            </a:r>
            <a:r>
              <a:rPr lang="en-US" dirty="0"/>
              <a:t> to access the dataset directly from the cloud using a </a:t>
            </a:r>
            <a:r>
              <a:rPr lang="en-US" b="1" dirty="0"/>
              <a:t>SAS URL or access key</a:t>
            </a:r>
            <a:r>
              <a:rPr lang="en-US" dirty="0"/>
              <a:t>.</a:t>
            </a:r>
          </a:p>
          <a:p>
            <a:r>
              <a:rPr lang="en-US" b="1" dirty="0"/>
              <a:t>Key Takeaway:</a:t>
            </a:r>
            <a:endParaRPr lang="en-US" dirty="0"/>
          </a:p>
          <a:p>
            <a:r>
              <a:rPr lang="en-US" dirty="0"/>
              <a:t>This step demonstrates </a:t>
            </a:r>
            <a:r>
              <a:rPr lang="en-US" b="1" dirty="0"/>
              <a:t>cloud-based storage and computation</a:t>
            </a:r>
            <a:r>
              <a:rPr lang="en-US" dirty="0"/>
              <a:t>, showing how AI and analytics workflows can scale beyond a local system.</a:t>
            </a:r>
          </a:p>
          <a:p>
            <a:r>
              <a:rPr lang="en-US" dirty="0"/>
              <a:t>Integrates </a:t>
            </a:r>
            <a:r>
              <a:rPr lang="en-US" b="1" dirty="0"/>
              <a:t>data, forecasting models, and visualization</a:t>
            </a:r>
            <a:r>
              <a:rPr lang="en-US" dirty="0"/>
              <a:t> with Azure services for a </a:t>
            </a:r>
            <a:r>
              <a:rPr lang="en-US" b="1" dirty="0"/>
              <a:t>complete AI-assisted workflow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519F0A-4EF2-F921-2F8A-FB1E1028F7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387AB6-0C90-4C13-BFEE-4EBE8F3CA032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99600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743C6-E6CB-65E8-C567-E9FA5DBDC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506394-0769-6814-FFF3-90DD2D3420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3AA2EF-863A-20CE-70EC-AEE9D2B551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Upload Dataset to Azure Storage</a:t>
            </a:r>
          </a:p>
          <a:p>
            <a:r>
              <a:rPr lang="en-US" b="1" dirty="0"/>
              <a:t>Create Resource Group:</a:t>
            </a:r>
            <a:endParaRPr lang="en-US" dirty="0"/>
          </a:p>
          <a:p>
            <a:r>
              <a:rPr lang="en-US" dirty="0"/>
              <a:t>In the </a:t>
            </a:r>
            <a:r>
              <a:rPr lang="en-US" b="1" dirty="0"/>
              <a:t>Azure Portal</a:t>
            </a:r>
            <a:r>
              <a:rPr lang="en-US" dirty="0"/>
              <a:t>, create a new </a:t>
            </a:r>
            <a:r>
              <a:rPr lang="en-US" b="1" dirty="0"/>
              <a:t>Resource Group</a:t>
            </a:r>
            <a:r>
              <a:rPr lang="en-US" dirty="0"/>
              <a:t> named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Walmart_sales</a:t>
            </a:r>
            <a:r>
              <a:rPr lang="en-US" dirty="0"/>
              <a:t>.</a:t>
            </a:r>
          </a:p>
          <a:p>
            <a:r>
              <a:rPr lang="en-US" dirty="0"/>
              <a:t>This helps organize all resources for this project in a single place.</a:t>
            </a:r>
          </a:p>
          <a:p>
            <a:r>
              <a:rPr lang="en-US" b="1" dirty="0"/>
              <a:t>Create Storage Account (Blob Storage):</a:t>
            </a:r>
            <a:endParaRPr lang="en-US" dirty="0"/>
          </a:p>
          <a:p>
            <a:r>
              <a:rPr lang="en-US" dirty="0"/>
              <a:t>Navigate to </a:t>
            </a:r>
            <a:r>
              <a:rPr lang="en-US" b="1" dirty="0"/>
              <a:t>Storage Accounts → + Create</a:t>
            </a:r>
            <a:r>
              <a:rPr lang="en-US" dirty="0"/>
              <a:t>.</a:t>
            </a:r>
          </a:p>
          <a:p>
            <a:r>
              <a:rPr lang="en-US" dirty="0"/>
              <a:t>Select the </a:t>
            </a:r>
            <a:r>
              <a:rPr lang="en-US" b="1" dirty="0" err="1"/>
              <a:t>Walmart_sales</a:t>
            </a:r>
            <a:r>
              <a:rPr lang="en-US" dirty="0"/>
              <a:t> resource group.</a:t>
            </a:r>
          </a:p>
          <a:p>
            <a:r>
              <a:rPr lang="en-US" dirty="0"/>
              <a:t>Enter a </a:t>
            </a:r>
            <a:r>
              <a:rPr lang="en-US" b="1" dirty="0"/>
              <a:t>unique storage account name</a:t>
            </a:r>
            <a:r>
              <a:rPr lang="en-US" dirty="0"/>
              <a:t> (e.g.,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walmarbs</a:t>
            </a:r>
            <a:r>
              <a:rPr lang="en-US" dirty="0"/>
              <a:t>).</a:t>
            </a:r>
          </a:p>
          <a:p>
            <a:r>
              <a:rPr lang="en-US" dirty="0"/>
              <a:t>Choose </a:t>
            </a:r>
            <a:r>
              <a:rPr lang="en-US" b="1" dirty="0"/>
              <a:t>Region</a:t>
            </a:r>
            <a:r>
              <a:rPr lang="en-US" dirty="0"/>
              <a:t> same as the resource group, </a:t>
            </a:r>
            <a:r>
              <a:rPr lang="en-US" b="1" dirty="0"/>
              <a:t>Performance: Standard</a:t>
            </a:r>
            <a:r>
              <a:rPr lang="en-US" dirty="0"/>
              <a:t>, and </a:t>
            </a:r>
            <a:r>
              <a:rPr lang="en-US" b="1" dirty="0"/>
              <a:t>Replication: LRS</a:t>
            </a:r>
            <a:r>
              <a:rPr lang="en-US" dirty="0"/>
              <a:t>.</a:t>
            </a:r>
          </a:p>
          <a:p>
            <a:r>
              <a:rPr lang="en-US" dirty="0"/>
              <a:t>Click </a:t>
            </a:r>
            <a:r>
              <a:rPr lang="en-US" b="1" dirty="0"/>
              <a:t>Review + Create → Create</a:t>
            </a:r>
            <a:r>
              <a:rPr lang="en-US" dirty="0"/>
              <a:t> to finalize.</a:t>
            </a:r>
          </a:p>
          <a:p>
            <a:r>
              <a:rPr lang="en-US" b="1" dirty="0"/>
              <a:t>Upload Dataset:</a:t>
            </a:r>
            <a:endParaRPr lang="en-US" dirty="0"/>
          </a:p>
          <a:p>
            <a:r>
              <a:rPr lang="en-US" dirty="0"/>
              <a:t>Open your </a:t>
            </a:r>
            <a:r>
              <a:rPr lang="en-US" b="1" dirty="0"/>
              <a:t>Storage Account → Containers → + Container</a:t>
            </a:r>
            <a:r>
              <a:rPr lang="en-US" dirty="0"/>
              <a:t>.</a:t>
            </a:r>
          </a:p>
          <a:p>
            <a:r>
              <a:rPr lang="en-US" dirty="0"/>
              <a:t>Create a container (e.g.,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walmartdata</a:t>
            </a:r>
            <a:r>
              <a:rPr lang="en-US" dirty="0"/>
              <a:t>) and upload the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walmart_sales.csv</a:t>
            </a:r>
            <a:r>
              <a:rPr lang="en-US" dirty="0"/>
              <a:t> file.</a:t>
            </a:r>
          </a:p>
          <a:p>
            <a:r>
              <a:rPr lang="en-US" dirty="0"/>
              <a:t>Dataset is now accessible in the cloud for notebooks, scripts, or analytics workflows.</a:t>
            </a:r>
          </a:p>
          <a:p>
            <a:r>
              <a:rPr lang="en-US" b="1" dirty="0"/>
              <a:t>Observe Azure Tools:</a:t>
            </a:r>
            <a:endParaRPr lang="en-US" dirty="0"/>
          </a:p>
          <a:p>
            <a:r>
              <a:rPr lang="en-US" dirty="0"/>
              <a:t>Explore options for </a:t>
            </a:r>
            <a:r>
              <a:rPr lang="en-US" b="1" dirty="0"/>
              <a:t>compute, storage, and AI/ML model deployment</a:t>
            </a:r>
            <a:r>
              <a:rPr lang="en-US" dirty="0"/>
              <a:t>.</a:t>
            </a:r>
          </a:p>
          <a:p>
            <a:r>
              <a:rPr lang="en-US" dirty="0"/>
              <a:t>Shows how Azure can </a:t>
            </a:r>
            <a:r>
              <a:rPr lang="en-US" b="1" dirty="0"/>
              <a:t>handle datasets, run models, and scale analytics</a:t>
            </a:r>
            <a:r>
              <a:rPr lang="en-US" dirty="0"/>
              <a:t> beyond a local system.</a:t>
            </a:r>
          </a:p>
          <a:p>
            <a:r>
              <a:rPr lang="en-US" b="1" dirty="0"/>
              <a:t>Key Takeaway:</a:t>
            </a:r>
            <a:endParaRPr lang="en-US" dirty="0"/>
          </a:p>
          <a:p>
            <a:r>
              <a:rPr lang="en-US" dirty="0"/>
              <a:t>Uploading the dataset to Azure demonstrates </a:t>
            </a:r>
            <a:r>
              <a:rPr lang="en-US" b="1" dirty="0"/>
              <a:t>cloud integration</a:t>
            </a:r>
            <a:r>
              <a:rPr lang="en-US" dirty="0"/>
              <a:t> and prepares it for </a:t>
            </a:r>
            <a:r>
              <a:rPr lang="en-US" b="1" dirty="0"/>
              <a:t>Python forecasting, visualization, and AI workflows</a:t>
            </a:r>
            <a:r>
              <a:rPr lang="en-US" dirty="0"/>
              <a:t> in a scalable environment.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8ECF57-4CB5-E613-5E10-02DA4C4959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387AB6-0C90-4C13-BFEE-4EBE8F3CA032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60392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Key Takeaways – Retail Demand Workflow</a:t>
            </a:r>
          </a:p>
          <a:p>
            <a:r>
              <a:rPr lang="en-US" b="1" dirty="0"/>
              <a:t>End-to-End Workflow:</a:t>
            </a:r>
            <a:endParaRPr lang="en-US" dirty="0"/>
          </a:p>
          <a:p>
            <a:r>
              <a:rPr lang="en-US" dirty="0"/>
              <a:t>Students will understand the </a:t>
            </a:r>
            <a:r>
              <a:rPr lang="en-US" b="1" dirty="0"/>
              <a:t>complete retail demand analysis workflow</a:t>
            </a:r>
            <a:r>
              <a:rPr lang="en-US" dirty="0"/>
              <a:t>, from </a:t>
            </a:r>
            <a:r>
              <a:rPr lang="en-US" b="1" dirty="0"/>
              <a:t>data collection to visualization</a:t>
            </a:r>
            <a:r>
              <a:rPr lang="en-US" dirty="0"/>
              <a:t>.</a:t>
            </a:r>
          </a:p>
          <a:p>
            <a:r>
              <a:rPr lang="en-US" b="1" dirty="0"/>
              <a:t>Data Cleaning &amp; Validation:</a:t>
            </a:r>
            <a:endParaRPr lang="en-US" dirty="0"/>
          </a:p>
          <a:p>
            <a:r>
              <a:rPr lang="en-US" dirty="0"/>
              <a:t>Use </a:t>
            </a:r>
            <a:r>
              <a:rPr lang="en-US" b="1" dirty="0"/>
              <a:t>Excel tools and Excel Copilot</a:t>
            </a:r>
            <a:r>
              <a:rPr lang="en-US" dirty="0"/>
              <a:t> to clean, validate, and prepare datasets for analysis.</a:t>
            </a:r>
          </a:p>
          <a:p>
            <a:r>
              <a:rPr lang="en-US" b="1" dirty="0"/>
              <a:t>Summary Statistics &amp; Visualization:</a:t>
            </a:r>
            <a:endParaRPr lang="en-US" dirty="0"/>
          </a:p>
          <a:p>
            <a:r>
              <a:rPr lang="en-US" dirty="0"/>
              <a:t>Generate insights like </a:t>
            </a:r>
            <a:r>
              <a:rPr lang="en-US" b="1" dirty="0"/>
              <a:t>average weekly sales, store-wise trends</a:t>
            </a:r>
            <a:r>
              <a:rPr lang="en-US" dirty="0"/>
              <a:t>, and visualize patterns to identify </a:t>
            </a:r>
            <a:r>
              <a:rPr lang="en-US" b="1" dirty="0"/>
              <a:t>trends, holiday effects, and store performance</a:t>
            </a:r>
            <a:r>
              <a:rPr lang="en-US" dirty="0"/>
              <a:t>.</a:t>
            </a:r>
          </a:p>
          <a:p>
            <a:r>
              <a:rPr lang="en-US" b="1" dirty="0"/>
              <a:t>AI-Assisted Analysis:</a:t>
            </a:r>
            <a:endParaRPr lang="en-US" dirty="0"/>
          </a:p>
          <a:p>
            <a:r>
              <a:rPr lang="en-US" dirty="0"/>
              <a:t>Leverage </a:t>
            </a:r>
            <a:r>
              <a:rPr lang="en-US" b="1" dirty="0"/>
              <a:t>AI tools</a:t>
            </a:r>
            <a:r>
              <a:rPr lang="en-US" dirty="0"/>
              <a:t> to </a:t>
            </a:r>
            <a:r>
              <a:rPr lang="en-US" b="1" dirty="0"/>
              <a:t>streamline cleaning, analysis, and insight generation</a:t>
            </a:r>
            <a:r>
              <a:rPr lang="en-US" dirty="0"/>
              <a:t>, saving time and reducing errors.</a:t>
            </a:r>
          </a:p>
          <a:p>
            <a:r>
              <a:rPr lang="en-US" b="1" dirty="0"/>
              <a:t>Data-Driven Decision Making:</a:t>
            </a:r>
            <a:endParaRPr lang="en-US" dirty="0"/>
          </a:p>
          <a:p>
            <a:r>
              <a:rPr lang="en-US" dirty="0"/>
              <a:t>Interpret results to make </a:t>
            </a:r>
            <a:r>
              <a:rPr lang="en-US" b="1" dirty="0"/>
              <a:t>accurate retail forecasts</a:t>
            </a:r>
            <a:r>
              <a:rPr lang="en-US" dirty="0"/>
              <a:t> and support informed decisions on </a:t>
            </a:r>
            <a:r>
              <a:rPr lang="en-US" b="1" dirty="0"/>
              <a:t>inventory and demand planning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0FC4EF-F040-4629-96AB-A33446C1CF54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00440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Purpose of References:</a:t>
            </a:r>
            <a:endParaRPr lang="en-US" dirty="0"/>
          </a:p>
          <a:p>
            <a:r>
              <a:rPr lang="en-US" dirty="0"/>
              <a:t>These references were used to </a:t>
            </a:r>
            <a:r>
              <a:rPr lang="en-US" b="1" dirty="0"/>
              <a:t>support the concepts, dataset, and tools</a:t>
            </a:r>
            <a:r>
              <a:rPr lang="en-US" dirty="0"/>
              <a:t> demonstrated in this case study.</a:t>
            </a:r>
          </a:p>
          <a:p>
            <a:r>
              <a:rPr lang="en-US" dirty="0"/>
              <a:t>They provide credibility and sources for students to </a:t>
            </a:r>
            <a:r>
              <a:rPr lang="en-US" b="1" dirty="0"/>
              <a:t>explore further</a:t>
            </a:r>
            <a:r>
              <a:rPr lang="en-US" dirty="0"/>
              <a:t>.</a:t>
            </a:r>
          </a:p>
          <a:p>
            <a:r>
              <a:rPr lang="en-US" b="1" dirty="0"/>
              <a:t>Dataset Reference:</a:t>
            </a:r>
            <a:endParaRPr lang="en-US" dirty="0"/>
          </a:p>
          <a:p>
            <a:r>
              <a:rPr lang="en-US" dirty="0"/>
              <a:t>The </a:t>
            </a:r>
            <a:r>
              <a:rPr lang="en-US" b="1" dirty="0"/>
              <a:t>Walmart Store Sales Forecasting dataset</a:t>
            </a:r>
            <a:r>
              <a:rPr lang="en-US" dirty="0"/>
              <a:t> from Kaggle was used for data analysis, cleaning, and forecasting practice.</a:t>
            </a:r>
          </a:p>
          <a:p>
            <a:r>
              <a:rPr lang="en-US" b="1" dirty="0"/>
              <a:t>Tool Documentation:</a:t>
            </a:r>
            <a:endParaRPr lang="en-US" dirty="0"/>
          </a:p>
          <a:p>
            <a:r>
              <a:rPr lang="en-US" dirty="0"/>
              <a:t>Microsoft </a:t>
            </a:r>
            <a:r>
              <a:rPr lang="en-US" b="1" dirty="0"/>
              <a:t>Excel Copilot</a:t>
            </a:r>
            <a:r>
              <a:rPr lang="en-US" dirty="0"/>
              <a:t>, GitHub </a:t>
            </a:r>
            <a:r>
              <a:rPr lang="en-US" b="1" dirty="0"/>
              <a:t>Copilot</a:t>
            </a:r>
            <a:r>
              <a:rPr lang="en-US" dirty="0"/>
              <a:t>, and </a:t>
            </a:r>
            <a:r>
              <a:rPr lang="en-US" b="1" dirty="0"/>
              <a:t>Azure services</a:t>
            </a:r>
            <a:r>
              <a:rPr lang="en-US" dirty="0"/>
              <a:t> documentation guided the </a:t>
            </a:r>
            <a:r>
              <a:rPr lang="en-US" b="1" dirty="0"/>
              <a:t>AI-assisted data cleaning, modeling, and cloud exploration</a:t>
            </a:r>
            <a:r>
              <a:rPr lang="en-US" dirty="0"/>
              <a:t> steps.</a:t>
            </a:r>
          </a:p>
          <a:p>
            <a:r>
              <a:rPr lang="en-US" b="1" dirty="0"/>
              <a:t>Additional Reading:</a:t>
            </a:r>
            <a:endParaRPr lang="en-US" dirty="0"/>
          </a:p>
          <a:p>
            <a:r>
              <a:rPr lang="en-US" dirty="0"/>
              <a:t>Publications from </a:t>
            </a:r>
            <a:r>
              <a:rPr lang="en-US" b="1" dirty="0"/>
              <a:t>Walmart Labs</a:t>
            </a:r>
            <a:r>
              <a:rPr lang="en-US" dirty="0"/>
              <a:t> and IBM’s retail analytics resources were consulted to understand </a:t>
            </a:r>
            <a:r>
              <a:rPr lang="en-US" b="1" dirty="0"/>
              <a:t>real-world AI-driven demand forecasting practices</a:t>
            </a:r>
            <a:r>
              <a:rPr lang="en-US" dirty="0"/>
              <a:t>.</a:t>
            </a:r>
          </a:p>
          <a:p>
            <a:r>
              <a:rPr lang="en-US" b="1" dirty="0"/>
              <a:t>Takeaway:</a:t>
            </a:r>
            <a:endParaRPr lang="en-US" dirty="0"/>
          </a:p>
          <a:p>
            <a:r>
              <a:rPr lang="en-US" dirty="0"/>
              <a:t>These references help </a:t>
            </a:r>
            <a:r>
              <a:rPr lang="en-US" b="1" dirty="0"/>
              <a:t>students validate methods, replicate the workflow</a:t>
            </a:r>
            <a:r>
              <a:rPr lang="en-US" dirty="0"/>
              <a:t>, and gain further insights into </a:t>
            </a:r>
            <a:r>
              <a:rPr lang="en-US" b="1" dirty="0"/>
              <a:t>AI-assisted retail analytics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0FC4EF-F040-4629-96AB-A33446C1CF54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995265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0FC4EF-F040-4629-96AB-A33446C1CF54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907082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A1DA8-6098-B45F-4EDE-879C1ADDA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013F78-6647-0D93-0F72-B007776958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2B0CD3-25CB-108E-BEF1-746F3C63DC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9C04D7-77FB-B506-C96A-F87D2E0E9F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0FC4EF-F040-4629-96AB-A33446C1CF54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50549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B6B97-53F2-B939-DB02-035BD7AC7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6D30A4-F723-E75F-976C-867E556D6C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8F3A1B-DF80-9372-56BD-EA206FD007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954442-0AB3-52AD-5354-C9141D1F92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0FC4EF-F040-4629-96AB-A33446C1CF54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192351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4A72D-6E9A-FA6D-4D7C-043FDF48A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A326DB-7200-C5E9-A306-EE1A9C9EDF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B52094-7BAA-5F50-6A60-938F2F740B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0421D0-2BDA-8D84-4A93-4DEDC6F86E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0FC4EF-F040-4629-96AB-A33446C1CF54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196408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9909B-B0A8-0295-8DB0-F051134B8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161E4E-5BAA-B795-C835-1EAAB99690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6C35BF-EC6B-EB81-33D6-2951B6E023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A6F22F-B12F-0681-3EEC-90460B6A2B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0FC4EF-F040-4629-96AB-A33446C1CF54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369235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E75BF-730F-4B08-0728-1FE9B3F86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C54148-5D40-4114-4C25-DF7782D8FB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661316-ACE2-9205-5BD4-778BA4853C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B61F29-CD5C-47B5-9423-0E1C0ED871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0FC4EF-F040-4629-96AB-A33446C1CF54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79552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4805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2684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30048798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5B750CB-F068-50AE-8BEB-20EC7515F40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4" descr="Abstract White Background Images, HD Pictures and Wallpaper For Free  Download | Pngtree">
            <a:extLst>
              <a:ext uri="{FF2B5EF4-FFF2-40B4-BE49-F238E27FC236}">
                <a16:creationId xmlns:a16="http://schemas.microsoft.com/office/drawing/2014/main" id="{381F3695-8937-0C68-4FAE-266CC82C509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alphaModFix amt="3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59" b="9928"/>
          <a:stretch/>
        </p:blipFill>
        <p:spPr bwMode="auto">
          <a:xfrm>
            <a:off x="1293813" y="1"/>
            <a:ext cx="108981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3">
            <a:extLst>
              <a:ext uri="{FF2B5EF4-FFF2-40B4-BE49-F238E27FC236}">
                <a16:creationId xmlns:a16="http://schemas.microsoft.com/office/drawing/2014/main" id="{DA6D6C8D-DD3B-2468-8A3F-39DA0D7CB0A4}"/>
              </a:ext>
            </a:extLst>
          </p:cNvPr>
          <p:cNvGrpSpPr/>
          <p:nvPr userDrawn="1"/>
        </p:nvGrpSpPr>
        <p:grpSpPr>
          <a:xfrm>
            <a:off x="2807825" y="-57051"/>
            <a:ext cx="609600" cy="6978551"/>
            <a:chOff x="0" y="-47625"/>
            <a:chExt cx="558233" cy="2756958"/>
          </a:xfrm>
          <a:solidFill>
            <a:srgbClr val="ACCBFF"/>
          </a:solidFill>
        </p:grpSpPr>
        <p:sp>
          <p:nvSpPr>
            <p:cNvPr id="10" name="Freeform 4">
              <a:extLst>
                <a:ext uri="{FF2B5EF4-FFF2-40B4-BE49-F238E27FC236}">
                  <a16:creationId xmlns:a16="http://schemas.microsoft.com/office/drawing/2014/main" id="{500E8AC0-76EB-1E06-0FAF-6680F05CB1CD}"/>
                </a:ext>
              </a:extLst>
            </p:cNvPr>
            <p:cNvSpPr/>
            <p:nvPr/>
          </p:nvSpPr>
          <p:spPr>
            <a:xfrm>
              <a:off x="0" y="0"/>
              <a:ext cx="558233" cy="2709333"/>
            </a:xfrm>
            <a:custGeom>
              <a:avLst/>
              <a:gdLst/>
              <a:ahLst/>
              <a:cxnLst/>
              <a:rect l="l" t="t" r="r" b="b"/>
              <a:pathLst>
                <a:path w="558233" h="2709333">
                  <a:moveTo>
                    <a:pt x="0" y="0"/>
                  </a:moveTo>
                  <a:lnTo>
                    <a:pt x="558233" y="0"/>
                  </a:lnTo>
                  <a:lnTo>
                    <a:pt x="558233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  <a:ln>
              <a:solidFill>
                <a:srgbClr val="ACCBFF"/>
              </a:solidFill>
            </a:ln>
          </p:spPr>
          <p:txBody>
            <a:bodyPr/>
            <a:lstStyle/>
            <a:p>
              <a:endParaRPr lang="en-IN" sz="800"/>
            </a:p>
          </p:txBody>
        </p:sp>
        <p:sp>
          <p:nvSpPr>
            <p:cNvPr id="11" name="TextBox 5">
              <a:extLst>
                <a:ext uri="{FF2B5EF4-FFF2-40B4-BE49-F238E27FC236}">
                  <a16:creationId xmlns:a16="http://schemas.microsoft.com/office/drawing/2014/main" id="{7ADD2F8D-51CB-512C-7A0B-8C5BABABD0FD}"/>
                </a:ext>
              </a:extLst>
            </p:cNvPr>
            <p:cNvSpPr txBox="1"/>
            <p:nvPr/>
          </p:nvSpPr>
          <p:spPr>
            <a:xfrm>
              <a:off x="0" y="-47625"/>
              <a:ext cx="558233" cy="2756958"/>
            </a:xfrm>
            <a:prstGeom prst="rect">
              <a:avLst/>
            </a:prstGeom>
            <a:grpFill/>
            <a:ln>
              <a:solidFill>
                <a:srgbClr val="ACCBFF"/>
              </a:solidFill>
            </a:ln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800"/>
            </a:p>
          </p:txBody>
        </p:sp>
      </p:grpSp>
      <p:grpSp>
        <p:nvGrpSpPr>
          <p:cNvPr id="12" name="Group 3">
            <a:extLst>
              <a:ext uri="{FF2B5EF4-FFF2-40B4-BE49-F238E27FC236}">
                <a16:creationId xmlns:a16="http://schemas.microsoft.com/office/drawing/2014/main" id="{BCCB01C1-B1CC-154B-10AB-D4FB30CFDBDC}"/>
              </a:ext>
            </a:extLst>
          </p:cNvPr>
          <p:cNvGrpSpPr/>
          <p:nvPr userDrawn="1"/>
        </p:nvGrpSpPr>
        <p:grpSpPr>
          <a:xfrm>
            <a:off x="1392314" y="-57051"/>
            <a:ext cx="1413028" cy="6978551"/>
            <a:chOff x="0" y="-47625"/>
            <a:chExt cx="558233" cy="2756958"/>
          </a:xfrm>
          <a:solidFill>
            <a:srgbClr val="78AAFF"/>
          </a:solidFill>
        </p:grpSpPr>
        <p:sp>
          <p:nvSpPr>
            <p:cNvPr id="13" name="Freeform 4">
              <a:extLst>
                <a:ext uri="{FF2B5EF4-FFF2-40B4-BE49-F238E27FC236}">
                  <a16:creationId xmlns:a16="http://schemas.microsoft.com/office/drawing/2014/main" id="{FDE3FDA5-BD0B-17F8-40B1-96CFBE1CF445}"/>
                </a:ext>
              </a:extLst>
            </p:cNvPr>
            <p:cNvSpPr/>
            <p:nvPr/>
          </p:nvSpPr>
          <p:spPr>
            <a:xfrm>
              <a:off x="0" y="0"/>
              <a:ext cx="558233" cy="2709333"/>
            </a:xfrm>
            <a:custGeom>
              <a:avLst/>
              <a:gdLst/>
              <a:ahLst/>
              <a:cxnLst/>
              <a:rect l="l" t="t" r="r" b="b"/>
              <a:pathLst>
                <a:path w="558233" h="2709333">
                  <a:moveTo>
                    <a:pt x="0" y="0"/>
                  </a:moveTo>
                  <a:lnTo>
                    <a:pt x="558233" y="0"/>
                  </a:lnTo>
                  <a:lnTo>
                    <a:pt x="558233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  <a:ln>
              <a:solidFill>
                <a:srgbClr val="78AAFF"/>
              </a:solidFill>
            </a:ln>
          </p:spPr>
          <p:txBody>
            <a:bodyPr/>
            <a:lstStyle/>
            <a:p>
              <a:endParaRPr lang="en-IN" sz="800"/>
            </a:p>
          </p:txBody>
        </p:sp>
        <p:sp>
          <p:nvSpPr>
            <p:cNvPr id="14" name="TextBox 5">
              <a:extLst>
                <a:ext uri="{FF2B5EF4-FFF2-40B4-BE49-F238E27FC236}">
                  <a16:creationId xmlns:a16="http://schemas.microsoft.com/office/drawing/2014/main" id="{B7D98124-E8C9-32D2-471B-D1A49B8C05B3}"/>
                </a:ext>
              </a:extLst>
            </p:cNvPr>
            <p:cNvSpPr txBox="1"/>
            <p:nvPr/>
          </p:nvSpPr>
          <p:spPr>
            <a:xfrm>
              <a:off x="0" y="-47625"/>
              <a:ext cx="558233" cy="2756958"/>
            </a:xfrm>
            <a:prstGeom prst="rect">
              <a:avLst/>
            </a:prstGeom>
            <a:grpFill/>
            <a:ln>
              <a:solidFill>
                <a:srgbClr val="78AAFF"/>
              </a:solidFill>
            </a:ln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800"/>
            </a:p>
          </p:txBody>
        </p:sp>
      </p:grpSp>
      <p:grpSp>
        <p:nvGrpSpPr>
          <p:cNvPr id="15" name="Group 6">
            <a:extLst>
              <a:ext uri="{FF2B5EF4-FFF2-40B4-BE49-F238E27FC236}">
                <a16:creationId xmlns:a16="http://schemas.microsoft.com/office/drawing/2014/main" id="{0ADDA3F6-609D-F625-E313-5D247F6BE25E}"/>
              </a:ext>
            </a:extLst>
          </p:cNvPr>
          <p:cNvGrpSpPr/>
          <p:nvPr userDrawn="1"/>
        </p:nvGrpSpPr>
        <p:grpSpPr>
          <a:xfrm>
            <a:off x="685800" y="63500"/>
            <a:ext cx="1413028" cy="6858000"/>
            <a:chOff x="0" y="0"/>
            <a:chExt cx="558233" cy="2709333"/>
          </a:xfrm>
          <a:solidFill>
            <a:srgbClr val="649EFF"/>
          </a:solidFill>
        </p:grpSpPr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FF8AF282-A0C7-ECBD-CF94-3271CCC19ED6}"/>
                </a:ext>
              </a:extLst>
            </p:cNvPr>
            <p:cNvSpPr/>
            <p:nvPr/>
          </p:nvSpPr>
          <p:spPr>
            <a:xfrm>
              <a:off x="0" y="0"/>
              <a:ext cx="558233" cy="2709333"/>
            </a:xfrm>
            <a:custGeom>
              <a:avLst/>
              <a:gdLst/>
              <a:ahLst/>
              <a:cxnLst/>
              <a:rect l="l" t="t" r="r" b="b"/>
              <a:pathLst>
                <a:path w="558233" h="2709333">
                  <a:moveTo>
                    <a:pt x="0" y="0"/>
                  </a:moveTo>
                  <a:lnTo>
                    <a:pt x="558233" y="0"/>
                  </a:lnTo>
                  <a:lnTo>
                    <a:pt x="558233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  <a:ln>
              <a:solidFill>
                <a:srgbClr val="649EFF"/>
              </a:solidFill>
            </a:ln>
          </p:spPr>
          <p:txBody>
            <a:bodyPr/>
            <a:lstStyle/>
            <a:p>
              <a:endParaRPr lang="en-IN" sz="800"/>
            </a:p>
          </p:txBody>
        </p:sp>
        <p:sp>
          <p:nvSpPr>
            <p:cNvPr id="17" name="TextBox 8">
              <a:extLst>
                <a:ext uri="{FF2B5EF4-FFF2-40B4-BE49-F238E27FC236}">
                  <a16:creationId xmlns:a16="http://schemas.microsoft.com/office/drawing/2014/main" id="{12552977-414D-5453-1D0F-50937A909377}"/>
                </a:ext>
              </a:extLst>
            </p:cNvPr>
            <p:cNvSpPr txBox="1"/>
            <p:nvPr/>
          </p:nvSpPr>
          <p:spPr>
            <a:xfrm>
              <a:off x="0" y="-47625"/>
              <a:ext cx="558233" cy="2756958"/>
            </a:xfrm>
            <a:prstGeom prst="rect">
              <a:avLst/>
            </a:prstGeom>
            <a:grpFill/>
            <a:ln>
              <a:solidFill>
                <a:srgbClr val="649EFF"/>
              </a:solidFill>
            </a:ln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80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F9AF0FA-480F-9298-6368-B0A53B5098B2}"/>
              </a:ext>
            </a:extLst>
          </p:cNvPr>
          <p:cNvGrpSpPr/>
          <p:nvPr userDrawn="1"/>
        </p:nvGrpSpPr>
        <p:grpSpPr>
          <a:xfrm>
            <a:off x="-20714" y="63500"/>
            <a:ext cx="1413028" cy="6858000"/>
            <a:chOff x="0" y="0"/>
            <a:chExt cx="558233" cy="2709333"/>
          </a:xfrm>
          <a:solidFill>
            <a:srgbClr val="4188FF"/>
          </a:solidFill>
        </p:grpSpPr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AB6B29EC-B27F-4F3B-8D1B-3C64725F521A}"/>
                </a:ext>
              </a:extLst>
            </p:cNvPr>
            <p:cNvSpPr/>
            <p:nvPr/>
          </p:nvSpPr>
          <p:spPr>
            <a:xfrm>
              <a:off x="0" y="0"/>
              <a:ext cx="558233" cy="2709333"/>
            </a:xfrm>
            <a:custGeom>
              <a:avLst/>
              <a:gdLst/>
              <a:ahLst/>
              <a:cxnLst/>
              <a:rect l="l" t="t" r="r" b="b"/>
              <a:pathLst>
                <a:path w="558233" h="2709333">
                  <a:moveTo>
                    <a:pt x="0" y="0"/>
                  </a:moveTo>
                  <a:lnTo>
                    <a:pt x="558233" y="0"/>
                  </a:lnTo>
                  <a:lnTo>
                    <a:pt x="558233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  <a:ln>
              <a:solidFill>
                <a:srgbClr val="4188FF"/>
              </a:solidFill>
            </a:ln>
          </p:spPr>
          <p:txBody>
            <a:bodyPr/>
            <a:lstStyle/>
            <a:p>
              <a:endParaRPr lang="en-IN" sz="80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AE94681-75F3-D10D-DA3B-086F9AA8AC2B}"/>
                </a:ext>
              </a:extLst>
            </p:cNvPr>
            <p:cNvSpPr txBox="1"/>
            <p:nvPr/>
          </p:nvSpPr>
          <p:spPr>
            <a:xfrm>
              <a:off x="0" y="-47625"/>
              <a:ext cx="558233" cy="2756958"/>
            </a:xfrm>
            <a:prstGeom prst="rect">
              <a:avLst/>
            </a:prstGeom>
            <a:grpFill/>
            <a:ln>
              <a:solidFill>
                <a:srgbClr val="4188FF"/>
              </a:solidFill>
            </a:ln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800"/>
            </a:p>
          </p:txBody>
        </p:sp>
      </p:grpSp>
    </p:spTree>
    <p:extLst>
      <p:ext uri="{BB962C8B-B14F-4D97-AF65-F5344CB8AC3E}">
        <p14:creationId xmlns:p14="http://schemas.microsoft.com/office/powerpoint/2010/main" val="1665043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BE36FD2-5CF9-42B6-267C-75A9A8826A1C}"/>
              </a:ext>
            </a:extLst>
          </p:cNvPr>
          <p:cNvSpPr/>
          <p:nvPr userDrawn="1"/>
        </p:nvSpPr>
        <p:spPr>
          <a:xfrm>
            <a:off x="0" y="0"/>
            <a:ext cx="12192000" cy="660400"/>
          </a:xfrm>
          <a:prstGeom prst="rect">
            <a:avLst/>
          </a:prstGeom>
          <a:solidFill>
            <a:srgbClr val="ACCB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Picture 1" descr="A close up of a logo&#10;&#10;Description automatically generated">
            <a:extLst>
              <a:ext uri="{FF2B5EF4-FFF2-40B4-BE49-F238E27FC236}">
                <a16:creationId xmlns:a16="http://schemas.microsoft.com/office/drawing/2014/main" id="{77B327EF-A91F-6208-15F1-3A28C481366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6994" y="113975"/>
            <a:ext cx="1290128" cy="419605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85F6CF07-40A9-24A4-F336-0BDA8D93267D}"/>
              </a:ext>
            </a:extLst>
          </p:cNvPr>
          <p:cNvSpPr/>
          <p:nvPr userDrawn="1"/>
        </p:nvSpPr>
        <p:spPr>
          <a:xfrm>
            <a:off x="0" y="6692900"/>
            <a:ext cx="12192000" cy="165100"/>
          </a:xfrm>
          <a:prstGeom prst="rect">
            <a:avLst/>
          </a:prstGeom>
          <a:solidFill>
            <a:srgbClr val="ACCB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16963FB-547E-5667-24B3-92F894162D45}"/>
              </a:ext>
            </a:extLst>
          </p:cNvPr>
          <p:cNvSpPr/>
          <p:nvPr userDrawn="1"/>
        </p:nvSpPr>
        <p:spPr>
          <a:xfrm>
            <a:off x="10146320" y="0"/>
            <a:ext cx="252046" cy="656492"/>
          </a:xfrm>
          <a:prstGeom prst="rect">
            <a:avLst/>
          </a:prstGeom>
          <a:solidFill>
            <a:srgbClr val="841910"/>
          </a:solidFill>
          <a:ln>
            <a:solidFill>
              <a:srgbClr val="84191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839DA6E-34C0-C57A-CE75-B0AF3E0E58EE}"/>
              </a:ext>
            </a:extLst>
          </p:cNvPr>
          <p:cNvSpPr/>
          <p:nvPr userDrawn="1"/>
        </p:nvSpPr>
        <p:spPr>
          <a:xfrm>
            <a:off x="10017373" y="0"/>
            <a:ext cx="76203" cy="656492"/>
          </a:xfrm>
          <a:prstGeom prst="rect">
            <a:avLst/>
          </a:prstGeom>
          <a:solidFill>
            <a:srgbClr val="213163"/>
          </a:solidFill>
          <a:ln>
            <a:solidFill>
              <a:srgbClr val="2131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C2D52CC-658B-257A-3CD2-8C2648661B86}"/>
              </a:ext>
            </a:extLst>
          </p:cNvPr>
          <p:cNvGrpSpPr/>
          <p:nvPr userDrawn="1"/>
        </p:nvGrpSpPr>
        <p:grpSpPr>
          <a:xfrm>
            <a:off x="1251611" y="6699504"/>
            <a:ext cx="380993" cy="158496"/>
            <a:chOff x="8868512" y="1301262"/>
            <a:chExt cx="380993" cy="656492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6D89557-AFC8-50C6-235D-44F87890117E}"/>
                </a:ext>
              </a:extLst>
            </p:cNvPr>
            <p:cNvSpPr/>
            <p:nvPr userDrawn="1"/>
          </p:nvSpPr>
          <p:spPr>
            <a:xfrm>
              <a:off x="8997459" y="1301262"/>
              <a:ext cx="252046" cy="656492"/>
            </a:xfrm>
            <a:prstGeom prst="rect">
              <a:avLst/>
            </a:prstGeom>
            <a:solidFill>
              <a:srgbClr val="841910"/>
            </a:solidFill>
            <a:ln>
              <a:solidFill>
                <a:srgbClr val="84191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BDAAA11-1FD3-C2BC-ABCE-4F0589F9118E}"/>
                </a:ext>
              </a:extLst>
            </p:cNvPr>
            <p:cNvSpPr/>
            <p:nvPr userDrawn="1"/>
          </p:nvSpPr>
          <p:spPr>
            <a:xfrm>
              <a:off x="8868512" y="1301262"/>
              <a:ext cx="76203" cy="656492"/>
            </a:xfrm>
            <a:prstGeom prst="rect">
              <a:avLst/>
            </a:prstGeom>
            <a:solidFill>
              <a:srgbClr val="213163"/>
            </a:solidFill>
            <a:ln>
              <a:solidFill>
                <a:srgbClr val="21316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3" name="Freeform 2">
            <a:extLst>
              <a:ext uri="{FF2B5EF4-FFF2-40B4-BE49-F238E27FC236}">
                <a16:creationId xmlns:a16="http://schemas.microsoft.com/office/drawing/2014/main" id="{B8985A92-5B74-7983-45DA-B81B724DDA69}"/>
              </a:ext>
            </a:extLst>
          </p:cNvPr>
          <p:cNvSpPr/>
          <p:nvPr userDrawn="1"/>
        </p:nvSpPr>
        <p:spPr>
          <a:xfrm>
            <a:off x="0" y="656492"/>
            <a:ext cx="12192000" cy="60325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65000"/>
            </a:blip>
            <a:stretch>
              <a:fillRect t="-29847" b="-21877"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975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5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6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7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9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0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.xml"/><Relationship Id="rId3" Type="http://schemas.openxmlformats.org/officeDocument/2006/relationships/notesSlide" Target="../notesSlides/notesSlide11.xml"/><Relationship Id="rId7" Type="http://schemas.openxmlformats.org/officeDocument/2006/relationships/diagramData" Target="../diagrams/data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3.xml"/><Relationship Id="rId6" Type="http://schemas.openxmlformats.org/officeDocument/2006/relationships/hyperlink" Target="Lab%206%20-%20Case%20study%20Integrated%20Project.docx" TargetMode="External"/><Relationship Id="rId11" Type="http://schemas.microsoft.com/office/2007/relationships/diagramDrawing" Target="../diagrams/drawing1.xml"/><Relationship Id="rId5" Type="http://schemas.openxmlformats.org/officeDocument/2006/relationships/image" Target="../media/image16.svg"/><Relationship Id="rId10" Type="http://schemas.openxmlformats.org/officeDocument/2006/relationships/diagramColors" Target="../diagrams/colors1.xml"/><Relationship Id="rId4" Type="http://schemas.openxmlformats.org/officeDocument/2006/relationships/image" Target="../media/image15.png"/><Relationship Id="rId9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4.xml"/><Relationship Id="rId4" Type="http://schemas.openxmlformats.org/officeDocument/2006/relationships/hyperlink" Target="https://www.kaggle.com/c/walmart-recruiting-store-sales-forecasting/data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5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6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8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9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0.xml"/><Relationship Id="rId5" Type="http://schemas.openxmlformats.org/officeDocument/2006/relationships/image" Target="../media/image34.svg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https://learn.microsoft.com/en-us/azure/storage/blobs/storage-quickstart-blobs-python" TargetMode="External"/><Relationship Id="rId3" Type="http://schemas.openxmlformats.org/officeDocument/2006/relationships/notesSlide" Target="../notesSlides/notesSlide21.xml"/><Relationship Id="rId7" Type="http://schemas.openxmlformats.org/officeDocument/2006/relationships/hyperlink" Target="https://docs.github.com/en/copilot" TargetMode="Externa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1.xml"/><Relationship Id="rId6" Type="http://schemas.openxmlformats.org/officeDocument/2006/relationships/hyperlink" Target="https://towardsdatascience.com/time-series-forecasting-of-walmart-sales-with-python-76fcf1b4a5f4" TargetMode="External"/><Relationship Id="rId5" Type="http://schemas.openxmlformats.org/officeDocument/2006/relationships/hyperlink" Target="https://www.kaggle.com/c/rossmann-store-sales/data" TargetMode="External"/><Relationship Id="rId4" Type="http://schemas.openxmlformats.org/officeDocument/2006/relationships/hyperlink" Target="https://www.kaggle.com/competitions/walmart-recruiting-store-sales-forecasting/data" TargetMode="External"/><Relationship Id="rId9" Type="http://schemas.openxmlformats.org/officeDocument/2006/relationships/hyperlink" Target="https://iiaai.org/case-study-listing/walmart-ai-in-supply-chain-forecasting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jpe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BE93BD-9C29-AD91-88D5-08DF18A0EEAF}"/>
              </a:ext>
            </a:extLst>
          </p:cNvPr>
          <p:cNvSpPr txBox="1"/>
          <p:nvPr/>
        </p:nvSpPr>
        <p:spPr>
          <a:xfrm>
            <a:off x="6831806" y="2983158"/>
            <a:ext cx="2202135" cy="4770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500" b="1" dirty="0">
                <a:latin typeface="Arial"/>
                <a:cs typeface="Arial"/>
              </a:rPr>
              <a:t>Module No 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AB0D4E-853E-6882-BB79-0AB135C573F7}"/>
              </a:ext>
            </a:extLst>
          </p:cNvPr>
          <p:cNvSpPr txBox="1"/>
          <p:nvPr/>
        </p:nvSpPr>
        <p:spPr>
          <a:xfrm>
            <a:off x="4174203" y="4088058"/>
            <a:ext cx="734389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4000" b="1" dirty="0">
                <a:latin typeface="Arial"/>
                <a:cs typeface="Arial"/>
              </a:rPr>
              <a:t>Case Study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141075-E958-A7E3-71D9-421A839DF018}"/>
              </a:ext>
            </a:extLst>
          </p:cNvPr>
          <p:cNvSpPr/>
          <p:nvPr/>
        </p:nvSpPr>
        <p:spPr>
          <a:xfrm>
            <a:off x="4664800" y="3736035"/>
            <a:ext cx="6362700" cy="76200"/>
          </a:xfrm>
          <a:prstGeom prst="rect">
            <a:avLst/>
          </a:prstGeom>
          <a:solidFill>
            <a:srgbClr val="223266"/>
          </a:solidFill>
          <a:ln>
            <a:solidFill>
              <a:srgbClr val="2232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8816122-40F4-6F27-976B-023F5399B456}"/>
              </a:ext>
            </a:extLst>
          </p:cNvPr>
          <p:cNvGrpSpPr/>
          <p:nvPr/>
        </p:nvGrpSpPr>
        <p:grpSpPr>
          <a:xfrm>
            <a:off x="4791800" y="697089"/>
            <a:ext cx="6108700" cy="1194762"/>
            <a:chOff x="3746500" y="368300"/>
            <a:chExt cx="8051800" cy="1574800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7148D41-4474-2980-A2E9-A3EB362B7B0B}"/>
                </a:ext>
              </a:extLst>
            </p:cNvPr>
            <p:cNvSpPr/>
            <p:nvPr/>
          </p:nvSpPr>
          <p:spPr>
            <a:xfrm>
              <a:off x="3746500" y="368300"/>
              <a:ext cx="8051800" cy="1574800"/>
            </a:xfrm>
            <a:prstGeom prst="roundRect">
              <a:avLst/>
            </a:prstGeom>
            <a:solidFill>
              <a:srgbClr val="CDE0FF">
                <a:alpha val="51000"/>
              </a:srgb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39700" prst="cross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DA5641ED-F16D-B18E-9F15-08352E828167}"/>
                </a:ext>
              </a:extLst>
            </p:cNvPr>
            <p:cNvGrpSpPr/>
            <p:nvPr/>
          </p:nvGrpSpPr>
          <p:grpSpPr>
            <a:xfrm>
              <a:off x="4190381" y="565076"/>
              <a:ext cx="7164038" cy="1181249"/>
              <a:chOff x="4275137" y="469899"/>
              <a:chExt cx="7164038" cy="1181249"/>
            </a:xfrm>
          </p:grpSpPr>
          <p:pic>
            <p:nvPicPr>
              <p:cNvPr id="8" name="Picture 7" descr="A logo with tools in the middle of a gear&#10;&#10;Description automatically generated">
                <a:extLst>
                  <a:ext uri="{FF2B5EF4-FFF2-40B4-BE49-F238E27FC236}">
                    <a16:creationId xmlns:a16="http://schemas.microsoft.com/office/drawing/2014/main" id="{D89AA077-B0C5-F856-E573-8C5C63EBA5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275137" y="469899"/>
                <a:ext cx="1185863" cy="1181249"/>
              </a:xfrm>
              <a:prstGeom prst="rect">
                <a:avLst/>
              </a:prstGeom>
            </p:spPr>
          </p:pic>
          <p:pic>
            <p:nvPicPr>
              <p:cNvPr id="10" name="Picture 9" descr="A black and grey logo&#10;&#10;Description automatically generated">
                <a:extLst>
                  <a:ext uri="{FF2B5EF4-FFF2-40B4-BE49-F238E27FC236}">
                    <a16:creationId xmlns:a16="http://schemas.microsoft.com/office/drawing/2014/main" id="{5300EA36-98F9-5D85-38F5-5C84998C0D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363669" y="811241"/>
                <a:ext cx="2337593" cy="498565"/>
              </a:xfrm>
              <a:prstGeom prst="rect">
                <a:avLst/>
              </a:prstGeom>
            </p:spPr>
          </p:pic>
          <p:pic>
            <p:nvPicPr>
              <p:cNvPr id="15" name="Picture 14" descr="A close up of a logo&#10;&#10;Description automatically generated">
                <a:extLst>
                  <a:ext uri="{FF2B5EF4-FFF2-40B4-BE49-F238E27FC236}">
                    <a16:creationId xmlns:a16="http://schemas.microsoft.com/office/drawing/2014/main" id="{269A14BB-A222-1AD7-25A2-28A54781CC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603931" y="762073"/>
                <a:ext cx="1835244" cy="596900"/>
              </a:xfrm>
              <a:prstGeom prst="rect">
                <a:avLst/>
              </a:prstGeom>
            </p:spPr>
          </p:pic>
        </p:grpSp>
      </p:grpSp>
    </p:spTree>
    <p:custDataLst>
      <p:tags r:id="rId1"/>
    </p:custDataLst>
    <p:extLst>
      <p:ext uri="{BB962C8B-B14F-4D97-AF65-F5344CB8AC3E}">
        <p14:creationId xmlns:p14="http://schemas.microsoft.com/office/powerpoint/2010/main" val="2310333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6091F01-9AB2-CB60-2D6E-0ACFA0B53431}"/>
              </a:ext>
            </a:extLst>
          </p:cNvPr>
          <p:cNvGrpSpPr/>
          <p:nvPr/>
        </p:nvGrpSpPr>
        <p:grpSpPr>
          <a:xfrm>
            <a:off x="1525639" y="1675444"/>
            <a:ext cx="9140724" cy="4109012"/>
            <a:chOff x="1166951" y="1076446"/>
            <a:chExt cx="6900603" cy="3102015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DF75BA0B-8BB5-2F47-0CD6-494573F16F15}"/>
                </a:ext>
              </a:extLst>
            </p:cNvPr>
            <p:cNvSpPr/>
            <p:nvPr/>
          </p:nvSpPr>
          <p:spPr>
            <a:xfrm>
              <a:off x="1169043" y="1076446"/>
              <a:ext cx="6898511" cy="3102015"/>
            </a:xfrm>
            <a:prstGeom prst="roundRect">
              <a:avLst>
                <a:gd name="adj" fmla="val 8142"/>
              </a:avLst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399A009-8F51-58EF-B075-EDDC8BEA4B1E}"/>
                </a:ext>
              </a:extLst>
            </p:cNvPr>
            <p:cNvSpPr txBox="1"/>
            <p:nvPr/>
          </p:nvSpPr>
          <p:spPr>
            <a:xfrm>
              <a:off x="1166951" y="2118896"/>
              <a:ext cx="3450302" cy="10455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Disclaimer</a:t>
              </a:r>
            </a:p>
            <a:p>
              <a:pPr algn="ctr"/>
              <a:r>
                <a:rPr lang="en-US" sz="2000">
                  <a:latin typeface="Arial" panose="020B0604020202020204" pitchFamily="34" charset="0"/>
                  <a:cs typeface="Arial" panose="020B0604020202020204" pitchFamily="34" charset="0"/>
                </a:rPr>
                <a:t>The content is curated from online/offline resources and used for educational purpose only</a:t>
              </a:r>
            </a:p>
          </p:txBody>
        </p:sp>
        <p:pic>
          <p:nvPicPr>
            <p:cNvPr id="5" name="Picture 4" descr="A red triangle with a exclamation mark&#10;&#10;Description automatically generated">
              <a:extLst>
                <a:ext uri="{FF2B5EF4-FFF2-40B4-BE49-F238E27FC236}">
                  <a16:creationId xmlns:a16="http://schemas.microsoft.com/office/drawing/2014/main" id="{9A8A9A5E-1340-85F1-6472-2D822A2519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24000"/>
            </a:blip>
            <a:stretch>
              <a:fillRect/>
            </a:stretch>
          </p:blipFill>
          <p:spPr>
            <a:xfrm>
              <a:off x="5259980" y="1277681"/>
              <a:ext cx="2700479" cy="2700479"/>
            </a:xfrm>
            <a:prstGeom prst="rect">
              <a:avLst/>
            </a:prstGeom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2388253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BA32B3C-D9C8-65B6-1442-8DF6B935E489}"/>
              </a:ext>
            </a:extLst>
          </p:cNvPr>
          <p:cNvSpPr txBox="1">
            <a:spLocks/>
          </p:cNvSpPr>
          <p:nvPr/>
        </p:nvSpPr>
        <p:spPr>
          <a:xfrm>
            <a:off x="381000" y="759787"/>
            <a:ext cx="5715000" cy="393600"/>
          </a:xfrm>
          <a:prstGeom prst="rect">
            <a:avLst/>
          </a:prstGeom>
        </p:spPr>
        <p:txBody>
          <a:bodyPr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Learning Objective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9835D79F-345C-6435-F4A9-FE2A9E806174}"/>
              </a:ext>
            </a:extLst>
          </p:cNvPr>
          <p:cNvSpPr txBox="1">
            <a:spLocks/>
          </p:cNvSpPr>
          <p:nvPr/>
        </p:nvSpPr>
        <p:spPr>
          <a:xfrm>
            <a:off x="361142" y="1182997"/>
            <a:ext cx="5811058" cy="4836803"/>
          </a:xfrm>
          <a:prstGeom prst="rect">
            <a:avLst/>
          </a:prstGeom>
        </p:spPr>
        <p:txBody>
          <a:bodyPr/>
          <a:lstStyle>
            <a:lvl1pPr marL="228611" indent="-228611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25" indent="-190510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3736" indent="-173736">
              <a:spcBef>
                <a:spcPts val="0"/>
              </a:spcBef>
              <a:spcAft>
                <a:spcPts val="800"/>
              </a:spcAft>
              <a:buFont typeface="Arial" pitchFamily="34" charset="0"/>
              <a:buNone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You will learn in this Chapter: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Apply a case study–based project using AI productivity tools.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Analyze retail sales data with Excel Copilot.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Generate and debug Python code using GitHub Copilot.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Explore cloud data storage with Microsoft Azure.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Integrate AI tools for an end-to-end analytics workflow.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Understand AI-driven decision making in retail (e.g., Walmart).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8222A006-8F04-CCEF-0DC5-52D42FF396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3134617-B5D2-153A-A1C4-2E44FD5B355F}"/>
              </a:ext>
            </a:extLst>
          </p:cNvPr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reeform 2">
            <a:extLst>
              <a:ext uri="{FF2B5EF4-FFF2-40B4-BE49-F238E27FC236}">
                <a16:creationId xmlns:a16="http://schemas.microsoft.com/office/drawing/2014/main" id="{84AE9ED2-8E38-40AE-711E-C7DD6D14F2DA}"/>
              </a:ext>
            </a:extLst>
          </p:cNvPr>
          <p:cNvSpPr/>
          <p:nvPr/>
        </p:nvSpPr>
        <p:spPr>
          <a:xfrm>
            <a:off x="6858000" y="1447800"/>
            <a:ext cx="4804342" cy="4648200"/>
          </a:xfrm>
          <a:custGeom>
            <a:avLst/>
            <a:gdLst/>
            <a:ahLst/>
            <a:cxnLst/>
            <a:rect l="l" t="t" r="r" b="b"/>
            <a:pathLst>
              <a:path w="6542180" h="6329559">
                <a:moveTo>
                  <a:pt x="0" y="0"/>
                </a:moveTo>
                <a:lnTo>
                  <a:pt x="6542180" y="0"/>
                </a:lnTo>
                <a:lnTo>
                  <a:pt x="6542180" y="6329559"/>
                </a:lnTo>
                <a:lnTo>
                  <a:pt x="0" y="63295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18428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4D4B0-41C7-DDA4-FBE4-DAD880E27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D0722E1-DD56-D75A-819D-997F3AC8A24A}"/>
              </a:ext>
            </a:extLst>
          </p:cNvPr>
          <p:cNvSpPr txBox="1">
            <a:spLocks/>
          </p:cNvSpPr>
          <p:nvPr/>
        </p:nvSpPr>
        <p:spPr>
          <a:xfrm>
            <a:off x="340229" y="759787"/>
            <a:ext cx="11775571" cy="393600"/>
          </a:xfrm>
          <a:prstGeom prst="rect">
            <a:avLst/>
          </a:prstGeom>
        </p:spPr>
        <p:txBody>
          <a:bodyPr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Learning Outcome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EC1CF50-C44B-4663-169F-B206995360F1}"/>
              </a:ext>
            </a:extLst>
          </p:cNvPr>
          <p:cNvSpPr txBox="1">
            <a:spLocks/>
          </p:cNvSpPr>
          <p:nvPr/>
        </p:nvSpPr>
        <p:spPr>
          <a:xfrm>
            <a:off x="340228" y="1182997"/>
            <a:ext cx="5811058" cy="5003756"/>
          </a:xfrm>
          <a:prstGeom prst="rect">
            <a:avLst/>
          </a:prstGeom>
        </p:spPr>
        <p:txBody>
          <a:bodyPr/>
          <a:lstStyle>
            <a:lvl1pPr marL="228611" indent="-228611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25" indent="-190510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3736" indent="-173736">
              <a:spcBef>
                <a:spcPts val="0"/>
              </a:spcBef>
              <a:spcAft>
                <a:spcPts val="800"/>
              </a:spcAft>
              <a:buFont typeface="Arial" pitchFamily="34" charset="0"/>
              <a:buNone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You will learn in this Chapter: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Clean and analyze data using Excel Copilot.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Generate and debug Python programs with GitHub Copilot.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Store and manage data in the Azure cloud.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Integrate AI tools for an end-to-end data analysis workflow.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Interpret insights to support data-driven business decisions.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Apply AI tools to a practical retail demand forecasting case study (e.g., Walmart).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92CDC6E4-C34E-58DE-F34F-00E90BED1A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646F5BB-3975-D698-5AFC-DB5C307ED316}"/>
              </a:ext>
            </a:extLst>
          </p:cNvPr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reeform 4">
            <a:extLst>
              <a:ext uri="{FF2B5EF4-FFF2-40B4-BE49-F238E27FC236}">
                <a16:creationId xmlns:a16="http://schemas.microsoft.com/office/drawing/2014/main" id="{443E8E68-F152-CCEA-781B-569A37081246}"/>
              </a:ext>
            </a:extLst>
          </p:cNvPr>
          <p:cNvSpPr/>
          <p:nvPr/>
        </p:nvSpPr>
        <p:spPr>
          <a:xfrm>
            <a:off x="6629400" y="1457325"/>
            <a:ext cx="5211521" cy="3732752"/>
          </a:xfrm>
          <a:custGeom>
            <a:avLst/>
            <a:gdLst/>
            <a:ahLst/>
            <a:cxnLst/>
            <a:rect l="l" t="t" r="r" b="b"/>
            <a:pathLst>
              <a:path w="5744921" h="4114800">
                <a:moveTo>
                  <a:pt x="0" y="0"/>
                </a:moveTo>
                <a:lnTo>
                  <a:pt x="5744922" y="0"/>
                </a:lnTo>
                <a:lnTo>
                  <a:pt x="574492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95194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BA32B3C-D9C8-65B6-1442-8DF6B935E489}"/>
              </a:ext>
            </a:extLst>
          </p:cNvPr>
          <p:cNvSpPr txBox="1">
            <a:spLocks/>
          </p:cNvSpPr>
          <p:nvPr/>
        </p:nvSpPr>
        <p:spPr>
          <a:xfrm>
            <a:off x="381000" y="759787"/>
            <a:ext cx="7647432" cy="393600"/>
          </a:xfrm>
          <a:prstGeom prst="rect">
            <a:avLst/>
          </a:prstGeom>
        </p:spPr>
        <p:txBody>
          <a:bodyPr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Case Study: Retail Demand Forecasting Challenge at Walmart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9835D79F-345C-6435-F4A9-FE2A9E806174}"/>
              </a:ext>
            </a:extLst>
          </p:cNvPr>
          <p:cNvSpPr txBox="1">
            <a:spLocks/>
          </p:cNvSpPr>
          <p:nvPr/>
        </p:nvSpPr>
        <p:spPr>
          <a:xfrm>
            <a:off x="381000" y="1932223"/>
            <a:ext cx="5811058" cy="4114800"/>
          </a:xfrm>
          <a:prstGeom prst="rect">
            <a:avLst/>
          </a:prstGeom>
        </p:spPr>
        <p:txBody>
          <a:bodyPr/>
          <a:lstStyle>
            <a:lvl1pPr marL="228611" indent="-228611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25" indent="-190510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Large retail chains manage thousands of products across multiple stores and online platforms. Predicting how much inventory will be needed at each location is a complex challenge due to seasonal demand, regional preferences, and changing customer behavior.</a:t>
            </a:r>
          </a:p>
          <a:p>
            <a:pPr algn="just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To address this challenge, Walmart adopted </a:t>
            </a:r>
          </a:p>
          <a:p>
            <a:pPr lvl="1" algn="just"/>
            <a:r>
              <a:rPr lang="en-US" sz="1534" dirty="0">
                <a:latin typeface="Arial" panose="020B0604020202020204" pitchFamily="34" charset="0"/>
                <a:cs typeface="Arial" panose="020B0604020202020204" pitchFamily="34" charset="0"/>
              </a:rPr>
              <a:t>AI-driven analytics </a:t>
            </a:r>
          </a:p>
          <a:p>
            <a:pPr lvl="1" algn="just"/>
            <a:r>
              <a:rPr lang="en-US" sz="1534" dirty="0">
                <a:latin typeface="Arial" panose="020B0604020202020204" pitchFamily="34" charset="0"/>
                <a:cs typeface="Arial" panose="020B0604020202020204" pitchFamily="34" charset="0"/>
              </a:rPr>
              <a:t>machine learning systems</a:t>
            </a:r>
          </a:p>
          <a:p>
            <a:pPr algn="just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To analyze historical sales data, weather patterns, promotions, and customer trends. </a:t>
            </a:r>
          </a:p>
          <a:p>
            <a:pPr algn="just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These systems help forecast product demand more accurately and support better inventory planning across stores and warehouses.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8222A006-8F04-CCEF-0DC5-52D42FF396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01D4E1A-0DFE-8B52-7E43-5ABB1879C5F4}"/>
              </a:ext>
            </a:extLst>
          </p:cNvPr>
          <p:cNvGrpSpPr/>
          <p:nvPr/>
        </p:nvGrpSpPr>
        <p:grpSpPr>
          <a:xfrm>
            <a:off x="0" y="6248400"/>
            <a:ext cx="12192000" cy="369425"/>
            <a:chOff x="0" y="6248400"/>
            <a:chExt cx="12192000" cy="36942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3D5C61B-F8AF-6D5F-AD9D-C34C6DB7688D}"/>
                </a:ext>
              </a:extLst>
            </p:cNvPr>
            <p:cNvSpPr txBox="1"/>
            <p:nvPr/>
          </p:nvSpPr>
          <p:spPr>
            <a:xfrm>
              <a:off x="419655" y="6310048"/>
              <a:ext cx="657103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Source: </a:t>
              </a:r>
              <a:r>
                <a:rPr lang="en-US" sz="1400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https://iiaai.org/case-study-listing/walmart-ai-in-supply-chain-forecasting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6D50C82-FFA3-3BA2-C15A-244CAB209789}"/>
                </a:ext>
              </a:extLst>
            </p:cNvPr>
            <p:cNvCxnSpPr/>
            <p:nvPr/>
          </p:nvCxnSpPr>
          <p:spPr>
            <a:xfrm>
              <a:off x="0" y="6248400"/>
              <a:ext cx="1219200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itle 3">
            <a:extLst>
              <a:ext uri="{FF2B5EF4-FFF2-40B4-BE49-F238E27FC236}">
                <a16:creationId xmlns:a16="http://schemas.microsoft.com/office/drawing/2014/main" id="{5BA32B3C-D9C8-65B6-1442-8DF6B935E489}"/>
              </a:ext>
            </a:extLst>
          </p:cNvPr>
          <p:cNvSpPr txBox="1">
            <a:spLocks/>
          </p:cNvSpPr>
          <p:nvPr/>
        </p:nvSpPr>
        <p:spPr>
          <a:xfrm>
            <a:off x="381000" y="1354764"/>
            <a:ext cx="6324600" cy="393600"/>
          </a:xfrm>
          <a:prstGeom prst="rect">
            <a:avLst/>
          </a:prstGeom>
        </p:spPr>
        <p:txBody>
          <a:bodyPr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Case Scenario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9ED167-4A5C-8CA2-BEE7-9EF3B005CD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2308860"/>
            <a:ext cx="5168931" cy="2738626"/>
          </a:xfrm>
          <a:prstGeom prst="rect">
            <a:avLst/>
          </a:prstGeom>
          <a:ln w="38100">
            <a:solidFill>
              <a:schemeClr val="tx1"/>
            </a:solidFill>
          </a:ln>
          <a:effectLst>
            <a:softEdge rad="12700"/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605898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E3363-78AE-1276-3C30-0B784396C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E465AE4-9F3C-A527-D5A9-93BBAE568647}"/>
              </a:ext>
            </a:extLst>
          </p:cNvPr>
          <p:cNvSpPr txBox="1">
            <a:spLocks/>
          </p:cNvSpPr>
          <p:nvPr/>
        </p:nvSpPr>
        <p:spPr>
          <a:xfrm>
            <a:off x="381000" y="759787"/>
            <a:ext cx="7894320" cy="393600"/>
          </a:xfrm>
          <a:prstGeom prst="rect">
            <a:avLst/>
          </a:prstGeom>
        </p:spPr>
        <p:txBody>
          <a:bodyPr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Case Study: Retail Demand Forecasting Challenge at Walmart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DDC11DB6-EE81-C2E8-5491-1DE3CB18745B}"/>
              </a:ext>
            </a:extLst>
          </p:cNvPr>
          <p:cNvSpPr txBox="1">
            <a:spLocks/>
          </p:cNvSpPr>
          <p:nvPr/>
        </p:nvSpPr>
        <p:spPr>
          <a:xfrm>
            <a:off x="381000" y="1932223"/>
            <a:ext cx="5626608" cy="41148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 marL="228611" indent="-228611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25" indent="-190510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Retailers handle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millions of transactions daily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across stores and online platforms.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Predicting product demand accurately becomes difficult due to:</a:t>
            </a:r>
          </a:p>
          <a:p>
            <a:pPr lvl="1"/>
            <a:r>
              <a:rPr lang="en-US" sz="1534" dirty="0">
                <a:latin typeface="Arial" panose="020B0604020202020204" pitchFamily="34" charset="0"/>
                <a:cs typeface="Arial" panose="020B0604020202020204" pitchFamily="34" charset="0"/>
              </a:rPr>
              <a:t>Seasonal buying patterns</a:t>
            </a:r>
          </a:p>
          <a:p>
            <a:pPr lvl="1"/>
            <a:r>
              <a:rPr lang="en-US" sz="1534" dirty="0">
                <a:latin typeface="Arial" panose="020B0604020202020204" pitchFamily="34" charset="0"/>
                <a:cs typeface="Arial" panose="020B0604020202020204" pitchFamily="34" charset="0"/>
              </a:rPr>
              <a:t>Promotions and discount campaigns</a:t>
            </a:r>
          </a:p>
          <a:p>
            <a:pPr lvl="1"/>
            <a:r>
              <a:rPr lang="en-US" sz="1534" dirty="0">
                <a:latin typeface="Arial" panose="020B0604020202020204" pitchFamily="34" charset="0"/>
                <a:cs typeface="Arial" panose="020B0604020202020204" pitchFamily="34" charset="0"/>
              </a:rPr>
              <a:t>Regional demand variations</a:t>
            </a:r>
          </a:p>
          <a:p>
            <a:pPr lvl="1"/>
            <a:r>
              <a:rPr lang="en-US" sz="1534" dirty="0">
                <a:latin typeface="Arial" panose="020B0604020202020204" pitchFamily="34" charset="0"/>
                <a:cs typeface="Arial" panose="020B0604020202020204" pitchFamily="34" charset="0"/>
              </a:rPr>
              <a:t>Large volumes of sales data</a:t>
            </a:r>
          </a:p>
          <a:p>
            <a:pPr algn="just"/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9C18F46F-D9E0-D8D6-52D7-9104411668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9C717B5-F554-E64C-A923-9449371E19BD}"/>
              </a:ext>
            </a:extLst>
          </p:cNvPr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3">
            <a:extLst>
              <a:ext uri="{FF2B5EF4-FFF2-40B4-BE49-F238E27FC236}">
                <a16:creationId xmlns:a16="http://schemas.microsoft.com/office/drawing/2014/main" id="{FBF6AF08-941D-152A-5D1C-A6C868AA632F}"/>
              </a:ext>
            </a:extLst>
          </p:cNvPr>
          <p:cNvSpPr txBox="1">
            <a:spLocks/>
          </p:cNvSpPr>
          <p:nvPr/>
        </p:nvSpPr>
        <p:spPr>
          <a:xfrm>
            <a:off x="381000" y="1354764"/>
            <a:ext cx="6324600" cy="393600"/>
          </a:xfrm>
          <a:prstGeom prst="rect">
            <a:avLst/>
          </a:prstGeom>
        </p:spPr>
        <p:txBody>
          <a:bodyPr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Problem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D711E597-4AF9-E6EF-5CF5-49DC2ADE010A}"/>
              </a:ext>
            </a:extLst>
          </p:cNvPr>
          <p:cNvSpPr txBox="1">
            <a:spLocks/>
          </p:cNvSpPr>
          <p:nvPr/>
        </p:nvSpPr>
        <p:spPr>
          <a:xfrm>
            <a:off x="6280450" y="1913173"/>
            <a:ext cx="5626608" cy="411479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 marL="228611" indent="-228611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25" indent="-190510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Manual spreadsheet analysis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Historical trend comparisons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Reactive inventory planning</a:t>
            </a:r>
          </a:p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Result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52464" lvl="1" indent="-285750"/>
            <a:r>
              <a:rPr lang="en-US" sz="1534" dirty="0">
                <a:latin typeface="Arial" panose="020B0604020202020204" pitchFamily="34" charset="0"/>
                <a:cs typeface="Arial" panose="020B0604020202020204" pitchFamily="34" charset="0"/>
              </a:rPr>
              <a:t>❗ Stock shortages for high-demand products</a:t>
            </a:r>
          </a:p>
          <a:p>
            <a:pPr marL="552464" lvl="1" indent="-285750"/>
            <a:r>
              <a:rPr lang="en-US" sz="1534" dirty="0">
                <a:latin typeface="Arial" panose="020B0604020202020204" pitchFamily="34" charset="0"/>
                <a:cs typeface="Arial" panose="020B0604020202020204" pitchFamily="34" charset="0"/>
              </a:rPr>
              <a:t>❗ Overstocking of slow-moving items</a:t>
            </a:r>
          </a:p>
          <a:p>
            <a:pPr marL="552464" lvl="1" indent="-285750"/>
            <a:r>
              <a:rPr lang="en-US" sz="1534" dirty="0">
                <a:latin typeface="Arial" panose="020B0604020202020204" pitchFamily="34" charset="0"/>
                <a:cs typeface="Arial" panose="020B0604020202020204" pitchFamily="34" charset="0"/>
              </a:rPr>
              <a:t>❗ Inefficient supply chain decisions</a:t>
            </a: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EA2AB6D7-86AD-7AF3-A0C8-AAAAA0A7DC64}"/>
              </a:ext>
            </a:extLst>
          </p:cNvPr>
          <p:cNvSpPr txBox="1">
            <a:spLocks/>
          </p:cNvSpPr>
          <p:nvPr/>
        </p:nvSpPr>
        <p:spPr>
          <a:xfrm>
            <a:off x="6096000" y="1354764"/>
            <a:ext cx="6324600" cy="393600"/>
          </a:xfrm>
          <a:prstGeom prst="rect">
            <a:avLst/>
          </a:prstGeom>
        </p:spPr>
        <p:txBody>
          <a:bodyPr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Traditional Approach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855158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1BABA-3B89-740C-6475-ED3245CFA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DAA92A-EAD1-8D42-530B-90CAE186E7DE}"/>
              </a:ext>
            </a:extLst>
          </p:cNvPr>
          <p:cNvSpPr txBox="1">
            <a:spLocks/>
          </p:cNvSpPr>
          <p:nvPr/>
        </p:nvSpPr>
        <p:spPr>
          <a:xfrm>
            <a:off x="381000" y="759787"/>
            <a:ext cx="7894320" cy="393600"/>
          </a:xfrm>
          <a:prstGeom prst="rect">
            <a:avLst/>
          </a:prstGeom>
        </p:spPr>
        <p:txBody>
          <a:bodyPr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Case Study: Retail Demand Forecasting Challenge at Walmart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AC0824C6-8807-6582-FA16-C5EEC95D4D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1D26C32-CECC-20B1-8A8E-C2C18295ED80}"/>
              </a:ext>
            </a:extLst>
          </p:cNvPr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3">
            <a:extLst>
              <a:ext uri="{FF2B5EF4-FFF2-40B4-BE49-F238E27FC236}">
                <a16:creationId xmlns:a16="http://schemas.microsoft.com/office/drawing/2014/main" id="{7F09F419-4B07-E809-E2C1-B61A38ACDC2A}"/>
              </a:ext>
            </a:extLst>
          </p:cNvPr>
          <p:cNvSpPr txBox="1">
            <a:spLocks/>
          </p:cNvSpPr>
          <p:nvPr/>
        </p:nvSpPr>
        <p:spPr>
          <a:xfrm>
            <a:off x="381000" y="1354764"/>
            <a:ext cx="6324600" cy="393600"/>
          </a:xfrm>
          <a:prstGeom prst="rect">
            <a:avLst/>
          </a:prstGeom>
        </p:spPr>
        <p:txBody>
          <a:bodyPr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Challenges faced using traditional Approach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3A1F85-933E-68EA-2F05-4B031DE6E0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7124" y="1932514"/>
            <a:ext cx="7423354" cy="3795312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065987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8674F-AFBC-793B-72D1-1E87827D2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655CBDC-3A3F-C2C2-C7C4-0F2ABDDD5A7D}"/>
              </a:ext>
            </a:extLst>
          </p:cNvPr>
          <p:cNvSpPr txBox="1">
            <a:spLocks/>
          </p:cNvSpPr>
          <p:nvPr/>
        </p:nvSpPr>
        <p:spPr>
          <a:xfrm>
            <a:off x="381000" y="759787"/>
            <a:ext cx="7894320" cy="393600"/>
          </a:xfrm>
          <a:prstGeom prst="rect">
            <a:avLst/>
          </a:prstGeom>
        </p:spPr>
        <p:txBody>
          <a:bodyPr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Case Study: Retail Demand Forecasting Challenge at Walmart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2EC8FBE1-7AA0-6042-27C1-03699F0E05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E2609A-9C80-2D5A-4BCC-8FCBDD74AEFA}"/>
              </a:ext>
            </a:extLst>
          </p:cNvPr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3">
            <a:extLst>
              <a:ext uri="{FF2B5EF4-FFF2-40B4-BE49-F238E27FC236}">
                <a16:creationId xmlns:a16="http://schemas.microsoft.com/office/drawing/2014/main" id="{8FC7781B-D60B-1818-E962-AB8166865BD3}"/>
              </a:ext>
            </a:extLst>
          </p:cNvPr>
          <p:cNvSpPr txBox="1">
            <a:spLocks/>
          </p:cNvSpPr>
          <p:nvPr/>
        </p:nvSpPr>
        <p:spPr>
          <a:xfrm>
            <a:off x="381000" y="1354764"/>
            <a:ext cx="6324600" cy="393600"/>
          </a:xfrm>
          <a:prstGeom prst="rect">
            <a:avLst/>
          </a:prstGeom>
        </p:spPr>
        <p:txBody>
          <a:bodyPr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AI-Assisted Retail Analytics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F26925B-2B6E-D2AD-F330-7660ABB32A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2876" y="1949741"/>
            <a:ext cx="8907225" cy="414847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35979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B166C-A98E-790D-7EC1-43ED79AEB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79267FB-0091-6074-18A0-601D2F18D4FD}"/>
              </a:ext>
            </a:extLst>
          </p:cNvPr>
          <p:cNvSpPr txBox="1">
            <a:spLocks/>
          </p:cNvSpPr>
          <p:nvPr/>
        </p:nvSpPr>
        <p:spPr>
          <a:xfrm>
            <a:off x="381000" y="759787"/>
            <a:ext cx="7857744" cy="393600"/>
          </a:xfrm>
          <a:prstGeom prst="rect">
            <a:avLst/>
          </a:prstGeom>
        </p:spPr>
        <p:txBody>
          <a:bodyPr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Case Study: Retail Demand Forecasting Challenge at Walmart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FF11E830-6D0E-D454-E374-12E02B2DD3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AA450DE-F7A7-5245-58DE-A3A8DC0ED3CD}"/>
              </a:ext>
            </a:extLst>
          </p:cNvPr>
          <p:cNvGrpSpPr/>
          <p:nvPr/>
        </p:nvGrpSpPr>
        <p:grpSpPr>
          <a:xfrm>
            <a:off x="0" y="6248400"/>
            <a:ext cx="12192000" cy="369425"/>
            <a:chOff x="0" y="6248400"/>
            <a:chExt cx="12192000" cy="36942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429F872-7B80-28BF-4935-B54211A62E9E}"/>
                </a:ext>
              </a:extLst>
            </p:cNvPr>
            <p:cNvSpPr txBox="1"/>
            <p:nvPr/>
          </p:nvSpPr>
          <p:spPr>
            <a:xfrm>
              <a:off x="419655" y="6310048"/>
              <a:ext cx="19781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Source: AI generated</a:t>
              </a:r>
              <a:endParaRPr lang="en-US" sz="1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809556D-C32A-7916-38DC-D4DDEF60BAE5}"/>
                </a:ext>
              </a:extLst>
            </p:cNvPr>
            <p:cNvCxnSpPr/>
            <p:nvPr/>
          </p:nvCxnSpPr>
          <p:spPr>
            <a:xfrm>
              <a:off x="0" y="6248400"/>
              <a:ext cx="1219200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itle 3">
            <a:extLst>
              <a:ext uri="{FF2B5EF4-FFF2-40B4-BE49-F238E27FC236}">
                <a16:creationId xmlns:a16="http://schemas.microsoft.com/office/drawing/2014/main" id="{772F44A7-D608-BE50-ECB7-F728780AB3BB}"/>
              </a:ext>
            </a:extLst>
          </p:cNvPr>
          <p:cNvSpPr txBox="1">
            <a:spLocks/>
          </p:cNvSpPr>
          <p:nvPr/>
        </p:nvSpPr>
        <p:spPr>
          <a:xfrm>
            <a:off x="381000" y="1354764"/>
            <a:ext cx="6324600" cy="393600"/>
          </a:xfrm>
          <a:prstGeom prst="rect">
            <a:avLst/>
          </a:prstGeom>
        </p:spPr>
        <p:txBody>
          <a:bodyPr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Industry Outcome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6889178-51E0-FB7F-74D0-1AEA0035D5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8129" y="1785594"/>
            <a:ext cx="8396748" cy="428838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490757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A8FCB-1CEB-3FD4-77FC-DA43EDEAE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3E3B29B-3CEB-2334-343A-6532C1E33ECA}"/>
              </a:ext>
            </a:extLst>
          </p:cNvPr>
          <p:cNvSpPr txBox="1">
            <a:spLocks/>
          </p:cNvSpPr>
          <p:nvPr/>
        </p:nvSpPr>
        <p:spPr>
          <a:xfrm>
            <a:off x="381000" y="759787"/>
            <a:ext cx="7647432" cy="393600"/>
          </a:xfrm>
          <a:prstGeom prst="rect">
            <a:avLst/>
          </a:prstGeom>
        </p:spPr>
        <p:txBody>
          <a:bodyPr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Integrated Project: AI-Assisted Retail Analytics 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986B8DC0-0398-0140-E8F9-AC35AB6D4430}"/>
              </a:ext>
            </a:extLst>
          </p:cNvPr>
          <p:cNvSpPr txBox="1">
            <a:spLocks/>
          </p:cNvSpPr>
          <p:nvPr/>
        </p:nvSpPr>
        <p:spPr>
          <a:xfrm>
            <a:off x="381000" y="1932223"/>
            <a:ext cx="5811058" cy="4114800"/>
          </a:xfrm>
          <a:prstGeom prst="rect">
            <a:avLst/>
          </a:prstGeom>
        </p:spPr>
        <p:txBody>
          <a:bodyPr/>
          <a:lstStyle>
            <a:lvl1pPr marL="228611" indent="-228611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25" indent="-190510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Apply concepts learned in earlier modules to perform a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practical AI-assisted data analytics workflow.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 guided case study based integrated project inspired by retail demand forecasting practices used by Walmart.</a:t>
            </a:r>
          </a:p>
          <a:p>
            <a:pPr algn="just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The project integrates AI-assisted tools covered in previous modules:</a:t>
            </a:r>
          </a:p>
          <a:p>
            <a:pPr lvl="1" algn="just"/>
            <a:r>
              <a:rPr lang="en-US" sz="1534" dirty="0">
                <a:latin typeface="Arial" panose="020B0604020202020204" pitchFamily="34" charset="0"/>
                <a:cs typeface="Arial" panose="020B0604020202020204" pitchFamily="34" charset="0"/>
              </a:rPr>
              <a:t>Data analysis using Microsoft Excel Copilot</a:t>
            </a:r>
          </a:p>
          <a:p>
            <a:pPr lvl="1" algn="just"/>
            <a:r>
              <a:rPr lang="en-US" sz="1534" dirty="0">
                <a:latin typeface="Arial" panose="020B0604020202020204" pitchFamily="34" charset="0"/>
                <a:cs typeface="Arial" panose="020B0604020202020204" pitchFamily="34" charset="0"/>
              </a:rPr>
              <a:t>Python-based forecasting using GitHub Copilot</a:t>
            </a:r>
          </a:p>
          <a:p>
            <a:pPr lvl="1" algn="just"/>
            <a:r>
              <a:rPr lang="en-US" sz="1534" dirty="0">
                <a:latin typeface="Arial" panose="020B0604020202020204" pitchFamily="34" charset="0"/>
                <a:cs typeface="Arial" panose="020B0604020202020204" pitchFamily="34" charset="0"/>
              </a:rPr>
              <a:t>Cloud exploration and data storage using Microsoft Azure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F1F8343A-B461-A3B3-67EA-743466108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B3135C8-B774-9510-9C25-9FAEF06455B1}"/>
              </a:ext>
            </a:extLst>
          </p:cNvPr>
          <p:cNvGrpSpPr/>
          <p:nvPr/>
        </p:nvGrpSpPr>
        <p:grpSpPr>
          <a:xfrm>
            <a:off x="0" y="6248400"/>
            <a:ext cx="12192000" cy="369425"/>
            <a:chOff x="0" y="6248400"/>
            <a:chExt cx="12192000" cy="36942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189100C-79CD-0A46-2332-ED8CAB064C20}"/>
                </a:ext>
              </a:extLst>
            </p:cNvPr>
            <p:cNvSpPr txBox="1"/>
            <p:nvPr/>
          </p:nvSpPr>
          <p:spPr>
            <a:xfrm>
              <a:off x="419655" y="6310048"/>
              <a:ext cx="19781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Source: AI generated</a:t>
              </a:r>
              <a:endParaRPr lang="en-US" sz="1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ED35095-158F-F36D-C0CC-6B805A771273}"/>
                </a:ext>
              </a:extLst>
            </p:cNvPr>
            <p:cNvCxnSpPr/>
            <p:nvPr/>
          </p:nvCxnSpPr>
          <p:spPr>
            <a:xfrm>
              <a:off x="0" y="6248400"/>
              <a:ext cx="1219200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itle 3">
            <a:extLst>
              <a:ext uri="{FF2B5EF4-FFF2-40B4-BE49-F238E27FC236}">
                <a16:creationId xmlns:a16="http://schemas.microsoft.com/office/drawing/2014/main" id="{EC157338-1F4F-9926-13D9-31159137A78B}"/>
              </a:ext>
            </a:extLst>
          </p:cNvPr>
          <p:cNvSpPr txBox="1">
            <a:spLocks/>
          </p:cNvSpPr>
          <p:nvPr/>
        </p:nvSpPr>
        <p:spPr>
          <a:xfrm>
            <a:off x="381000" y="1354764"/>
            <a:ext cx="6324600" cy="393600"/>
          </a:xfrm>
          <a:prstGeom prst="rect">
            <a:avLst/>
          </a:prstGeom>
        </p:spPr>
        <p:txBody>
          <a:bodyPr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Goal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F54B1F9-07C2-D2A5-0DED-691CD283E9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600" y="2546384"/>
            <a:ext cx="5106113" cy="144323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16B71EA-7E43-50DE-21D7-EA7DDCC4F043}"/>
              </a:ext>
            </a:extLst>
          </p:cNvPr>
          <p:cNvSpPr txBox="1"/>
          <p:nvPr/>
        </p:nvSpPr>
        <p:spPr>
          <a:xfrm>
            <a:off x="6990685" y="4130704"/>
            <a:ext cx="48965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From data analysis to cloud-enabled insights.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itle 3">
            <a:extLst>
              <a:ext uri="{FF2B5EF4-FFF2-40B4-BE49-F238E27FC236}">
                <a16:creationId xmlns:a16="http://schemas.microsoft.com/office/drawing/2014/main" id="{17C9C7B0-8E74-805C-CA2E-CC2FE9A122A3}"/>
              </a:ext>
            </a:extLst>
          </p:cNvPr>
          <p:cNvSpPr txBox="1">
            <a:spLocks/>
          </p:cNvSpPr>
          <p:nvPr/>
        </p:nvSpPr>
        <p:spPr>
          <a:xfrm>
            <a:off x="6531864" y="1354764"/>
            <a:ext cx="6324600" cy="393600"/>
          </a:xfrm>
          <a:prstGeom prst="rect">
            <a:avLst/>
          </a:prstGeom>
        </p:spPr>
        <p:txBody>
          <a:bodyPr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Workflow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934050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0B41FA-9EC1-FE55-3854-8207F1548D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793" y="1252728"/>
            <a:ext cx="9182413" cy="52212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8B74B2B-1510-1D2E-7392-149FD129A7CC}"/>
              </a:ext>
            </a:extLst>
          </p:cNvPr>
          <p:cNvSpPr txBox="1">
            <a:spLocks/>
          </p:cNvSpPr>
          <p:nvPr/>
        </p:nvSpPr>
        <p:spPr>
          <a:xfrm>
            <a:off x="381000" y="759787"/>
            <a:ext cx="7647432" cy="393600"/>
          </a:xfrm>
          <a:prstGeom prst="rect">
            <a:avLst/>
          </a:prstGeom>
        </p:spPr>
        <p:txBody>
          <a:bodyPr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Integrated Project: AI-Assisted Retail Analytics Workflow </a:t>
            </a:r>
          </a:p>
        </p:txBody>
      </p:sp>
    </p:spTree>
    <p:extLst>
      <p:ext uri="{BB962C8B-B14F-4D97-AF65-F5344CB8AC3E}">
        <p14:creationId xmlns:p14="http://schemas.microsoft.com/office/powerpoint/2010/main" val="24265658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BA32B3C-D9C8-65B6-1442-8DF6B935E489}"/>
              </a:ext>
            </a:extLst>
          </p:cNvPr>
          <p:cNvSpPr txBox="1">
            <a:spLocks/>
          </p:cNvSpPr>
          <p:nvPr/>
        </p:nvSpPr>
        <p:spPr>
          <a:xfrm>
            <a:off x="340229" y="759787"/>
            <a:ext cx="11470771" cy="393600"/>
          </a:xfrm>
          <a:prstGeom prst="rect">
            <a:avLst/>
          </a:prstGeom>
        </p:spPr>
        <p:txBody>
          <a:bodyPr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Lab Activity</a:t>
            </a:r>
          </a:p>
          <a:p>
            <a:pPr algn="l"/>
            <a:endParaRPr lang="en-US" sz="20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8222A006-8F04-CCEF-0DC5-52D42FF396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78622E6-5B75-0274-BD0E-07E563387839}"/>
              </a:ext>
            </a:extLst>
          </p:cNvPr>
          <p:cNvSpPr/>
          <p:nvPr/>
        </p:nvSpPr>
        <p:spPr>
          <a:xfrm>
            <a:off x="457200" y="4114800"/>
            <a:ext cx="11734800" cy="2133600"/>
          </a:xfrm>
          <a:prstGeom prst="rect">
            <a:avLst/>
          </a:prstGeom>
          <a:solidFill>
            <a:srgbClr val="FCF3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489689F-36E7-7881-4C3C-185362691848}"/>
              </a:ext>
            </a:extLst>
          </p:cNvPr>
          <p:cNvGrpSpPr/>
          <p:nvPr/>
        </p:nvGrpSpPr>
        <p:grpSpPr>
          <a:xfrm>
            <a:off x="8305800" y="685800"/>
            <a:ext cx="2971800" cy="4370614"/>
            <a:chOff x="8305800" y="685800"/>
            <a:chExt cx="2971800" cy="4370614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D346213-B0D6-CF00-9B16-D6C17090298F}"/>
                </a:ext>
              </a:extLst>
            </p:cNvPr>
            <p:cNvSpPr/>
            <p:nvPr/>
          </p:nvSpPr>
          <p:spPr>
            <a:xfrm>
              <a:off x="8305800" y="2084614"/>
              <a:ext cx="2971800" cy="29718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5BB74208-07C7-6E54-9B81-528E03AE5E0B}"/>
                </a:ext>
              </a:extLst>
            </p:cNvPr>
            <p:cNvGrpSpPr/>
            <p:nvPr/>
          </p:nvGrpSpPr>
          <p:grpSpPr>
            <a:xfrm>
              <a:off x="8458200" y="685800"/>
              <a:ext cx="2667000" cy="4136571"/>
              <a:chOff x="8534400" y="1426029"/>
              <a:chExt cx="2667000" cy="4136571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7027A8E6-EC4C-1C2E-11BA-6D4DE4580AAB}"/>
                  </a:ext>
                </a:extLst>
              </p:cNvPr>
              <p:cNvSpPr/>
              <p:nvPr/>
            </p:nvSpPr>
            <p:spPr>
              <a:xfrm>
                <a:off x="8534400" y="2895600"/>
                <a:ext cx="2667000" cy="2667000"/>
              </a:xfrm>
              <a:prstGeom prst="ellipse">
                <a:avLst/>
              </a:prstGeom>
              <a:solidFill>
                <a:srgbClr val="F8E15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Freeform 5">
                <a:extLst>
                  <a:ext uri="{FF2B5EF4-FFF2-40B4-BE49-F238E27FC236}">
                    <a16:creationId xmlns:a16="http://schemas.microsoft.com/office/drawing/2014/main" id="{1082C203-7F84-D183-4312-3AA35A15AAFA}"/>
                  </a:ext>
                </a:extLst>
              </p:cNvPr>
              <p:cNvSpPr/>
              <p:nvPr/>
            </p:nvSpPr>
            <p:spPr>
              <a:xfrm>
                <a:off x="8958121" y="1426029"/>
                <a:ext cx="1819559" cy="2342780"/>
              </a:xfrm>
              <a:custGeom>
                <a:avLst/>
                <a:gdLst/>
                <a:ahLst/>
                <a:cxnLst/>
                <a:rect l="l" t="t" r="r" b="b"/>
                <a:pathLst>
                  <a:path w="1819559" h="2342780">
                    <a:moveTo>
                      <a:pt x="0" y="0"/>
                    </a:moveTo>
                    <a:lnTo>
                      <a:pt x="1819559" y="0"/>
                    </a:lnTo>
                    <a:lnTo>
                      <a:pt x="1819559" y="2342780"/>
                    </a:lnTo>
                    <a:lnTo>
                      <a:pt x="0" y="234278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21B89CD7-B53D-C4BE-D409-15C0D13545AB}"/>
              </a:ext>
            </a:extLst>
          </p:cNvPr>
          <p:cNvSpPr txBox="1">
            <a:spLocks/>
          </p:cNvSpPr>
          <p:nvPr/>
        </p:nvSpPr>
        <p:spPr>
          <a:xfrm>
            <a:off x="647700" y="4898854"/>
            <a:ext cx="6172200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11" indent="-228611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25" indent="-190510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spcBef>
                <a:spcPts val="0"/>
              </a:spcBef>
              <a:spcAft>
                <a:spcPts val="800"/>
              </a:spcAft>
              <a:defRPr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Lab 6 – Case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  <a:hlinkClick r:id="rId6" action="ppaction://hlinkfile"/>
              </a:rPr>
              <a:t>study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(Integrated Project)</a:t>
            </a:r>
            <a:endParaRPr kumimoji="0" lang="en-US" sz="18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69F13633-0F3C-4EAA-AD4A-CE214BFE18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41931014"/>
              </p:ext>
            </p:extLst>
          </p:nvPr>
        </p:nvGraphicFramePr>
        <p:xfrm>
          <a:off x="422655" y="244179"/>
          <a:ext cx="8306865" cy="43081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6903779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69A3C-B283-5B24-50AF-039453DAD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C3954F4-06B0-8F0B-1EFF-8594F682F692}"/>
              </a:ext>
            </a:extLst>
          </p:cNvPr>
          <p:cNvSpPr txBox="1">
            <a:spLocks/>
          </p:cNvSpPr>
          <p:nvPr/>
        </p:nvSpPr>
        <p:spPr>
          <a:xfrm>
            <a:off x="381000" y="759787"/>
            <a:ext cx="7647432" cy="393600"/>
          </a:xfrm>
          <a:prstGeom prst="rect">
            <a:avLst/>
          </a:prstGeom>
        </p:spPr>
        <p:txBody>
          <a:bodyPr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Tasks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740946B-6BCB-2114-E380-C66E4BAB4FBC}"/>
              </a:ext>
            </a:extLst>
          </p:cNvPr>
          <p:cNvSpPr txBox="1">
            <a:spLocks/>
          </p:cNvSpPr>
          <p:nvPr/>
        </p:nvSpPr>
        <p:spPr>
          <a:xfrm>
            <a:off x="381000" y="1932223"/>
            <a:ext cx="5811058" cy="4114800"/>
          </a:xfrm>
          <a:prstGeom prst="rect">
            <a:avLst/>
          </a:prstGeom>
        </p:spPr>
        <p:txBody>
          <a:bodyPr/>
          <a:lstStyle>
            <a:lvl1pPr marL="228611" indent="-228611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25" indent="-190510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Dataset Used</a:t>
            </a:r>
          </a:p>
          <a:p>
            <a:pPr lvl="1"/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Walmart Store Sales Forecasting Dataset</a:t>
            </a:r>
          </a:p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Source</a:t>
            </a:r>
          </a:p>
          <a:p>
            <a:pPr lvl="1"/>
            <a:r>
              <a:rPr lang="en-US" sz="1534" dirty="0">
                <a:latin typeface="Arial" panose="020B0604020202020204" pitchFamily="34" charset="0"/>
                <a:cs typeface="Arial" panose="020B0604020202020204" pitchFamily="34" charset="0"/>
              </a:rPr>
              <a:t>Retail forecasting dataset used in analytics and machine learning practice, inspired by retail demand prediction challenges conducted by Walmart.</a:t>
            </a:r>
          </a:p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Download Link</a:t>
            </a:r>
          </a:p>
          <a:p>
            <a:pPr lvl="1"/>
            <a:r>
              <a:rPr lang="en-US" sz="1534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https://www.kaggle.com/c/walmart-recruiting-store-sales-forecasting/data</a:t>
            </a:r>
            <a:endParaRPr lang="en-US" sz="1534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Purpose in This Case Study</a:t>
            </a:r>
          </a:p>
          <a:p>
            <a:pPr lvl="1"/>
            <a:r>
              <a:rPr lang="en-US" sz="1534" dirty="0">
                <a:latin typeface="Arial" panose="020B0604020202020204" pitchFamily="34" charset="0"/>
                <a:cs typeface="Arial" panose="020B0604020202020204" pitchFamily="34" charset="0"/>
              </a:rPr>
              <a:t>The dataset will be used to </a:t>
            </a:r>
            <a:r>
              <a:rPr lang="en-US" sz="1534" b="1" dirty="0">
                <a:latin typeface="Arial" panose="020B0604020202020204" pitchFamily="34" charset="0"/>
                <a:cs typeface="Arial" panose="020B0604020202020204" pitchFamily="34" charset="0"/>
              </a:rPr>
              <a:t>analyze sales trends, prepare data for forecasting, and demonstrate AI-assisted analytics workflows.</a:t>
            </a:r>
            <a:endParaRPr lang="en-US" sz="1534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04815" lvl="1" indent="0">
              <a:buNone/>
            </a:pPr>
            <a:endParaRPr lang="en-US" sz="1534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04815" lvl="1" indent="0">
              <a:buNone/>
            </a:pPr>
            <a:endParaRPr lang="en-US" sz="1534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842F4F69-1442-0D2A-ECCD-0B8D53FFAD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BFCC44-5240-44AD-DD80-40D05E962FEA}"/>
              </a:ext>
            </a:extLst>
          </p:cNvPr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3">
            <a:extLst>
              <a:ext uri="{FF2B5EF4-FFF2-40B4-BE49-F238E27FC236}">
                <a16:creationId xmlns:a16="http://schemas.microsoft.com/office/drawing/2014/main" id="{9DEAB0A6-0208-585B-D4A1-B559B4CF28D3}"/>
              </a:ext>
            </a:extLst>
          </p:cNvPr>
          <p:cNvSpPr txBox="1">
            <a:spLocks/>
          </p:cNvSpPr>
          <p:nvPr/>
        </p:nvSpPr>
        <p:spPr>
          <a:xfrm>
            <a:off x="381000" y="1354764"/>
            <a:ext cx="6324600" cy="393600"/>
          </a:xfrm>
          <a:prstGeom prst="rect">
            <a:avLst/>
          </a:prstGeom>
        </p:spPr>
        <p:txBody>
          <a:bodyPr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 1: Data Collection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9B99EABD-2190-A105-AB45-C5779156EA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2892457"/>
              </p:ext>
            </p:extLst>
          </p:nvPr>
        </p:nvGraphicFramePr>
        <p:xfrm>
          <a:off x="6553200" y="2483053"/>
          <a:ext cx="5353858" cy="26265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76929">
                  <a:extLst>
                    <a:ext uri="{9D8B030D-6E8A-4147-A177-3AD203B41FA5}">
                      <a16:colId xmlns:a16="http://schemas.microsoft.com/office/drawing/2014/main" val="1699161334"/>
                    </a:ext>
                  </a:extLst>
                </a:gridCol>
                <a:gridCol w="2676929">
                  <a:extLst>
                    <a:ext uri="{9D8B030D-6E8A-4147-A177-3AD203B41FA5}">
                      <a16:colId xmlns:a16="http://schemas.microsoft.com/office/drawing/2014/main" val="3763243710"/>
                    </a:ext>
                  </a:extLst>
                </a:gridCol>
              </a:tblGrid>
              <a:tr h="43776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Column</a:t>
                      </a:r>
                      <a:endParaRPr lang="en-IN" sz="18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  <a:endParaRPr lang="en-IN" sz="18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59371627"/>
                  </a:ext>
                </a:extLst>
              </a:tr>
              <a:tr h="43776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Store</a:t>
                      </a:r>
                      <a:endParaRPr lang="en-IN" sz="18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Store identifier</a:t>
                      </a:r>
                      <a:endParaRPr lang="en-IN" sz="18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87926363"/>
                  </a:ext>
                </a:extLst>
              </a:tr>
              <a:tr h="43776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Dept</a:t>
                      </a:r>
                      <a:endParaRPr lang="en-IN" sz="18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Department number</a:t>
                      </a:r>
                      <a:endParaRPr lang="en-IN" sz="18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061843884"/>
                  </a:ext>
                </a:extLst>
              </a:tr>
              <a:tr h="43776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Date</a:t>
                      </a:r>
                      <a:endParaRPr lang="en-IN" sz="18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Week of sales</a:t>
                      </a:r>
                      <a:endParaRPr lang="en-IN" sz="18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15466087"/>
                  </a:ext>
                </a:extLst>
              </a:tr>
              <a:tr h="43776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Weekly_Sales</a:t>
                      </a:r>
                      <a:endParaRPr lang="en-IN" sz="18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Sales revenue</a:t>
                      </a:r>
                      <a:endParaRPr lang="en-IN" sz="18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294614431"/>
                  </a:ext>
                </a:extLst>
              </a:tr>
              <a:tr h="43776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IsHoliday</a:t>
                      </a:r>
                      <a:endParaRPr lang="en-IN" sz="18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Indicates holiday week</a:t>
                      </a:r>
                      <a:endParaRPr lang="en-IN" sz="1800" kern="1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60477932"/>
                  </a:ext>
                </a:extLst>
              </a:tr>
            </a:tbl>
          </a:graphicData>
        </a:graphic>
      </p:graphicFrame>
      <p:sp>
        <p:nvSpPr>
          <p:cNvPr id="20" name="Title 3">
            <a:extLst>
              <a:ext uri="{FF2B5EF4-FFF2-40B4-BE49-F238E27FC236}">
                <a16:creationId xmlns:a16="http://schemas.microsoft.com/office/drawing/2014/main" id="{07837D60-B5B6-ED64-72FD-605210891594}"/>
              </a:ext>
            </a:extLst>
          </p:cNvPr>
          <p:cNvSpPr txBox="1">
            <a:spLocks/>
          </p:cNvSpPr>
          <p:nvPr/>
        </p:nvSpPr>
        <p:spPr>
          <a:xfrm>
            <a:off x="6553200" y="1354209"/>
            <a:ext cx="6324600" cy="393600"/>
          </a:xfrm>
          <a:prstGeom prst="rect">
            <a:avLst/>
          </a:prstGeom>
        </p:spPr>
        <p:txBody>
          <a:bodyPr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Fields in the Dataset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527178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366E4FA-1E38-086D-18EF-A90216EF46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778" y="2075687"/>
            <a:ext cx="5375670" cy="303590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0FD7AE1-AC45-851C-DA51-48B0460319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3925" y="2075688"/>
            <a:ext cx="5726297" cy="310786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Title 3">
            <a:extLst>
              <a:ext uri="{FF2B5EF4-FFF2-40B4-BE49-F238E27FC236}">
                <a16:creationId xmlns:a16="http://schemas.microsoft.com/office/drawing/2014/main" id="{3A40FB23-CC69-956F-7607-80125A8921FF}"/>
              </a:ext>
            </a:extLst>
          </p:cNvPr>
          <p:cNvSpPr txBox="1">
            <a:spLocks/>
          </p:cNvSpPr>
          <p:nvPr/>
        </p:nvSpPr>
        <p:spPr>
          <a:xfrm>
            <a:off x="381000" y="759787"/>
            <a:ext cx="7647432" cy="393600"/>
          </a:xfrm>
          <a:prstGeom prst="rect">
            <a:avLst/>
          </a:prstGeom>
        </p:spPr>
        <p:txBody>
          <a:bodyPr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Tasks</a:t>
            </a: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F6A20BFF-DDBF-8514-9626-8BB0714CD39B}"/>
              </a:ext>
            </a:extLst>
          </p:cNvPr>
          <p:cNvSpPr txBox="1">
            <a:spLocks/>
          </p:cNvSpPr>
          <p:nvPr/>
        </p:nvSpPr>
        <p:spPr>
          <a:xfrm>
            <a:off x="381000" y="1354764"/>
            <a:ext cx="6324600" cy="393600"/>
          </a:xfrm>
          <a:prstGeom prst="rect">
            <a:avLst/>
          </a:prstGeom>
        </p:spPr>
        <p:txBody>
          <a:bodyPr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 1: Data Collection</a:t>
            </a:r>
          </a:p>
        </p:txBody>
      </p:sp>
    </p:spTree>
    <p:extLst>
      <p:ext uri="{BB962C8B-B14F-4D97-AF65-F5344CB8AC3E}">
        <p14:creationId xmlns:p14="http://schemas.microsoft.com/office/powerpoint/2010/main" val="7352807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B8DE0-2F0E-AF01-3F12-AE9A7DFCA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D0E3174-FCCC-1C78-7540-4532D9486FFF}"/>
              </a:ext>
            </a:extLst>
          </p:cNvPr>
          <p:cNvSpPr txBox="1">
            <a:spLocks/>
          </p:cNvSpPr>
          <p:nvPr/>
        </p:nvSpPr>
        <p:spPr>
          <a:xfrm>
            <a:off x="381000" y="759787"/>
            <a:ext cx="7647432" cy="393600"/>
          </a:xfrm>
          <a:prstGeom prst="rect">
            <a:avLst/>
          </a:prstGeom>
        </p:spPr>
        <p:txBody>
          <a:bodyPr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Tasks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20ED987-83DF-9840-7D5B-AC6F7152279D}"/>
              </a:ext>
            </a:extLst>
          </p:cNvPr>
          <p:cNvSpPr txBox="1">
            <a:spLocks/>
          </p:cNvSpPr>
          <p:nvPr/>
        </p:nvSpPr>
        <p:spPr>
          <a:xfrm>
            <a:off x="381000" y="1932223"/>
            <a:ext cx="5811058" cy="4114800"/>
          </a:xfrm>
          <a:prstGeom prst="rect">
            <a:avLst/>
          </a:prstGeom>
        </p:spPr>
        <p:txBody>
          <a:bodyPr/>
          <a:lstStyle>
            <a:lvl1pPr marL="228611" indent="-228611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25" indent="-190510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Data Cleaning</a:t>
            </a:r>
          </a:p>
          <a:p>
            <a:pPr lvl="1"/>
            <a:r>
              <a:rPr lang="en-US" sz="1534" dirty="0">
                <a:latin typeface="Arial" panose="020B0604020202020204" pitchFamily="34" charset="0"/>
                <a:cs typeface="Arial" panose="020B0604020202020204" pitchFamily="34" charset="0"/>
              </a:rPr>
              <a:t>Clean the retail dataset and generate basic insights using Microsoft Excel Copilot.</a:t>
            </a:r>
          </a:p>
          <a:p>
            <a:r>
              <a:rPr lang="en-IN" b="1" dirty="0"/>
              <a:t>Inspect the Dataset</a:t>
            </a:r>
          </a:p>
          <a:p>
            <a:pPr lvl="1"/>
            <a:r>
              <a:rPr lang="en-IN" dirty="0"/>
              <a:t>Review the columns to understand the available attributes such as:</a:t>
            </a:r>
          </a:p>
          <a:p>
            <a:pPr lvl="2"/>
            <a:r>
              <a:rPr lang="en-IN" dirty="0"/>
              <a:t>Store</a:t>
            </a:r>
          </a:p>
          <a:p>
            <a:pPr lvl="2"/>
            <a:r>
              <a:rPr lang="en-IN" dirty="0"/>
              <a:t>Dept</a:t>
            </a:r>
          </a:p>
          <a:p>
            <a:pPr lvl="0"/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Use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Excel Copilot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 or Excel tools to perform basic cleaning tasks:</a:t>
            </a:r>
          </a:p>
          <a:p>
            <a:pPr lvl="1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Check for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missing values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Remove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duplicate records</a:t>
            </a:r>
          </a:p>
          <a:p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Generate Data Summary</a:t>
            </a: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04815" lvl="1" indent="0">
              <a:buNone/>
            </a:pPr>
            <a:endParaRPr lang="en-US" sz="1534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04815" lvl="1" indent="0">
              <a:buNone/>
            </a:pPr>
            <a:endParaRPr lang="en-US" sz="1534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9E712115-243F-DAA7-A5DB-BE9BDA0265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8BF26E1-7831-5D04-F69C-24576A8691E6}"/>
              </a:ext>
            </a:extLst>
          </p:cNvPr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3">
            <a:extLst>
              <a:ext uri="{FF2B5EF4-FFF2-40B4-BE49-F238E27FC236}">
                <a16:creationId xmlns:a16="http://schemas.microsoft.com/office/drawing/2014/main" id="{C2CD252F-0552-1EFE-A8B0-4235160B3D36}"/>
              </a:ext>
            </a:extLst>
          </p:cNvPr>
          <p:cNvSpPr txBox="1">
            <a:spLocks/>
          </p:cNvSpPr>
          <p:nvPr/>
        </p:nvSpPr>
        <p:spPr>
          <a:xfrm>
            <a:off x="381000" y="1354764"/>
            <a:ext cx="7720584" cy="393600"/>
          </a:xfrm>
          <a:prstGeom prst="rect">
            <a:avLst/>
          </a:prstGeom>
        </p:spPr>
        <p:txBody>
          <a:bodyPr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 2: Data Cleaning &amp; Visualization using Copilot Excel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627F1C-7D2A-0481-2532-D892387829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1302" y="1961007"/>
            <a:ext cx="2484755" cy="29908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BAFEEE-B7C7-A8A4-618E-B7334D7197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1622" y="1907980"/>
            <a:ext cx="2520115" cy="299084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380957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9ED81-0B85-FB04-C943-BAA3F08B4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5482B14-8ABF-9237-FDB7-E48C8BF693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545" y="1942020"/>
            <a:ext cx="2444750" cy="200469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A5E7EC1-0711-530B-F245-41B5081E70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5754" y="3575304"/>
            <a:ext cx="2461260" cy="29210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1473CC-F372-F962-8459-71C4B159C0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474" y="1942020"/>
            <a:ext cx="2727126" cy="200469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EA3C1F1-B215-83C8-F511-687DAB13FB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8960" y="4350893"/>
            <a:ext cx="4456994" cy="200469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D05D571-2209-AEAF-1EE0-02A346234B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4346" y="1942020"/>
            <a:ext cx="2769166" cy="208226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0" name="Title 3">
            <a:extLst>
              <a:ext uri="{FF2B5EF4-FFF2-40B4-BE49-F238E27FC236}">
                <a16:creationId xmlns:a16="http://schemas.microsoft.com/office/drawing/2014/main" id="{40B25F64-834E-FE09-EBD2-1F0F250FD5E8}"/>
              </a:ext>
            </a:extLst>
          </p:cNvPr>
          <p:cNvSpPr txBox="1">
            <a:spLocks/>
          </p:cNvSpPr>
          <p:nvPr/>
        </p:nvSpPr>
        <p:spPr>
          <a:xfrm>
            <a:off x="381000" y="759787"/>
            <a:ext cx="7647432" cy="393600"/>
          </a:xfrm>
          <a:prstGeom prst="rect">
            <a:avLst/>
          </a:prstGeom>
        </p:spPr>
        <p:txBody>
          <a:bodyPr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Tasks</a:t>
            </a:r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C6562CFE-D099-76FA-04EF-8B64D4EE8562}"/>
              </a:ext>
            </a:extLst>
          </p:cNvPr>
          <p:cNvSpPr txBox="1">
            <a:spLocks/>
          </p:cNvSpPr>
          <p:nvPr/>
        </p:nvSpPr>
        <p:spPr>
          <a:xfrm>
            <a:off x="381000" y="1354764"/>
            <a:ext cx="7720584" cy="393600"/>
          </a:xfrm>
          <a:prstGeom prst="rect">
            <a:avLst/>
          </a:prstGeom>
        </p:spPr>
        <p:txBody>
          <a:bodyPr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 2: Data Cleaning &amp; Visualization using Copilot Excel</a:t>
            </a:r>
          </a:p>
        </p:txBody>
      </p:sp>
    </p:spTree>
    <p:extLst>
      <p:ext uri="{BB962C8B-B14F-4D97-AF65-F5344CB8AC3E}">
        <p14:creationId xmlns:p14="http://schemas.microsoft.com/office/powerpoint/2010/main" val="32208830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361D5-5A5A-957C-3F82-FED2226C7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9F79189-DC61-084E-2902-8814B4E48CF0}"/>
              </a:ext>
            </a:extLst>
          </p:cNvPr>
          <p:cNvSpPr txBox="1">
            <a:spLocks/>
          </p:cNvSpPr>
          <p:nvPr/>
        </p:nvSpPr>
        <p:spPr>
          <a:xfrm>
            <a:off x="381000" y="759787"/>
            <a:ext cx="7647432" cy="393600"/>
          </a:xfrm>
          <a:prstGeom prst="rect">
            <a:avLst/>
          </a:prstGeom>
        </p:spPr>
        <p:txBody>
          <a:bodyPr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Tasks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BFC99876-B534-7297-1C0C-FC8D7C6D6806}"/>
              </a:ext>
            </a:extLst>
          </p:cNvPr>
          <p:cNvSpPr txBox="1">
            <a:spLocks/>
          </p:cNvSpPr>
          <p:nvPr/>
        </p:nvSpPr>
        <p:spPr>
          <a:xfrm>
            <a:off x="381000" y="1932223"/>
            <a:ext cx="5811058" cy="4114800"/>
          </a:xfrm>
          <a:prstGeom prst="rect">
            <a:avLst/>
          </a:prstGeom>
        </p:spPr>
        <p:txBody>
          <a:bodyPr/>
          <a:lstStyle>
            <a:lvl1pPr marL="228611" indent="-228611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25" indent="-190510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Open VS Code or GitHub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Codespaces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with Copilot enabled.</a:t>
            </a:r>
          </a:p>
          <a:p>
            <a:pPr algn="just"/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Load the cleaned Walmart dataset from Step 2</a:t>
            </a:r>
          </a:p>
          <a:p>
            <a:pPr lvl="0"/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Co-pilot Prompt</a:t>
            </a:r>
          </a:p>
          <a:p>
            <a:pPr lvl="1"/>
            <a:r>
              <a:rPr lang="en-IN" sz="1534" dirty="0">
                <a:latin typeface="Arial" panose="020B0604020202020204" pitchFamily="34" charset="0"/>
                <a:cs typeface="Arial" panose="020B0604020202020204" pitchFamily="34" charset="0"/>
              </a:rPr>
              <a:t>In a Python file or </a:t>
            </a:r>
            <a:r>
              <a:rPr lang="en-IN" sz="1534" dirty="0" err="1">
                <a:latin typeface="Arial" panose="020B0604020202020204" pitchFamily="34" charset="0"/>
                <a:cs typeface="Arial" panose="020B0604020202020204" pitchFamily="34" charset="0"/>
              </a:rPr>
              <a:t>Jupyter</a:t>
            </a:r>
            <a:r>
              <a:rPr lang="en-IN" sz="1534" dirty="0">
                <a:latin typeface="Arial" panose="020B0604020202020204" pitchFamily="34" charset="0"/>
                <a:cs typeface="Arial" panose="020B0604020202020204" pitchFamily="34" charset="0"/>
              </a:rPr>
              <a:t> notebook in GitHub, type a Copilot prompt such as:</a:t>
            </a:r>
          </a:p>
          <a:p>
            <a:pPr lvl="2"/>
            <a:r>
              <a:rPr lang="en-IN" sz="1267" dirty="0">
                <a:latin typeface="Arial" panose="020B0604020202020204" pitchFamily="34" charset="0"/>
                <a:cs typeface="Arial" panose="020B0604020202020204" pitchFamily="34" charset="0"/>
              </a:rPr>
              <a:t>"Create a demand forecasting model for </a:t>
            </a:r>
            <a:r>
              <a:rPr lang="en-IN" sz="1267" dirty="0" err="1">
                <a:latin typeface="Arial" panose="020B0604020202020204" pitchFamily="34" charset="0"/>
                <a:cs typeface="Arial" panose="020B0604020202020204" pitchFamily="34" charset="0"/>
              </a:rPr>
              <a:t>Weekly_Sales</a:t>
            </a:r>
            <a:r>
              <a:rPr lang="en-IN" sz="1267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</a:p>
          <a:p>
            <a:pPr lvl="2"/>
            <a:r>
              <a:rPr lang="en-IN" sz="1267" dirty="0">
                <a:latin typeface="Arial" panose="020B0604020202020204" pitchFamily="34" charset="0"/>
                <a:cs typeface="Arial" panose="020B0604020202020204" pitchFamily="34" charset="0"/>
              </a:rPr>
              <a:t>"Train and predict next 4 weeks sales"</a:t>
            </a:r>
          </a:p>
          <a:p>
            <a:pPr algn="just"/>
            <a:endParaRPr lang="en-US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A89E412C-B23C-139D-CA37-C6392873AD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108C15B-0837-262B-2581-A5CEE31341EE}"/>
              </a:ext>
            </a:extLst>
          </p:cNvPr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3">
            <a:extLst>
              <a:ext uri="{FF2B5EF4-FFF2-40B4-BE49-F238E27FC236}">
                <a16:creationId xmlns:a16="http://schemas.microsoft.com/office/drawing/2014/main" id="{F2CAD1AA-DD92-C19A-D3F0-9AF1567B23E0}"/>
              </a:ext>
            </a:extLst>
          </p:cNvPr>
          <p:cNvSpPr txBox="1">
            <a:spLocks/>
          </p:cNvSpPr>
          <p:nvPr/>
        </p:nvSpPr>
        <p:spPr>
          <a:xfrm>
            <a:off x="381000" y="1354764"/>
            <a:ext cx="8177784" cy="393600"/>
          </a:xfrm>
          <a:prstGeom prst="rect">
            <a:avLst/>
          </a:prstGeom>
        </p:spPr>
        <p:txBody>
          <a:bodyPr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 3 : Demand Forecasting Using Python &amp; Copilot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D468B4-D164-7CC5-03F5-BD06C3B7AA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2161" y="1740843"/>
            <a:ext cx="3155950" cy="435737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384603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1E67D-6A0F-75CB-1094-EB2799647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7351A-2E62-3135-DD16-89BEE4C46058}"/>
              </a:ext>
            </a:extLst>
          </p:cNvPr>
          <p:cNvSpPr txBox="1">
            <a:spLocks/>
          </p:cNvSpPr>
          <p:nvPr/>
        </p:nvSpPr>
        <p:spPr>
          <a:xfrm>
            <a:off x="381000" y="759787"/>
            <a:ext cx="7647432" cy="393600"/>
          </a:xfrm>
          <a:prstGeom prst="rect">
            <a:avLst/>
          </a:prstGeom>
        </p:spPr>
        <p:txBody>
          <a:bodyPr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Tasks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66948ACD-7DD9-5803-A3CE-E75FAA0830D8}"/>
              </a:ext>
            </a:extLst>
          </p:cNvPr>
          <p:cNvSpPr txBox="1">
            <a:spLocks/>
          </p:cNvSpPr>
          <p:nvPr/>
        </p:nvSpPr>
        <p:spPr>
          <a:xfrm>
            <a:off x="381000" y="1932223"/>
            <a:ext cx="5811058" cy="4114800"/>
          </a:xfrm>
          <a:prstGeom prst="rect">
            <a:avLst/>
          </a:prstGeom>
        </p:spPr>
        <p:txBody>
          <a:bodyPr/>
          <a:lstStyle>
            <a:lvl1pPr marL="228611" indent="-228611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25" indent="-190510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Preprocess Data</a:t>
            </a:r>
          </a:p>
          <a:p>
            <a:pPr lvl="1" algn="just"/>
            <a:r>
              <a:rPr lang="en-US" sz="1534" dirty="0">
                <a:latin typeface="Arial" panose="020B0604020202020204" pitchFamily="34" charset="0"/>
                <a:cs typeface="Arial" panose="020B0604020202020204" pitchFamily="34" charset="0"/>
              </a:rPr>
              <a:t>Convert Date to datetime</a:t>
            </a:r>
          </a:p>
          <a:p>
            <a:pPr lvl="1" algn="just"/>
            <a:r>
              <a:rPr lang="en-US" sz="1534" dirty="0">
                <a:latin typeface="Arial" panose="020B0604020202020204" pitchFamily="34" charset="0"/>
                <a:cs typeface="Arial" panose="020B0604020202020204" pitchFamily="34" charset="0"/>
              </a:rPr>
              <a:t>Aggregate sales if needed</a:t>
            </a:r>
          </a:p>
          <a:p>
            <a:pPr algn="just"/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Visualize Weekly Sales</a:t>
            </a:r>
          </a:p>
          <a:p>
            <a:pPr lvl="1" algn="just"/>
            <a:r>
              <a:rPr lang="en-US" sz="1534" dirty="0">
                <a:latin typeface="Arial" panose="020B0604020202020204" pitchFamily="34" charset="0"/>
                <a:cs typeface="Arial" panose="020B0604020202020204" pitchFamily="34" charset="0"/>
              </a:rPr>
              <a:t>Build a Simple Forecasting Model</a:t>
            </a:r>
          </a:p>
          <a:p>
            <a:pPr algn="just"/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Using Linear Regression (easy for lab demo)</a:t>
            </a:r>
          </a:p>
          <a:p>
            <a:pPr lvl="1" algn="just"/>
            <a:r>
              <a:rPr lang="en-US" sz="1534" dirty="0">
                <a:latin typeface="Arial" panose="020B0604020202020204" pitchFamily="34" charset="0"/>
                <a:cs typeface="Arial" panose="020B0604020202020204" pitchFamily="34" charset="0"/>
              </a:rPr>
              <a:t>Plot Actual vs Predicted</a:t>
            </a:r>
          </a:p>
          <a:p>
            <a:pPr algn="just"/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Forecast Next 4 Weeks</a:t>
            </a:r>
          </a:p>
          <a:p>
            <a:pPr algn="just"/>
            <a:endParaRPr lang="en-US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C7C8ACD6-0130-384A-441F-D9B1F8E976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9896159-6DD4-576A-6105-26E593D09F15}"/>
              </a:ext>
            </a:extLst>
          </p:cNvPr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3">
            <a:extLst>
              <a:ext uri="{FF2B5EF4-FFF2-40B4-BE49-F238E27FC236}">
                <a16:creationId xmlns:a16="http://schemas.microsoft.com/office/drawing/2014/main" id="{CC96E26E-1340-1EEF-3E6D-F043ACA92268}"/>
              </a:ext>
            </a:extLst>
          </p:cNvPr>
          <p:cNvSpPr txBox="1">
            <a:spLocks/>
          </p:cNvSpPr>
          <p:nvPr/>
        </p:nvSpPr>
        <p:spPr>
          <a:xfrm>
            <a:off x="381000" y="1354764"/>
            <a:ext cx="8177784" cy="393600"/>
          </a:xfrm>
          <a:prstGeom prst="rect">
            <a:avLst/>
          </a:prstGeom>
        </p:spPr>
        <p:txBody>
          <a:bodyPr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 3 : Demand Forecasting Using Python &amp; Copilot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0F4B1F-6464-8BAE-8259-B52E73E9C4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0492" y="2059612"/>
            <a:ext cx="4230370" cy="142748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95DCBC5-B951-86F0-DC92-49CCA0F72C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4002" y="4156986"/>
            <a:ext cx="3943350" cy="167068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358229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A9DAE-822E-4C44-82C0-C1C892618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69CF0FE-4CC0-FEF2-36B4-893914FAEEF8}"/>
              </a:ext>
            </a:extLst>
          </p:cNvPr>
          <p:cNvSpPr txBox="1">
            <a:spLocks/>
          </p:cNvSpPr>
          <p:nvPr/>
        </p:nvSpPr>
        <p:spPr>
          <a:xfrm>
            <a:off x="381000" y="759787"/>
            <a:ext cx="7647432" cy="393600"/>
          </a:xfrm>
          <a:prstGeom prst="rect">
            <a:avLst/>
          </a:prstGeom>
        </p:spPr>
        <p:txBody>
          <a:bodyPr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Tasks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728FD60D-9BD4-DBDC-B32C-7AA4456453CA}"/>
              </a:ext>
            </a:extLst>
          </p:cNvPr>
          <p:cNvSpPr txBox="1">
            <a:spLocks/>
          </p:cNvSpPr>
          <p:nvPr/>
        </p:nvSpPr>
        <p:spPr>
          <a:xfrm>
            <a:off x="381000" y="1932223"/>
            <a:ext cx="5811058" cy="4114800"/>
          </a:xfrm>
          <a:prstGeom prst="rect">
            <a:avLst/>
          </a:prstGeom>
        </p:spPr>
        <p:txBody>
          <a:bodyPr/>
          <a:lstStyle>
            <a:lvl1pPr marL="228611" indent="-228611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25" indent="-190510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Explore Azure cloud services and understand how to deploy or run analytics in the cloud.</a:t>
            </a:r>
          </a:p>
          <a:p>
            <a:pPr algn="just"/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Sign in to Azure Portal</a:t>
            </a:r>
          </a:p>
          <a:p>
            <a:pPr lvl="1" algn="just"/>
            <a:r>
              <a:rPr lang="en-US" sz="1534" dirty="0">
                <a:latin typeface="Arial" panose="020B0604020202020204" pitchFamily="34" charset="0"/>
                <a:cs typeface="Arial" panose="020B0604020202020204" pitchFamily="34" charset="0"/>
              </a:rPr>
              <a:t>Go to https://portal.azure.com</a:t>
            </a:r>
          </a:p>
          <a:p>
            <a:pPr lvl="1" algn="just"/>
            <a:r>
              <a:rPr lang="en-US" sz="1534" dirty="0">
                <a:latin typeface="Arial" panose="020B0604020202020204" pitchFamily="34" charset="0"/>
                <a:cs typeface="Arial" panose="020B0604020202020204" pitchFamily="34" charset="0"/>
              </a:rPr>
              <a:t>Use your student/organization account.</a:t>
            </a:r>
          </a:p>
          <a:p>
            <a:pPr lvl="0"/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Navigate Azure Services</a:t>
            </a:r>
          </a:p>
          <a:p>
            <a:pPr lvl="1"/>
            <a:r>
              <a:rPr lang="en-IN" sz="1534" dirty="0">
                <a:latin typeface="Arial" panose="020B0604020202020204" pitchFamily="34" charset="0"/>
                <a:cs typeface="Arial" panose="020B0604020202020204" pitchFamily="34" charset="0"/>
              </a:rPr>
              <a:t>Explore services such as:</a:t>
            </a:r>
          </a:p>
          <a:p>
            <a:pPr lvl="2"/>
            <a:r>
              <a:rPr lang="en-IN" sz="1267" dirty="0">
                <a:latin typeface="Arial" panose="020B0604020202020204" pitchFamily="34" charset="0"/>
                <a:cs typeface="Arial" panose="020B0604020202020204" pitchFamily="34" charset="0"/>
              </a:rPr>
              <a:t>Azure Storage – to upload datasets</a:t>
            </a:r>
          </a:p>
          <a:p>
            <a:pPr lvl="2"/>
            <a:r>
              <a:rPr lang="en-IN" sz="1267" dirty="0">
                <a:latin typeface="Arial" panose="020B0604020202020204" pitchFamily="34" charset="0"/>
                <a:cs typeface="Arial" panose="020B0604020202020204" pitchFamily="34" charset="0"/>
              </a:rPr>
              <a:t>Azure Machine Learning – for AI/ML experiment</a:t>
            </a:r>
          </a:p>
          <a:p>
            <a:pPr lvl="2"/>
            <a:r>
              <a:rPr lang="en-IN" sz="1267" dirty="0">
                <a:latin typeface="Arial" panose="020B0604020202020204" pitchFamily="34" charset="0"/>
                <a:cs typeface="Arial" panose="020B0604020202020204" pitchFamily="34" charset="0"/>
              </a:rPr>
              <a:t>Azure Storage – to upload datasets</a:t>
            </a:r>
          </a:p>
          <a:p>
            <a:pPr lvl="0"/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Upload Dataset to Azure Storage (optional)</a:t>
            </a:r>
          </a:p>
          <a:p>
            <a:pPr lvl="1"/>
            <a:r>
              <a:rPr lang="en-IN" sz="1530" dirty="0">
                <a:latin typeface="Arial" panose="020B0604020202020204" pitchFamily="34" charset="0"/>
                <a:cs typeface="Arial" panose="020B0604020202020204" pitchFamily="34" charset="0"/>
              </a:rPr>
              <a:t>Create a Storage Account → Container → Upload walmart_sales.csv</a:t>
            </a:r>
          </a:p>
          <a:p>
            <a:pPr lvl="1"/>
            <a:r>
              <a:rPr lang="en-IN" sz="1530" dirty="0">
                <a:latin typeface="Arial" panose="020B0604020202020204" pitchFamily="34" charset="0"/>
                <a:cs typeface="Arial" panose="020B0604020202020204" pitchFamily="34" charset="0"/>
              </a:rPr>
              <a:t>You can now access this dataset from Azure notebooks or ML Studio.</a:t>
            </a:r>
          </a:p>
          <a:p>
            <a:pPr lvl="2"/>
            <a:endParaRPr lang="en-IN" sz="1267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EE47B8BD-AC2B-8CB6-A083-72C0106763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AC0237-AB8C-E57E-ADBF-5964F83FE398}"/>
              </a:ext>
            </a:extLst>
          </p:cNvPr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3">
            <a:extLst>
              <a:ext uri="{FF2B5EF4-FFF2-40B4-BE49-F238E27FC236}">
                <a16:creationId xmlns:a16="http://schemas.microsoft.com/office/drawing/2014/main" id="{A6738D84-6BA8-EBA1-B8B7-17B566916D81}"/>
              </a:ext>
            </a:extLst>
          </p:cNvPr>
          <p:cNvSpPr txBox="1">
            <a:spLocks/>
          </p:cNvSpPr>
          <p:nvPr/>
        </p:nvSpPr>
        <p:spPr>
          <a:xfrm>
            <a:off x="381000" y="1354764"/>
            <a:ext cx="8177784" cy="393600"/>
          </a:xfrm>
          <a:prstGeom prst="rect">
            <a:avLst/>
          </a:prstGeom>
        </p:spPr>
        <p:txBody>
          <a:bodyPr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 4: Azure Cloud Exploration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C5C1D8-39A5-0651-6BFB-351DE6170C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6829" y="956587"/>
            <a:ext cx="4654550" cy="248285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607E777-D83E-693F-50E3-417306B8B0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4454" y="3837614"/>
            <a:ext cx="4559300" cy="218313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645056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DBFCC-1B64-B6FF-69F3-29E48A3B7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F0C04C2-4067-374C-D06F-306294B07804}"/>
              </a:ext>
            </a:extLst>
          </p:cNvPr>
          <p:cNvSpPr txBox="1">
            <a:spLocks/>
          </p:cNvSpPr>
          <p:nvPr/>
        </p:nvSpPr>
        <p:spPr>
          <a:xfrm>
            <a:off x="381000" y="759787"/>
            <a:ext cx="7647432" cy="393600"/>
          </a:xfrm>
          <a:prstGeom prst="rect">
            <a:avLst/>
          </a:prstGeom>
        </p:spPr>
        <p:txBody>
          <a:bodyPr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Tasks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0AB327B-8BB4-5961-90B6-60BC97699A98}"/>
              </a:ext>
            </a:extLst>
          </p:cNvPr>
          <p:cNvSpPr txBox="1">
            <a:spLocks/>
          </p:cNvSpPr>
          <p:nvPr/>
        </p:nvSpPr>
        <p:spPr>
          <a:xfrm>
            <a:off x="381000" y="1932223"/>
            <a:ext cx="5811058" cy="4114800"/>
          </a:xfrm>
          <a:prstGeom prst="rect">
            <a:avLst/>
          </a:prstGeom>
        </p:spPr>
        <p:txBody>
          <a:bodyPr/>
          <a:lstStyle>
            <a:lvl1pPr marL="228611" indent="-228611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25" indent="-190510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Upload Dataset to Azure Storage </a:t>
            </a:r>
          </a:p>
          <a:p>
            <a:pPr lvl="1"/>
            <a:r>
              <a:rPr lang="en-IN" sz="1534" dirty="0">
                <a:latin typeface="Arial" panose="020B0604020202020204" pitchFamily="34" charset="0"/>
                <a:cs typeface="Arial" panose="020B0604020202020204" pitchFamily="34" charset="0"/>
              </a:rPr>
              <a:t>Create a new Resource Group</a:t>
            </a:r>
          </a:p>
          <a:p>
            <a:pPr lvl="1"/>
            <a:r>
              <a:rPr lang="en-IN" sz="1534" dirty="0">
                <a:latin typeface="Arial" panose="020B0604020202020204" pitchFamily="34" charset="0"/>
                <a:cs typeface="Arial" panose="020B0604020202020204" pitchFamily="34" charset="0"/>
              </a:rPr>
              <a:t>In your </a:t>
            </a:r>
            <a:r>
              <a:rPr lang="en-IN" sz="1534" dirty="0" err="1">
                <a:latin typeface="Arial" panose="020B0604020202020204" pitchFamily="34" charset="0"/>
                <a:cs typeface="Arial" panose="020B0604020202020204" pitchFamily="34" charset="0"/>
              </a:rPr>
              <a:t>Walmart_sales</a:t>
            </a:r>
            <a:r>
              <a:rPr lang="en-IN" sz="1534" dirty="0">
                <a:latin typeface="Arial" panose="020B0604020202020204" pitchFamily="34" charset="0"/>
                <a:cs typeface="Arial" panose="020B0604020202020204" pitchFamily="34" charset="0"/>
              </a:rPr>
              <a:t> resource group page, click the + Create button. </a:t>
            </a:r>
          </a:p>
          <a:p>
            <a:pPr lvl="1"/>
            <a:r>
              <a:rPr lang="en-IN" sz="1534" dirty="0">
                <a:latin typeface="Arial" panose="020B0604020202020204" pitchFamily="34" charset="0"/>
                <a:cs typeface="Arial" panose="020B0604020202020204" pitchFamily="34" charset="0"/>
              </a:rPr>
              <a:t>Create a Storage Account (Blob Storage)</a:t>
            </a:r>
          </a:p>
          <a:p>
            <a:pPr lvl="1"/>
            <a:r>
              <a:rPr lang="en-IN" sz="1534" dirty="0">
                <a:latin typeface="Arial" panose="020B0604020202020204" pitchFamily="34" charset="0"/>
                <a:cs typeface="Arial" panose="020B0604020202020204" pitchFamily="34" charset="0"/>
              </a:rPr>
              <a:t>Go to Azure Portal → Storage Accounts → + Create</a:t>
            </a:r>
          </a:p>
          <a:p>
            <a:pPr lvl="2"/>
            <a:r>
              <a:rPr lang="en-IN" sz="1267" dirty="0">
                <a:latin typeface="Arial" panose="020B0604020202020204" pitchFamily="34" charset="0"/>
                <a:cs typeface="Arial" panose="020B0604020202020204" pitchFamily="34" charset="0"/>
              </a:rPr>
              <a:t>Resource Group: select </a:t>
            </a:r>
            <a:r>
              <a:rPr lang="en-IN" sz="1267" dirty="0" err="1">
                <a:latin typeface="Arial" panose="020B0604020202020204" pitchFamily="34" charset="0"/>
                <a:cs typeface="Arial" panose="020B0604020202020204" pitchFamily="34" charset="0"/>
              </a:rPr>
              <a:t>Walmart_sales</a:t>
            </a:r>
            <a:r>
              <a:rPr lang="en-IN" sz="1267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2"/>
            <a:r>
              <a:rPr lang="en-IN" sz="1267" dirty="0">
                <a:latin typeface="Arial" panose="020B0604020202020204" pitchFamily="34" charset="0"/>
                <a:cs typeface="Arial" panose="020B0604020202020204" pitchFamily="34" charset="0"/>
              </a:rPr>
              <a:t>Storage Account Name: </a:t>
            </a:r>
            <a:r>
              <a:rPr lang="en-IN" sz="1267" dirty="0" err="1">
                <a:latin typeface="Arial" panose="020B0604020202020204" pitchFamily="34" charset="0"/>
                <a:cs typeface="Arial" panose="020B0604020202020204" pitchFamily="34" charset="0"/>
              </a:rPr>
              <a:t>walmarbs</a:t>
            </a:r>
            <a:r>
              <a:rPr lang="en-IN" sz="1267" dirty="0">
                <a:latin typeface="Arial" panose="020B0604020202020204" pitchFamily="34" charset="0"/>
                <a:cs typeface="Arial" panose="020B0604020202020204" pitchFamily="34" charset="0"/>
              </a:rPr>
              <a:t> (must be unique) </a:t>
            </a:r>
          </a:p>
          <a:p>
            <a:pPr lvl="2"/>
            <a:r>
              <a:rPr lang="en-IN" sz="1267" dirty="0">
                <a:latin typeface="Arial" panose="020B0604020202020204" pitchFamily="34" charset="0"/>
                <a:cs typeface="Arial" panose="020B0604020202020204" pitchFamily="34" charset="0"/>
              </a:rPr>
              <a:t>Region: same as Resource Group</a:t>
            </a:r>
          </a:p>
          <a:p>
            <a:pPr lvl="2"/>
            <a:r>
              <a:rPr lang="en-IN" sz="1267" dirty="0">
                <a:latin typeface="Arial" panose="020B0604020202020204" pitchFamily="34" charset="0"/>
                <a:cs typeface="Arial" panose="020B0604020202020204" pitchFamily="34" charset="0"/>
              </a:rPr>
              <a:t>Performance: Standard</a:t>
            </a:r>
          </a:p>
          <a:p>
            <a:pPr lvl="2"/>
            <a:r>
              <a:rPr lang="en-IN" sz="1267" dirty="0">
                <a:latin typeface="Arial" panose="020B0604020202020204" pitchFamily="34" charset="0"/>
                <a:cs typeface="Arial" panose="020B0604020202020204" pitchFamily="34" charset="0"/>
              </a:rPr>
              <a:t>Replication: LRS (Locally-redundant storage)</a:t>
            </a:r>
          </a:p>
          <a:p>
            <a:pPr lvl="2"/>
            <a:r>
              <a:rPr lang="en-IN" sz="1267" dirty="0">
                <a:latin typeface="Arial" panose="020B0604020202020204" pitchFamily="34" charset="0"/>
                <a:cs typeface="Arial" panose="020B0604020202020204" pitchFamily="34" charset="0"/>
              </a:rPr>
              <a:t>Click Review + Create → Create</a:t>
            </a: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IN" sz="1800" b="1" dirty="0">
                <a:latin typeface="Arial" panose="020B0604020202020204" pitchFamily="34" charset="0"/>
                <a:cs typeface="Arial" panose="020B0604020202020204" pitchFamily="34" charset="0"/>
              </a:rPr>
              <a:t>Observe Azure Tools</a:t>
            </a:r>
          </a:p>
          <a:p>
            <a:pPr lvl="1"/>
            <a:r>
              <a:rPr lang="en-IN" sz="1534" dirty="0">
                <a:latin typeface="Arial" panose="020B0604020202020204" pitchFamily="34" charset="0"/>
                <a:cs typeface="Arial" panose="020B0604020202020204" pitchFamily="34" charset="0"/>
              </a:rPr>
              <a:t>See how cloud services handle datasets</a:t>
            </a:r>
          </a:p>
          <a:p>
            <a:pPr lvl="1"/>
            <a:r>
              <a:rPr lang="en-IN" sz="1534" dirty="0">
                <a:latin typeface="Arial" panose="020B0604020202020204" pitchFamily="34" charset="0"/>
                <a:cs typeface="Arial" panose="020B0604020202020204" pitchFamily="34" charset="0"/>
              </a:rPr>
              <a:t>Note options for compute, storage, model deployment</a:t>
            </a:r>
          </a:p>
          <a:p>
            <a:pPr lvl="2"/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C6780512-04E6-908A-060B-2894939739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452F4E3-3DCC-3B3B-86F6-28A943910DC4}"/>
              </a:ext>
            </a:extLst>
          </p:cNvPr>
          <p:cNvCxnSpPr/>
          <p:nvPr/>
        </p:nvCxnSpPr>
        <p:spPr>
          <a:xfrm>
            <a:off x="0" y="6248400"/>
            <a:ext cx="12192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3">
            <a:extLst>
              <a:ext uri="{FF2B5EF4-FFF2-40B4-BE49-F238E27FC236}">
                <a16:creationId xmlns:a16="http://schemas.microsoft.com/office/drawing/2014/main" id="{E3A5B9F3-B0B0-81EE-BD76-FE24B6FC7BD8}"/>
              </a:ext>
            </a:extLst>
          </p:cNvPr>
          <p:cNvSpPr txBox="1">
            <a:spLocks/>
          </p:cNvSpPr>
          <p:nvPr/>
        </p:nvSpPr>
        <p:spPr>
          <a:xfrm>
            <a:off x="381000" y="1354764"/>
            <a:ext cx="8177784" cy="393600"/>
          </a:xfrm>
          <a:prstGeom prst="rect">
            <a:avLst/>
          </a:prstGeom>
        </p:spPr>
        <p:txBody>
          <a:bodyPr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 4: Azure Cloud Exploration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60A516-4395-8162-E213-1F9F211A34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702" y="1108764"/>
            <a:ext cx="3472379" cy="207720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93F8999-621A-4F36-1C17-9558378194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3205" y="3429000"/>
            <a:ext cx="3309584" cy="175650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9034C6B-9D9D-7282-0E5E-2EBA566C3A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48800" y="3365197"/>
            <a:ext cx="2582695" cy="259478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998083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BA32B3C-D9C8-65B6-1442-8DF6B935E489}"/>
              </a:ext>
            </a:extLst>
          </p:cNvPr>
          <p:cNvSpPr txBox="1">
            <a:spLocks/>
          </p:cNvSpPr>
          <p:nvPr/>
        </p:nvSpPr>
        <p:spPr>
          <a:xfrm>
            <a:off x="340229" y="759787"/>
            <a:ext cx="11775571" cy="393600"/>
          </a:xfrm>
          <a:prstGeom prst="rect">
            <a:avLst/>
          </a:prstGeom>
        </p:spPr>
        <p:txBody>
          <a:bodyPr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976EDFFF-7E60-F4A2-ECDA-81CD89054335}"/>
              </a:ext>
            </a:extLst>
          </p:cNvPr>
          <p:cNvSpPr txBox="1">
            <a:spLocks/>
          </p:cNvSpPr>
          <p:nvPr/>
        </p:nvSpPr>
        <p:spPr>
          <a:xfrm>
            <a:off x="381000" y="1185356"/>
            <a:ext cx="5811058" cy="3691444"/>
          </a:xfrm>
          <a:prstGeom prst="rect">
            <a:avLst/>
          </a:prstGeom>
        </p:spPr>
        <p:txBody>
          <a:bodyPr/>
          <a:lstStyle>
            <a:lvl1pPr marL="228611" indent="-228611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25" indent="-190510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3736" indent="-173736">
              <a:spcBef>
                <a:spcPts val="0"/>
              </a:spcBef>
              <a:spcAft>
                <a:spcPts val="800"/>
              </a:spcAft>
              <a:buFont typeface="Arial" pitchFamily="34" charset="0"/>
              <a:buNone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You will learn in this Chapter: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Understand the end-to-end retail demand workflow from data collection to visualization.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Clean and validate datasets using Excel and Excel Copilot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Generate summary statistics like average weekly sales and store-wise trends.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Visualize patterns to identify trends, holidays, and store performance.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Use AI-assisted tools to streamline analysis and insights.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Interpret results for data-driven retail demand forecasting.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C603D4E8-9BAA-B8B5-0D8A-9F11B05FF385}"/>
              </a:ext>
            </a:extLst>
          </p:cNvPr>
          <p:cNvSpPr/>
          <p:nvPr/>
        </p:nvSpPr>
        <p:spPr>
          <a:xfrm>
            <a:off x="6858000" y="1447800"/>
            <a:ext cx="4478694" cy="4114800"/>
          </a:xfrm>
          <a:custGeom>
            <a:avLst/>
            <a:gdLst/>
            <a:ahLst/>
            <a:cxnLst/>
            <a:rect l="l" t="t" r="r" b="b"/>
            <a:pathLst>
              <a:path w="4478694" h="4114800">
                <a:moveTo>
                  <a:pt x="0" y="0"/>
                </a:moveTo>
                <a:lnTo>
                  <a:pt x="4478694" y="0"/>
                </a:lnTo>
                <a:lnTo>
                  <a:pt x="447869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32016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BA32B3C-D9C8-65B6-1442-8DF6B935E489}"/>
              </a:ext>
            </a:extLst>
          </p:cNvPr>
          <p:cNvSpPr txBox="1">
            <a:spLocks/>
          </p:cNvSpPr>
          <p:nvPr/>
        </p:nvSpPr>
        <p:spPr>
          <a:xfrm>
            <a:off x="381000" y="759787"/>
            <a:ext cx="11125200" cy="393600"/>
          </a:xfrm>
          <a:prstGeom prst="rect">
            <a:avLst/>
          </a:prstGeom>
        </p:spPr>
        <p:txBody>
          <a:bodyPr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FB8E816-E868-A86A-9AC1-52D61C79325A}"/>
              </a:ext>
            </a:extLst>
          </p:cNvPr>
          <p:cNvSpPr txBox="1">
            <a:spLocks/>
          </p:cNvSpPr>
          <p:nvPr/>
        </p:nvSpPr>
        <p:spPr>
          <a:xfrm>
            <a:off x="361142" y="1196050"/>
            <a:ext cx="11297458" cy="3223550"/>
          </a:xfrm>
          <a:prstGeom prst="rect">
            <a:avLst/>
          </a:prstGeom>
        </p:spPr>
        <p:txBody>
          <a:bodyPr/>
          <a:lstStyle>
            <a:lvl1pPr marL="228611" indent="-228611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325" indent="-190510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2038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66853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6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7648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81299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86114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90930" indent="-152408" algn="l" defTabSz="60963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IN" sz="1800" dirty="0">
                <a:latin typeface="Arial" panose="020B0604020202020204" pitchFamily="34" charset="0"/>
                <a:ea typeface="Calibri" panose="020F0502020204030204" pitchFamily="34" charset="0"/>
                <a:cs typeface="Gautami"/>
                <a:hlinkClick r:id="rId4"/>
              </a:rPr>
              <a:t>https://www.kaggle.com/competitions/walmart-recruiting-store-sales-forecasting/data</a:t>
            </a:r>
            <a:endParaRPr lang="en-IN" sz="1800" dirty="0">
              <a:latin typeface="Arial" panose="020B0604020202020204" pitchFamily="34" charset="0"/>
              <a:ea typeface="Calibri" panose="020F0502020204030204" pitchFamily="34" charset="0"/>
              <a:cs typeface="Gautami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IN" sz="1800" dirty="0">
                <a:latin typeface="Arial" panose="020B0604020202020204" pitchFamily="34" charset="0"/>
                <a:ea typeface="Calibri" panose="020F0502020204030204" pitchFamily="34" charset="0"/>
                <a:cs typeface="Gautami"/>
                <a:hlinkClick r:id="rId5"/>
              </a:rPr>
              <a:t>https://www.kaggle.com/c/rossmann-store-sales/data</a:t>
            </a:r>
            <a:endParaRPr lang="en-IN" sz="1800" dirty="0">
              <a:latin typeface="Arial" panose="020B0604020202020204" pitchFamily="34" charset="0"/>
              <a:ea typeface="Calibri" panose="020F0502020204030204" pitchFamily="34" charset="0"/>
              <a:cs typeface="Gautami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IN" sz="1800" dirty="0">
                <a:latin typeface="Arial" panose="020B0604020202020204" pitchFamily="34" charset="0"/>
                <a:ea typeface="Calibri" panose="020F0502020204030204" pitchFamily="34" charset="0"/>
                <a:cs typeface="Gautami"/>
                <a:hlinkClick r:id="rId6"/>
              </a:rPr>
              <a:t>https://towardsdatascience.com/time-series-forecasting-of-walmart-sales-with-python-76fcf1b4a5f4</a:t>
            </a:r>
            <a:endParaRPr lang="en-IN" sz="1800" dirty="0">
              <a:latin typeface="Arial" panose="020B0604020202020204" pitchFamily="34" charset="0"/>
              <a:ea typeface="Calibri" panose="020F0502020204030204" pitchFamily="34" charset="0"/>
              <a:cs typeface="Gautami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IN" sz="1800" dirty="0">
                <a:latin typeface="Arial" panose="020B0604020202020204" pitchFamily="34" charset="0"/>
                <a:ea typeface="Calibri" panose="020F0502020204030204" pitchFamily="34" charset="0"/>
                <a:cs typeface="Gautami"/>
                <a:hlinkClick r:id="rId7"/>
              </a:rPr>
              <a:t>https://docs.github.com/en/copilot</a:t>
            </a:r>
            <a:endParaRPr lang="en-IN" sz="1800" dirty="0">
              <a:latin typeface="Arial" panose="020B0604020202020204" pitchFamily="34" charset="0"/>
              <a:ea typeface="Calibri" panose="020F0502020204030204" pitchFamily="34" charset="0"/>
              <a:cs typeface="Gautami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IN" sz="1800" dirty="0">
                <a:latin typeface="Arial" panose="020B0604020202020204" pitchFamily="34" charset="0"/>
                <a:ea typeface="Calibri" panose="020F0502020204030204" pitchFamily="34" charset="0"/>
                <a:cs typeface="Gautami"/>
                <a:hlinkClick r:id="rId8"/>
              </a:rPr>
              <a:t>https://learn.microsoft.com/en-us/azure/storage/blobs/storage-quickstart-blobs-python</a:t>
            </a:r>
            <a:endParaRPr lang="en-IN" sz="1800" dirty="0">
              <a:latin typeface="Arial" panose="020B0604020202020204" pitchFamily="34" charset="0"/>
              <a:ea typeface="Calibri" panose="020F0502020204030204" pitchFamily="34" charset="0"/>
              <a:cs typeface="Gautami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fr-FR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Gautami"/>
                <a:hlinkClick r:id="rId9"/>
              </a:rPr>
              <a:t>https://iiaai.org/case-study-listing/walmart-ai-in-supply-chain-forecasting</a:t>
            </a:r>
            <a:endParaRPr lang="fr-FR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Gautami"/>
            </a:endParaRPr>
          </a:p>
          <a:p>
            <a:pPr marL="0" lvl="0" indent="0">
              <a:lnSpc>
                <a:spcPct val="107000"/>
              </a:lnSpc>
              <a:spcAft>
                <a:spcPts val="0"/>
              </a:spcAft>
              <a:buNone/>
            </a:pPr>
            <a:endParaRPr lang="fr-FR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Gautami"/>
            </a:endParaRPr>
          </a:p>
          <a:p>
            <a:pPr marL="342900" lvl="0" indent="-342900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n-IN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Gautami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683526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BA32B3C-D9C8-65B6-1442-8DF6B935E489}"/>
              </a:ext>
            </a:extLst>
          </p:cNvPr>
          <p:cNvSpPr txBox="1">
            <a:spLocks/>
          </p:cNvSpPr>
          <p:nvPr/>
        </p:nvSpPr>
        <p:spPr>
          <a:xfrm>
            <a:off x="2952749" y="1665112"/>
            <a:ext cx="6286502" cy="2395256"/>
          </a:xfrm>
          <a:prstGeom prst="rect">
            <a:avLst/>
          </a:prstGeom>
        </p:spPr>
        <p:txBody>
          <a:bodyPr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0" b="1">
                <a:solidFill>
                  <a:srgbClr val="484F9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QUIZ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105F7530-0D39-06C4-D372-2B9649861D5D}"/>
              </a:ext>
            </a:extLst>
          </p:cNvPr>
          <p:cNvSpPr txBox="1">
            <a:spLocks/>
          </p:cNvSpPr>
          <p:nvPr/>
        </p:nvSpPr>
        <p:spPr>
          <a:xfrm>
            <a:off x="5253313" y="4308528"/>
            <a:ext cx="1881314" cy="393600"/>
          </a:xfrm>
          <a:prstGeom prst="rect">
            <a:avLst/>
          </a:prstGeom>
        </p:spPr>
        <p:txBody>
          <a:bodyPr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6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Let’s Start</a:t>
            </a:r>
          </a:p>
        </p:txBody>
      </p:sp>
      <p:pic>
        <p:nvPicPr>
          <p:cNvPr id="8" name="Picture 7" descr="A cartoon of plants and flowers&#10;&#10;Description automatically generated">
            <a:extLst>
              <a:ext uri="{FF2B5EF4-FFF2-40B4-BE49-F238E27FC236}">
                <a16:creationId xmlns:a16="http://schemas.microsoft.com/office/drawing/2014/main" id="{4370FDC2-37FE-1078-8957-F74CF2D41C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777" y="1295403"/>
            <a:ext cx="10212447" cy="4778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800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58DE8C5-AD3A-E2A6-47DE-FD7F0A04BE7F}"/>
              </a:ext>
            </a:extLst>
          </p:cNvPr>
          <p:cNvGrpSpPr/>
          <p:nvPr/>
        </p:nvGrpSpPr>
        <p:grpSpPr>
          <a:xfrm rot="20804835">
            <a:off x="8105974" y="1314838"/>
            <a:ext cx="3032304" cy="4163210"/>
            <a:chOff x="5763589" y="866981"/>
            <a:chExt cx="2725091" cy="3741420"/>
          </a:xfrm>
        </p:grpSpPr>
        <p:pic>
          <p:nvPicPr>
            <p:cNvPr id="8" name="Picture 7" descr="A group of question marks&#10;&#10;Description automatically generated">
              <a:extLst>
                <a:ext uri="{FF2B5EF4-FFF2-40B4-BE49-F238E27FC236}">
                  <a16:creationId xmlns:a16="http://schemas.microsoft.com/office/drawing/2014/main" id="{52009D03-B2B0-B126-1674-DA8311D3C62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35860"/>
            <a:stretch/>
          </p:blipFill>
          <p:spPr>
            <a:xfrm>
              <a:off x="5763589" y="866981"/>
              <a:ext cx="2399746" cy="3741420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F109B04-4735-E7FD-5B0C-5A10B230C533}"/>
                </a:ext>
              </a:extLst>
            </p:cNvPr>
            <p:cNvSpPr/>
            <p:nvPr/>
          </p:nvSpPr>
          <p:spPr>
            <a:xfrm>
              <a:off x="7749540" y="3276600"/>
              <a:ext cx="739140" cy="9999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</p:grpSp>
      <p:pic>
        <p:nvPicPr>
          <p:cNvPr id="10" name="Picture 2" descr="Free vector question marks background">
            <a:extLst>
              <a:ext uri="{FF2B5EF4-FFF2-40B4-BE49-F238E27FC236}">
                <a16:creationId xmlns:a16="http://schemas.microsoft.com/office/drawing/2014/main" id="{581E641B-B0AF-BEFB-66C3-62201536FC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719"/>
          <a:stretch/>
        </p:blipFill>
        <p:spPr bwMode="auto">
          <a:xfrm>
            <a:off x="0" y="614087"/>
            <a:ext cx="12169100" cy="5859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Google Shape;61;g5fab984687_2_0">
            <a:extLst>
              <a:ext uri="{FF2B5EF4-FFF2-40B4-BE49-F238E27FC236}">
                <a16:creationId xmlns:a16="http://schemas.microsoft.com/office/drawing/2014/main" id="{0D5D7E4D-3C3E-5B6C-3D56-30E42ADA7828}"/>
              </a:ext>
            </a:extLst>
          </p:cNvPr>
          <p:cNvSpPr txBox="1">
            <a:spLocks/>
          </p:cNvSpPr>
          <p:nvPr/>
        </p:nvSpPr>
        <p:spPr>
          <a:xfrm>
            <a:off x="282878" y="723165"/>
            <a:ext cx="3907423" cy="428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800"/>
            </a:pPr>
            <a:r>
              <a:rPr lang="en-US" sz="2200" b="1">
                <a:solidFill>
                  <a:srgbClr val="213163"/>
                </a:solidFill>
              </a:rPr>
              <a:t>Quiz</a:t>
            </a:r>
            <a:endParaRPr lang="en-US" sz="22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7DEA04-9A38-2BC5-6A24-6F2AA4D4C1F4}"/>
              </a:ext>
            </a:extLst>
          </p:cNvPr>
          <p:cNvSpPr txBox="1"/>
          <p:nvPr/>
        </p:nvSpPr>
        <p:spPr>
          <a:xfrm>
            <a:off x="282878" y="1380927"/>
            <a:ext cx="6448763" cy="2451953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/>
          <a:p>
            <a:pPr>
              <a:spcAft>
                <a:spcPts val="800"/>
              </a:spcAft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Data Cleaning</a:t>
            </a:r>
          </a:p>
          <a:p>
            <a:pPr marL="342900" indent="-342900">
              <a:spcAft>
                <a:spcPts val="800"/>
              </a:spcAft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Which of the following is not a recommended step when cleaning a retail dataset in Excel?</a:t>
            </a:r>
          </a:p>
          <a:p>
            <a:pPr lvl="1">
              <a:spcAft>
                <a:spcPts val="800"/>
              </a:spcAft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a) Removing duplicate records</a:t>
            </a:r>
          </a:p>
          <a:p>
            <a:pPr lvl="1">
              <a:spcAft>
                <a:spcPts val="800"/>
              </a:spcAft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b) Filling missing values</a:t>
            </a:r>
          </a:p>
          <a:p>
            <a:pPr lvl="1">
              <a:spcAft>
                <a:spcPts val="800"/>
              </a:spcAft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c) Randomly deleting rows</a:t>
            </a:r>
          </a:p>
          <a:p>
            <a:pPr lvl="1">
              <a:spcAft>
                <a:spcPts val="800"/>
              </a:spcAft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d) Ensuring numeric and date formats are consistent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2CE84A-5A23-6D96-A548-478BE37ED648}"/>
              </a:ext>
            </a:extLst>
          </p:cNvPr>
          <p:cNvSpPr txBox="1"/>
          <p:nvPr/>
        </p:nvSpPr>
        <p:spPr>
          <a:xfrm>
            <a:off x="894493" y="4801989"/>
            <a:ext cx="53391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Cleaning</a:t>
            </a:r>
            <a:b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Answer:</a:t>
            </a: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c) Randomly deleting rows</a:t>
            </a:r>
          </a:p>
        </p:txBody>
      </p:sp>
    </p:spTree>
    <p:extLst>
      <p:ext uri="{BB962C8B-B14F-4D97-AF65-F5344CB8AC3E}">
        <p14:creationId xmlns:p14="http://schemas.microsoft.com/office/powerpoint/2010/main" val="1476851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F42C5-EA5C-256E-9207-6A2DBC780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44C67F0-A7EC-345D-CB53-7A7602C78D90}"/>
              </a:ext>
            </a:extLst>
          </p:cNvPr>
          <p:cNvGrpSpPr/>
          <p:nvPr/>
        </p:nvGrpSpPr>
        <p:grpSpPr>
          <a:xfrm rot="20804835">
            <a:off x="8105974" y="1314838"/>
            <a:ext cx="3032304" cy="4163210"/>
            <a:chOff x="5763589" y="866981"/>
            <a:chExt cx="2725091" cy="3741420"/>
          </a:xfrm>
        </p:grpSpPr>
        <p:pic>
          <p:nvPicPr>
            <p:cNvPr id="8" name="Picture 7" descr="A group of question marks&#10;&#10;Description automatically generated">
              <a:extLst>
                <a:ext uri="{FF2B5EF4-FFF2-40B4-BE49-F238E27FC236}">
                  <a16:creationId xmlns:a16="http://schemas.microsoft.com/office/drawing/2014/main" id="{05E7B326-16D9-C1D2-2859-189AC8B83B8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35860"/>
            <a:stretch/>
          </p:blipFill>
          <p:spPr>
            <a:xfrm>
              <a:off x="5763589" y="866981"/>
              <a:ext cx="2399746" cy="3741420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13E445A-A42C-4347-FAEB-F7BC9E872B41}"/>
                </a:ext>
              </a:extLst>
            </p:cNvPr>
            <p:cNvSpPr/>
            <p:nvPr/>
          </p:nvSpPr>
          <p:spPr>
            <a:xfrm>
              <a:off x="7749540" y="3276600"/>
              <a:ext cx="739140" cy="9999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</p:grpSp>
      <p:pic>
        <p:nvPicPr>
          <p:cNvPr id="10" name="Picture 2" descr="Free vector question marks background">
            <a:extLst>
              <a:ext uri="{FF2B5EF4-FFF2-40B4-BE49-F238E27FC236}">
                <a16:creationId xmlns:a16="http://schemas.microsoft.com/office/drawing/2014/main" id="{46BC084A-9E44-531F-2AF8-9AA5BC416D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719"/>
          <a:stretch/>
        </p:blipFill>
        <p:spPr bwMode="auto">
          <a:xfrm>
            <a:off x="0" y="614087"/>
            <a:ext cx="12169100" cy="5859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Google Shape;61;g5fab984687_2_0">
            <a:extLst>
              <a:ext uri="{FF2B5EF4-FFF2-40B4-BE49-F238E27FC236}">
                <a16:creationId xmlns:a16="http://schemas.microsoft.com/office/drawing/2014/main" id="{91D9B4A0-C544-7D48-3ED7-F909D2AEBC6D}"/>
              </a:ext>
            </a:extLst>
          </p:cNvPr>
          <p:cNvSpPr txBox="1">
            <a:spLocks/>
          </p:cNvSpPr>
          <p:nvPr/>
        </p:nvSpPr>
        <p:spPr>
          <a:xfrm>
            <a:off x="282878" y="723165"/>
            <a:ext cx="3907423" cy="428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800"/>
            </a:pPr>
            <a:r>
              <a:rPr lang="en-US" sz="2200" b="1">
                <a:solidFill>
                  <a:srgbClr val="213163"/>
                </a:solidFill>
              </a:rPr>
              <a:t>Quiz</a:t>
            </a:r>
            <a:endParaRPr lang="en-US" sz="22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A3735F-7A23-CE4E-6000-7315C8478874}"/>
              </a:ext>
            </a:extLst>
          </p:cNvPr>
          <p:cNvSpPr txBox="1"/>
          <p:nvPr/>
        </p:nvSpPr>
        <p:spPr>
          <a:xfrm>
            <a:off x="282878" y="1380927"/>
            <a:ext cx="6448763" cy="2451953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/>
          <a:p>
            <a:pPr>
              <a:spcAft>
                <a:spcPts val="800"/>
              </a:spcAft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Data Visualization</a:t>
            </a:r>
          </a:p>
          <a:p>
            <a:pPr>
              <a:spcAft>
                <a:spcPts val="8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2.  Which type of chart is most suitable for showing weekly sales trends over time?</a:t>
            </a:r>
          </a:p>
          <a:p>
            <a:pPr lvl="1">
              <a:spcAft>
                <a:spcPts val="800"/>
              </a:spcAft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a) Pie Chart</a:t>
            </a:r>
          </a:p>
          <a:p>
            <a:pPr lvl="1">
              <a:spcAft>
                <a:spcPts val="800"/>
              </a:spcAft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b) Line Chart</a:t>
            </a:r>
          </a:p>
          <a:p>
            <a:pPr lvl="1">
              <a:spcAft>
                <a:spcPts val="800"/>
              </a:spcAft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c) Bar Chart</a:t>
            </a:r>
          </a:p>
          <a:p>
            <a:pPr lvl="1">
              <a:spcAft>
                <a:spcPts val="800"/>
              </a:spcAft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d) Scatter Plot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3C6520-3A0A-F7B0-724C-4780F421D522}"/>
              </a:ext>
            </a:extLst>
          </p:cNvPr>
          <p:cNvSpPr txBox="1"/>
          <p:nvPr/>
        </p:nvSpPr>
        <p:spPr>
          <a:xfrm>
            <a:off x="701557" y="450681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Visualization</a:t>
            </a:r>
            <a:b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Answer:</a:t>
            </a: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b) Line Chart</a:t>
            </a:r>
          </a:p>
        </p:txBody>
      </p:sp>
    </p:spTree>
    <p:extLst>
      <p:ext uri="{BB962C8B-B14F-4D97-AF65-F5344CB8AC3E}">
        <p14:creationId xmlns:p14="http://schemas.microsoft.com/office/powerpoint/2010/main" val="2119147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B07F7-4A5F-C4E4-3F58-C06182789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72CE826-A76F-DCE7-1B41-0DF064716848}"/>
              </a:ext>
            </a:extLst>
          </p:cNvPr>
          <p:cNvGrpSpPr/>
          <p:nvPr/>
        </p:nvGrpSpPr>
        <p:grpSpPr>
          <a:xfrm rot="20804835">
            <a:off x="8105974" y="1314838"/>
            <a:ext cx="3032304" cy="4163210"/>
            <a:chOff x="5763589" y="866981"/>
            <a:chExt cx="2725091" cy="3741420"/>
          </a:xfrm>
        </p:grpSpPr>
        <p:pic>
          <p:nvPicPr>
            <p:cNvPr id="8" name="Picture 7" descr="A group of question marks&#10;&#10;Description automatically generated">
              <a:extLst>
                <a:ext uri="{FF2B5EF4-FFF2-40B4-BE49-F238E27FC236}">
                  <a16:creationId xmlns:a16="http://schemas.microsoft.com/office/drawing/2014/main" id="{B5A270CD-DEC0-ADC0-AE17-52FB8BE1A55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35860"/>
            <a:stretch/>
          </p:blipFill>
          <p:spPr>
            <a:xfrm>
              <a:off x="5763589" y="866981"/>
              <a:ext cx="2399746" cy="3741420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B8A81E9-B3E1-B238-E43C-8ECD45B04F91}"/>
                </a:ext>
              </a:extLst>
            </p:cNvPr>
            <p:cNvSpPr/>
            <p:nvPr/>
          </p:nvSpPr>
          <p:spPr>
            <a:xfrm>
              <a:off x="7749540" y="3276600"/>
              <a:ext cx="739140" cy="9999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</p:grpSp>
      <p:pic>
        <p:nvPicPr>
          <p:cNvPr id="10" name="Picture 2" descr="Free vector question marks background">
            <a:extLst>
              <a:ext uri="{FF2B5EF4-FFF2-40B4-BE49-F238E27FC236}">
                <a16:creationId xmlns:a16="http://schemas.microsoft.com/office/drawing/2014/main" id="{37B01C2D-7618-B566-4574-8F7C1E9DA9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719"/>
          <a:stretch/>
        </p:blipFill>
        <p:spPr bwMode="auto">
          <a:xfrm>
            <a:off x="0" y="614087"/>
            <a:ext cx="12169100" cy="5859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Google Shape;61;g5fab984687_2_0">
            <a:extLst>
              <a:ext uri="{FF2B5EF4-FFF2-40B4-BE49-F238E27FC236}">
                <a16:creationId xmlns:a16="http://schemas.microsoft.com/office/drawing/2014/main" id="{B28AF771-4D9C-62BD-936D-28D815875555}"/>
              </a:ext>
            </a:extLst>
          </p:cNvPr>
          <p:cNvSpPr txBox="1">
            <a:spLocks/>
          </p:cNvSpPr>
          <p:nvPr/>
        </p:nvSpPr>
        <p:spPr>
          <a:xfrm>
            <a:off x="282878" y="723165"/>
            <a:ext cx="3907423" cy="428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800"/>
            </a:pPr>
            <a:r>
              <a:rPr lang="en-US" sz="2200" b="1">
                <a:solidFill>
                  <a:srgbClr val="213163"/>
                </a:solidFill>
              </a:rPr>
              <a:t>Quiz</a:t>
            </a:r>
            <a:endParaRPr lang="en-US" sz="22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AFA5A6C-F309-7E58-931E-89D909A2AEB7}"/>
              </a:ext>
            </a:extLst>
          </p:cNvPr>
          <p:cNvSpPr txBox="1"/>
          <p:nvPr/>
        </p:nvSpPr>
        <p:spPr>
          <a:xfrm>
            <a:off x="282878" y="1380927"/>
            <a:ext cx="6448763" cy="3077766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/>
          <a:p>
            <a:pPr>
              <a:spcAft>
                <a:spcPts val="800"/>
              </a:spcAft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Demand Forecasting</a:t>
            </a:r>
          </a:p>
          <a:p>
            <a:pPr>
              <a:spcAft>
                <a:spcPts val="8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3. In a simple linear regression model for predicting weekly sales, which column would typically be used as the independent variable (X)?</a:t>
            </a:r>
          </a:p>
          <a:p>
            <a:pPr lvl="1">
              <a:spcAft>
                <a:spcPts val="800"/>
              </a:spcAft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a)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Weekly_Sales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spcAft>
                <a:spcPts val="800"/>
              </a:spcAft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b) Date or Week Number</a:t>
            </a:r>
          </a:p>
          <a:p>
            <a:pPr lvl="1">
              <a:spcAft>
                <a:spcPts val="800"/>
              </a:spcAft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c) Store Name</a:t>
            </a:r>
          </a:p>
          <a:p>
            <a:pPr lvl="1">
              <a:spcAft>
                <a:spcPts val="800"/>
              </a:spcAft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d)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IsHoliday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800"/>
              </a:spcAft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D208D3-8F82-5877-AAC8-AB1760EFB10C}"/>
              </a:ext>
            </a:extLst>
          </p:cNvPr>
          <p:cNvSpPr txBox="1"/>
          <p:nvPr/>
        </p:nvSpPr>
        <p:spPr>
          <a:xfrm>
            <a:off x="626771" y="481972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Demand Forecasting</a:t>
            </a:r>
            <a:b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Answer:</a:t>
            </a: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b) Date or Week Number</a:t>
            </a:r>
          </a:p>
        </p:txBody>
      </p:sp>
    </p:spTree>
    <p:extLst>
      <p:ext uri="{BB962C8B-B14F-4D97-AF65-F5344CB8AC3E}">
        <p14:creationId xmlns:p14="http://schemas.microsoft.com/office/powerpoint/2010/main" val="2481633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5FB97-C7A4-0D91-6967-A7D03BF56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179A9E1-94EC-FB3F-DEB6-5D961A99E696}"/>
              </a:ext>
            </a:extLst>
          </p:cNvPr>
          <p:cNvGrpSpPr/>
          <p:nvPr/>
        </p:nvGrpSpPr>
        <p:grpSpPr>
          <a:xfrm rot="20804835">
            <a:off x="8105974" y="1314838"/>
            <a:ext cx="3032304" cy="4163210"/>
            <a:chOff x="5763589" y="866981"/>
            <a:chExt cx="2725091" cy="3741420"/>
          </a:xfrm>
        </p:grpSpPr>
        <p:pic>
          <p:nvPicPr>
            <p:cNvPr id="8" name="Picture 7" descr="A group of question marks&#10;&#10;Description automatically generated">
              <a:extLst>
                <a:ext uri="{FF2B5EF4-FFF2-40B4-BE49-F238E27FC236}">
                  <a16:creationId xmlns:a16="http://schemas.microsoft.com/office/drawing/2014/main" id="{79BFDFFA-223D-ADB3-0992-176E320E742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35860"/>
            <a:stretch/>
          </p:blipFill>
          <p:spPr>
            <a:xfrm>
              <a:off x="5763589" y="866981"/>
              <a:ext cx="2399746" cy="3741420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EF6414F-CD72-FCB8-C998-BE8CFEE48BFB}"/>
                </a:ext>
              </a:extLst>
            </p:cNvPr>
            <p:cNvSpPr/>
            <p:nvPr/>
          </p:nvSpPr>
          <p:spPr>
            <a:xfrm>
              <a:off x="7749540" y="3276600"/>
              <a:ext cx="739140" cy="9999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</p:grpSp>
      <p:pic>
        <p:nvPicPr>
          <p:cNvPr id="10" name="Picture 2" descr="Free vector question marks background">
            <a:extLst>
              <a:ext uri="{FF2B5EF4-FFF2-40B4-BE49-F238E27FC236}">
                <a16:creationId xmlns:a16="http://schemas.microsoft.com/office/drawing/2014/main" id="{B88F23D0-1684-9FCE-ABC3-ECF7639106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719"/>
          <a:stretch/>
        </p:blipFill>
        <p:spPr bwMode="auto">
          <a:xfrm>
            <a:off x="0" y="614087"/>
            <a:ext cx="12169100" cy="5859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Google Shape;61;g5fab984687_2_0">
            <a:extLst>
              <a:ext uri="{FF2B5EF4-FFF2-40B4-BE49-F238E27FC236}">
                <a16:creationId xmlns:a16="http://schemas.microsoft.com/office/drawing/2014/main" id="{5E2D1E5B-3526-B181-B4C7-E3B42C349879}"/>
              </a:ext>
            </a:extLst>
          </p:cNvPr>
          <p:cNvSpPr txBox="1">
            <a:spLocks/>
          </p:cNvSpPr>
          <p:nvPr/>
        </p:nvSpPr>
        <p:spPr>
          <a:xfrm>
            <a:off x="282878" y="723165"/>
            <a:ext cx="3907423" cy="428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800"/>
            </a:pPr>
            <a:r>
              <a:rPr lang="en-US" sz="2200" b="1">
                <a:solidFill>
                  <a:srgbClr val="213163"/>
                </a:solidFill>
              </a:rPr>
              <a:t>Quiz</a:t>
            </a:r>
            <a:endParaRPr lang="en-US" sz="22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584BC30-1502-741D-D15D-C474C13E675A}"/>
              </a:ext>
            </a:extLst>
          </p:cNvPr>
          <p:cNvSpPr txBox="1"/>
          <p:nvPr/>
        </p:nvSpPr>
        <p:spPr>
          <a:xfrm>
            <a:off x="282878" y="1380927"/>
            <a:ext cx="6448763" cy="2421176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/>
          <a:p>
            <a:pPr>
              <a:spcAft>
                <a:spcPts val="800"/>
              </a:spcAft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GitHub Copilot</a:t>
            </a:r>
          </a:p>
          <a:p>
            <a:pPr>
              <a:spcAft>
                <a:spcPts val="8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4. What is the main purpose of using GitHub Copilot in the lab?</a:t>
            </a:r>
          </a:p>
          <a:p>
            <a:pPr lvl="1">
              <a:spcAft>
                <a:spcPts val="800"/>
              </a:spcAft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a) To manually enter sales data</a:t>
            </a:r>
          </a:p>
          <a:p>
            <a:pPr lvl="1">
              <a:spcAft>
                <a:spcPts val="800"/>
              </a:spcAft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b) To automatically generate Python code for forecasting</a:t>
            </a:r>
          </a:p>
          <a:p>
            <a:pPr lvl="1">
              <a:spcAft>
                <a:spcPts val="800"/>
              </a:spcAft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c) To clean data in Excel</a:t>
            </a:r>
          </a:p>
          <a:p>
            <a:pPr lvl="1">
              <a:spcAft>
                <a:spcPts val="800"/>
              </a:spcAft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d) To deploy data on Azure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54F40A-41D1-8BC0-EFE0-960AFB9D0C00}"/>
              </a:ext>
            </a:extLst>
          </p:cNvPr>
          <p:cNvSpPr txBox="1"/>
          <p:nvPr/>
        </p:nvSpPr>
        <p:spPr>
          <a:xfrm>
            <a:off x="626771" y="4442460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GitHub Copilot</a:t>
            </a:r>
            <a:b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Answer:</a:t>
            </a: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b) To automatically generate Python code for forecasting</a:t>
            </a:r>
          </a:p>
        </p:txBody>
      </p:sp>
    </p:spTree>
    <p:extLst>
      <p:ext uri="{BB962C8B-B14F-4D97-AF65-F5344CB8AC3E}">
        <p14:creationId xmlns:p14="http://schemas.microsoft.com/office/powerpoint/2010/main" val="1481739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D402A-1FB2-552B-1D07-55741670E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4FC5F04-FF1C-5E17-A3C9-4AB8DA97D1C7}"/>
              </a:ext>
            </a:extLst>
          </p:cNvPr>
          <p:cNvGrpSpPr/>
          <p:nvPr/>
        </p:nvGrpSpPr>
        <p:grpSpPr>
          <a:xfrm rot="20804835">
            <a:off x="8105974" y="1314838"/>
            <a:ext cx="3032304" cy="4163210"/>
            <a:chOff x="5763589" y="866981"/>
            <a:chExt cx="2725091" cy="3741420"/>
          </a:xfrm>
        </p:grpSpPr>
        <p:pic>
          <p:nvPicPr>
            <p:cNvPr id="8" name="Picture 7" descr="A group of question marks&#10;&#10;Description automatically generated">
              <a:extLst>
                <a:ext uri="{FF2B5EF4-FFF2-40B4-BE49-F238E27FC236}">
                  <a16:creationId xmlns:a16="http://schemas.microsoft.com/office/drawing/2014/main" id="{26B49465-10E6-A59E-749F-BA7E18BD5C3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35860"/>
            <a:stretch/>
          </p:blipFill>
          <p:spPr>
            <a:xfrm>
              <a:off x="5763589" y="866981"/>
              <a:ext cx="2399746" cy="3741420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19DBD34-DC65-5022-B3FF-F22C03D078A8}"/>
                </a:ext>
              </a:extLst>
            </p:cNvPr>
            <p:cNvSpPr/>
            <p:nvPr/>
          </p:nvSpPr>
          <p:spPr>
            <a:xfrm>
              <a:off x="7749540" y="3276600"/>
              <a:ext cx="739140" cy="9999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</p:grpSp>
      <p:pic>
        <p:nvPicPr>
          <p:cNvPr id="10" name="Picture 2" descr="Free vector question marks background">
            <a:extLst>
              <a:ext uri="{FF2B5EF4-FFF2-40B4-BE49-F238E27FC236}">
                <a16:creationId xmlns:a16="http://schemas.microsoft.com/office/drawing/2014/main" id="{658AC47C-8505-B15E-B78F-0D23EB6895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719"/>
          <a:stretch/>
        </p:blipFill>
        <p:spPr bwMode="auto">
          <a:xfrm>
            <a:off x="0" y="614087"/>
            <a:ext cx="12169100" cy="5859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Google Shape;61;g5fab984687_2_0">
            <a:extLst>
              <a:ext uri="{FF2B5EF4-FFF2-40B4-BE49-F238E27FC236}">
                <a16:creationId xmlns:a16="http://schemas.microsoft.com/office/drawing/2014/main" id="{6AB7119C-7F2F-360D-0831-E88A0FC228C1}"/>
              </a:ext>
            </a:extLst>
          </p:cNvPr>
          <p:cNvSpPr txBox="1">
            <a:spLocks/>
          </p:cNvSpPr>
          <p:nvPr/>
        </p:nvSpPr>
        <p:spPr>
          <a:xfrm>
            <a:off x="282878" y="723165"/>
            <a:ext cx="3907423" cy="428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800"/>
            </a:pPr>
            <a:r>
              <a:rPr lang="en-US" sz="2200" b="1">
                <a:solidFill>
                  <a:srgbClr val="213163"/>
                </a:solidFill>
              </a:rPr>
              <a:t>Quiz</a:t>
            </a:r>
            <a:endParaRPr lang="en-US" sz="22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35C4CCC-D80E-2BBC-B67E-A135FDD6165B}"/>
              </a:ext>
            </a:extLst>
          </p:cNvPr>
          <p:cNvSpPr txBox="1"/>
          <p:nvPr/>
        </p:nvSpPr>
        <p:spPr>
          <a:xfrm>
            <a:off x="282878" y="1380927"/>
            <a:ext cx="6448763" cy="2800767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/>
          <a:p>
            <a:pPr>
              <a:spcAft>
                <a:spcPts val="800"/>
              </a:spcAft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Azure Cloud</a:t>
            </a:r>
          </a:p>
          <a:p>
            <a:pPr>
              <a:spcAft>
                <a:spcPts val="8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5. Which Azure service is most appropriate for storing large datasets for analytics?</a:t>
            </a:r>
          </a:p>
          <a:p>
            <a:pPr lvl="1">
              <a:spcAft>
                <a:spcPts val="800"/>
              </a:spcAft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a) Azure Functions</a:t>
            </a:r>
          </a:p>
          <a:p>
            <a:pPr lvl="1">
              <a:spcAft>
                <a:spcPts val="800"/>
              </a:spcAft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b) Azure Blob Storage</a:t>
            </a:r>
          </a:p>
          <a:p>
            <a:pPr lvl="1">
              <a:spcAft>
                <a:spcPts val="800"/>
              </a:spcAft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c) Azure Virtual Machines</a:t>
            </a:r>
          </a:p>
          <a:p>
            <a:pPr lvl="1">
              <a:spcAft>
                <a:spcPts val="800"/>
              </a:spcAft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d) Azure Logic Apps</a:t>
            </a:r>
          </a:p>
          <a:p>
            <a:pPr>
              <a:spcAft>
                <a:spcPts val="800"/>
              </a:spcAft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BEBAFB-F560-245A-C3C7-C5908D88995D}"/>
              </a:ext>
            </a:extLst>
          </p:cNvPr>
          <p:cNvSpPr txBox="1"/>
          <p:nvPr/>
        </p:nvSpPr>
        <p:spPr>
          <a:xfrm>
            <a:off x="459259" y="494853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Azure Cloud</a:t>
            </a:r>
            <a:b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Answer:</a:t>
            </a: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b) Azure Blob Storage</a:t>
            </a:r>
          </a:p>
        </p:txBody>
      </p:sp>
    </p:spTree>
    <p:extLst>
      <p:ext uri="{BB962C8B-B14F-4D97-AF65-F5344CB8AC3E}">
        <p14:creationId xmlns:p14="http://schemas.microsoft.com/office/powerpoint/2010/main" val="3132698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9AB9C-EC96-70A0-0126-4335EFCBD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70ADD40-4A4D-0C41-93CF-A6469F5D324F}"/>
              </a:ext>
            </a:extLst>
          </p:cNvPr>
          <p:cNvGrpSpPr/>
          <p:nvPr/>
        </p:nvGrpSpPr>
        <p:grpSpPr>
          <a:xfrm rot="20804835">
            <a:off x="8105974" y="1314838"/>
            <a:ext cx="3032304" cy="4163210"/>
            <a:chOff x="5763589" y="866981"/>
            <a:chExt cx="2725091" cy="3741420"/>
          </a:xfrm>
        </p:grpSpPr>
        <p:pic>
          <p:nvPicPr>
            <p:cNvPr id="8" name="Picture 7" descr="A group of question marks&#10;&#10;Description automatically generated">
              <a:extLst>
                <a:ext uri="{FF2B5EF4-FFF2-40B4-BE49-F238E27FC236}">
                  <a16:creationId xmlns:a16="http://schemas.microsoft.com/office/drawing/2014/main" id="{BF9F39FA-F0F4-55BC-7DA2-059FD25D406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35860"/>
            <a:stretch/>
          </p:blipFill>
          <p:spPr>
            <a:xfrm>
              <a:off x="5763589" y="866981"/>
              <a:ext cx="2399746" cy="3741420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DC76F25-12E5-105B-0AE9-1F132A70E160}"/>
                </a:ext>
              </a:extLst>
            </p:cNvPr>
            <p:cNvSpPr/>
            <p:nvPr/>
          </p:nvSpPr>
          <p:spPr>
            <a:xfrm>
              <a:off x="7749540" y="3276600"/>
              <a:ext cx="739140" cy="9999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</p:grpSp>
      <p:pic>
        <p:nvPicPr>
          <p:cNvPr id="10" name="Picture 2" descr="Free vector question marks background">
            <a:extLst>
              <a:ext uri="{FF2B5EF4-FFF2-40B4-BE49-F238E27FC236}">
                <a16:creationId xmlns:a16="http://schemas.microsoft.com/office/drawing/2014/main" id="{D7A45B5A-BF59-B7BE-47E0-A3C5A14266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719"/>
          <a:stretch/>
        </p:blipFill>
        <p:spPr bwMode="auto">
          <a:xfrm>
            <a:off x="0" y="614087"/>
            <a:ext cx="12169100" cy="5859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Google Shape;61;g5fab984687_2_0">
            <a:extLst>
              <a:ext uri="{FF2B5EF4-FFF2-40B4-BE49-F238E27FC236}">
                <a16:creationId xmlns:a16="http://schemas.microsoft.com/office/drawing/2014/main" id="{98559BE7-F407-F392-F8A2-7A31121D80B0}"/>
              </a:ext>
            </a:extLst>
          </p:cNvPr>
          <p:cNvSpPr txBox="1">
            <a:spLocks/>
          </p:cNvSpPr>
          <p:nvPr/>
        </p:nvSpPr>
        <p:spPr>
          <a:xfrm>
            <a:off x="282878" y="723165"/>
            <a:ext cx="3907423" cy="428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800"/>
            </a:pPr>
            <a:r>
              <a:rPr lang="en-US" sz="2200" b="1">
                <a:solidFill>
                  <a:srgbClr val="213163"/>
                </a:solidFill>
              </a:rPr>
              <a:t>Quiz</a:t>
            </a:r>
            <a:endParaRPr lang="en-US" sz="22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2898F9-6A8E-E1F0-B15B-2851E6AD2EA7}"/>
              </a:ext>
            </a:extLst>
          </p:cNvPr>
          <p:cNvSpPr txBox="1"/>
          <p:nvPr/>
        </p:nvSpPr>
        <p:spPr>
          <a:xfrm>
            <a:off x="282878" y="1380927"/>
            <a:ext cx="6448763" cy="2451953"/>
          </a:xfrm>
          <a:prstGeom prst="rect">
            <a:avLst/>
          </a:prstGeom>
          <a:noFill/>
        </p:spPr>
        <p:txBody>
          <a:bodyPr wrap="square" lIns="121920" tIns="60960" rIns="121920" bIns="60960" rtlCol="0" anchor="t">
            <a:spAutoFit/>
          </a:bodyPr>
          <a:lstStyle/>
          <a:p>
            <a:pPr>
              <a:spcAft>
                <a:spcPts val="800"/>
              </a:spcAft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Retail Analytics Insight</a:t>
            </a:r>
          </a:p>
          <a:p>
            <a:pPr>
              <a:spcAft>
                <a:spcPts val="8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6.Why is it important to analyze holiday vs non-holiday sales patterns in a retail dataset?</a:t>
            </a:r>
          </a:p>
          <a:p>
            <a:pPr lvl="1">
              <a:spcAft>
                <a:spcPts val="800"/>
              </a:spcAft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a) To determine which products are unhealthy</a:t>
            </a:r>
          </a:p>
          <a:p>
            <a:pPr lvl="1">
              <a:spcAft>
                <a:spcPts val="800"/>
              </a:spcAft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b) To identify trends and adjust inventory during peak periods</a:t>
            </a:r>
          </a:p>
          <a:p>
            <a:pPr lvl="1">
              <a:spcAft>
                <a:spcPts val="800"/>
              </a:spcAft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c) To randomly promote products</a:t>
            </a:r>
          </a:p>
          <a:p>
            <a:pPr lvl="1">
              <a:spcAft>
                <a:spcPts val="800"/>
              </a:spcAft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d) To remove duplicate records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E6555F-200A-4170-4916-8EFAA0BAA5E0}"/>
              </a:ext>
            </a:extLst>
          </p:cNvPr>
          <p:cNvSpPr txBox="1"/>
          <p:nvPr/>
        </p:nvSpPr>
        <p:spPr>
          <a:xfrm>
            <a:off x="564322" y="5015408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Retail Analytics Insight</a:t>
            </a:r>
          </a:p>
          <a:p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Answer:</a:t>
            </a:r>
            <a:r>
              <a:rPr lang="en-US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b) To identify trends and adjust inventory during peak periods</a:t>
            </a:r>
            <a:endParaRPr lang="en-IN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4510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0E178734-7E1D-0740-E039-E64D8B06102C}"/>
              </a:ext>
            </a:extLst>
          </p:cNvPr>
          <p:cNvSpPr txBox="1">
            <a:spLocks/>
          </p:cNvSpPr>
          <p:nvPr/>
        </p:nvSpPr>
        <p:spPr>
          <a:xfrm>
            <a:off x="4230058" y="2971800"/>
            <a:ext cx="3770942" cy="990600"/>
          </a:xfrm>
          <a:prstGeom prst="rect">
            <a:avLst/>
          </a:prstGeom>
        </p:spPr>
        <p:txBody>
          <a:bodyPr/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0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86673999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4256</Words>
  <Application>Microsoft Office PowerPoint</Application>
  <PresentationFormat>Widescreen</PresentationFormat>
  <Paragraphs>523</Paragraphs>
  <Slides>30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Aptos</vt:lpstr>
      <vt:lpstr>Arial</vt:lpstr>
      <vt:lpstr>Calibri</vt:lpstr>
      <vt:lpstr>Symbol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Vikrant Nath Nagar</dc:creator>
  <cp:lastModifiedBy>Garima Mahendru</cp:lastModifiedBy>
  <cp:revision>12</cp:revision>
  <dcterms:created xsi:type="dcterms:W3CDTF">2024-05-21T11:55:07Z</dcterms:created>
  <dcterms:modified xsi:type="dcterms:W3CDTF">2026-03-06T07:07:33Z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9C66A616-42E4-4EAC-B385-AC0C45CFC5CC</vt:lpwstr>
  </property>
  <property fmtid="{D5CDD505-2E9C-101B-9397-08002B2CF9AE}" pid="3" name="ArticulatePath">
    <vt:lpwstr>https://edunetfoundationorg-my.sharepoint.com/personal/kaisar_edunetfoundation_org/Documents/Beutified ppt/MSITI/Micro Degree/Template/microdigree-Template</vt:lpwstr>
  </property>
</Properties>
</file>