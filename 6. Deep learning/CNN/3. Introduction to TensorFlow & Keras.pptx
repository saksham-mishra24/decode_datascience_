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38"/>
  </p:notesMasterIdLst>
  <p:sldIdLst>
    <p:sldId id="256" r:id="rId3"/>
    <p:sldId id="257" r:id="rId4"/>
    <p:sldId id="258" r:id="rId5"/>
    <p:sldId id="265" r:id="rId6"/>
    <p:sldId id="259" r:id="rId7"/>
    <p:sldId id="260" r:id="rId8"/>
    <p:sldId id="560" r:id="rId9"/>
    <p:sldId id="275" r:id="rId10"/>
    <p:sldId id="276" r:id="rId11"/>
    <p:sldId id="558" r:id="rId12"/>
    <p:sldId id="559" r:id="rId13"/>
    <p:sldId id="279" r:id="rId14"/>
    <p:sldId id="282" r:id="rId15"/>
    <p:sldId id="544" r:id="rId16"/>
    <p:sldId id="545" r:id="rId17"/>
    <p:sldId id="546" r:id="rId18"/>
    <p:sldId id="547" r:id="rId19"/>
    <p:sldId id="548" r:id="rId20"/>
    <p:sldId id="549" r:id="rId21"/>
    <p:sldId id="550" r:id="rId22"/>
    <p:sldId id="551" r:id="rId23"/>
    <p:sldId id="552" r:id="rId24"/>
    <p:sldId id="553" r:id="rId25"/>
    <p:sldId id="554" r:id="rId26"/>
    <p:sldId id="555" r:id="rId27"/>
    <p:sldId id="556" r:id="rId28"/>
    <p:sldId id="557" r:id="rId29"/>
    <p:sldId id="535" r:id="rId30"/>
    <p:sldId id="261" r:id="rId31"/>
    <p:sldId id="262" r:id="rId32"/>
    <p:sldId id="263" r:id="rId33"/>
    <p:sldId id="264" r:id="rId34"/>
    <p:sldId id="536" r:id="rId35"/>
    <p:sldId id="537" r:id="rId36"/>
    <p:sldId id="267" r:id="rId37"/>
  </p:sldIdLst>
  <p:sldSz cx="12192000"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CDE0FF"/>
    <a:srgbClr val="F3F8FF"/>
    <a:srgbClr val="E7F0FF"/>
    <a:srgbClr val="484F9E"/>
    <a:srgbClr val="F9B334"/>
    <a:srgbClr val="BEBFD3"/>
    <a:srgbClr val="ACCBFF"/>
    <a:srgbClr val="839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686051-0096-4E06-0C89-915973DF0CB4}" v="1" dt="2025-12-04T06:02:07.6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816" autoAdjust="0"/>
  </p:normalViewPr>
  <p:slideViewPr>
    <p:cSldViewPr snapToGrid="0" showGuides="1">
      <p:cViewPr varScale="1">
        <p:scale>
          <a:sx n="75" d="100"/>
          <a:sy n="75" d="100"/>
        </p:scale>
        <p:origin x="1042" y="6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gs" Target="tags/tag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pita Roy" userId="S::arpita@edunetfoundation.org::1a89f5ea-4173-41b8-bbd3-e7bd3860e0db" providerId="AD" clId="Web-{46686051-0096-4E06-0C89-915973DF0CB4}"/>
    <pc:docChg chg="addSld">
      <pc:chgData name="Arpita Roy" userId="S::arpita@edunetfoundation.org::1a89f5ea-4173-41b8-bbd3-e7bd3860e0db" providerId="AD" clId="Web-{46686051-0096-4E06-0C89-915973DF0CB4}" dt="2025-12-04T06:02:07.670" v="0"/>
      <pc:docMkLst>
        <pc:docMk/>
      </pc:docMkLst>
      <pc:sldChg chg="add">
        <pc:chgData name="Arpita Roy" userId="S::arpita@edunetfoundation.org::1a89f5ea-4173-41b8-bbd3-e7bd3860e0db" providerId="AD" clId="Web-{46686051-0096-4E06-0C89-915973DF0CB4}" dt="2025-12-04T06:02:07.670" v="0"/>
        <pc:sldMkLst>
          <pc:docMk/>
          <pc:sldMk cId="4219024016"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D2A6AE-FFF4-47F3-AE92-1E0198308707}" type="datetimeFigureOut">
              <a:rPr lang="en-IN" smtClean="0"/>
              <a:t>03-12-2025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BF86C-B987-4B3F-B98B-85B113781943}" type="slidenum">
              <a:rPr lang="en-IN" smtClean="0"/>
              <a:t>‹#›</a:t>
            </a:fld>
            <a:endParaRPr lang="en-IN"/>
          </a:p>
        </p:txBody>
      </p:sp>
    </p:spTree>
    <p:extLst>
      <p:ext uri="{BB962C8B-B14F-4D97-AF65-F5344CB8AC3E}">
        <p14:creationId xmlns:p14="http://schemas.microsoft.com/office/powerpoint/2010/main" val="1524527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chapter details we are going to discuss in this module</a:t>
            </a:r>
          </a:p>
          <a:p>
            <a:pPr>
              <a:buNone/>
            </a:pPr>
            <a:r>
              <a:rPr lang="en-US" b="1" dirty="0"/>
              <a:t>Chapter 1: Introduction to Deep Learning</a:t>
            </a:r>
            <a:r>
              <a:rPr lang="en-US" dirty="0"/>
              <a:t> – Deep Learning is a subset of machine learning that uses neural networks to automatically learn patterns from large amounts of data.</a:t>
            </a:r>
          </a:p>
          <a:p>
            <a:pPr>
              <a:buNone/>
            </a:pPr>
            <a:r>
              <a:rPr lang="en-US" b="1" dirty="0"/>
              <a:t>Chapter 2: Fundamentals of Neural Networks</a:t>
            </a:r>
            <a:r>
              <a:rPr lang="en-US" dirty="0"/>
              <a:t> – Neural networks are computational models inspired by the human brain, consisting of layers of interconnected nodes that process and learn from data.</a:t>
            </a:r>
          </a:p>
          <a:p>
            <a:pPr>
              <a:buNone/>
            </a:pPr>
            <a:r>
              <a:rPr lang="en-US" b="1" dirty="0"/>
              <a:t>Chapter 3: Introduction to TensorFlow &amp; </a:t>
            </a:r>
            <a:r>
              <a:rPr lang="en-US" b="1" dirty="0" err="1"/>
              <a:t>Keras</a:t>
            </a:r>
            <a:r>
              <a:rPr lang="en-US" dirty="0"/>
              <a:t> – TensorFlow and </a:t>
            </a:r>
            <a:r>
              <a:rPr lang="en-US" dirty="0" err="1"/>
              <a:t>Keras</a:t>
            </a:r>
            <a:r>
              <a:rPr lang="en-US" dirty="0"/>
              <a:t> are popular deep learning frameworks that provide tools for building, training, and deploying neural networks efficiently.</a:t>
            </a:r>
          </a:p>
          <a:p>
            <a:pPr>
              <a:buNone/>
            </a:pPr>
            <a:r>
              <a:rPr lang="en-US" b="1" dirty="0"/>
              <a:t>Chapter 4: Deep Learning Architectures &amp; Training of Neural Networks</a:t>
            </a:r>
            <a:r>
              <a:rPr lang="en-US" dirty="0"/>
              <a:t> – Deep learning architectures include different types of neural networks, trained using optimization algorithms like gradient descent to minimize errors.</a:t>
            </a:r>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3</a:t>
            </a:fld>
            <a:endParaRPr lang="en-IN"/>
          </a:p>
        </p:txBody>
      </p:sp>
    </p:spTree>
    <p:extLst>
      <p:ext uri="{BB962C8B-B14F-4D97-AF65-F5344CB8AC3E}">
        <p14:creationId xmlns:p14="http://schemas.microsoft.com/office/powerpoint/2010/main" val="627684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9CB0-1401-EA28-E41F-9B6AF57B0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01239-030F-7604-3077-980FF120E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FEA33-7C22-2DBE-AABF-DC93303334C5}"/>
              </a:ext>
            </a:extLst>
          </p:cNvPr>
          <p:cNvSpPr>
            <a:spLocks noGrp="1"/>
          </p:cNvSpPr>
          <p:nvPr>
            <p:ph type="body" idx="1"/>
          </p:nvPr>
        </p:nvSpPr>
        <p:spPr/>
        <p:txBody>
          <a:bodyPr/>
          <a:lstStyle/>
          <a:p>
            <a:pPr>
              <a:buNone/>
            </a:pPr>
            <a:r>
              <a:rPr lang="en-US" dirty="0"/>
              <a:t>This is the continuation of chapter details</a:t>
            </a:r>
            <a:br>
              <a:rPr lang="en-US" dirty="0"/>
            </a:br>
            <a:r>
              <a:rPr lang="en-US" b="1" dirty="0"/>
              <a:t>Chapter 5: Convolutional Neural Networks (CNNs)</a:t>
            </a:r>
            <a:r>
              <a:rPr lang="en-US" dirty="0"/>
              <a:t> – CNNs are specialized neural networks designed for image and video processing by extracting spatial features through convolutional layers.</a:t>
            </a:r>
          </a:p>
          <a:p>
            <a:pPr>
              <a:buNone/>
            </a:pPr>
            <a:r>
              <a:rPr lang="en-US" b="1" dirty="0"/>
              <a:t>Chapter 6: Recurrent Neural Networks (RNNs) &amp; LSTMs</a:t>
            </a:r>
            <a:r>
              <a:rPr lang="en-US" dirty="0"/>
              <a:t> – RNNs and their advanced variant LSTMs are neural networks that process sequential data by maintaining memory of past inputs, making them ideal for tasks like speech and text processing.</a:t>
            </a:r>
          </a:p>
          <a:p>
            <a:pPr>
              <a:buNone/>
            </a:pPr>
            <a:r>
              <a:rPr lang="en-US" b="1" dirty="0"/>
              <a:t>Chapter 7: Components of Machine Learning with Pre-Trained Models</a:t>
            </a:r>
            <a:r>
              <a:rPr lang="en-US" dirty="0"/>
              <a:t> – Feature engineering, model evaluation, and pre-trained models enhance AI performance and efficiency.</a:t>
            </a:r>
          </a:p>
          <a:p>
            <a:endParaRPr lang="en-IN" dirty="0"/>
          </a:p>
        </p:txBody>
      </p:sp>
      <p:sp>
        <p:nvSpPr>
          <p:cNvPr id="4" name="Slide Number Placeholder 3">
            <a:extLst>
              <a:ext uri="{FF2B5EF4-FFF2-40B4-BE49-F238E27FC236}">
                <a16:creationId xmlns:a16="http://schemas.microsoft.com/office/drawing/2014/main" id="{616D66B9-1DF4-971F-2083-05ED4AEA359E}"/>
              </a:ext>
            </a:extLst>
          </p:cNvPr>
          <p:cNvSpPr>
            <a:spLocks noGrp="1"/>
          </p:cNvSpPr>
          <p:nvPr>
            <p:ph type="sldNum" sz="quarter" idx="5"/>
          </p:nvPr>
        </p:nvSpPr>
        <p:spPr/>
        <p:txBody>
          <a:bodyPr/>
          <a:lstStyle/>
          <a:p>
            <a:fld id="{230BF86C-B987-4B3F-B98B-85B113781943}" type="slidenum">
              <a:rPr lang="en-IN" smtClean="0"/>
              <a:t>4</a:t>
            </a:fld>
            <a:endParaRPr lang="en-IN"/>
          </a:p>
        </p:txBody>
      </p:sp>
    </p:spTree>
    <p:extLst>
      <p:ext uri="{BB962C8B-B14F-4D97-AF65-F5344CB8AC3E}">
        <p14:creationId xmlns:p14="http://schemas.microsoft.com/office/powerpoint/2010/main" val="2886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session, we already discussed first chapter, introduction to Deep Learning. Now we moving to the second chapter </a:t>
            </a:r>
            <a:r>
              <a:rPr lang="en-IN" b="0" i="0" dirty="0">
                <a:solidFill>
                  <a:srgbClr val="242424"/>
                </a:solidFill>
                <a:effectLst/>
                <a:latin typeface="Aptos Narrow" panose="020B0004020202020204" pitchFamily="34" charset="0"/>
              </a:rPr>
              <a:t>Fundamentals of Neural Networks.</a:t>
            </a:r>
          </a:p>
          <a:p>
            <a:endParaRPr lang="en-IN" b="0" i="0" dirty="0">
              <a:solidFill>
                <a:srgbClr val="242424"/>
              </a:solidFill>
              <a:effectLst/>
              <a:latin typeface="Aptos Narrow" panose="020B0004020202020204" pitchFamily="34" charset="0"/>
            </a:endParaRPr>
          </a:p>
          <a:p>
            <a:r>
              <a:rPr lang="en-US" dirty="0"/>
              <a:t>Neural Networks are the foundation of Deep Learning, inspired by the human brain's ability to recognize patterns and make decisions. They consist of interconnected layers of artificial neurons that process information step by step. The fundamental idea is that these networks learn from data by adjusting the connections between neurons, allowing them to identify patterns, classify data, and make predictions. Neural Networks are widely used in applications like image recognition, speech processing, and natural language understanding. Understanding their structure, working principles, and training process is key to leveraging their power in AI-driven solutions.</a:t>
            </a:r>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5</a:t>
            </a:fld>
            <a:endParaRPr lang="en-IN"/>
          </a:p>
        </p:txBody>
      </p:sp>
    </p:spTree>
    <p:extLst>
      <p:ext uri="{BB962C8B-B14F-4D97-AF65-F5344CB8AC3E}">
        <p14:creationId xmlns:p14="http://schemas.microsoft.com/office/powerpoint/2010/main" val="3850795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3736" indent="-173736">
              <a:spcBef>
                <a:spcPts val="0"/>
              </a:spcBef>
              <a:spcAft>
                <a:spcPts val="800"/>
              </a:spcAft>
            </a:pPr>
            <a:r>
              <a:rPr lang="en-US" dirty="0"/>
              <a:t>The trainer will discuss the topics we are covering in this unit</a:t>
            </a:r>
          </a:p>
          <a:p>
            <a:pPr marL="173736" indent="-173736">
              <a:spcBef>
                <a:spcPts val="0"/>
              </a:spcBef>
              <a:spcAft>
                <a:spcPts val="800"/>
              </a:spcAft>
            </a:pPr>
            <a:endParaRPr lang="en-US" dirty="0"/>
          </a:p>
          <a:p>
            <a:pPr marL="173736" indent="-173736">
              <a:spcBef>
                <a:spcPts val="0"/>
              </a:spcBef>
              <a:spcAft>
                <a:spcPts val="800"/>
              </a:spcAft>
            </a:pPr>
            <a:r>
              <a:rPr lang="en-US" dirty="0"/>
              <a:t>In this session, our focus will be on getting familiar with TensorFlow and its core concepts. By the end of this session, you’ll be able to understand what TensorFlow is and why it's widely used in the field of machine learning. We’ll also explore </a:t>
            </a:r>
            <a:r>
              <a:rPr lang="en-US" dirty="0" err="1"/>
              <a:t>Keras</a:t>
            </a:r>
            <a:r>
              <a:rPr lang="en-US" dirty="0"/>
              <a:t> as a high-level API and see how it simplifies building deep learning models. Next, we’ll walk through the installation and setup process to get TensorFlow up and running on your system. Once that’s done, we’ll dive into the concept of tensors, which are the building blocks of TensorFlow, and perform some basic operations on them. This foundational knowledge will prepare you to start working on actual models in the upcoming sessions.</a:t>
            </a:r>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6</a:t>
            </a:fld>
            <a:endParaRPr lang="en-IN"/>
          </a:p>
        </p:txBody>
      </p:sp>
    </p:spTree>
    <p:extLst>
      <p:ext uri="{BB962C8B-B14F-4D97-AF65-F5344CB8AC3E}">
        <p14:creationId xmlns:p14="http://schemas.microsoft.com/office/powerpoint/2010/main" val="3949537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9C14-C99A-EA73-9DFF-C91A9ADD6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F3977-7AD2-DC0D-B6F2-5305A67DE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058BB-EA07-625E-D51E-A6A2E5E03FC5}"/>
              </a:ext>
            </a:extLst>
          </p:cNvPr>
          <p:cNvSpPr>
            <a:spLocks noGrp="1"/>
          </p:cNvSpPr>
          <p:nvPr>
            <p:ph type="body" idx="1"/>
          </p:nvPr>
        </p:nvSpPr>
        <p:spPr/>
        <p:txBody>
          <a:bodyPr/>
          <a:lstStyle/>
          <a:p>
            <a:r>
              <a:rPr lang="en-US" dirty="0"/>
              <a:t>Today, we are discussing about </a:t>
            </a:r>
            <a:r>
              <a:rPr lang="en-IN" sz="1200" b="1" dirty="0">
                <a:solidFill>
                  <a:srgbClr val="002060"/>
                </a:solidFill>
                <a:latin typeface="Arial" panose="020B0604020202020204" pitchFamily="34" charset="0"/>
                <a:cs typeface="Arial" panose="020B0604020202020204" pitchFamily="34" charset="0"/>
              </a:rPr>
              <a:t>TensorFlow</a:t>
            </a:r>
          </a:p>
          <a:p>
            <a:endParaRPr lang="en-IN" sz="1200" b="1" dirty="0">
              <a:solidFill>
                <a:srgbClr val="002060"/>
              </a:solidFill>
              <a:latin typeface="Arial" panose="020B0604020202020204" pitchFamily="34" charset="0"/>
              <a:cs typeface="Arial" panose="020B0604020202020204" pitchFamily="34" charset="0"/>
            </a:endParaRPr>
          </a:p>
          <a:p>
            <a:r>
              <a:rPr lang="en-US" dirty="0"/>
              <a:t>TensorFlow is a powerful open-source library developed by Google, primarily to support deep learning, although it also accommodates traditional machine learning tasks.</a:t>
            </a:r>
          </a:p>
          <a:p>
            <a:pPr>
              <a:buNone/>
            </a:pPr>
            <a:r>
              <a:rPr lang="en-US" dirty="0"/>
              <a:t>One of the key reasons for its effectiveness is how it handles data—through </a:t>
            </a:r>
            <a:r>
              <a:rPr lang="en-US" i="1" dirty="0"/>
              <a:t>tensors</a:t>
            </a:r>
            <a:r>
              <a:rPr lang="en-US" dirty="0"/>
              <a:t>, which are essentially multi-dimensional arrays. These tensors make it easier to manage and compute large amounts of data, which is especially important in real-world AI problems.</a:t>
            </a:r>
          </a:p>
          <a:p>
            <a:pPr>
              <a:buNone/>
            </a:pPr>
            <a:r>
              <a:rPr lang="en-US" dirty="0"/>
              <a:t>Another unique aspect of TensorFlow is its architecture. It uses data flow graphs, where the nodes represent operations and the edges represent the data—this data being tensors.</a:t>
            </a:r>
          </a:p>
          <a:p>
            <a:r>
              <a:rPr lang="en-US" dirty="0"/>
              <a:t>Thanks to this graph-based execution, TensorFlow code can be distributed efficiently across multiple CPUs or GPUs—even on clusters of machines. This makes it extremely scalable and ideal for training large models.</a:t>
            </a:r>
          </a:p>
          <a:p>
            <a:endParaRPr lang="en-US" dirty="0"/>
          </a:p>
        </p:txBody>
      </p:sp>
      <p:sp>
        <p:nvSpPr>
          <p:cNvPr id="4" name="Slide Number Placeholder 3">
            <a:extLst>
              <a:ext uri="{FF2B5EF4-FFF2-40B4-BE49-F238E27FC236}">
                <a16:creationId xmlns:a16="http://schemas.microsoft.com/office/drawing/2014/main" id="{E4B7DDF7-2523-D21E-F3F5-58F8460D765F}"/>
              </a:ext>
            </a:extLst>
          </p:cNvPr>
          <p:cNvSpPr>
            <a:spLocks noGrp="1"/>
          </p:cNvSpPr>
          <p:nvPr>
            <p:ph type="sldNum" sz="quarter" idx="5"/>
          </p:nvPr>
        </p:nvSpPr>
        <p:spPr/>
        <p:txBody>
          <a:bodyPr/>
          <a:lstStyle/>
          <a:p>
            <a:fld id="{65AB13E8-2198-45C9-87A4-619C67778A51}" type="slidenum">
              <a:rPr lang="en-IN" smtClean="0"/>
              <a:t>7</a:t>
            </a:fld>
            <a:endParaRPr lang="en-IN"/>
          </a:p>
        </p:txBody>
      </p:sp>
    </p:spTree>
    <p:extLst>
      <p:ext uri="{BB962C8B-B14F-4D97-AF65-F5344CB8AC3E}">
        <p14:creationId xmlns:p14="http://schemas.microsoft.com/office/powerpoint/2010/main" val="3854944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F6BD2-D1FC-DC18-1741-1C293B487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F4D3E-A091-93F9-A901-B4E036C14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4084F7-4B21-CF1F-ECCD-BB0ED951312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 can explain </a:t>
            </a:r>
            <a:r>
              <a:rPr lang="en-US" sz="1200" b="1" dirty="0">
                <a:solidFill>
                  <a:srgbClr val="002060"/>
                </a:solidFill>
                <a:latin typeface="Arial" panose="020B0604020202020204" pitchFamily="34" charset="0"/>
                <a:cs typeface="Arial" panose="020B0604020202020204" pitchFamily="34" charset="0"/>
              </a:rPr>
              <a:t>How Do Neurons Operate in a Neural Network?</a:t>
            </a:r>
          </a:p>
          <a:p>
            <a:pPr>
              <a:buNone/>
            </a:pPr>
            <a:br>
              <a:rPr lang="en-US" dirty="0"/>
            </a:br>
            <a:r>
              <a:rPr lang="en-US" dirty="0"/>
              <a:t>Neurons in a neural network function similarly to biological neurons. They receive inputs from multiple neurons in the previous layer through synapses, each connection having an assigned weight.</a:t>
            </a:r>
          </a:p>
          <a:p>
            <a:pPr>
              <a:buNone/>
            </a:pPr>
            <a:r>
              <a:rPr lang="en-US" dirty="0"/>
              <a:t>The weight determines the importance of the input - </a:t>
            </a:r>
            <a:r>
              <a:rPr lang="en-US" b="0" dirty="0"/>
              <a:t>higher weights contribute more to the final output. Once the neuron receives all inputs, it calculates the weighted sum and passes the result through an activation function. This function decides whether the neuron should "fire" and transmit its signal to the next layer.</a:t>
            </a:r>
          </a:p>
          <a:p>
            <a:r>
              <a:rPr lang="en-US" b="0" dirty="0"/>
              <a:t>The key to deep learning is adjusting these weights during training to minimize errors and improve accuracy. The process of fine-tuning these weights, called backpropagation, ensures the model learns from data effectively.</a:t>
            </a:r>
          </a:p>
          <a:p>
            <a:endParaRPr lang="en-US" dirty="0"/>
          </a:p>
          <a:p>
            <a:endParaRPr lang="en-US" dirty="0"/>
          </a:p>
        </p:txBody>
      </p:sp>
      <p:sp>
        <p:nvSpPr>
          <p:cNvPr id="4" name="Slide Number Placeholder 3">
            <a:extLst>
              <a:ext uri="{FF2B5EF4-FFF2-40B4-BE49-F238E27FC236}">
                <a16:creationId xmlns:a16="http://schemas.microsoft.com/office/drawing/2014/main" id="{58B035A2-BF66-E023-A27C-CEEF07667007}"/>
              </a:ext>
            </a:extLst>
          </p:cNvPr>
          <p:cNvSpPr>
            <a:spLocks noGrp="1"/>
          </p:cNvSpPr>
          <p:nvPr>
            <p:ph type="sldNum" sz="quarter" idx="5"/>
          </p:nvPr>
        </p:nvSpPr>
        <p:spPr/>
        <p:txBody>
          <a:bodyPr/>
          <a:lstStyle/>
          <a:p>
            <a:fld id="{65AB13E8-2198-45C9-87A4-619C67778A51}" type="slidenum">
              <a:rPr lang="en-IN" smtClean="0"/>
              <a:t>8</a:t>
            </a:fld>
            <a:endParaRPr lang="en-IN"/>
          </a:p>
        </p:txBody>
      </p:sp>
    </p:spTree>
    <p:extLst>
      <p:ext uri="{BB962C8B-B14F-4D97-AF65-F5344CB8AC3E}">
        <p14:creationId xmlns:p14="http://schemas.microsoft.com/office/powerpoint/2010/main" val="187036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C59F3-66D1-2F5D-94E9-1D97AE6A9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D8A15-5E77-19E5-49DD-53F6B2E18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342E0-4073-B933-38AE-826D5699B28F}"/>
              </a:ext>
            </a:extLst>
          </p:cNvPr>
          <p:cNvSpPr>
            <a:spLocks noGrp="1"/>
          </p:cNvSpPr>
          <p:nvPr>
            <p:ph type="body" idx="1"/>
          </p:nvPr>
        </p:nvSpPr>
        <p:spPr/>
        <p:txBody>
          <a:bodyPr/>
          <a:lstStyle/>
          <a:p>
            <a:pPr>
              <a:buNone/>
            </a:pPr>
            <a:r>
              <a:rPr lang="en-IN" b="1" dirty="0"/>
              <a:t>Trainer can elaborate </a:t>
            </a:r>
            <a:r>
              <a:rPr lang="en-US" dirty="0"/>
              <a:t>Why should we choose TensorFlow among the many frameworks available?</a:t>
            </a:r>
          </a:p>
          <a:p>
            <a:endParaRPr lang="en-US" dirty="0"/>
          </a:p>
          <a:p>
            <a:pPr>
              <a:buNone/>
            </a:pPr>
            <a:r>
              <a:rPr lang="en-US" b="0" dirty="0"/>
              <a:t>First, TensorFlow is both powerful and flexible, ideal for beginners just getting started and researchers pushing the boundaries of AI. The </a:t>
            </a:r>
            <a:r>
              <a:rPr lang="en-US" b="0" dirty="0" err="1"/>
              <a:t>Keras</a:t>
            </a:r>
            <a:r>
              <a:rPr lang="en-US" b="0" dirty="0"/>
              <a:t> API makes model development faster and easier with high-level building blocks, while still offering low-level control when needed.</a:t>
            </a:r>
          </a:p>
          <a:p>
            <a:pPr>
              <a:buNone/>
            </a:pPr>
            <a:r>
              <a:rPr lang="en-US" b="0" dirty="0"/>
              <a:t>TensorFlow supports eager execution for easier debugging, and distributed training, allowing models to scale across multiple GPUs or machines.</a:t>
            </a:r>
          </a:p>
          <a:p>
            <a:pPr>
              <a:buNone/>
            </a:pPr>
            <a:r>
              <a:rPr lang="en-US" b="0" dirty="0"/>
              <a:t>Deployment is where TensorFlow shines—it works across cloud, mobile, edge, and web platforms. You can go from model training to real-world applications with TensorFlow Lite for mobile apps, TFX for end-to-end ML pipelines, and TensorFlow.js for deploying models in browsers.</a:t>
            </a:r>
          </a:p>
          <a:p>
            <a:pPr>
              <a:buNone/>
            </a:pPr>
            <a:r>
              <a:rPr lang="en-US" b="0" dirty="0"/>
              <a:t>For researchers, there’s the </a:t>
            </a:r>
            <a:r>
              <a:rPr lang="en-US" b="0" dirty="0" err="1"/>
              <a:t>Keras</a:t>
            </a:r>
            <a:r>
              <a:rPr lang="en-US" b="0" dirty="0"/>
              <a:t> Functional API for flexible model architecture, Model Subclassing for custom logic, and access to pre-trained models for faster prototyping.</a:t>
            </a:r>
          </a:p>
          <a:p>
            <a:r>
              <a:rPr lang="en-US" b="0" dirty="0"/>
              <a:t>And finally, TensorFlow is backed by a strong community, constant updates, and support for diverse hardware. It’s a one-stop solution whether you're building your first model or experimenting with cutting-edge research.</a:t>
            </a:r>
          </a:p>
          <a:p>
            <a:endParaRPr lang="en-US" dirty="0"/>
          </a:p>
        </p:txBody>
      </p:sp>
      <p:sp>
        <p:nvSpPr>
          <p:cNvPr id="4" name="Slide Number Placeholder 3">
            <a:extLst>
              <a:ext uri="{FF2B5EF4-FFF2-40B4-BE49-F238E27FC236}">
                <a16:creationId xmlns:a16="http://schemas.microsoft.com/office/drawing/2014/main" id="{8C06E282-7F68-9ACD-256D-515BFC14465E}"/>
              </a:ext>
            </a:extLst>
          </p:cNvPr>
          <p:cNvSpPr>
            <a:spLocks noGrp="1"/>
          </p:cNvSpPr>
          <p:nvPr>
            <p:ph type="sldNum" sz="quarter" idx="5"/>
          </p:nvPr>
        </p:nvSpPr>
        <p:spPr/>
        <p:txBody>
          <a:bodyPr/>
          <a:lstStyle/>
          <a:p>
            <a:fld id="{65AB13E8-2198-45C9-87A4-619C67778A51}" type="slidenum">
              <a:rPr lang="en-IN" smtClean="0"/>
              <a:t>9</a:t>
            </a:fld>
            <a:endParaRPr lang="en-IN"/>
          </a:p>
        </p:txBody>
      </p:sp>
    </p:spTree>
    <p:extLst>
      <p:ext uri="{BB962C8B-B14F-4D97-AF65-F5344CB8AC3E}">
        <p14:creationId xmlns:p14="http://schemas.microsoft.com/office/powerpoint/2010/main" val="2312956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A0C79-1C9C-23B9-F538-3B28B404C3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689EF-2346-9476-2F56-0B10B60E8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F4DD7-0F68-7085-6788-CE3E29F9DC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Trainer can introduce </a:t>
            </a:r>
            <a:r>
              <a:rPr lang="en-US" sz="1200" b="1" dirty="0" err="1">
                <a:solidFill>
                  <a:srgbClr val="002060"/>
                </a:solidFill>
                <a:latin typeface="Arial" panose="020B0604020202020204" pitchFamily="34" charset="0"/>
                <a:cs typeface="Arial" panose="020B0604020202020204" pitchFamily="34" charset="0"/>
              </a:rPr>
              <a:t>Keras</a:t>
            </a:r>
            <a:r>
              <a:rPr lang="en-US" sz="1200" b="1" dirty="0">
                <a:solidFill>
                  <a:srgbClr val="002060"/>
                </a:solidFill>
                <a:latin typeface="Arial" panose="020B0604020202020204" pitchFamily="34" charset="0"/>
                <a:cs typeface="Arial" panose="020B0604020202020204" pitchFamily="34" charset="0"/>
              </a:rPr>
              <a:t> as a High-Level API</a:t>
            </a:r>
          </a:p>
          <a:p>
            <a:pPr algn="l"/>
            <a:endParaRPr lang="en-US" sz="1200" b="0" dirty="0">
              <a:solidFill>
                <a:srgbClr val="002060"/>
              </a:solidFill>
              <a:latin typeface="Arial" panose="020B0604020202020204" pitchFamily="34" charset="0"/>
              <a:cs typeface="Arial" panose="020B0604020202020204" pitchFamily="34" charset="0"/>
            </a:endParaRPr>
          </a:p>
          <a:p>
            <a:pPr>
              <a:buNone/>
            </a:pPr>
            <a:r>
              <a:rPr lang="en-US" b="0" dirty="0" err="1"/>
              <a:t>Keras</a:t>
            </a:r>
            <a:r>
              <a:rPr lang="en-US" b="0" dirty="0"/>
              <a:t> is like the friendly front-end of TensorFlow - it’s a high-level API built to make deep learning development more intuitive and beginner-friendly.</a:t>
            </a:r>
          </a:p>
          <a:p>
            <a:pPr>
              <a:buNone/>
            </a:pPr>
            <a:r>
              <a:rPr lang="en-US" b="0" dirty="0"/>
              <a:t>Its simple and modular design allows you to prototype models quickly and efficiently. This is great when you're experimenting with different architectures or tuning hyperparameters.</a:t>
            </a:r>
          </a:p>
          <a:p>
            <a:pPr>
              <a:buNone/>
            </a:pPr>
            <a:r>
              <a:rPr lang="en-US" b="0" dirty="0"/>
              <a:t>It’s also cross-platform, so you can build models on your local machine using a CPU and then scale up effortlessly to GPUs, TPUs, or even deploy on mobile.</a:t>
            </a:r>
          </a:p>
          <a:p>
            <a:pPr>
              <a:buNone/>
            </a:pPr>
            <a:r>
              <a:rPr lang="en-US" b="0" dirty="0" err="1"/>
              <a:t>Keras</a:t>
            </a:r>
            <a:r>
              <a:rPr lang="en-US" b="0" dirty="0"/>
              <a:t> comes loaded with predefined components - you don’t need to write custom code for layers, optimizers, or loss functions unless you want to.</a:t>
            </a:r>
          </a:p>
          <a:p>
            <a:pPr>
              <a:buNone/>
            </a:pPr>
            <a:r>
              <a:rPr lang="en-US" b="0" dirty="0"/>
              <a:t>When it comes to building models, you’ve got options. The Sequential API is perfect for straightforward layer stacks. The Functional API helps you create more complex architectures like branching models or multi-input systems. And if you need full flexibility, Model Subclassing gives you total control over the logic.</a:t>
            </a:r>
          </a:p>
          <a:p>
            <a:r>
              <a:rPr lang="en-US" b="0" dirty="0" err="1"/>
              <a:t>Keras</a:t>
            </a:r>
            <a:r>
              <a:rPr lang="en-US" b="0" dirty="0"/>
              <a:t> also simplifies training with ready-to-use methods like fit(), evaluate(), and predict(). And lastly, </a:t>
            </a:r>
            <a:r>
              <a:rPr lang="en-US" b="0" dirty="0" err="1"/>
              <a:t>Keras</a:t>
            </a:r>
            <a:r>
              <a:rPr lang="en-US" b="0" dirty="0"/>
              <a:t> provides robust data preprocessing tools for handling all types of data - text, images, and numbers - making the whole ML pipeline easier.</a:t>
            </a:r>
          </a:p>
          <a:p>
            <a:endParaRPr lang="en-US" dirty="0"/>
          </a:p>
        </p:txBody>
      </p:sp>
      <p:sp>
        <p:nvSpPr>
          <p:cNvPr id="4" name="Slide Number Placeholder 3">
            <a:extLst>
              <a:ext uri="{FF2B5EF4-FFF2-40B4-BE49-F238E27FC236}">
                <a16:creationId xmlns:a16="http://schemas.microsoft.com/office/drawing/2014/main" id="{71448DA8-E8E2-4811-BB53-D611E13D62BB}"/>
              </a:ext>
            </a:extLst>
          </p:cNvPr>
          <p:cNvSpPr>
            <a:spLocks noGrp="1"/>
          </p:cNvSpPr>
          <p:nvPr>
            <p:ph type="sldNum" sz="quarter" idx="5"/>
          </p:nvPr>
        </p:nvSpPr>
        <p:spPr/>
        <p:txBody>
          <a:bodyPr/>
          <a:lstStyle/>
          <a:p>
            <a:fld id="{65AB13E8-2198-45C9-87A4-619C67778A51}" type="slidenum">
              <a:rPr lang="en-IN" smtClean="0"/>
              <a:t>10</a:t>
            </a:fld>
            <a:endParaRPr lang="en-IN"/>
          </a:p>
        </p:txBody>
      </p:sp>
    </p:spTree>
    <p:extLst>
      <p:ext uri="{BB962C8B-B14F-4D97-AF65-F5344CB8AC3E}">
        <p14:creationId xmlns:p14="http://schemas.microsoft.com/office/powerpoint/2010/main" val="12476592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FD6A-DD95-E8AC-7CAC-024DF8ABE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16D7D-90F0-BFEC-0C4F-C5F2E91759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B7967-C4D8-98F2-7039-1793657A8166}"/>
              </a:ext>
            </a:extLst>
          </p:cNvPr>
          <p:cNvSpPr>
            <a:spLocks noGrp="1"/>
          </p:cNvSpPr>
          <p:nvPr>
            <p:ph type="body" idx="1"/>
          </p:nvPr>
        </p:nvSpPr>
        <p:spPr/>
        <p:txBody>
          <a:bodyPr/>
          <a:lstStyle/>
          <a:p>
            <a:pPr algn="l"/>
            <a:r>
              <a:rPr lang="en-IN" b="1" dirty="0"/>
              <a:t>Trainer can explain </a:t>
            </a:r>
            <a:r>
              <a:rPr lang="en-IN" sz="1200" b="1" dirty="0">
                <a:solidFill>
                  <a:srgbClr val="002060"/>
                </a:solidFill>
                <a:latin typeface="Arial" panose="020B0604020202020204" pitchFamily="34" charset="0"/>
                <a:cs typeface="Arial" panose="020B0604020202020204" pitchFamily="34" charset="0"/>
              </a:rPr>
              <a:t>Key Features of </a:t>
            </a:r>
            <a:r>
              <a:rPr lang="en-IN" sz="1200" b="1" dirty="0" err="1">
                <a:solidFill>
                  <a:srgbClr val="002060"/>
                </a:solidFill>
                <a:latin typeface="Arial" panose="020B0604020202020204" pitchFamily="34" charset="0"/>
                <a:cs typeface="Arial" panose="020B0604020202020204" pitchFamily="34" charset="0"/>
              </a:rPr>
              <a:t>Keras</a:t>
            </a:r>
            <a:endParaRPr lang="en-US" sz="1200" b="1" dirty="0">
              <a:solidFill>
                <a:srgbClr val="002060"/>
              </a:solidFill>
              <a:latin typeface="Arial" panose="020B0604020202020204" pitchFamily="34" charset="0"/>
              <a:cs typeface="Arial" panose="020B0604020202020204" pitchFamily="34" charset="0"/>
            </a:endParaRPr>
          </a:p>
          <a:p>
            <a:endParaRPr lang="en-US" dirty="0"/>
          </a:p>
          <a:p>
            <a:pPr>
              <a:buNone/>
            </a:pPr>
            <a:r>
              <a:rPr lang="en-US" b="0" dirty="0"/>
              <a:t>Let’s talk about what makes </a:t>
            </a:r>
            <a:r>
              <a:rPr lang="en-US" b="0" dirty="0" err="1"/>
              <a:t>Keras</a:t>
            </a:r>
            <a:r>
              <a:rPr lang="en-US" b="0" dirty="0"/>
              <a:t> one of the most popular APIs for deep learning.</a:t>
            </a:r>
          </a:p>
          <a:p>
            <a:pPr>
              <a:buNone/>
            </a:pPr>
            <a:r>
              <a:rPr lang="en-US" b="0" dirty="0"/>
              <a:t>First, simplicity and modularity—</a:t>
            </a:r>
            <a:r>
              <a:rPr lang="en-US" b="0" dirty="0" err="1"/>
              <a:t>Keras</a:t>
            </a:r>
            <a:r>
              <a:rPr lang="en-US" b="0" dirty="0"/>
              <a:t> allows you to build, test, and iterate on models quickly. It's great for both beginners and researchers who want to prototype without heavy code.</a:t>
            </a:r>
          </a:p>
          <a:p>
            <a:pPr>
              <a:buNone/>
            </a:pPr>
            <a:r>
              <a:rPr lang="en-US" b="0" dirty="0"/>
              <a:t>It supports cross-platform scalability, so whether you're training on a CPU, GPU, TPU, or even deploying to a mobile device, </a:t>
            </a:r>
            <a:r>
              <a:rPr lang="en-US" b="0" dirty="0" err="1"/>
              <a:t>Keras</a:t>
            </a:r>
            <a:r>
              <a:rPr lang="en-US" b="0" dirty="0"/>
              <a:t> has you covered.</a:t>
            </a:r>
          </a:p>
          <a:p>
            <a:pPr>
              <a:buNone/>
            </a:pPr>
            <a:r>
              <a:rPr lang="en-US" b="0" dirty="0" err="1"/>
              <a:t>Keras</a:t>
            </a:r>
            <a:r>
              <a:rPr lang="en-US" b="0" dirty="0"/>
              <a:t> is packed with predefined components—you get ready-to-use layers like Dense or Conv2D, common loss functions like </a:t>
            </a:r>
            <a:r>
              <a:rPr lang="en-US" b="0" dirty="0" err="1"/>
              <a:t>binary_crossentropy</a:t>
            </a:r>
            <a:r>
              <a:rPr lang="en-US" b="0" dirty="0"/>
              <a:t>, and optimizers like Adam or SGD. This saves a ton of coding time.</a:t>
            </a:r>
          </a:p>
          <a:p>
            <a:pPr>
              <a:buNone/>
            </a:pPr>
            <a:r>
              <a:rPr lang="en-US" b="0" dirty="0"/>
              <a:t>It offers multiple APIs for building models. The Sequential API is great for beginners—it allows you to stack layers one after the other. For more advanced use cases, the Functional API lets you build complex models like multiple input/output systems. If you need complete control, Model Subclassing allows you to write your own model logic.</a:t>
            </a:r>
          </a:p>
          <a:p>
            <a:pPr>
              <a:buNone/>
            </a:pPr>
            <a:r>
              <a:rPr lang="en-US" b="0" dirty="0"/>
              <a:t>Training is also super convenient with </a:t>
            </a:r>
            <a:r>
              <a:rPr lang="en-US" b="0" dirty="0" err="1"/>
              <a:t>Keras</a:t>
            </a:r>
            <a:r>
              <a:rPr lang="en-US" b="0" dirty="0"/>
              <a:t>. Methods like fit() train your model, evaluate() helps you assess accuracy, and predict() generates results—all with clean and readable syntax.</a:t>
            </a:r>
          </a:p>
          <a:p>
            <a:pPr>
              <a:buNone/>
            </a:pPr>
            <a:r>
              <a:rPr lang="en-US" b="0" dirty="0"/>
              <a:t>Lastly, </a:t>
            </a:r>
            <a:r>
              <a:rPr lang="en-US" b="0" dirty="0" err="1"/>
              <a:t>Keras</a:t>
            </a:r>
            <a:r>
              <a:rPr lang="en-US" b="0" dirty="0"/>
              <a:t> comes with powerful data preprocessing tools. You can efficiently handle and transform image data, text sequences, or numerical values before feeding them into models.</a:t>
            </a:r>
          </a:p>
          <a:p>
            <a:r>
              <a:rPr lang="en-US" b="0" dirty="0"/>
              <a:t>These features make </a:t>
            </a:r>
            <a:r>
              <a:rPr lang="en-US" b="0" dirty="0" err="1"/>
              <a:t>Keras</a:t>
            </a:r>
            <a:r>
              <a:rPr lang="en-US" b="0" dirty="0"/>
              <a:t> not only flexible but also efficient and production-ready</a:t>
            </a:r>
          </a:p>
          <a:p>
            <a:endParaRPr lang="en-US" dirty="0"/>
          </a:p>
        </p:txBody>
      </p:sp>
      <p:sp>
        <p:nvSpPr>
          <p:cNvPr id="4" name="Slide Number Placeholder 3">
            <a:extLst>
              <a:ext uri="{FF2B5EF4-FFF2-40B4-BE49-F238E27FC236}">
                <a16:creationId xmlns:a16="http://schemas.microsoft.com/office/drawing/2014/main" id="{882D6163-0753-4299-E537-B601385701F6}"/>
              </a:ext>
            </a:extLst>
          </p:cNvPr>
          <p:cNvSpPr>
            <a:spLocks noGrp="1"/>
          </p:cNvSpPr>
          <p:nvPr>
            <p:ph type="sldNum" sz="quarter" idx="5"/>
          </p:nvPr>
        </p:nvSpPr>
        <p:spPr/>
        <p:txBody>
          <a:bodyPr/>
          <a:lstStyle/>
          <a:p>
            <a:fld id="{65AB13E8-2198-45C9-87A4-619C67778A51}" type="slidenum">
              <a:rPr lang="en-IN" smtClean="0"/>
              <a:t>11</a:t>
            </a:fld>
            <a:endParaRPr lang="en-IN"/>
          </a:p>
        </p:txBody>
      </p:sp>
    </p:spTree>
    <p:extLst>
      <p:ext uri="{BB962C8B-B14F-4D97-AF65-F5344CB8AC3E}">
        <p14:creationId xmlns:p14="http://schemas.microsoft.com/office/powerpoint/2010/main" val="2723162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10B61-6572-D692-DF95-632B51896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F0910-EF82-448D-C443-EAA16ACAE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787F8-E411-00BA-4935-93FCC8EEA9D3}"/>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b="1" dirty="0"/>
              <a:t>Trainer can elaborate </a:t>
            </a:r>
            <a:r>
              <a:rPr lang="en-US" sz="1200" b="1" dirty="0" err="1">
                <a:solidFill>
                  <a:srgbClr val="002060"/>
                </a:solidFill>
                <a:latin typeface="Arial" panose="020B0604020202020204" pitchFamily="34" charset="0"/>
                <a:cs typeface="Arial" panose="020B0604020202020204" pitchFamily="34" charset="0"/>
              </a:rPr>
              <a:t>Keras</a:t>
            </a:r>
            <a:r>
              <a:rPr lang="en-US" sz="1200" b="1" dirty="0">
                <a:solidFill>
                  <a:srgbClr val="002060"/>
                </a:solidFill>
                <a:latin typeface="Arial" panose="020B0604020202020204" pitchFamily="34" charset="0"/>
                <a:cs typeface="Arial" panose="020B0604020202020204" pitchFamily="34" charset="0"/>
              </a:rPr>
              <a:t> API Components</a:t>
            </a:r>
          </a:p>
          <a:p>
            <a:endParaRPr lang="en-US" dirty="0"/>
          </a:p>
          <a:p>
            <a:pPr>
              <a:buNone/>
            </a:pPr>
            <a:r>
              <a:rPr lang="en-US" b="0" dirty="0"/>
              <a:t>Let’s explore the key components that make </a:t>
            </a:r>
            <a:r>
              <a:rPr lang="en-US" b="0" dirty="0" err="1"/>
              <a:t>Keras</a:t>
            </a:r>
            <a:r>
              <a:rPr lang="en-US" b="0" dirty="0"/>
              <a:t> so efficient and user-friendly for building deep learning models.</a:t>
            </a:r>
          </a:p>
          <a:p>
            <a:pPr>
              <a:buNone/>
            </a:pPr>
            <a:r>
              <a:rPr lang="en-US" b="0" dirty="0"/>
              <a:t> First, we have Layers, the fundamental building blocks. </a:t>
            </a:r>
            <a:r>
              <a:rPr lang="en-US" b="0" dirty="0" err="1"/>
              <a:t>Keras</a:t>
            </a:r>
            <a:r>
              <a:rPr lang="en-US" b="0" dirty="0"/>
              <a:t> offers a variety—from basic Dense layers to advanced types like convolutional layers for image tasks, recurrent layers for sequence data, and preprocessing layers to handle text and normalization.</a:t>
            </a:r>
          </a:p>
          <a:p>
            <a:pPr>
              <a:buNone/>
            </a:pPr>
            <a:r>
              <a:rPr lang="en-US" b="0" dirty="0"/>
              <a:t> Next are Models. </a:t>
            </a:r>
            <a:r>
              <a:rPr lang="en-US" b="0" dirty="0" err="1"/>
              <a:t>Keras</a:t>
            </a:r>
            <a:r>
              <a:rPr lang="en-US" b="0" dirty="0"/>
              <a:t> provides two main APIs:</a:t>
            </a:r>
          </a:p>
          <a:p>
            <a:pPr>
              <a:buFont typeface="Arial" panose="020B0604020202020204" pitchFamily="34" charset="0"/>
              <a:buChar char="•"/>
            </a:pPr>
            <a:r>
              <a:rPr lang="en-US" b="0" dirty="0"/>
              <a:t>The Sequential API is ideal for beginners building simple, linear models.</a:t>
            </a:r>
          </a:p>
          <a:p>
            <a:pPr>
              <a:buFont typeface="Arial" panose="020B0604020202020204" pitchFamily="34" charset="0"/>
              <a:buChar char="•"/>
            </a:pPr>
            <a:r>
              <a:rPr lang="en-US" b="0" dirty="0"/>
              <a:t>The Functional API is perfect for complex models with branching, shared layers, or multiple inputs and outputs.</a:t>
            </a:r>
            <a:br>
              <a:rPr lang="en-US" b="0" dirty="0"/>
            </a:br>
            <a:r>
              <a:rPr lang="en-US" b="0" dirty="0"/>
              <a:t>With both, you get handy built-in methods like fit(), predict(), and evaluate().</a:t>
            </a:r>
          </a:p>
          <a:p>
            <a:pPr>
              <a:buNone/>
            </a:pPr>
            <a:r>
              <a:rPr lang="en-US" b="0" dirty="0"/>
              <a:t> Then we have Core Modules. These include loss functions like </a:t>
            </a:r>
            <a:r>
              <a:rPr lang="en-US" b="0" dirty="0" err="1"/>
              <a:t>mean_squared_error</a:t>
            </a:r>
            <a:r>
              <a:rPr lang="en-US" b="0" dirty="0"/>
              <a:t> and </a:t>
            </a:r>
            <a:r>
              <a:rPr lang="en-US" b="0" dirty="0" err="1"/>
              <a:t>categorical_crossentropy</a:t>
            </a:r>
            <a:r>
              <a:rPr lang="en-US" b="0" dirty="0"/>
              <a:t>, various optimizers to improve learning efficiency, and activation functions like </a:t>
            </a:r>
            <a:r>
              <a:rPr lang="en-US" b="0" dirty="0" err="1"/>
              <a:t>ReLU</a:t>
            </a:r>
            <a:r>
              <a:rPr lang="en-US" b="0" dirty="0"/>
              <a:t> and </a:t>
            </a:r>
            <a:r>
              <a:rPr lang="en-US" b="0" dirty="0" err="1"/>
              <a:t>Softmax</a:t>
            </a:r>
            <a:r>
              <a:rPr lang="en-US" b="0" dirty="0"/>
              <a:t> that decide neuron behavior. </a:t>
            </a:r>
            <a:r>
              <a:rPr lang="en-US" b="0" dirty="0" err="1"/>
              <a:t>Regularizers</a:t>
            </a:r>
            <a:r>
              <a:rPr lang="en-US" b="0" dirty="0"/>
              <a:t> like L1 and L2 help reduce overfitting.</a:t>
            </a:r>
          </a:p>
          <a:p>
            <a:pPr>
              <a:buNone/>
            </a:pPr>
            <a:r>
              <a:rPr lang="en-US" b="0" dirty="0"/>
              <a:t> Finally, </a:t>
            </a:r>
            <a:r>
              <a:rPr lang="en-US" b="0" dirty="0" err="1"/>
              <a:t>Keras</a:t>
            </a:r>
            <a:r>
              <a:rPr lang="en-US" b="0" dirty="0"/>
              <a:t> enhances training with powerful features like Callbacks—these automate tasks such as stopping training early or saving the best model.</a:t>
            </a:r>
            <a:br>
              <a:rPr lang="en-US" b="0" dirty="0"/>
            </a:br>
            <a:r>
              <a:rPr lang="en-US" b="0" dirty="0" err="1"/>
              <a:t>Keras</a:t>
            </a:r>
            <a:r>
              <a:rPr lang="en-US" b="0" dirty="0"/>
              <a:t> also supports distributed training across GPUs/TPUs and step fusing for performance optimization during large-scale training.</a:t>
            </a:r>
          </a:p>
          <a:p>
            <a:r>
              <a:rPr lang="en-US" b="0" dirty="0"/>
              <a:t>All these components come together to make </a:t>
            </a:r>
            <a:r>
              <a:rPr lang="en-US" b="0" dirty="0" err="1"/>
              <a:t>Keras</a:t>
            </a:r>
            <a:r>
              <a:rPr lang="en-US" b="0" dirty="0"/>
              <a:t> a robust yet simple tool for deep learning development</a:t>
            </a:r>
          </a:p>
          <a:p>
            <a:endParaRPr lang="en-US" dirty="0"/>
          </a:p>
        </p:txBody>
      </p:sp>
      <p:sp>
        <p:nvSpPr>
          <p:cNvPr id="4" name="Slide Number Placeholder 3">
            <a:extLst>
              <a:ext uri="{FF2B5EF4-FFF2-40B4-BE49-F238E27FC236}">
                <a16:creationId xmlns:a16="http://schemas.microsoft.com/office/drawing/2014/main" id="{E62D38FF-5A09-48D7-90E8-B19C09772070}"/>
              </a:ext>
            </a:extLst>
          </p:cNvPr>
          <p:cNvSpPr>
            <a:spLocks noGrp="1"/>
          </p:cNvSpPr>
          <p:nvPr>
            <p:ph type="sldNum" sz="quarter" idx="5"/>
          </p:nvPr>
        </p:nvSpPr>
        <p:spPr/>
        <p:txBody>
          <a:bodyPr/>
          <a:lstStyle/>
          <a:p>
            <a:fld id="{65AB13E8-2198-45C9-87A4-619C67778A51}" type="slidenum">
              <a:rPr lang="en-IN" smtClean="0"/>
              <a:t>12</a:t>
            </a:fld>
            <a:endParaRPr lang="en-IN"/>
          </a:p>
        </p:txBody>
      </p:sp>
    </p:spTree>
    <p:extLst>
      <p:ext uri="{BB962C8B-B14F-4D97-AF65-F5344CB8AC3E}">
        <p14:creationId xmlns:p14="http://schemas.microsoft.com/office/powerpoint/2010/main" val="1221273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F909D-1566-20D1-5A1D-068FBBBB5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B5BE5-C0A4-4D6D-8CF1-D2392AC0B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6C04D-C381-3FC5-FF1C-8A63DC4D032A}"/>
              </a:ext>
            </a:extLst>
          </p:cNvPr>
          <p:cNvSpPr>
            <a:spLocks noGrp="1"/>
          </p:cNvSpPr>
          <p:nvPr>
            <p:ph type="body" idx="1"/>
          </p:nvPr>
        </p:nvSpPr>
        <p:spPr/>
        <p:txBody>
          <a:bodyPr/>
          <a:lstStyle/>
          <a:p>
            <a:pPr marL="0" marR="0" lvl="0" indent="0" algn="l" defTabSz="914400" rtl="0" eaLnBrk="1" fontAlgn="auto" latinLnBrk="0" hangingPunct="1">
              <a:lnSpc>
                <a:spcPct val="107000"/>
              </a:lnSpc>
              <a:spcBef>
                <a:spcPts val="200"/>
              </a:spcBef>
              <a:spcAft>
                <a:spcPts val="0"/>
              </a:spcAft>
              <a:buClrTx/>
              <a:buSzTx/>
              <a:buFontTx/>
              <a:buNone/>
              <a:tabLst/>
              <a:defRPr/>
            </a:pPr>
            <a:r>
              <a:rPr lang="en-IN" b="1" dirty="0"/>
              <a:t>Trainer can mention </a:t>
            </a:r>
            <a:r>
              <a:rPr lang="en-IN" sz="1200" b="1" dirty="0">
                <a:solidFill>
                  <a:srgbClr val="002060"/>
                </a:solidFill>
                <a:latin typeface="Arial" panose="020B0604020202020204" pitchFamily="34" charset="0"/>
                <a:cs typeface="Arial" panose="020B0604020202020204" pitchFamily="34" charset="0"/>
              </a:rPr>
              <a:t>TensorFlow Installation &amp; Setup</a:t>
            </a:r>
            <a:endParaRPr lang="en-US" sz="1200" b="1" dirty="0">
              <a:solidFill>
                <a:srgbClr val="002060"/>
              </a:solidFill>
              <a:latin typeface="Arial" panose="020B0604020202020204" pitchFamily="34" charset="0"/>
              <a:cs typeface="Arial" panose="020B0604020202020204" pitchFamily="34" charset="0"/>
            </a:endParaRPr>
          </a:p>
          <a:p>
            <a:pPr>
              <a:buFont typeface="Arial" panose="020B0604020202020204" pitchFamily="34" charset="0"/>
              <a:buChar char="•"/>
            </a:pPr>
            <a:endParaRPr lang="en-US" dirty="0"/>
          </a:p>
          <a:p>
            <a:pPr>
              <a:buFont typeface="Arial" panose="020B0604020202020204" pitchFamily="34" charset="0"/>
              <a:buChar char="•"/>
            </a:pPr>
            <a:r>
              <a:rPr lang="en-US" dirty="0"/>
              <a:t>First, check if pip is available using pip --version. It usually comes with Python.</a:t>
            </a:r>
          </a:p>
          <a:p>
            <a:pPr>
              <a:buFont typeface="Arial" panose="020B0604020202020204" pitchFamily="34" charset="0"/>
              <a:buChar char="•"/>
            </a:pPr>
            <a:r>
              <a:rPr lang="en-US" dirty="0"/>
              <a:t>For clean project management, I recommend creating a virtual environment using python -m </a:t>
            </a:r>
            <a:r>
              <a:rPr lang="en-US" dirty="0" err="1"/>
              <a:t>venv</a:t>
            </a:r>
            <a:r>
              <a:rPr lang="en-US" dirty="0"/>
              <a:t> </a:t>
            </a:r>
            <a:r>
              <a:rPr lang="en-US" dirty="0" err="1"/>
              <a:t>tensorflow_env</a:t>
            </a:r>
            <a:r>
              <a:rPr lang="en-US" dirty="0"/>
              <a:t>.</a:t>
            </a:r>
          </a:p>
          <a:p>
            <a:pPr>
              <a:buFont typeface="Arial" panose="020B0604020202020204" pitchFamily="34" charset="0"/>
              <a:buChar char="•"/>
            </a:pPr>
            <a:r>
              <a:rPr lang="en-US" dirty="0"/>
              <a:t>Activate it—use the appropriate command depending on your operating system.</a:t>
            </a:r>
          </a:p>
          <a:p>
            <a:pPr>
              <a:buFont typeface="Arial" panose="020B0604020202020204" pitchFamily="34" charset="0"/>
              <a:buChar char="•"/>
            </a:pPr>
            <a:r>
              <a:rPr lang="en-US" dirty="0"/>
              <a:t>Upgrade pip to avoid any compatibility issues with packages.</a:t>
            </a:r>
          </a:p>
          <a:p>
            <a:pPr>
              <a:buFont typeface="Arial" panose="020B0604020202020204" pitchFamily="34" charset="0"/>
              <a:buChar char="•"/>
            </a:pPr>
            <a:r>
              <a:rPr lang="en-US" dirty="0"/>
              <a:t>Install TensorFlow with a simple pip install </a:t>
            </a:r>
            <a:r>
              <a:rPr lang="en-US" dirty="0" err="1"/>
              <a:t>tensorflow</a:t>
            </a:r>
            <a:r>
              <a:rPr lang="en-US" dirty="0"/>
              <a:t>. This will fetch the latest stable release.</a:t>
            </a:r>
          </a:p>
          <a:p>
            <a:pPr>
              <a:buFont typeface="Arial" panose="020B0604020202020204" pitchFamily="34" charset="0"/>
              <a:buChar char="•"/>
            </a:pPr>
            <a:r>
              <a:rPr lang="en-US" dirty="0"/>
              <a:t>Finally, verify the installation by importing TensorFlow in Python and checking the version using </a:t>
            </a:r>
            <a:r>
              <a:rPr lang="en-US" dirty="0" err="1"/>
              <a:t>tf</a:t>
            </a:r>
            <a:r>
              <a:rPr lang="en-US" dirty="0"/>
              <a:t>.__version__.</a:t>
            </a:r>
          </a:p>
          <a:p>
            <a:r>
              <a:rPr lang="en-US" dirty="0"/>
              <a:t>This setup ensures your system is ready for TensorFlow-based deep learning projects.</a:t>
            </a:r>
          </a:p>
          <a:p>
            <a:endParaRPr lang="en-US" dirty="0"/>
          </a:p>
        </p:txBody>
      </p:sp>
      <p:sp>
        <p:nvSpPr>
          <p:cNvPr id="4" name="Slide Number Placeholder 3">
            <a:extLst>
              <a:ext uri="{FF2B5EF4-FFF2-40B4-BE49-F238E27FC236}">
                <a16:creationId xmlns:a16="http://schemas.microsoft.com/office/drawing/2014/main" id="{A82235BE-1634-720B-E701-35A701C3D18A}"/>
              </a:ext>
            </a:extLst>
          </p:cNvPr>
          <p:cNvSpPr>
            <a:spLocks noGrp="1"/>
          </p:cNvSpPr>
          <p:nvPr>
            <p:ph type="sldNum" sz="quarter" idx="5"/>
          </p:nvPr>
        </p:nvSpPr>
        <p:spPr/>
        <p:txBody>
          <a:bodyPr/>
          <a:lstStyle/>
          <a:p>
            <a:fld id="{65AB13E8-2198-45C9-87A4-619C67778A51}" type="slidenum">
              <a:rPr lang="en-IN" smtClean="0"/>
              <a:t>13</a:t>
            </a:fld>
            <a:endParaRPr lang="en-IN"/>
          </a:p>
        </p:txBody>
      </p:sp>
    </p:spTree>
    <p:extLst>
      <p:ext uri="{BB962C8B-B14F-4D97-AF65-F5344CB8AC3E}">
        <p14:creationId xmlns:p14="http://schemas.microsoft.com/office/powerpoint/2010/main" val="3328514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FFC4C-ED12-31B5-6E30-EAD6E03D3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31A7F-CA9A-292A-CC69-1658C1634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532E3-D68B-C86E-8EA3-2ABE16D23705}"/>
              </a:ext>
            </a:extLst>
          </p:cNvPr>
          <p:cNvSpPr>
            <a:spLocks noGrp="1"/>
          </p:cNvSpPr>
          <p:nvPr>
            <p:ph type="body" idx="1"/>
          </p:nvPr>
        </p:nvSpPr>
        <p:spPr/>
        <p:txBody>
          <a:bodyPr/>
          <a:lstStyle/>
          <a:p>
            <a:pPr algn="just">
              <a:lnSpc>
                <a:spcPct val="107000"/>
              </a:lnSpc>
              <a:spcBef>
                <a:spcPts val="200"/>
              </a:spcBef>
            </a:pPr>
            <a:r>
              <a:rPr lang="en-IN" b="1" dirty="0"/>
              <a:t>Trainer will discuss </a:t>
            </a:r>
            <a:r>
              <a:rPr lang="en-US" sz="1200" b="1" dirty="0">
                <a:solidFill>
                  <a:srgbClr val="002060"/>
                </a:solidFill>
                <a:latin typeface="Arial" panose="020B0604020202020204" pitchFamily="34" charset="0"/>
                <a:cs typeface="Arial" panose="020B0604020202020204" pitchFamily="34" charset="0"/>
              </a:rPr>
              <a:t>What is a Tensor?</a:t>
            </a:r>
          </a:p>
          <a:p>
            <a:pPr>
              <a:buNone/>
            </a:pPr>
            <a:br>
              <a:rPr lang="en-US" dirty="0"/>
            </a:br>
            <a:r>
              <a:rPr lang="en-US" b="0" dirty="0"/>
              <a:t>Let’s understand what a tensor really is.</a:t>
            </a:r>
          </a:p>
          <a:p>
            <a:pPr>
              <a:buFont typeface="Arial" panose="020B0604020202020204" pitchFamily="34" charset="0"/>
              <a:buChar char="•"/>
            </a:pPr>
            <a:r>
              <a:rPr lang="en-US" b="0" dirty="0"/>
              <a:t>A tensor is like an upgraded version of scalars, vectors, and matrices—it can be seen as a multi-dimensional array.</a:t>
            </a:r>
          </a:p>
          <a:p>
            <a:pPr>
              <a:buFont typeface="Arial" panose="020B0604020202020204" pitchFamily="34" charset="0"/>
              <a:buChar char="•"/>
            </a:pPr>
            <a:r>
              <a:rPr lang="en-US" b="0" dirty="0"/>
              <a:t>What sets tensors apart is their behavior under coordinate changes, which makes them valuable for describing physical phenomena that depend on direction—like force or stress.</a:t>
            </a:r>
          </a:p>
          <a:p>
            <a:pPr>
              <a:buFont typeface="Arial" panose="020B0604020202020204" pitchFamily="34" charset="0"/>
              <a:buChar char="•"/>
            </a:pPr>
            <a:r>
              <a:rPr lang="en-US" b="0" dirty="0"/>
              <a:t>The rank or order of a tensor tells us what kind of object it is:</a:t>
            </a:r>
          </a:p>
          <a:p>
            <a:pPr marL="742950" lvl="1" indent="-285750">
              <a:buFont typeface="Arial" panose="020B0604020202020204" pitchFamily="34" charset="0"/>
              <a:buChar char="•"/>
            </a:pPr>
            <a:r>
              <a:rPr lang="en-US" b="0" dirty="0"/>
              <a:t>Rank 0: Scalar – just a single value, no direction.</a:t>
            </a:r>
          </a:p>
          <a:p>
            <a:pPr marL="742950" lvl="1" indent="-285750">
              <a:buFont typeface="Arial" panose="020B0604020202020204" pitchFamily="34" charset="0"/>
              <a:buChar char="•"/>
            </a:pPr>
            <a:r>
              <a:rPr lang="en-US" b="0" dirty="0"/>
              <a:t>Rank 1: Vector – has direction and magnitude.</a:t>
            </a:r>
          </a:p>
          <a:p>
            <a:pPr marL="742950" lvl="1" indent="-285750">
              <a:buFont typeface="Arial" panose="020B0604020202020204" pitchFamily="34" charset="0"/>
              <a:buChar char="•"/>
            </a:pPr>
            <a:r>
              <a:rPr lang="en-US" b="0" dirty="0"/>
              <a:t>Rank 2: Matrix – can represent more complex relations, like how stress spreads across a surface.</a:t>
            </a:r>
          </a:p>
          <a:p>
            <a:pPr>
              <a:buFont typeface="Arial" panose="020B0604020202020204" pitchFamily="34" charset="0"/>
              <a:buChar char="•"/>
            </a:pPr>
            <a:r>
              <a:rPr lang="en-US" b="0" dirty="0"/>
              <a:t>Tensors are the foundation of many scientific fields—physics, machine learning, and especially deep learning where data comes in high-dimensional forms (like images, which are 3D tensors).</a:t>
            </a:r>
          </a:p>
          <a:p>
            <a:pPr marL="0" marR="0" lvl="0" indent="0" algn="l" defTabSz="914400" rtl="0" eaLnBrk="1" fontAlgn="auto" latinLnBrk="0" hangingPunct="1">
              <a:lnSpc>
                <a:spcPct val="107000"/>
              </a:lnSpc>
              <a:spcBef>
                <a:spcPts val="20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FBC2FE0-8F2D-C1A4-BD57-A645A29175AC}"/>
              </a:ext>
            </a:extLst>
          </p:cNvPr>
          <p:cNvSpPr>
            <a:spLocks noGrp="1"/>
          </p:cNvSpPr>
          <p:nvPr>
            <p:ph type="sldNum" sz="quarter" idx="5"/>
          </p:nvPr>
        </p:nvSpPr>
        <p:spPr/>
        <p:txBody>
          <a:bodyPr/>
          <a:lstStyle/>
          <a:p>
            <a:fld id="{65AB13E8-2198-45C9-87A4-619C67778A51}" type="slidenum">
              <a:rPr lang="en-IN" smtClean="0"/>
              <a:t>14</a:t>
            </a:fld>
            <a:endParaRPr lang="en-IN"/>
          </a:p>
        </p:txBody>
      </p:sp>
    </p:spTree>
    <p:extLst>
      <p:ext uri="{BB962C8B-B14F-4D97-AF65-F5344CB8AC3E}">
        <p14:creationId xmlns:p14="http://schemas.microsoft.com/office/powerpoint/2010/main" val="4161146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CACF4-50B9-992A-3573-E9374E834E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8290C-EA05-1D96-19C1-775F24F05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67F10-D0D5-BF6B-2B95-370C5291B376}"/>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TensorFlow provides a variety of functions to create different types of tensors, which are the basic data structures used throughout machine learning workflows. Understanding how to initialize and work with tensors is essential because they hold the input data, model parameters, and intermediate computations in neural networks. </a:t>
            </a:r>
          </a:p>
          <a:p>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a:p>
            <a:r>
              <a:rPr lang="en-IN" sz="1200" b="1" kern="1200" dirty="0" err="1">
                <a:solidFill>
                  <a:schemeClr val="tx1"/>
                </a:solidFill>
                <a:effectLst/>
                <a:latin typeface="+mn-lt"/>
                <a:ea typeface="+mn-ea"/>
                <a:cs typeface="+mn-cs"/>
              </a:rPr>
              <a:t>tf.constant</a:t>
            </a:r>
            <a:r>
              <a:rPr lang="en-IN" sz="1200" b="1" kern="1200" dirty="0">
                <a:solidFill>
                  <a:schemeClr val="tx1"/>
                </a:solidFill>
                <a:effectLst/>
                <a:latin typeface="+mn-lt"/>
                <a:ea typeface="+mn-ea"/>
                <a:cs typeface="+mn-cs"/>
              </a:rPr>
              <a:t>()</a:t>
            </a:r>
          </a:p>
          <a:p>
            <a:r>
              <a:rPr lang="en-IN" sz="1200" kern="1200" dirty="0" err="1">
                <a:solidFill>
                  <a:schemeClr val="tx1"/>
                </a:solidFill>
                <a:effectLst/>
                <a:latin typeface="+mn-lt"/>
                <a:ea typeface="+mn-ea"/>
                <a:cs typeface="+mn-cs"/>
              </a:rPr>
              <a:t>tf.constant</a:t>
            </a:r>
            <a:r>
              <a:rPr lang="en-IN" sz="1200" kern="1200" dirty="0">
                <a:solidFill>
                  <a:schemeClr val="tx1"/>
                </a:solidFill>
                <a:effectLst/>
                <a:latin typeface="+mn-lt"/>
                <a:ea typeface="+mn-ea"/>
                <a:cs typeface="+mn-cs"/>
              </a:rPr>
              <a:t>() is used to create immutable tensors, meaning their values cannot be changed once created. These are useful for storing fixed information such as configuration parameters, predefined arrays, or values that should not be updated during training.</a:t>
            </a:r>
          </a:p>
          <a:p>
            <a:endParaRPr lang="en-IN" sz="1200" kern="1200" dirty="0">
              <a:solidFill>
                <a:schemeClr val="tx1"/>
              </a:solidFill>
              <a:effectLst/>
              <a:latin typeface="+mn-lt"/>
              <a:ea typeface="+mn-ea"/>
              <a:cs typeface="+mn-cs"/>
            </a:endParaRPr>
          </a:p>
          <a:p>
            <a:r>
              <a:rPr lang="en-IN" sz="1200" b="1" kern="1200" dirty="0" err="1">
                <a:solidFill>
                  <a:schemeClr val="tx1"/>
                </a:solidFill>
                <a:effectLst/>
                <a:latin typeface="+mn-lt"/>
                <a:ea typeface="+mn-ea"/>
                <a:cs typeface="+mn-cs"/>
              </a:rPr>
              <a:t>tf.Variable</a:t>
            </a:r>
            <a:r>
              <a:rPr lang="en-IN" sz="1200" b="1" kern="1200" dirty="0">
                <a:solidFill>
                  <a:schemeClr val="tx1"/>
                </a:solidFill>
                <a:effectLst/>
                <a:latin typeface="+mn-lt"/>
                <a:ea typeface="+mn-ea"/>
                <a:cs typeface="+mn-cs"/>
              </a:rPr>
              <a:t>()</a:t>
            </a:r>
          </a:p>
          <a:p>
            <a:r>
              <a:rPr lang="en-IN" sz="1200" kern="1200" dirty="0" err="1">
                <a:solidFill>
                  <a:schemeClr val="tx1"/>
                </a:solidFill>
                <a:effectLst/>
                <a:latin typeface="+mn-lt"/>
                <a:ea typeface="+mn-ea"/>
                <a:cs typeface="+mn-cs"/>
              </a:rPr>
              <a:t>tf.Variable</a:t>
            </a:r>
            <a:r>
              <a:rPr lang="en-IN" sz="1200" kern="1200" dirty="0">
                <a:solidFill>
                  <a:schemeClr val="tx1"/>
                </a:solidFill>
                <a:effectLst/>
                <a:latin typeface="+mn-lt"/>
                <a:ea typeface="+mn-ea"/>
                <a:cs typeface="+mn-cs"/>
              </a:rPr>
              <a:t>() creates mutable tensors, typically used to store trainable parameters like weights and biases in deep learning models. Their values can be updated using .assign() operations or automatically during backpropagation and optimization. </a:t>
            </a:r>
          </a:p>
          <a:p>
            <a:endParaRPr lang="en-IN" sz="1200" kern="1200" dirty="0">
              <a:solidFill>
                <a:schemeClr val="tx1"/>
              </a:solidFill>
              <a:effectLst/>
              <a:latin typeface="+mn-lt"/>
              <a:ea typeface="+mn-ea"/>
              <a:cs typeface="+mn-cs"/>
            </a:endParaRPr>
          </a:p>
          <a:p>
            <a:r>
              <a:rPr lang="en-IN" sz="1200" b="1" kern="1200" dirty="0" err="1">
                <a:solidFill>
                  <a:schemeClr val="tx1"/>
                </a:solidFill>
                <a:effectLst/>
                <a:latin typeface="+mn-lt"/>
                <a:ea typeface="+mn-ea"/>
                <a:cs typeface="+mn-cs"/>
              </a:rPr>
              <a:t>tf.zeros</a:t>
            </a:r>
            <a:r>
              <a:rPr lang="en-IN" sz="1200" b="1" kern="1200" dirty="0">
                <a:solidFill>
                  <a:schemeClr val="tx1"/>
                </a:solidFill>
                <a:effectLst/>
                <a:latin typeface="+mn-lt"/>
                <a:ea typeface="+mn-ea"/>
                <a:cs typeface="+mn-cs"/>
              </a:rPr>
              <a:t>() and </a:t>
            </a:r>
            <a:r>
              <a:rPr lang="en-IN" sz="1200" b="1" kern="1200" dirty="0" err="1">
                <a:solidFill>
                  <a:schemeClr val="tx1"/>
                </a:solidFill>
                <a:effectLst/>
                <a:latin typeface="+mn-lt"/>
                <a:ea typeface="+mn-ea"/>
                <a:cs typeface="+mn-cs"/>
              </a:rPr>
              <a:t>tf.ones</a:t>
            </a:r>
            <a:r>
              <a:rPr lang="en-IN" sz="1200" b="1"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These functions create tensors filled entirely with zeros or ones. They are commonly used for initializing placeholders, padding, and sometimes for initializing model parameters.</a:t>
            </a:r>
          </a:p>
          <a:p>
            <a:r>
              <a:rPr lang="en-IN" sz="1200" kern="1200" dirty="0">
                <a:solidFill>
                  <a:schemeClr val="tx1"/>
                </a:solidFill>
                <a:effectLst/>
                <a:latin typeface="+mn-lt"/>
                <a:ea typeface="+mn-ea"/>
                <a:cs typeface="+mn-cs"/>
              </a:rPr>
              <a:t> </a:t>
            </a:r>
          </a:p>
          <a:p>
            <a:endParaRPr lang="en-IN" sz="1200" kern="1200" dirty="0">
              <a:solidFill>
                <a:schemeClr val="tx1"/>
              </a:solidFill>
              <a:effectLst/>
              <a:latin typeface="+mn-lt"/>
              <a:ea typeface="+mn-ea"/>
              <a:cs typeface="+mn-cs"/>
            </a:endParaRPr>
          </a:p>
          <a:p>
            <a:r>
              <a:rPr lang="en-IN" sz="1200" b="1" kern="1200" dirty="0" err="1">
                <a:solidFill>
                  <a:schemeClr val="tx1"/>
                </a:solidFill>
                <a:effectLst/>
                <a:latin typeface="+mn-lt"/>
                <a:ea typeface="+mn-ea"/>
                <a:cs typeface="+mn-cs"/>
              </a:rPr>
              <a:t>tf.random</a:t>
            </a:r>
            <a:r>
              <a:rPr lang="en-IN" sz="1200" b="1" kern="1200" dirty="0">
                <a:solidFill>
                  <a:schemeClr val="tx1"/>
                </a:solidFill>
                <a:effectLst/>
                <a:latin typeface="+mn-lt"/>
                <a:ea typeface="+mn-ea"/>
                <a:cs typeface="+mn-cs"/>
              </a:rPr>
              <a:t>() Functions</a:t>
            </a:r>
          </a:p>
          <a:p>
            <a:r>
              <a:rPr lang="en-IN" sz="1200" kern="1200" dirty="0">
                <a:solidFill>
                  <a:schemeClr val="tx1"/>
                </a:solidFill>
                <a:effectLst/>
                <a:latin typeface="+mn-lt"/>
                <a:ea typeface="+mn-ea"/>
                <a:cs typeface="+mn-cs"/>
              </a:rPr>
              <a:t>TensorFlow provides random tensor generation functions like </a:t>
            </a:r>
            <a:r>
              <a:rPr lang="en-IN" sz="1200" kern="1200" dirty="0" err="1">
                <a:solidFill>
                  <a:schemeClr val="tx1"/>
                </a:solidFill>
                <a:effectLst/>
                <a:latin typeface="+mn-lt"/>
                <a:ea typeface="+mn-ea"/>
                <a:cs typeface="+mn-cs"/>
              </a:rPr>
              <a:t>tf.random.normal</a:t>
            </a:r>
            <a:r>
              <a:rPr lang="en-IN" sz="1200" kern="1200" dirty="0">
                <a:solidFill>
                  <a:schemeClr val="tx1"/>
                </a:solidFill>
                <a:effectLst/>
                <a:latin typeface="+mn-lt"/>
                <a:ea typeface="+mn-ea"/>
                <a:cs typeface="+mn-cs"/>
              </a:rPr>
              <a:t>() and </a:t>
            </a:r>
            <a:r>
              <a:rPr lang="en-IN" sz="1200" kern="1200" dirty="0" err="1">
                <a:solidFill>
                  <a:schemeClr val="tx1"/>
                </a:solidFill>
                <a:effectLst/>
                <a:latin typeface="+mn-lt"/>
                <a:ea typeface="+mn-ea"/>
                <a:cs typeface="+mn-cs"/>
              </a:rPr>
              <a:t>tf.random.uniform</a:t>
            </a:r>
            <a:r>
              <a:rPr lang="en-IN" sz="1200" kern="1200" dirty="0">
                <a:solidFill>
                  <a:schemeClr val="tx1"/>
                </a:solidFill>
                <a:effectLst/>
                <a:latin typeface="+mn-lt"/>
                <a:ea typeface="+mn-ea"/>
                <a:cs typeface="+mn-cs"/>
              </a:rPr>
              <a:t>(). These are often used to initialize model weights with small random values, which helps avoid symmetry issues in neural networks. </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Overall, these TensorFlow tensor creation methods provide flexible ways to define data, initialize neural networks, and build complex machine learning pipelines.</a:t>
            </a:r>
          </a:p>
          <a:p>
            <a:r>
              <a:rPr lang="en-IN" sz="1200" kern="1200" dirty="0">
                <a:solidFill>
                  <a:schemeClr val="tx1"/>
                </a:solidFill>
                <a:effectLst/>
                <a:latin typeface="+mn-lt"/>
                <a:ea typeface="+mn-ea"/>
                <a:cs typeface="+mn-cs"/>
              </a:rPr>
              <a:t> </a:t>
            </a:r>
          </a:p>
          <a:p>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1713D6B-CAC2-02A2-D522-43597F1A71D7}"/>
              </a:ext>
            </a:extLst>
          </p:cNvPr>
          <p:cNvSpPr>
            <a:spLocks noGrp="1"/>
          </p:cNvSpPr>
          <p:nvPr>
            <p:ph type="sldNum" sz="quarter" idx="5"/>
          </p:nvPr>
        </p:nvSpPr>
        <p:spPr/>
        <p:txBody>
          <a:bodyPr/>
          <a:lstStyle/>
          <a:p>
            <a:fld id="{65AB13E8-2198-45C9-87A4-619C67778A51}" type="slidenum">
              <a:rPr lang="en-IN" smtClean="0"/>
              <a:t>15</a:t>
            </a:fld>
            <a:endParaRPr lang="en-IN"/>
          </a:p>
        </p:txBody>
      </p:sp>
    </p:spTree>
    <p:extLst>
      <p:ext uri="{BB962C8B-B14F-4D97-AF65-F5344CB8AC3E}">
        <p14:creationId xmlns:p14="http://schemas.microsoft.com/office/powerpoint/2010/main" val="3669538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931E7-23AA-EC05-36EA-A95CB44C9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77DA0-D223-CD11-B78E-9D08DA9F1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7A30F-211E-1DB6-8A15-427301F35B59}"/>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TensorFlow operations often called ops are the fundamental building blocks used to perform computations on tensors. Every mathematical function, transformation, or neural network layer in TensorFlow is executed using one or more operations. An operation can take zero or more tensors as input, perform a computation, and produce one or more output tensors. Because TensorFlow uses a computation graph structure, these ops can run efficiently on CPUs, GPUs, or TPUs.   </a:t>
            </a:r>
          </a:p>
          <a:p>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Addition - we can add two or more tensors in </a:t>
            </a:r>
            <a:r>
              <a:rPr lang="en-IN" sz="1200" kern="1200" dirty="0" err="1">
                <a:solidFill>
                  <a:schemeClr val="tx1"/>
                </a:solidFill>
                <a:effectLst/>
                <a:latin typeface="+mn-lt"/>
                <a:ea typeface="+mn-ea"/>
                <a:cs typeface="+mn-cs"/>
              </a:rPr>
              <a:t>tensorflow</a:t>
            </a:r>
            <a:r>
              <a:rPr lang="en-IN" sz="1200" kern="1200" dirty="0">
                <a:solidFill>
                  <a:schemeClr val="tx1"/>
                </a:solidFill>
                <a:effectLst/>
                <a:latin typeface="+mn-lt"/>
                <a:ea typeface="+mn-ea"/>
                <a:cs typeface="+mn-cs"/>
              </a:rPr>
              <a:t> using “</a:t>
            </a:r>
            <a:r>
              <a:rPr lang="en-IN" sz="1200" kern="1200" dirty="0" err="1">
                <a:solidFill>
                  <a:schemeClr val="tx1"/>
                </a:solidFill>
                <a:effectLst/>
                <a:latin typeface="+mn-lt"/>
                <a:ea typeface="+mn-ea"/>
                <a:cs typeface="+mn-cs"/>
              </a:rPr>
              <a:t>tf.add</a:t>
            </a:r>
            <a:r>
              <a:rPr lang="en-IN" sz="1200" kern="1200" dirty="0">
                <a:solidFill>
                  <a:schemeClr val="tx1"/>
                </a:solidFill>
                <a:effectLst/>
                <a:latin typeface="+mn-lt"/>
                <a:ea typeface="+mn-ea"/>
                <a:cs typeface="+mn-cs"/>
              </a:rPr>
              <a:t>” function.</a:t>
            </a:r>
          </a:p>
          <a:p>
            <a:r>
              <a:rPr lang="en-IN" sz="1200" kern="1200" dirty="0">
                <a:solidFill>
                  <a:schemeClr val="tx1"/>
                </a:solidFill>
                <a:effectLst/>
                <a:latin typeface="+mn-lt"/>
                <a:ea typeface="+mn-ea"/>
                <a:cs typeface="+mn-cs"/>
              </a:rPr>
              <a:t> </a:t>
            </a:r>
          </a:p>
          <a:p>
            <a:pPr lvl="0"/>
            <a:r>
              <a:rPr lang="en-IN" sz="1200" kern="1200" dirty="0">
                <a:solidFill>
                  <a:schemeClr val="tx1"/>
                </a:solidFill>
                <a:effectLst/>
                <a:latin typeface="+mn-lt"/>
                <a:ea typeface="+mn-ea"/>
                <a:cs typeface="+mn-cs"/>
              </a:rPr>
              <a:t>Subtraction - we can subtract one tensor from other in </a:t>
            </a:r>
            <a:r>
              <a:rPr lang="en-IN" sz="1200" kern="1200" dirty="0" err="1">
                <a:solidFill>
                  <a:schemeClr val="tx1"/>
                </a:solidFill>
                <a:effectLst/>
                <a:latin typeface="+mn-lt"/>
                <a:ea typeface="+mn-ea"/>
                <a:cs typeface="+mn-cs"/>
              </a:rPr>
              <a:t>tensorflow</a:t>
            </a:r>
            <a:r>
              <a:rPr lang="en-IN" sz="1200" kern="1200" dirty="0">
                <a:solidFill>
                  <a:schemeClr val="tx1"/>
                </a:solidFill>
                <a:effectLst/>
                <a:latin typeface="+mn-lt"/>
                <a:ea typeface="+mn-ea"/>
                <a:cs typeface="+mn-cs"/>
              </a:rPr>
              <a:t> using “</a:t>
            </a:r>
            <a:r>
              <a:rPr lang="en-IN" sz="1200" kern="1200" dirty="0" err="1">
                <a:solidFill>
                  <a:schemeClr val="tx1"/>
                </a:solidFill>
                <a:effectLst/>
                <a:latin typeface="+mn-lt"/>
                <a:ea typeface="+mn-ea"/>
                <a:cs typeface="+mn-cs"/>
              </a:rPr>
              <a:t>tf.subtract</a:t>
            </a:r>
            <a:r>
              <a:rPr lang="en-IN" sz="1200" kern="1200" dirty="0">
                <a:solidFill>
                  <a:schemeClr val="tx1"/>
                </a:solidFill>
                <a:effectLst/>
                <a:latin typeface="+mn-lt"/>
                <a:ea typeface="+mn-ea"/>
                <a:cs typeface="+mn-cs"/>
              </a:rPr>
              <a:t>” function.</a:t>
            </a:r>
          </a:p>
          <a:p>
            <a:r>
              <a:rPr lang="en-IN" sz="1200" kern="1200" dirty="0">
                <a:solidFill>
                  <a:schemeClr val="tx1"/>
                </a:solidFill>
                <a:effectLst/>
                <a:latin typeface="+mn-lt"/>
                <a:ea typeface="+mn-ea"/>
                <a:cs typeface="+mn-cs"/>
              </a:rPr>
              <a:t> </a:t>
            </a:r>
          </a:p>
          <a:p>
            <a:pPr lvl="0"/>
            <a:r>
              <a:rPr lang="en-IN" sz="1200" kern="1200" dirty="0">
                <a:solidFill>
                  <a:schemeClr val="tx1"/>
                </a:solidFill>
                <a:effectLst/>
                <a:latin typeface="+mn-lt"/>
                <a:ea typeface="+mn-ea"/>
                <a:cs typeface="+mn-cs"/>
              </a:rPr>
              <a:t>Multiplication  - we can perform multiplication on two or more tensors in </a:t>
            </a:r>
            <a:r>
              <a:rPr lang="en-IN" sz="1200" kern="1200" dirty="0" err="1">
                <a:solidFill>
                  <a:schemeClr val="tx1"/>
                </a:solidFill>
                <a:effectLst/>
                <a:latin typeface="+mn-lt"/>
                <a:ea typeface="+mn-ea"/>
                <a:cs typeface="+mn-cs"/>
              </a:rPr>
              <a:t>tensorflow</a:t>
            </a:r>
            <a:r>
              <a:rPr lang="en-IN" sz="1200" kern="1200" dirty="0">
                <a:solidFill>
                  <a:schemeClr val="tx1"/>
                </a:solidFill>
                <a:effectLst/>
                <a:latin typeface="+mn-lt"/>
                <a:ea typeface="+mn-ea"/>
                <a:cs typeface="+mn-cs"/>
              </a:rPr>
              <a:t> using “</a:t>
            </a:r>
            <a:r>
              <a:rPr lang="en-IN" sz="1200" kern="1200" dirty="0" err="1">
                <a:solidFill>
                  <a:schemeClr val="tx1"/>
                </a:solidFill>
                <a:effectLst/>
                <a:latin typeface="+mn-lt"/>
                <a:ea typeface="+mn-ea"/>
                <a:cs typeface="+mn-cs"/>
              </a:rPr>
              <a:t>tf.multiply</a:t>
            </a:r>
            <a:r>
              <a:rPr lang="en-IN" sz="1200" kern="1200" dirty="0">
                <a:solidFill>
                  <a:schemeClr val="tx1"/>
                </a:solidFill>
                <a:effectLst/>
                <a:latin typeface="+mn-lt"/>
                <a:ea typeface="+mn-ea"/>
                <a:cs typeface="+mn-cs"/>
              </a:rPr>
              <a:t>” function.</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Division - we can perform Division on two tensors in </a:t>
            </a:r>
            <a:r>
              <a:rPr lang="en-IN" sz="1200" kern="1200" dirty="0" err="1">
                <a:solidFill>
                  <a:schemeClr val="tx1"/>
                </a:solidFill>
                <a:effectLst/>
                <a:latin typeface="+mn-lt"/>
                <a:ea typeface="+mn-ea"/>
                <a:cs typeface="+mn-cs"/>
              </a:rPr>
              <a:t>tensorflow</a:t>
            </a:r>
            <a:r>
              <a:rPr lang="en-IN" sz="1200" kern="1200" dirty="0">
                <a:solidFill>
                  <a:schemeClr val="tx1"/>
                </a:solidFill>
                <a:effectLst/>
                <a:latin typeface="+mn-lt"/>
                <a:ea typeface="+mn-ea"/>
                <a:cs typeface="+mn-cs"/>
              </a:rPr>
              <a:t> using “</a:t>
            </a:r>
            <a:r>
              <a:rPr lang="en-IN" sz="1200" kern="1200" dirty="0" err="1">
                <a:solidFill>
                  <a:schemeClr val="tx1"/>
                </a:solidFill>
                <a:effectLst/>
                <a:latin typeface="+mn-lt"/>
                <a:ea typeface="+mn-ea"/>
                <a:cs typeface="+mn-cs"/>
              </a:rPr>
              <a:t>tf.divide</a:t>
            </a:r>
            <a:r>
              <a:rPr lang="en-IN" sz="1200" kern="1200" dirty="0">
                <a:solidFill>
                  <a:schemeClr val="tx1"/>
                </a:solidFill>
                <a:effectLst/>
                <a:latin typeface="+mn-lt"/>
                <a:ea typeface="+mn-ea"/>
                <a:cs typeface="+mn-cs"/>
              </a:rPr>
              <a:t>” function.</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498912B-5811-FCBF-4661-CBD699FA84C8}"/>
              </a:ext>
            </a:extLst>
          </p:cNvPr>
          <p:cNvSpPr>
            <a:spLocks noGrp="1"/>
          </p:cNvSpPr>
          <p:nvPr>
            <p:ph type="sldNum" sz="quarter" idx="5"/>
          </p:nvPr>
        </p:nvSpPr>
        <p:spPr/>
        <p:txBody>
          <a:bodyPr/>
          <a:lstStyle/>
          <a:p>
            <a:fld id="{65AB13E8-2198-45C9-87A4-619C67778A51}" type="slidenum">
              <a:rPr lang="en-IN" smtClean="0"/>
              <a:t>16</a:t>
            </a:fld>
            <a:endParaRPr lang="en-IN"/>
          </a:p>
        </p:txBody>
      </p:sp>
    </p:spTree>
    <p:extLst>
      <p:ext uri="{BB962C8B-B14F-4D97-AF65-F5344CB8AC3E}">
        <p14:creationId xmlns:p14="http://schemas.microsoft.com/office/powerpoint/2010/main" val="1997449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FF81B-9091-88D9-352C-499DF70CC9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528BB-C04E-0580-88B9-D9BB83317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FE2844-023B-B589-25C2-D912244FA845}"/>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TensorFlow provides two major categories of mathematical computations on tensors: element-wise operations and matrix operations. Both are essential in deep learning because they support everything from simple arithmetic to complex layer transformations. </a:t>
            </a:r>
          </a:p>
          <a:p>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Element-Wise Operations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Element-wise operations apply mathematical functions to each element of a tensor independently. These operations require tensors to be of the same shape or </a:t>
            </a:r>
            <a:r>
              <a:rPr lang="en-IN" sz="1200" kern="1200" dirty="0" err="1">
                <a:solidFill>
                  <a:schemeClr val="tx1"/>
                </a:solidFill>
                <a:effectLst/>
                <a:latin typeface="+mn-lt"/>
                <a:ea typeface="+mn-ea"/>
                <a:cs typeface="+mn-cs"/>
              </a:rPr>
              <a:t>broadcastable</a:t>
            </a:r>
            <a:r>
              <a:rPr lang="en-IN" sz="1200" kern="1200" dirty="0">
                <a:solidFill>
                  <a:schemeClr val="tx1"/>
                </a:solidFill>
                <a:effectLst/>
                <a:latin typeface="+mn-lt"/>
                <a:ea typeface="+mn-ea"/>
                <a:cs typeface="+mn-cs"/>
              </a:rPr>
              <a:t> to a common shape. Examples include addition, subtraction, multiplication, division, exponentiation, and activation functions like </a:t>
            </a:r>
            <a:r>
              <a:rPr lang="en-IN" sz="1200" kern="1200" dirty="0" err="1">
                <a:solidFill>
                  <a:schemeClr val="tx1"/>
                </a:solidFill>
                <a:effectLst/>
                <a:latin typeface="+mn-lt"/>
                <a:ea typeface="+mn-ea"/>
                <a:cs typeface="+mn-cs"/>
              </a:rPr>
              <a:t>ReLU</a:t>
            </a:r>
            <a:r>
              <a:rPr lang="en-IN" sz="1200" kern="1200" dirty="0">
                <a:solidFill>
                  <a:schemeClr val="tx1"/>
                </a:solidFill>
                <a:effectLst/>
                <a:latin typeface="+mn-lt"/>
                <a:ea typeface="+mn-ea"/>
                <a:cs typeface="+mn-cs"/>
              </a:rPr>
              <a:t> and sigmoid.  </a:t>
            </a:r>
          </a:p>
          <a:p>
            <a:endParaRPr lang="en-IN" sz="1200" kern="1200" dirty="0">
              <a:solidFill>
                <a:schemeClr val="tx1"/>
              </a:solidFill>
              <a:effectLst/>
              <a:latin typeface="+mn-lt"/>
              <a:ea typeface="+mn-ea"/>
              <a:cs typeface="+mn-cs"/>
            </a:endParaRPr>
          </a:p>
          <a:p>
            <a:r>
              <a:rPr lang="en-IN" sz="1200" b="1" kern="1200" dirty="0">
                <a:solidFill>
                  <a:schemeClr val="tx1"/>
                </a:solidFill>
                <a:effectLst/>
                <a:latin typeface="+mn-lt"/>
                <a:ea typeface="+mn-ea"/>
                <a:cs typeface="+mn-cs"/>
              </a:rPr>
              <a:t>Matrix Operations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Matrix operations involve computations across rows and columns. These include matrix multiplication, dot products, transposition, and determinant computations. Matrix multiplication is especially important because every dense layer in a neural network uses it.</a:t>
            </a:r>
          </a:p>
          <a:p>
            <a:r>
              <a:rPr lang="en-IN" sz="1200" kern="1200" dirty="0">
                <a:solidFill>
                  <a:schemeClr val="tx1"/>
                </a:solidFill>
                <a:effectLst/>
                <a:latin typeface="+mn-lt"/>
                <a:ea typeface="+mn-ea"/>
                <a:cs typeface="+mn-cs"/>
              </a:rPr>
              <a:t> </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p>
        </p:txBody>
      </p:sp>
      <p:sp>
        <p:nvSpPr>
          <p:cNvPr id="4" name="Slide Number Placeholder 3">
            <a:extLst>
              <a:ext uri="{FF2B5EF4-FFF2-40B4-BE49-F238E27FC236}">
                <a16:creationId xmlns:a16="http://schemas.microsoft.com/office/drawing/2014/main" id="{A14098B5-2DB4-2E82-4729-B7C15860E03D}"/>
              </a:ext>
            </a:extLst>
          </p:cNvPr>
          <p:cNvSpPr>
            <a:spLocks noGrp="1"/>
          </p:cNvSpPr>
          <p:nvPr>
            <p:ph type="sldNum" sz="quarter" idx="5"/>
          </p:nvPr>
        </p:nvSpPr>
        <p:spPr/>
        <p:txBody>
          <a:bodyPr/>
          <a:lstStyle/>
          <a:p>
            <a:fld id="{65AB13E8-2198-45C9-87A4-619C67778A51}" type="slidenum">
              <a:rPr lang="en-IN" smtClean="0"/>
              <a:t>17</a:t>
            </a:fld>
            <a:endParaRPr lang="en-IN"/>
          </a:p>
        </p:txBody>
      </p:sp>
    </p:spTree>
    <p:extLst>
      <p:ext uri="{BB962C8B-B14F-4D97-AF65-F5344CB8AC3E}">
        <p14:creationId xmlns:p14="http://schemas.microsoft.com/office/powerpoint/2010/main" val="375703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E3CB-65B2-473C-439B-76D76C0CB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CDC65-B268-0D02-9470-6B13BC48D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8D99B-7235-8275-E766-A0DD57A0B007}"/>
              </a:ext>
            </a:extLst>
          </p:cNvPr>
          <p:cNvSpPr>
            <a:spLocks noGrp="1"/>
          </p:cNvSpPr>
          <p:nvPr>
            <p:ph type="body" idx="1"/>
          </p:nvPr>
        </p:nvSpPr>
        <p:spPr/>
        <p:txBody>
          <a:bodyPr/>
          <a:lstStyle/>
          <a:p>
            <a:r>
              <a:rPr lang="en-IN" sz="1200" kern="1200" dirty="0">
                <a:solidFill>
                  <a:schemeClr val="tx1"/>
                </a:solidFill>
                <a:effectLst/>
                <a:latin typeface="+mn-lt"/>
                <a:ea typeface="+mn-ea"/>
                <a:cs typeface="+mn-cs"/>
              </a:rPr>
              <a:t>A scalar is the simplest form of numerical data used in mathematics, machine learning, and TensorFlow. It represents a single value with no dimensions. Because it has no direction, magnitude, shape, or axes, it is considered a rank-0 tensor. Scalars often represent learning rates, loss values, temperature readings, or any quantity that can be expressed as one fixed numerical point. In neural networks, scalars appear frequently—for example, the loss after each training step is a scalar, as is a single prediction score when output size is one. </a:t>
            </a:r>
          </a:p>
        </p:txBody>
      </p:sp>
      <p:sp>
        <p:nvSpPr>
          <p:cNvPr id="4" name="Slide Number Placeholder 3">
            <a:extLst>
              <a:ext uri="{FF2B5EF4-FFF2-40B4-BE49-F238E27FC236}">
                <a16:creationId xmlns:a16="http://schemas.microsoft.com/office/drawing/2014/main" id="{83D62253-E0A0-A6D8-E742-ABC0AD339F30}"/>
              </a:ext>
            </a:extLst>
          </p:cNvPr>
          <p:cNvSpPr>
            <a:spLocks noGrp="1"/>
          </p:cNvSpPr>
          <p:nvPr>
            <p:ph type="sldNum" sz="quarter" idx="5"/>
          </p:nvPr>
        </p:nvSpPr>
        <p:spPr/>
        <p:txBody>
          <a:bodyPr/>
          <a:lstStyle/>
          <a:p>
            <a:fld id="{65AB13E8-2198-45C9-87A4-619C67778A51}" type="slidenum">
              <a:rPr lang="en-IN" smtClean="0"/>
              <a:t>18</a:t>
            </a:fld>
            <a:endParaRPr lang="en-IN"/>
          </a:p>
        </p:txBody>
      </p:sp>
    </p:spTree>
    <p:extLst>
      <p:ext uri="{BB962C8B-B14F-4D97-AF65-F5344CB8AC3E}">
        <p14:creationId xmlns:p14="http://schemas.microsoft.com/office/powerpoint/2010/main" val="3999306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3245-2916-D3BE-9E52-4CFD42F89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253C1-B1FF-D1E3-2BDA-52832DE13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53EFC-ACC6-5EDE-3F62-FB07E9EF3044}"/>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Vectors </a:t>
            </a:r>
          </a:p>
          <a:p>
            <a:r>
              <a:rPr lang="en-IN" sz="1200" kern="1200" dirty="0">
                <a:solidFill>
                  <a:schemeClr val="tx1"/>
                </a:solidFill>
                <a:effectLst/>
                <a:latin typeface="+mn-lt"/>
                <a:ea typeface="+mn-ea"/>
                <a:cs typeface="+mn-cs"/>
              </a:rPr>
              <a:t>A vector is a one-dimensional array of numbers representing magnitude and direction. In tensor terminology, a vector is a rank-1 tensor. Vectors are commonly used to represent features, weights, word embeddings, and probability distributions in machine learning. For example, a student’s marks in four subjects—[85, 76, 90, 88]—form a vector. Similarly, RGB </a:t>
            </a:r>
            <a:r>
              <a:rPr lang="en-IN" sz="1200" kern="1200" dirty="0" err="1">
                <a:solidFill>
                  <a:schemeClr val="tx1"/>
                </a:solidFill>
                <a:effectLst/>
                <a:latin typeface="+mn-lt"/>
                <a:ea typeface="+mn-ea"/>
                <a:cs typeface="+mn-cs"/>
              </a:rPr>
              <a:t>color</a:t>
            </a:r>
            <a:r>
              <a:rPr lang="en-IN" sz="1200" kern="1200" dirty="0">
                <a:solidFill>
                  <a:schemeClr val="tx1"/>
                </a:solidFill>
                <a:effectLst/>
                <a:latin typeface="+mn-lt"/>
                <a:ea typeface="+mn-ea"/>
                <a:cs typeface="+mn-cs"/>
              </a:rPr>
              <a:t> values such as [255, 100, 50] are also vectors. </a:t>
            </a:r>
          </a:p>
        </p:txBody>
      </p:sp>
      <p:sp>
        <p:nvSpPr>
          <p:cNvPr id="4" name="Slide Number Placeholder 3">
            <a:extLst>
              <a:ext uri="{FF2B5EF4-FFF2-40B4-BE49-F238E27FC236}">
                <a16:creationId xmlns:a16="http://schemas.microsoft.com/office/drawing/2014/main" id="{89A3E51D-5C2B-A4F8-9AC0-862F12FB6161}"/>
              </a:ext>
            </a:extLst>
          </p:cNvPr>
          <p:cNvSpPr>
            <a:spLocks noGrp="1"/>
          </p:cNvSpPr>
          <p:nvPr>
            <p:ph type="sldNum" sz="quarter" idx="5"/>
          </p:nvPr>
        </p:nvSpPr>
        <p:spPr/>
        <p:txBody>
          <a:bodyPr/>
          <a:lstStyle/>
          <a:p>
            <a:fld id="{65AB13E8-2198-45C9-87A4-619C67778A51}" type="slidenum">
              <a:rPr lang="en-IN" smtClean="0"/>
              <a:t>19</a:t>
            </a:fld>
            <a:endParaRPr lang="en-IN"/>
          </a:p>
        </p:txBody>
      </p:sp>
    </p:spTree>
    <p:extLst>
      <p:ext uri="{BB962C8B-B14F-4D97-AF65-F5344CB8AC3E}">
        <p14:creationId xmlns:p14="http://schemas.microsoft.com/office/powerpoint/2010/main" val="1153279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3BE3-D587-BEC7-003F-2059C915C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3F14A-3592-C9AC-8475-C6F687623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C97FE-F9A6-E0FB-B50D-DCB56EA7EE01}"/>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Matrices </a:t>
            </a:r>
          </a:p>
          <a:p>
            <a:r>
              <a:rPr lang="en-IN" sz="1200" kern="1200" dirty="0">
                <a:solidFill>
                  <a:schemeClr val="tx1"/>
                </a:solidFill>
                <a:effectLst/>
                <a:latin typeface="+mn-lt"/>
                <a:ea typeface="+mn-ea"/>
                <a:cs typeface="+mn-cs"/>
              </a:rPr>
              <a:t>A matrix is a two-dimensional grid of numbers arranged in rows and columns. It is a rank-2 tensor and is fundamental to linear algebra, machine learning, and deep learning. Matrices allow representation of structured information—for example, a grayscale image of size 28×28 can be represented as a matrix, where each cell contains a pixel intensity value. Matrices are also used as weight layers in neural networks, where input vectors are multiplied by weight matrices to perform transformations. </a:t>
            </a:r>
          </a:p>
        </p:txBody>
      </p:sp>
      <p:sp>
        <p:nvSpPr>
          <p:cNvPr id="4" name="Slide Number Placeholder 3">
            <a:extLst>
              <a:ext uri="{FF2B5EF4-FFF2-40B4-BE49-F238E27FC236}">
                <a16:creationId xmlns:a16="http://schemas.microsoft.com/office/drawing/2014/main" id="{0528A56A-BCD2-69EA-174E-0DAA5521CC11}"/>
              </a:ext>
            </a:extLst>
          </p:cNvPr>
          <p:cNvSpPr>
            <a:spLocks noGrp="1"/>
          </p:cNvSpPr>
          <p:nvPr>
            <p:ph type="sldNum" sz="quarter" idx="5"/>
          </p:nvPr>
        </p:nvSpPr>
        <p:spPr/>
        <p:txBody>
          <a:bodyPr/>
          <a:lstStyle/>
          <a:p>
            <a:fld id="{65AB13E8-2198-45C9-87A4-619C67778A51}" type="slidenum">
              <a:rPr lang="en-IN" smtClean="0"/>
              <a:t>20</a:t>
            </a:fld>
            <a:endParaRPr lang="en-IN"/>
          </a:p>
        </p:txBody>
      </p:sp>
    </p:spTree>
    <p:extLst>
      <p:ext uri="{BB962C8B-B14F-4D97-AF65-F5344CB8AC3E}">
        <p14:creationId xmlns:p14="http://schemas.microsoft.com/office/powerpoint/2010/main" val="4246387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539D-F339-B50A-2FB2-F0E23D642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7311C-B11E-C8BE-BAB6-6DC0E5AE2A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B93D19-D28C-FDDA-7F75-1EA3C2784E0F}"/>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Higher-Dimensional Tensors </a:t>
            </a:r>
          </a:p>
          <a:p>
            <a:r>
              <a:rPr lang="en-IN" sz="1200" kern="1200" dirty="0">
                <a:solidFill>
                  <a:schemeClr val="tx1"/>
                </a:solidFill>
                <a:effectLst/>
                <a:latin typeface="+mn-lt"/>
                <a:ea typeface="+mn-ea"/>
                <a:cs typeface="+mn-cs"/>
              </a:rPr>
              <a:t>Higher-dimensional tensors extend the idea of vectors (1D) and matrices (2D) into 3D, 4D, or even N dimensions. They represent complex, structured data such as images, video, text sequences, or batches of examples. A rank-3 tensor might represent an image (height × width × channels). A rank-4 tensor may represent a batch of images, while rank-5 tensors can represent video sequences.  </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Higher-rank tensors allow models to handle complex inputs such as sequences of word embeddings (N × </a:t>
            </a:r>
            <a:r>
              <a:rPr lang="en-IN" sz="1200" kern="1200" dirty="0" err="1">
                <a:solidFill>
                  <a:schemeClr val="tx1"/>
                </a:solidFill>
                <a:effectLst/>
                <a:latin typeface="+mn-lt"/>
                <a:ea typeface="+mn-ea"/>
                <a:cs typeface="+mn-cs"/>
              </a:rPr>
              <a:t>sequence_length</a:t>
            </a:r>
            <a:r>
              <a:rPr lang="en-IN" sz="1200" kern="1200" dirty="0">
                <a:solidFill>
                  <a:schemeClr val="tx1"/>
                </a:solidFill>
                <a:effectLst/>
                <a:latin typeface="+mn-lt"/>
                <a:ea typeface="+mn-ea"/>
                <a:cs typeface="+mn-cs"/>
              </a:rPr>
              <a:t> × </a:t>
            </a:r>
            <a:r>
              <a:rPr lang="en-IN" sz="1200" kern="1200" dirty="0" err="1">
                <a:solidFill>
                  <a:schemeClr val="tx1"/>
                </a:solidFill>
                <a:effectLst/>
                <a:latin typeface="+mn-lt"/>
                <a:ea typeface="+mn-ea"/>
                <a:cs typeface="+mn-cs"/>
              </a:rPr>
              <a:t>embedding_dim</a:t>
            </a:r>
            <a:r>
              <a:rPr lang="en-IN" sz="1200" kern="1200" dirty="0">
                <a:solidFill>
                  <a:schemeClr val="tx1"/>
                </a:solidFill>
                <a:effectLst/>
                <a:latin typeface="+mn-lt"/>
                <a:ea typeface="+mn-ea"/>
                <a:cs typeface="+mn-cs"/>
              </a:rPr>
              <a:t>) or video frames (batch × frames × height × width × channels). Their flexibility enables deep learning systems to process real-world data in structured and meaningful ways. </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AC443B7-8F7D-C550-7067-6A72A01F9C0C}"/>
              </a:ext>
            </a:extLst>
          </p:cNvPr>
          <p:cNvSpPr>
            <a:spLocks noGrp="1"/>
          </p:cNvSpPr>
          <p:nvPr>
            <p:ph type="sldNum" sz="quarter" idx="5"/>
          </p:nvPr>
        </p:nvSpPr>
        <p:spPr/>
        <p:txBody>
          <a:bodyPr/>
          <a:lstStyle/>
          <a:p>
            <a:fld id="{65AB13E8-2198-45C9-87A4-619C67778A51}" type="slidenum">
              <a:rPr lang="en-IN" smtClean="0"/>
              <a:t>21</a:t>
            </a:fld>
            <a:endParaRPr lang="en-IN"/>
          </a:p>
        </p:txBody>
      </p:sp>
    </p:spTree>
    <p:extLst>
      <p:ext uri="{BB962C8B-B14F-4D97-AF65-F5344CB8AC3E}">
        <p14:creationId xmlns:p14="http://schemas.microsoft.com/office/powerpoint/2010/main" val="1374654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E46C3-3C7C-AA0E-6CA1-D53A909DE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6E0A1-33F2-B352-A23A-56E4FB54D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0E9B2F-9725-3AD3-BBB9-7974A4E68718}"/>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Differences Between Scalars, Vectors, Matrices, and Tensors </a:t>
            </a:r>
          </a:p>
          <a:p>
            <a:r>
              <a:rPr lang="en-IN" sz="1200" kern="1200" dirty="0">
                <a:solidFill>
                  <a:schemeClr val="tx1"/>
                </a:solidFill>
                <a:effectLst/>
                <a:latin typeface="+mn-lt"/>
                <a:ea typeface="+mn-ea"/>
                <a:cs typeface="+mn-cs"/>
              </a:rPr>
              <a:t>Scalars, vectors, matrices, and higher-dimensional tensors differ primarily in rank, shape, and complexity. A scalar is the simplest: a single number with no dimensions (rank-0). A vector adds one dimension (rank-1) and represents an ordered list of values. A matrix introduces two dimensions (rank-2), providing a structured grid with rows and columns. Higher-dimensional tensors extend this concept to 3D, 4D, or N-dimensional structures.  </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In machine learning, scalars represent losses and hyperparameters, vectors store features, matrices contain datasets or weight layers, and tensors store images, text sequences, or batched data. Understanding these differences helps structure data correctly and feed it into models efficiently. </a:t>
            </a:r>
          </a:p>
          <a:p>
            <a:endParaRPr lang="en-IN" sz="1200" kern="1200" dirty="0">
              <a:solidFill>
                <a:schemeClr val="tx1"/>
              </a:solidFill>
              <a:effectLst/>
              <a:latin typeface="+mn-lt"/>
              <a:ea typeface="+mn-ea"/>
              <a:cs typeface="+mn-cs"/>
            </a:endParaRP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E908B9F-8839-493B-AC2C-8CA4896D89C7}"/>
              </a:ext>
            </a:extLst>
          </p:cNvPr>
          <p:cNvSpPr>
            <a:spLocks noGrp="1"/>
          </p:cNvSpPr>
          <p:nvPr>
            <p:ph type="sldNum" sz="quarter" idx="5"/>
          </p:nvPr>
        </p:nvSpPr>
        <p:spPr/>
        <p:txBody>
          <a:bodyPr/>
          <a:lstStyle/>
          <a:p>
            <a:fld id="{65AB13E8-2198-45C9-87A4-619C67778A51}" type="slidenum">
              <a:rPr lang="en-IN" smtClean="0"/>
              <a:t>22</a:t>
            </a:fld>
            <a:endParaRPr lang="en-IN"/>
          </a:p>
        </p:txBody>
      </p:sp>
    </p:spTree>
    <p:extLst>
      <p:ext uri="{BB962C8B-B14F-4D97-AF65-F5344CB8AC3E}">
        <p14:creationId xmlns:p14="http://schemas.microsoft.com/office/powerpoint/2010/main" val="1749127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C7A58-BD3F-497C-4470-A896EBAC3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672EC-5D10-F403-E1B7-F05D16DD3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3B2EDE-9136-E732-D817-B655DE8D2A73}"/>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Reshaping Tensors with </a:t>
            </a:r>
            <a:r>
              <a:rPr lang="en-IN" sz="1200" b="1" kern="1200" dirty="0" err="1">
                <a:solidFill>
                  <a:schemeClr val="tx1"/>
                </a:solidFill>
                <a:effectLst/>
                <a:latin typeface="+mn-lt"/>
                <a:ea typeface="+mn-ea"/>
                <a:cs typeface="+mn-cs"/>
              </a:rPr>
              <a:t>tf.reshape</a:t>
            </a:r>
            <a:r>
              <a:rPr lang="en-IN" sz="1200" b="1" kern="1200" dirty="0">
                <a:solidFill>
                  <a:schemeClr val="tx1"/>
                </a:solidFill>
                <a:effectLst/>
                <a:latin typeface="+mn-lt"/>
                <a:ea typeface="+mn-ea"/>
                <a:cs typeface="+mn-cs"/>
              </a:rPr>
              <a:t>()</a:t>
            </a:r>
          </a:p>
          <a:p>
            <a:r>
              <a:rPr lang="en-IN" sz="1200" b="1" kern="1200" dirty="0">
                <a:solidFill>
                  <a:schemeClr val="tx1"/>
                </a:solidFill>
                <a:effectLst/>
                <a:latin typeface="+mn-lt"/>
                <a:ea typeface="+mn-ea"/>
                <a:cs typeface="+mn-cs"/>
              </a:rPr>
              <a:t> </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Reshaping changes the shape of a tensor without altering its underlying data. You modify how data is organized, not what the values are. For example, a 1D tensor with 12 elements can be reshaped into a 3×4 matrix, a 2×2×3 tensor, or any shape where the total number of elements remains constant.</a:t>
            </a:r>
          </a:p>
          <a:p>
            <a:r>
              <a:rPr lang="en-IN" sz="1200" kern="1200" dirty="0">
                <a:solidFill>
                  <a:schemeClr val="tx1"/>
                </a:solidFill>
                <a:effectLst/>
                <a:latin typeface="+mn-lt"/>
                <a:ea typeface="+mn-ea"/>
                <a:cs typeface="+mn-cs"/>
              </a:rPr>
              <a:t>This is extremely useful when:</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Preparing input batches for neural networks</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Converting image data between flattened and structured forms</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Aligning outputs from layers such as CNNs, RNNs, or embeddings</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Managing sequence data or time-series formats </a:t>
            </a:r>
          </a:p>
          <a:p>
            <a:pPr marL="457200" lvl="1" indent="0">
              <a:buFont typeface="Arial" panose="020B0604020202020204" pitchFamily="34" charset="0"/>
              <a:buNone/>
            </a:pPr>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C6BBD45-C105-8DCA-F81C-88173FD20378}"/>
              </a:ext>
            </a:extLst>
          </p:cNvPr>
          <p:cNvSpPr>
            <a:spLocks noGrp="1"/>
          </p:cNvSpPr>
          <p:nvPr>
            <p:ph type="sldNum" sz="quarter" idx="5"/>
          </p:nvPr>
        </p:nvSpPr>
        <p:spPr/>
        <p:txBody>
          <a:bodyPr/>
          <a:lstStyle/>
          <a:p>
            <a:fld id="{65AB13E8-2198-45C9-87A4-619C67778A51}" type="slidenum">
              <a:rPr lang="en-IN" smtClean="0"/>
              <a:t>23</a:t>
            </a:fld>
            <a:endParaRPr lang="en-IN"/>
          </a:p>
        </p:txBody>
      </p:sp>
    </p:spTree>
    <p:extLst>
      <p:ext uri="{BB962C8B-B14F-4D97-AF65-F5344CB8AC3E}">
        <p14:creationId xmlns:p14="http://schemas.microsoft.com/office/powerpoint/2010/main" val="107103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75568-4881-9EBC-8D04-EE3AE1F58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2292D-2A07-FC4F-DFAD-1D4B023B6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69499-63C0-548D-D1EA-D6762AFEE362}"/>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Transposing Tensors with </a:t>
            </a:r>
            <a:r>
              <a:rPr lang="en-IN" sz="1200" b="1" kern="1200" dirty="0" err="1">
                <a:solidFill>
                  <a:schemeClr val="tx1"/>
                </a:solidFill>
                <a:effectLst/>
                <a:latin typeface="+mn-lt"/>
                <a:ea typeface="+mn-ea"/>
                <a:cs typeface="+mn-cs"/>
              </a:rPr>
              <a:t>tf.transpose</a:t>
            </a:r>
            <a:r>
              <a:rPr lang="en-IN" sz="1200" b="1"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Transposing changes the order of tensor dimensions, effectively reorienting data. This operation is widely used in:</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Matrix algebra</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Convolutional neural networks</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RNNs and transformers</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Image processing</a:t>
            </a:r>
          </a:p>
          <a:p>
            <a:pPr marL="628650" lvl="1" indent="-171450">
              <a:buFont typeface="Arial" panose="020B0604020202020204" pitchFamily="34" charset="0"/>
              <a:buChar char="•"/>
            </a:pPr>
            <a:r>
              <a:rPr lang="en-IN" sz="1200" kern="1200" dirty="0">
                <a:solidFill>
                  <a:schemeClr val="tx1"/>
                </a:solidFill>
                <a:effectLst/>
                <a:latin typeface="+mn-lt"/>
                <a:ea typeface="+mn-ea"/>
                <a:cs typeface="+mn-cs"/>
              </a:rPr>
              <a:t>Batch reordering</a:t>
            </a:r>
          </a:p>
          <a:p>
            <a:r>
              <a:rPr lang="en-IN" sz="1200" kern="1200" dirty="0">
                <a:solidFill>
                  <a:schemeClr val="tx1"/>
                </a:solidFill>
                <a:effectLst/>
                <a:latin typeface="+mn-lt"/>
                <a:ea typeface="+mn-ea"/>
                <a:cs typeface="+mn-cs"/>
              </a:rPr>
              <a:t>Unlike reshaping, transposing does not change total elements or dimension sizes—only their positions. </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Reshaping and transposing are fundamental tensor operations in TensorFlow. </a:t>
            </a:r>
            <a:r>
              <a:rPr lang="en-IN" sz="1200" kern="1200" dirty="0" err="1">
                <a:solidFill>
                  <a:schemeClr val="tx1"/>
                </a:solidFill>
                <a:effectLst/>
                <a:latin typeface="+mn-lt"/>
                <a:ea typeface="+mn-ea"/>
                <a:cs typeface="+mn-cs"/>
              </a:rPr>
              <a:t>tf.reshape</a:t>
            </a:r>
            <a:r>
              <a:rPr lang="en-IN" sz="1200" kern="1200" dirty="0">
                <a:solidFill>
                  <a:schemeClr val="tx1"/>
                </a:solidFill>
                <a:effectLst/>
                <a:latin typeface="+mn-lt"/>
                <a:ea typeface="+mn-ea"/>
                <a:cs typeface="+mn-cs"/>
              </a:rPr>
              <a:t>() helps align and structure data properly for model layers, while </a:t>
            </a:r>
            <a:r>
              <a:rPr lang="en-IN" sz="1200" kern="1200" dirty="0" err="1">
                <a:solidFill>
                  <a:schemeClr val="tx1"/>
                </a:solidFill>
                <a:effectLst/>
                <a:latin typeface="+mn-lt"/>
                <a:ea typeface="+mn-ea"/>
                <a:cs typeface="+mn-cs"/>
              </a:rPr>
              <a:t>tf.transpose</a:t>
            </a:r>
            <a:r>
              <a:rPr lang="en-IN" sz="1200" kern="1200" dirty="0">
                <a:solidFill>
                  <a:schemeClr val="tx1"/>
                </a:solidFill>
                <a:effectLst/>
                <a:latin typeface="+mn-lt"/>
                <a:ea typeface="+mn-ea"/>
                <a:cs typeface="+mn-cs"/>
              </a:rPr>
              <a:t>() ensures data is in the correct orientation for mathematical operations. Mastering both operations is essential for building efficient, flexible deep learning pipelines. </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17628B3-105F-F949-AFBB-04A5E3D142B4}"/>
              </a:ext>
            </a:extLst>
          </p:cNvPr>
          <p:cNvSpPr>
            <a:spLocks noGrp="1"/>
          </p:cNvSpPr>
          <p:nvPr>
            <p:ph type="sldNum" sz="quarter" idx="5"/>
          </p:nvPr>
        </p:nvSpPr>
        <p:spPr/>
        <p:txBody>
          <a:bodyPr/>
          <a:lstStyle/>
          <a:p>
            <a:fld id="{65AB13E8-2198-45C9-87A4-619C67778A51}" type="slidenum">
              <a:rPr lang="en-IN" smtClean="0"/>
              <a:t>24</a:t>
            </a:fld>
            <a:endParaRPr lang="en-IN"/>
          </a:p>
        </p:txBody>
      </p:sp>
    </p:spTree>
    <p:extLst>
      <p:ext uri="{BB962C8B-B14F-4D97-AF65-F5344CB8AC3E}">
        <p14:creationId xmlns:p14="http://schemas.microsoft.com/office/powerpoint/2010/main" val="93737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46CAA-4AC8-7625-4717-F239E17AB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526712-291A-7BF6-F82C-8CEF10998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B43E6F-6B16-3D6B-1323-9184CEFF70C2}"/>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Extracting elements using indexing</a:t>
            </a:r>
          </a:p>
          <a:p>
            <a:pPr lvl="0"/>
            <a:r>
              <a:rPr lang="en-IN" sz="1200" kern="1200" dirty="0">
                <a:solidFill>
                  <a:schemeClr val="tx1"/>
                </a:solidFill>
                <a:effectLst/>
                <a:latin typeface="+mn-lt"/>
                <a:ea typeface="+mn-ea"/>
                <a:cs typeface="+mn-cs"/>
              </a:rPr>
              <a:t>Access specific elements of a tensor using Python-style indexing.</a:t>
            </a:r>
          </a:p>
          <a:p>
            <a:pPr lvl="0"/>
            <a:r>
              <a:rPr lang="en-IN" sz="1200" kern="1200" dirty="0">
                <a:solidFill>
                  <a:schemeClr val="tx1"/>
                </a:solidFill>
                <a:effectLst/>
                <a:latin typeface="+mn-lt"/>
                <a:ea typeface="+mn-ea"/>
                <a:cs typeface="+mn-cs"/>
              </a:rPr>
              <a:t>Works for scalars, vectors, matrices, and higher-dimensional tensors.</a:t>
            </a:r>
          </a:p>
          <a:p>
            <a:pPr lvl="0"/>
            <a:r>
              <a:rPr lang="en-IN" sz="1200" kern="1200" dirty="0">
                <a:solidFill>
                  <a:schemeClr val="tx1"/>
                </a:solidFill>
                <a:effectLst/>
                <a:latin typeface="+mn-lt"/>
                <a:ea typeface="+mn-ea"/>
                <a:cs typeface="+mn-cs"/>
              </a:rPr>
              <a:t>Examples:</a:t>
            </a:r>
          </a:p>
          <a:p>
            <a:pPr lvl="1"/>
            <a:r>
              <a:rPr lang="en-IN" sz="1200" kern="1200" dirty="0">
                <a:solidFill>
                  <a:schemeClr val="tx1"/>
                </a:solidFill>
                <a:effectLst/>
                <a:latin typeface="+mn-lt"/>
                <a:ea typeface="+mn-ea"/>
                <a:cs typeface="+mn-cs"/>
              </a:rPr>
              <a:t>tensor[0] → first element</a:t>
            </a:r>
          </a:p>
          <a:p>
            <a:pPr lvl="1"/>
            <a:r>
              <a:rPr lang="en-IN" sz="1200" kern="1200" dirty="0">
                <a:solidFill>
                  <a:schemeClr val="tx1"/>
                </a:solidFill>
                <a:effectLst/>
                <a:latin typeface="+mn-lt"/>
                <a:ea typeface="+mn-ea"/>
                <a:cs typeface="+mn-cs"/>
              </a:rPr>
              <a:t>tensor[1:4] → slice from index 1 to 3</a:t>
            </a:r>
          </a:p>
          <a:p>
            <a:pPr lvl="1"/>
            <a:r>
              <a:rPr lang="en-IN" sz="1200" kern="1200" dirty="0">
                <a:solidFill>
                  <a:schemeClr val="tx1"/>
                </a:solidFill>
                <a:effectLst/>
                <a:latin typeface="+mn-lt"/>
                <a:ea typeface="+mn-ea"/>
                <a:cs typeface="+mn-cs"/>
              </a:rPr>
              <a:t>tensor[:, 2] → all rows, column 2</a:t>
            </a:r>
          </a:p>
          <a:p>
            <a:pPr lvl="1"/>
            <a:r>
              <a:rPr lang="en-IN" sz="1200" kern="1200" dirty="0">
                <a:solidFill>
                  <a:schemeClr val="tx1"/>
                </a:solidFill>
                <a:effectLst/>
                <a:latin typeface="+mn-lt"/>
                <a:ea typeface="+mn-ea"/>
                <a:cs typeface="+mn-cs"/>
              </a:rPr>
              <a:t>tensor[1:3, 0:2] → sub-matrix</a:t>
            </a:r>
          </a:p>
        </p:txBody>
      </p:sp>
      <p:sp>
        <p:nvSpPr>
          <p:cNvPr id="4" name="Slide Number Placeholder 3">
            <a:extLst>
              <a:ext uri="{FF2B5EF4-FFF2-40B4-BE49-F238E27FC236}">
                <a16:creationId xmlns:a16="http://schemas.microsoft.com/office/drawing/2014/main" id="{FF77902D-9365-CAA5-C1ED-8B9E2A87BFB5}"/>
              </a:ext>
            </a:extLst>
          </p:cNvPr>
          <p:cNvSpPr>
            <a:spLocks noGrp="1"/>
          </p:cNvSpPr>
          <p:nvPr>
            <p:ph type="sldNum" sz="quarter" idx="5"/>
          </p:nvPr>
        </p:nvSpPr>
        <p:spPr/>
        <p:txBody>
          <a:bodyPr/>
          <a:lstStyle/>
          <a:p>
            <a:fld id="{65AB13E8-2198-45C9-87A4-619C67778A51}" type="slidenum">
              <a:rPr lang="en-IN" smtClean="0"/>
              <a:t>25</a:t>
            </a:fld>
            <a:endParaRPr lang="en-IN"/>
          </a:p>
        </p:txBody>
      </p:sp>
    </p:spTree>
    <p:extLst>
      <p:ext uri="{BB962C8B-B14F-4D97-AF65-F5344CB8AC3E}">
        <p14:creationId xmlns:p14="http://schemas.microsoft.com/office/powerpoint/2010/main" val="1076235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F8FCD-8323-102A-8C79-EC93010B0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D8A85-94A6-7D15-A475-A7C3FD75F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907F-40FB-5A03-F33A-08F633EAFEEA}"/>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GPU Acceleration &amp; Tensor Placement</a:t>
            </a:r>
          </a:p>
          <a:p>
            <a:r>
              <a:rPr lang="en-IN" sz="1200" kern="1200" dirty="0">
                <a:solidFill>
                  <a:schemeClr val="tx1"/>
                </a:solidFill>
                <a:effectLst/>
                <a:latin typeface="+mn-lt"/>
                <a:ea typeface="+mn-ea"/>
                <a:cs typeface="+mn-cs"/>
              </a:rPr>
              <a:t>Modern deep learning models require large amounts of computation, especially when working with high-dimensional tensors, large datasets, or complex neural networks. TensorFlow supports GPU acceleration, which allows operations to run on a Graphics Processing Unit instead of the CPU. GPUs are highly optimized for parallel mathematical computations, making them significantly faster for tensor operations such as matrix multiplication, convolutions, and gradient calculations. TensorFlow automatically uses the GPU when available, but developers can also manually control where computations run.</a:t>
            </a:r>
          </a:p>
        </p:txBody>
      </p:sp>
      <p:sp>
        <p:nvSpPr>
          <p:cNvPr id="4" name="Slide Number Placeholder 3">
            <a:extLst>
              <a:ext uri="{FF2B5EF4-FFF2-40B4-BE49-F238E27FC236}">
                <a16:creationId xmlns:a16="http://schemas.microsoft.com/office/drawing/2014/main" id="{B4A17640-7FE9-0C80-9912-7D12DEDAFF07}"/>
              </a:ext>
            </a:extLst>
          </p:cNvPr>
          <p:cNvSpPr>
            <a:spLocks noGrp="1"/>
          </p:cNvSpPr>
          <p:nvPr>
            <p:ph type="sldNum" sz="quarter" idx="5"/>
          </p:nvPr>
        </p:nvSpPr>
        <p:spPr/>
        <p:txBody>
          <a:bodyPr/>
          <a:lstStyle/>
          <a:p>
            <a:fld id="{65AB13E8-2198-45C9-87A4-619C67778A51}" type="slidenum">
              <a:rPr lang="en-IN" smtClean="0"/>
              <a:t>26</a:t>
            </a:fld>
            <a:endParaRPr lang="en-IN"/>
          </a:p>
        </p:txBody>
      </p:sp>
    </p:spTree>
    <p:extLst>
      <p:ext uri="{BB962C8B-B14F-4D97-AF65-F5344CB8AC3E}">
        <p14:creationId xmlns:p14="http://schemas.microsoft.com/office/powerpoint/2010/main" val="3907222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F2FDA-5402-37E0-CB20-4B9E3E158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3D8A2-4117-84F6-35AD-28D33952A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F380C-BDBE-2A45-2A2E-26AFF155A995}"/>
              </a:ext>
            </a:extLst>
          </p:cNvPr>
          <p:cNvSpPr>
            <a:spLocks noGrp="1"/>
          </p:cNvSpPr>
          <p:nvPr>
            <p:ph type="body" idx="1"/>
          </p:nvPr>
        </p:nvSpPr>
        <p:spPr/>
        <p:txBody>
          <a:bodyPr/>
          <a:lstStyle/>
          <a:p>
            <a:r>
              <a:rPr lang="en-IN" sz="1200" b="1" kern="1200" dirty="0">
                <a:solidFill>
                  <a:schemeClr val="tx1"/>
                </a:solidFill>
                <a:effectLst/>
                <a:latin typeface="+mn-lt"/>
                <a:ea typeface="+mn-ea"/>
                <a:cs typeface="+mn-cs"/>
              </a:rPr>
              <a:t>Placing tensors on GPU or CPU (</a:t>
            </a:r>
            <a:r>
              <a:rPr lang="en-IN" sz="1200" b="1" kern="1200" dirty="0" err="1">
                <a:solidFill>
                  <a:schemeClr val="tx1"/>
                </a:solidFill>
                <a:effectLst/>
                <a:latin typeface="+mn-lt"/>
                <a:ea typeface="+mn-ea"/>
                <a:cs typeface="+mn-cs"/>
              </a:rPr>
              <a:t>tf.device</a:t>
            </a:r>
            <a:r>
              <a:rPr lang="en-IN" sz="1200" b="1" kern="1200" dirty="0">
                <a:solidFill>
                  <a:schemeClr val="tx1"/>
                </a:solidFill>
                <a:effectLst/>
                <a:latin typeface="+mn-lt"/>
                <a:ea typeface="+mn-ea"/>
                <a:cs typeface="+mn-cs"/>
              </a:rPr>
              <a:t>())</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TensorFlow provides fine-grained control over where tensors and operations are executed through the </a:t>
            </a:r>
            <a:r>
              <a:rPr lang="en-IN" sz="1200" kern="1200" dirty="0" err="1">
                <a:solidFill>
                  <a:schemeClr val="tx1"/>
                </a:solidFill>
                <a:effectLst/>
                <a:latin typeface="+mn-lt"/>
                <a:ea typeface="+mn-ea"/>
                <a:cs typeface="+mn-cs"/>
              </a:rPr>
              <a:t>tf.device</a:t>
            </a:r>
            <a:r>
              <a:rPr lang="en-IN" sz="1200" kern="1200" dirty="0">
                <a:solidFill>
                  <a:schemeClr val="tx1"/>
                </a:solidFill>
                <a:effectLst/>
                <a:latin typeface="+mn-lt"/>
                <a:ea typeface="+mn-ea"/>
                <a:cs typeface="+mn-cs"/>
              </a:rPr>
              <a:t>() context manager. By default, TensorFlow automatically selects the best available device, usually preferring the GPU for mathematical operations because it offers higher parallel computation power. However, in some cases such as debugging, device testing, or comparing performance you may want to manually place tensors on a specific device. </a:t>
            </a:r>
          </a:p>
          <a:p>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When operations are executed, TensorFlow automatically keeps track of where each tensor resides. If an operation requires tensors from different devices, TensorFlow transfers data between devices automatically, though this may introduce performance overhead.</a:t>
            </a:r>
          </a:p>
          <a:p>
            <a:endParaRPr lang="en-IN"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A2FDFF0-51FE-7C16-1F21-7F2EDA9B8755}"/>
              </a:ext>
            </a:extLst>
          </p:cNvPr>
          <p:cNvSpPr>
            <a:spLocks noGrp="1"/>
          </p:cNvSpPr>
          <p:nvPr>
            <p:ph type="sldNum" sz="quarter" idx="5"/>
          </p:nvPr>
        </p:nvSpPr>
        <p:spPr/>
        <p:txBody>
          <a:bodyPr/>
          <a:lstStyle/>
          <a:p>
            <a:fld id="{65AB13E8-2198-45C9-87A4-619C67778A51}" type="slidenum">
              <a:rPr lang="en-IN" smtClean="0"/>
              <a:t>27</a:t>
            </a:fld>
            <a:endParaRPr lang="en-IN"/>
          </a:p>
        </p:txBody>
      </p:sp>
    </p:spTree>
    <p:extLst>
      <p:ext uri="{BB962C8B-B14F-4D97-AF65-F5344CB8AC3E}">
        <p14:creationId xmlns:p14="http://schemas.microsoft.com/office/powerpoint/2010/main" val="12882693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66FF"/>
                </a:solidFill>
                <a:latin typeface="Arial"/>
                <a:cs typeface="Arial"/>
              </a:rPr>
              <a:t>Lab Activity 3.1: </a:t>
            </a:r>
            <a:r>
              <a:rPr lang="en-US" b="0" i="0" dirty="0">
                <a:solidFill>
                  <a:srgbClr val="242424"/>
                </a:solidFill>
                <a:effectLst/>
                <a:latin typeface="Aptos Narrow" panose="020B0004020202020204" pitchFamily="34" charset="0"/>
              </a:rPr>
              <a:t>Setting Up the Environment for TensorFlow &amp; </a:t>
            </a:r>
            <a:r>
              <a:rPr lang="en-US" b="0" i="0" dirty="0" err="1">
                <a:solidFill>
                  <a:srgbClr val="242424"/>
                </a:solidFill>
                <a:effectLst/>
                <a:latin typeface="Aptos Narrow" panose="020B0004020202020204" pitchFamily="34" charset="0"/>
              </a:rPr>
              <a:t>Keras</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FA113F24-DAA8-4690-94FD-E820CB94339A}" type="slidenum">
              <a:rPr lang="en-US"/>
              <a:t>28</a:t>
            </a:fld>
            <a:endParaRPr lang="en-US"/>
          </a:p>
        </p:txBody>
      </p:sp>
    </p:spTree>
    <p:extLst>
      <p:ext uri="{BB962C8B-B14F-4D97-AF65-F5344CB8AC3E}">
        <p14:creationId xmlns:p14="http://schemas.microsoft.com/office/powerpoint/2010/main" val="34518008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29</a:t>
            </a:fld>
            <a:endParaRPr lang="en-IN"/>
          </a:p>
        </p:txBody>
      </p:sp>
    </p:spTree>
    <p:extLst>
      <p:ext uri="{BB962C8B-B14F-4D97-AF65-F5344CB8AC3E}">
        <p14:creationId xmlns:p14="http://schemas.microsoft.com/office/powerpoint/2010/main" val="42012866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By completing this module, learners have gained a foundational understanding of TensorFlow, including its purpose and advantages in machine learning. They explored how </a:t>
            </a:r>
            <a:r>
              <a:rPr lang="en-US" dirty="0" err="1"/>
              <a:t>Keras</a:t>
            </a:r>
            <a:r>
              <a:rPr lang="en-US" dirty="0"/>
              <a:t> simplifies model development as a high-level API, successfully installed and configured TensorFlow, and performed basic operations using tensors. They now have a clear grasp of what tensors are, how they are structured, and how to use them effectively in TensorFlow applications.</a:t>
            </a:r>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30</a:t>
            </a:fld>
            <a:endParaRPr lang="en-IN"/>
          </a:p>
        </p:txBody>
      </p:sp>
    </p:spTree>
    <p:extLst>
      <p:ext uri="{BB962C8B-B14F-4D97-AF65-F5344CB8AC3E}">
        <p14:creationId xmlns:p14="http://schemas.microsoft.com/office/powerpoint/2010/main" val="3584715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What is the primary purpose of TensorFlow?</a:t>
            </a:r>
            <a:br>
              <a:rPr lang="en-US" dirty="0"/>
            </a:br>
            <a:r>
              <a:rPr lang="en-US" dirty="0"/>
              <a:t>A) Web development</a:t>
            </a:r>
            <a:br>
              <a:rPr lang="en-US" dirty="0"/>
            </a:br>
            <a:r>
              <a:rPr lang="en-US" dirty="0"/>
              <a:t>B) Game development</a:t>
            </a:r>
            <a:br>
              <a:rPr lang="en-US" dirty="0"/>
            </a:br>
            <a:r>
              <a:rPr lang="en-US" dirty="0"/>
              <a:t>C) Machine learning and deep learning</a:t>
            </a:r>
            <a:br>
              <a:rPr lang="en-US" dirty="0"/>
            </a:br>
            <a:r>
              <a:rPr lang="en-US" dirty="0"/>
              <a:t>D) Database management</a:t>
            </a:r>
          </a:p>
          <a:p>
            <a:r>
              <a:rPr lang="en-US" b="1" dirty="0"/>
              <a:t>Correct Answer:</a:t>
            </a:r>
            <a:r>
              <a:rPr lang="en-US" dirty="0"/>
              <a:t> C) Machine learning and deep learning</a:t>
            </a:r>
            <a:br>
              <a:rPr lang="en-US" dirty="0"/>
            </a:br>
            <a:r>
              <a:rPr lang="en-US" b="1" dirty="0"/>
              <a:t>Explanation:</a:t>
            </a:r>
            <a:r>
              <a:rPr lang="en-US" dirty="0"/>
              <a:t> TensorFlow is an open-source library designed for developing and training machine learning and deep learning models.</a:t>
            </a:r>
          </a:p>
          <a:p>
            <a:endParaRPr lang="en-IN" dirty="0"/>
          </a:p>
        </p:txBody>
      </p:sp>
      <p:sp>
        <p:nvSpPr>
          <p:cNvPr id="4" name="Slide Number Placeholder 3"/>
          <p:cNvSpPr>
            <a:spLocks noGrp="1"/>
          </p:cNvSpPr>
          <p:nvPr>
            <p:ph type="sldNum" sz="quarter" idx="5"/>
          </p:nvPr>
        </p:nvSpPr>
        <p:spPr/>
        <p:txBody>
          <a:bodyPr/>
          <a:lstStyle/>
          <a:p>
            <a:fld id="{230BF86C-B987-4B3F-B98B-85B113781943}" type="slidenum">
              <a:rPr lang="en-IN" smtClean="0"/>
              <a:t>32</a:t>
            </a:fld>
            <a:endParaRPr lang="en-IN"/>
          </a:p>
        </p:txBody>
      </p:sp>
    </p:spTree>
    <p:extLst>
      <p:ext uri="{BB962C8B-B14F-4D97-AF65-F5344CB8AC3E}">
        <p14:creationId xmlns:p14="http://schemas.microsoft.com/office/powerpoint/2010/main" val="920131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7A00A-4B5B-1CA9-CC29-83B2E3F42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419F0-8AB2-7775-CB50-B1619571B5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A534F-F7EE-5747-5156-F7D81D845BF2}"/>
              </a:ext>
            </a:extLst>
          </p:cNvPr>
          <p:cNvSpPr>
            <a:spLocks noGrp="1"/>
          </p:cNvSpPr>
          <p:nvPr>
            <p:ph type="body" idx="1"/>
          </p:nvPr>
        </p:nvSpPr>
        <p:spPr/>
        <p:txBody>
          <a:bodyPr/>
          <a:lstStyle/>
          <a:p>
            <a:pPr>
              <a:buNone/>
            </a:pPr>
            <a:r>
              <a:rPr lang="en-US" dirty="0"/>
              <a:t>Which of the following best describes </a:t>
            </a:r>
            <a:r>
              <a:rPr lang="en-US" dirty="0" err="1"/>
              <a:t>Keras</a:t>
            </a:r>
            <a:r>
              <a:rPr lang="en-US" dirty="0"/>
              <a:t> in the context of TensorFlow?</a:t>
            </a:r>
            <a:br>
              <a:rPr lang="en-US" dirty="0"/>
            </a:br>
            <a:r>
              <a:rPr lang="en-US" dirty="0"/>
              <a:t>A) A hardware device</a:t>
            </a:r>
            <a:br>
              <a:rPr lang="en-US" dirty="0"/>
            </a:br>
            <a:r>
              <a:rPr lang="en-US" dirty="0"/>
              <a:t>B) A compiler</a:t>
            </a:r>
            <a:br>
              <a:rPr lang="en-US" dirty="0"/>
            </a:br>
            <a:r>
              <a:rPr lang="en-US" dirty="0"/>
              <a:t>C) A high-level API for building and training models</a:t>
            </a:r>
            <a:br>
              <a:rPr lang="en-US" dirty="0"/>
            </a:br>
            <a:r>
              <a:rPr lang="en-US" dirty="0"/>
              <a:t>D) A data storage tool</a:t>
            </a:r>
          </a:p>
          <a:p>
            <a:r>
              <a:rPr lang="en-US" b="1" dirty="0"/>
              <a:t>Correct Answer:</a:t>
            </a:r>
            <a:r>
              <a:rPr lang="en-US" dirty="0"/>
              <a:t> C) A high-level API for building and training models</a:t>
            </a:r>
            <a:br>
              <a:rPr lang="en-US" dirty="0"/>
            </a:br>
            <a:r>
              <a:rPr lang="en-US" b="1" dirty="0"/>
              <a:t>Explanation:</a:t>
            </a:r>
            <a:r>
              <a:rPr lang="en-US" dirty="0"/>
              <a:t> </a:t>
            </a:r>
            <a:r>
              <a:rPr lang="en-US" dirty="0" err="1"/>
              <a:t>Keras</a:t>
            </a:r>
            <a:r>
              <a:rPr lang="en-US" dirty="0"/>
              <a:t> is a user-friendly, high-level API integrated with TensorFlow to simplify neural network creation.</a:t>
            </a:r>
          </a:p>
          <a:p>
            <a:endParaRPr lang="en-IN" dirty="0"/>
          </a:p>
        </p:txBody>
      </p:sp>
      <p:sp>
        <p:nvSpPr>
          <p:cNvPr id="4" name="Slide Number Placeholder 3">
            <a:extLst>
              <a:ext uri="{FF2B5EF4-FFF2-40B4-BE49-F238E27FC236}">
                <a16:creationId xmlns:a16="http://schemas.microsoft.com/office/drawing/2014/main" id="{10004D08-847B-F3B0-31C8-658DD7C0F531}"/>
              </a:ext>
            </a:extLst>
          </p:cNvPr>
          <p:cNvSpPr>
            <a:spLocks noGrp="1"/>
          </p:cNvSpPr>
          <p:nvPr>
            <p:ph type="sldNum" sz="quarter" idx="5"/>
          </p:nvPr>
        </p:nvSpPr>
        <p:spPr/>
        <p:txBody>
          <a:bodyPr/>
          <a:lstStyle/>
          <a:p>
            <a:fld id="{230BF86C-B987-4B3F-B98B-85B113781943}" type="slidenum">
              <a:rPr lang="en-IN" smtClean="0"/>
              <a:t>33</a:t>
            </a:fld>
            <a:endParaRPr lang="en-IN"/>
          </a:p>
        </p:txBody>
      </p:sp>
    </p:spTree>
    <p:extLst>
      <p:ext uri="{BB962C8B-B14F-4D97-AF65-F5344CB8AC3E}">
        <p14:creationId xmlns:p14="http://schemas.microsoft.com/office/powerpoint/2010/main" val="1857556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96D6D-61E7-3CE9-0F3A-D6F1FD1C1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FFDC2-7C01-A1E2-90F5-C33E97871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B5AB1-5086-F970-0524-650EAEED9B9F}"/>
              </a:ext>
            </a:extLst>
          </p:cNvPr>
          <p:cNvSpPr>
            <a:spLocks noGrp="1"/>
          </p:cNvSpPr>
          <p:nvPr>
            <p:ph type="body" idx="1"/>
          </p:nvPr>
        </p:nvSpPr>
        <p:spPr/>
        <p:txBody>
          <a:bodyPr/>
          <a:lstStyle/>
          <a:p>
            <a:pPr>
              <a:buNone/>
            </a:pPr>
            <a:r>
              <a:rPr lang="en-US" dirty="0"/>
              <a:t>What is a 2D tensor commonly referred to as?</a:t>
            </a:r>
            <a:br>
              <a:rPr lang="en-US" dirty="0"/>
            </a:br>
            <a:r>
              <a:rPr lang="en-US" dirty="0"/>
              <a:t>A) Scalar</a:t>
            </a:r>
            <a:br>
              <a:rPr lang="en-US" dirty="0"/>
            </a:br>
            <a:r>
              <a:rPr lang="en-US" dirty="0"/>
              <a:t>B) Vector</a:t>
            </a:r>
            <a:br>
              <a:rPr lang="en-US" dirty="0"/>
            </a:br>
            <a:r>
              <a:rPr lang="en-US" dirty="0"/>
              <a:t>C) Matrix</a:t>
            </a:r>
            <a:br>
              <a:rPr lang="en-US" dirty="0"/>
            </a:br>
            <a:r>
              <a:rPr lang="en-US" dirty="0"/>
              <a:t>D) Cube</a:t>
            </a:r>
          </a:p>
          <a:p>
            <a:r>
              <a:rPr lang="en-US" b="1" dirty="0"/>
              <a:t>Correct Answer:</a:t>
            </a:r>
            <a:r>
              <a:rPr lang="en-US" dirty="0"/>
              <a:t> C) Matrix</a:t>
            </a:r>
            <a:br>
              <a:rPr lang="en-US" dirty="0"/>
            </a:br>
            <a:r>
              <a:rPr lang="en-US" b="1" dirty="0"/>
              <a:t>Explanation:</a:t>
            </a:r>
            <a:r>
              <a:rPr lang="en-US" dirty="0"/>
              <a:t> A 2D tensor is essentially a matrix with rows and columns.</a:t>
            </a:r>
          </a:p>
          <a:p>
            <a:endParaRPr lang="en-IN" dirty="0"/>
          </a:p>
        </p:txBody>
      </p:sp>
      <p:sp>
        <p:nvSpPr>
          <p:cNvPr id="4" name="Slide Number Placeholder 3">
            <a:extLst>
              <a:ext uri="{FF2B5EF4-FFF2-40B4-BE49-F238E27FC236}">
                <a16:creationId xmlns:a16="http://schemas.microsoft.com/office/drawing/2014/main" id="{466E9996-8585-AB81-A1E8-C59AE2A6BC58}"/>
              </a:ext>
            </a:extLst>
          </p:cNvPr>
          <p:cNvSpPr>
            <a:spLocks noGrp="1"/>
          </p:cNvSpPr>
          <p:nvPr>
            <p:ph type="sldNum" sz="quarter" idx="5"/>
          </p:nvPr>
        </p:nvSpPr>
        <p:spPr/>
        <p:txBody>
          <a:bodyPr/>
          <a:lstStyle/>
          <a:p>
            <a:fld id="{230BF86C-B987-4B3F-B98B-85B113781943}" type="slidenum">
              <a:rPr lang="en-IN" smtClean="0"/>
              <a:t>34</a:t>
            </a:fld>
            <a:endParaRPr lang="en-IN"/>
          </a:p>
        </p:txBody>
      </p:sp>
    </p:spTree>
    <p:extLst>
      <p:ext uri="{BB962C8B-B14F-4D97-AF65-F5344CB8AC3E}">
        <p14:creationId xmlns:p14="http://schemas.microsoft.com/office/powerpoint/2010/main" val="676384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805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49174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B750CB-F068-50AE-8BEB-20EC7515F400}"/>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4" descr="Abstract White Background Images, HD Pictures and Wallpaper For Free  Download | Pngtree">
            <a:extLst>
              <a:ext uri="{FF2B5EF4-FFF2-40B4-BE49-F238E27FC236}">
                <a16:creationId xmlns:a16="http://schemas.microsoft.com/office/drawing/2014/main" id="{381F3695-8937-0C68-4FAE-266CC82C5098}"/>
              </a:ext>
            </a:extLst>
          </p:cNvPr>
          <p:cNvPicPr>
            <a:picLocks noChangeAspect="1" noChangeArrowheads="1"/>
          </p:cNvPicPr>
          <p:nvPr userDrawn="1"/>
        </p:nvPicPr>
        <p:blipFill rotWithShape="1">
          <a:blip r:embed="rId3">
            <a:alphaModFix amt="37000"/>
            <a:extLst>
              <a:ext uri="{28A0092B-C50C-407E-A947-70E740481C1C}">
                <a14:useLocalDpi xmlns:a14="http://schemas.microsoft.com/office/drawing/2010/main" val="0"/>
              </a:ext>
            </a:extLst>
          </a:blip>
          <a:srcRect t="1959" b="9928"/>
          <a:stretch/>
        </p:blipFill>
        <p:spPr bwMode="auto">
          <a:xfrm>
            <a:off x="1293813" y="1"/>
            <a:ext cx="10898187"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3">
            <a:extLst>
              <a:ext uri="{FF2B5EF4-FFF2-40B4-BE49-F238E27FC236}">
                <a16:creationId xmlns:a16="http://schemas.microsoft.com/office/drawing/2014/main" id="{DA6D6C8D-DD3B-2468-8A3F-39DA0D7CB0A4}"/>
              </a:ext>
            </a:extLst>
          </p:cNvPr>
          <p:cNvGrpSpPr/>
          <p:nvPr userDrawn="1"/>
        </p:nvGrpSpPr>
        <p:grpSpPr>
          <a:xfrm>
            <a:off x="2807825" y="-57051"/>
            <a:ext cx="609600" cy="6978551"/>
            <a:chOff x="0" y="-47625"/>
            <a:chExt cx="558233" cy="2756958"/>
          </a:xfrm>
          <a:solidFill>
            <a:srgbClr val="ACCBFF"/>
          </a:solidFill>
        </p:grpSpPr>
        <p:sp>
          <p:nvSpPr>
            <p:cNvPr id="10" name="Freeform 4">
              <a:extLst>
                <a:ext uri="{FF2B5EF4-FFF2-40B4-BE49-F238E27FC236}">
                  <a16:creationId xmlns:a16="http://schemas.microsoft.com/office/drawing/2014/main" id="{500E8AC0-76EB-1E06-0FAF-6680F05CB1CD}"/>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ACCBFF"/>
              </a:solidFill>
            </a:ln>
          </p:spPr>
          <p:txBody>
            <a:bodyPr/>
            <a:lstStyle/>
            <a:p>
              <a:endParaRPr lang="en-IN" sz="800"/>
            </a:p>
          </p:txBody>
        </p:sp>
        <p:sp>
          <p:nvSpPr>
            <p:cNvPr id="11" name="TextBox 5">
              <a:extLst>
                <a:ext uri="{FF2B5EF4-FFF2-40B4-BE49-F238E27FC236}">
                  <a16:creationId xmlns:a16="http://schemas.microsoft.com/office/drawing/2014/main" id="{7ADD2F8D-51CB-512C-7A0B-8C5BABABD0FD}"/>
                </a:ext>
              </a:extLst>
            </p:cNvPr>
            <p:cNvSpPr txBox="1"/>
            <p:nvPr/>
          </p:nvSpPr>
          <p:spPr>
            <a:xfrm>
              <a:off x="0" y="-47625"/>
              <a:ext cx="558233" cy="2756958"/>
            </a:xfrm>
            <a:prstGeom prst="rect">
              <a:avLst/>
            </a:prstGeom>
            <a:grpFill/>
            <a:ln>
              <a:solidFill>
                <a:srgbClr val="ACCBFF"/>
              </a:solidFill>
            </a:ln>
          </p:spPr>
          <p:txBody>
            <a:bodyPr lIns="33867" tIns="33867" rIns="33867" bIns="33867" rtlCol="0" anchor="ctr"/>
            <a:lstStyle/>
            <a:p>
              <a:pPr algn="ctr">
                <a:lnSpc>
                  <a:spcPts val="1773"/>
                </a:lnSpc>
              </a:pPr>
              <a:endParaRPr sz="800"/>
            </a:p>
          </p:txBody>
        </p:sp>
      </p:grpSp>
      <p:grpSp>
        <p:nvGrpSpPr>
          <p:cNvPr id="12" name="Group 3">
            <a:extLst>
              <a:ext uri="{FF2B5EF4-FFF2-40B4-BE49-F238E27FC236}">
                <a16:creationId xmlns:a16="http://schemas.microsoft.com/office/drawing/2014/main" id="{BCCB01C1-B1CC-154B-10AB-D4FB30CFDBDC}"/>
              </a:ext>
            </a:extLst>
          </p:cNvPr>
          <p:cNvGrpSpPr/>
          <p:nvPr userDrawn="1"/>
        </p:nvGrpSpPr>
        <p:grpSpPr>
          <a:xfrm>
            <a:off x="1392314" y="-57051"/>
            <a:ext cx="1413028" cy="6978551"/>
            <a:chOff x="0" y="-47625"/>
            <a:chExt cx="558233" cy="2756958"/>
          </a:xfrm>
          <a:solidFill>
            <a:srgbClr val="78AAFF"/>
          </a:solidFill>
        </p:grpSpPr>
        <p:sp>
          <p:nvSpPr>
            <p:cNvPr id="13" name="Freeform 4">
              <a:extLst>
                <a:ext uri="{FF2B5EF4-FFF2-40B4-BE49-F238E27FC236}">
                  <a16:creationId xmlns:a16="http://schemas.microsoft.com/office/drawing/2014/main" id="{FDE3FDA5-BD0B-17F8-40B1-96CFBE1CF445}"/>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78AAFF"/>
              </a:solidFill>
            </a:ln>
          </p:spPr>
          <p:txBody>
            <a:bodyPr/>
            <a:lstStyle/>
            <a:p>
              <a:endParaRPr lang="en-IN" sz="800"/>
            </a:p>
          </p:txBody>
        </p:sp>
        <p:sp>
          <p:nvSpPr>
            <p:cNvPr id="14" name="TextBox 5">
              <a:extLst>
                <a:ext uri="{FF2B5EF4-FFF2-40B4-BE49-F238E27FC236}">
                  <a16:creationId xmlns:a16="http://schemas.microsoft.com/office/drawing/2014/main" id="{B7D98124-E8C9-32D2-471B-D1A49B8C05B3}"/>
                </a:ext>
              </a:extLst>
            </p:cNvPr>
            <p:cNvSpPr txBox="1"/>
            <p:nvPr/>
          </p:nvSpPr>
          <p:spPr>
            <a:xfrm>
              <a:off x="0" y="-47625"/>
              <a:ext cx="558233" cy="2756958"/>
            </a:xfrm>
            <a:prstGeom prst="rect">
              <a:avLst/>
            </a:prstGeom>
            <a:grpFill/>
            <a:ln>
              <a:solidFill>
                <a:srgbClr val="78AAFF"/>
              </a:solidFill>
            </a:ln>
          </p:spPr>
          <p:txBody>
            <a:bodyPr lIns="33867" tIns="33867" rIns="33867" bIns="33867" rtlCol="0" anchor="ctr"/>
            <a:lstStyle/>
            <a:p>
              <a:pPr algn="ctr">
                <a:lnSpc>
                  <a:spcPts val="1773"/>
                </a:lnSpc>
              </a:pPr>
              <a:endParaRPr sz="800"/>
            </a:p>
          </p:txBody>
        </p:sp>
      </p:grpSp>
      <p:grpSp>
        <p:nvGrpSpPr>
          <p:cNvPr id="15" name="Group 6">
            <a:extLst>
              <a:ext uri="{FF2B5EF4-FFF2-40B4-BE49-F238E27FC236}">
                <a16:creationId xmlns:a16="http://schemas.microsoft.com/office/drawing/2014/main" id="{0ADDA3F6-609D-F625-E313-5D247F6BE25E}"/>
              </a:ext>
            </a:extLst>
          </p:cNvPr>
          <p:cNvGrpSpPr/>
          <p:nvPr userDrawn="1"/>
        </p:nvGrpSpPr>
        <p:grpSpPr>
          <a:xfrm>
            <a:off x="685800" y="63500"/>
            <a:ext cx="1413028" cy="6858000"/>
            <a:chOff x="0" y="0"/>
            <a:chExt cx="558233" cy="2709333"/>
          </a:xfrm>
          <a:solidFill>
            <a:srgbClr val="649EFF"/>
          </a:solidFill>
        </p:grpSpPr>
        <p:sp>
          <p:nvSpPr>
            <p:cNvPr id="16" name="Freeform 7">
              <a:extLst>
                <a:ext uri="{FF2B5EF4-FFF2-40B4-BE49-F238E27FC236}">
                  <a16:creationId xmlns:a16="http://schemas.microsoft.com/office/drawing/2014/main" id="{FF8AF282-A0C7-ECBD-CF94-3271CCC19ED6}"/>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649EFF"/>
              </a:solidFill>
            </a:ln>
          </p:spPr>
          <p:txBody>
            <a:bodyPr/>
            <a:lstStyle/>
            <a:p>
              <a:endParaRPr lang="en-IN" sz="800"/>
            </a:p>
          </p:txBody>
        </p:sp>
        <p:sp>
          <p:nvSpPr>
            <p:cNvPr id="17" name="TextBox 8">
              <a:extLst>
                <a:ext uri="{FF2B5EF4-FFF2-40B4-BE49-F238E27FC236}">
                  <a16:creationId xmlns:a16="http://schemas.microsoft.com/office/drawing/2014/main" id="{12552977-414D-5453-1D0F-50937A909377}"/>
                </a:ext>
              </a:extLst>
            </p:cNvPr>
            <p:cNvSpPr txBox="1"/>
            <p:nvPr/>
          </p:nvSpPr>
          <p:spPr>
            <a:xfrm>
              <a:off x="0" y="-47625"/>
              <a:ext cx="558233" cy="2756958"/>
            </a:xfrm>
            <a:prstGeom prst="rect">
              <a:avLst/>
            </a:prstGeom>
            <a:grpFill/>
            <a:ln>
              <a:solidFill>
                <a:srgbClr val="649EFF"/>
              </a:solidFill>
            </a:ln>
          </p:spPr>
          <p:txBody>
            <a:bodyPr lIns="33867" tIns="33867" rIns="33867" bIns="33867" rtlCol="0" anchor="ctr"/>
            <a:lstStyle/>
            <a:p>
              <a:pPr algn="ctr">
                <a:lnSpc>
                  <a:spcPts val="1773"/>
                </a:lnSpc>
              </a:pPr>
              <a:endParaRPr sz="800"/>
            </a:p>
          </p:txBody>
        </p:sp>
      </p:grpSp>
      <p:grpSp>
        <p:nvGrpSpPr>
          <p:cNvPr id="18" name="Group 17">
            <a:extLst>
              <a:ext uri="{FF2B5EF4-FFF2-40B4-BE49-F238E27FC236}">
                <a16:creationId xmlns:a16="http://schemas.microsoft.com/office/drawing/2014/main" id="{1F9AF0FA-480F-9298-6368-B0A53B5098B2}"/>
              </a:ext>
            </a:extLst>
          </p:cNvPr>
          <p:cNvGrpSpPr/>
          <p:nvPr userDrawn="1"/>
        </p:nvGrpSpPr>
        <p:grpSpPr>
          <a:xfrm>
            <a:off x="-20714" y="63500"/>
            <a:ext cx="1413028" cy="6858000"/>
            <a:chOff x="0" y="0"/>
            <a:chExt cx="558233" cy="2709333"/>
          </a:xfrm>
          <a:solidFill>
            <a:srgbClr val="4188FF"/>
          </a:solidFill>
        </p:grpSpPr>
        <p:sp>
          <p:nvSpPr>
            <p:cNvPr id="19" name="Freeform 10">
              <a:extLst>
                <a:ext uri="{FF2B5EF4-FFF2-40B4-BE49-F238E27FC236}">
                  <a16:creationId xmlns:a16="http://schemas.microsoft.com/office/drawing/2014/main" id="{AB6B29EC-B27F-4F3B-8D1B-3C64725F521A}"/>
                </a:ext>
              </a:extLst>
            </p:cNvPr>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pFill/>
            <a:ln>
              <a:solidFill>
                <a:srgbClr val="4188FF"/>
              </a:solidFill>
            </a:ln>
          </p:spPr>
          <p:txBody>
            <a:bodyPr/>
            <a:lstStyle/>
            <a:p>
              <a:endParaRPr lang="en-IN" sz="800" dirty="0"/>
            </a:p>
          </p:txBody>
        </p:sp>
        <p:sp>
          <p:nvSpPr>
            <p:cNvPr id="20" name="TextBox 19">
              <a:extLst>
                <a:ext uri="{FF2B5EF4-FFF2-40B4-BE49-F238E27FC236}">
                  <a16:creationId xmlns:a16="http://schemas.microsoft.com/office/drawing/2014/main" id="{FAE94681-75F3-D10D-DA3B-086F9AA8AC2B}"/>
                </a:ext>
              </a:extLst>
            </p:cNvPr>
            <p:cNvSpPr txBox="1"/>
            <p:nvPr/>
          </p:nvSpPr>
          <p:spPr>
            <a:xfrm>
              <a:off x="0" y="-47625"/>
              <a:ext cx="558233" cy="2756958"/>
            </a:xfrm>
            <a:prstGeom prst="rect">
              <a:avLst/>
            </a:prstGeom>
            <a:grpFill/>
            <a:ln>
              <a:solidFill>
                <a:srgbClr val="4188FF"/>
              </a:solidFill>
            </a:ln>
          </p:spPr>
          <p:txBody>
            <a:bodyPr lIns="33867" tIns="33867" rIns="33867" bIns="33867" rtlCol="0" anchor="ctr"/>
            <a:lstStyle/>
            <a:p>
              <a:pPr algn="ctr">
                <a:lnSpc>
                  <a:spcPts val="1773"/>
                </a:lnSpc>
              </a:pPr>
              <a:endParaRPr sz="800"/>
            </a:p>
          </p:txBody>
        </p:sp>
      </p:grpSp>
    </p:spTree>
    <p:extLst>
      <p:ext uri="{BB962C8B-B14F-4D97-AF65-F5344CB8AC3E}">
        <p14:creationId xmlns:p14="http://schemas.microsoft.com/office/powerpoint/2010/main" val="166504358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2192000" cy="6604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 descr="A close up of a logo&#10;&#10;Description automatically generated">
            <a:extLst>
              <a:ext uri="{FF2B5EF4-FFF2-40B4-BE49-F238E27FC236}">
                <a16:creationId xmlns:a16="http://schemas.microsoft.com/office/drawing/2014/main" id="{77B327EF-A91F-6208-15F1-3A28C481366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626994" y="113975"/>
            <a:ext cx="1290128" cy="419605"/>
          </a:xfrm>
          <a:prstGeom prst="rect">
            <a:avLst/>
          </a:prstGeom>
        </p:spPr>
      </p:pic>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ACC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616963FB-547E-5667-24B3-92F894162D45}"/>
              </a:ext>
            </a:extLst>
          </p:cNvPr>
          <p:cNvSpPr/>
          <p:nvPr userDrawn="1"/>
        </p:nvSpPr>
        <p:spPr>
          <a:xfrm>
            <a:off x="10146320" y="0"/>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D839DA6E-34C0-C57A-CE75-B0AF3E0E58EE}"/>
              </a:ext>
            </a:extLst>
          </p:cNvPr>
          <p:cNvSpPr/>
          <p:nvPr userDrawn="1"/>
        </p:nvSpPr>
        <p:spPr>
          <a:xfrm>
            <a:off x="10017373" y="0"/>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5C2D52CC-658B-257A-3CD2-8C2648661B86}"/>
              </a:ext>
            </a:extLst>
          </p:cNvPr>
          <p:cNvGrpSpPr/>
          <p:nvPr userDrawn="1"/>
        </p:nvGrpSpPr>
        <p:grpSpPr>
          <a:xfrm>
            <a:off x="1251611" y="6699504"/>
            <a:ext cx="380993" cy="158496"/>
            <a:chOff x="8868512" y="1301262"/>
            <a:chExt cx="380993" cy="656492"/>
          </a:xfrm>
        </p:grpSpPr>
        <p:sp>
          <p:nvSpPr>
            <p:cNvPr id="27" name="Rectangle 26">
              <a:extLst>
                <a:ext uri="{FF2B5EF4-FFF2-40B4-BE49-F238E27FC236}">
                  <a16:creationId xmlns:a16="http://schemas.microsoft.com/office/drawing/2014/main" id="{D6D89557-AFC8-50C6-235D-44F87890117E}"/>
                </a:ext>
              </a:extLst>
            </p:cNvPr>
            <p:cNvSpPr/>
            <p:nvPr userDrawn="1"/>
          </p:nvSpPr>
          <p:spPr>
            <a:xfrm>
              <a:off x="8997459" y="1301262"/>
              <a:ext cx="252046" cy="656492"/>
            </a:xfrm>
            <a:prstGeom prst="rect">
              <a:avLst/>
            </a:prstGeom>
            <a:solidFill>
              <a:srgbClr val="841910"/>
            </a:solidFill>
            <a:ln>
              <a:solidFill>
                <a:srgbClr val="8419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6BDAAA11-1FD3-C2BC-ABCE-4F0589F9118E}"/>
                </a:ext>
              </a:extLst>
            </p:cNvPr>
            <p:cNvSpPr/>
            <p:nvPr userDrawn="1"/>
          </p:nvSpPr>
          <p:spPr>
            <a:xfrm>
              <a:off x="8868512" y="1301262"/>
              <a:ext cx="76203" cy="656492"/>
            </a:xfrm>
            <a:prstGeom prst="rect">
              <a:avLst/>
            </a:prstGeom>
            <a:solidFill>
              <a:srgbClr val="213163"/>
            </a:solidFill>
            <a:ln>
              <a:solidFill>
                <a:srgbClr val="21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Freeform 2">
            <a:extLst>
              <a:ext uri="{FF2B5EF4-FFF2-40B4-BE49-F238E27FC236}">
                <a16:creationId xmlns:a16="http://schemas.microsoft.com/office/drawing/2014/main" id="{B8985A92-5B74-7983-45DA-B81B724DDA69}"/>
              </a:ext>
            </a:extLst>
          </p:cNvPr>
          <p:cNvSpPr/>
          <p:nvPr userDrawn="1"/>
        </p:nvSpPr>
        <p:spPr>
          <a:xfrm>
            <a:off x="0" y="656492"/>
            <a:ext cx="12192000" cy="6032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alphaModFix amt="65000"/>
            </a:blip>
            <a:stretch>
              <a:fillRect t="-29847" b="-21877"/>
            </a:stretch>
          </a:blipFill>
        </p:spPr>
        <p:txBody>
          <a:bodyPr/>
          <a:lstStyle/>
          <a:p>
            <a:endParaRPr lang="en-US" dirty="0"/>
          </a:p>
        </p:txBody>
      </p:sp>
    </p:spTree>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5.xml"/><Relationship Id="rId16" Type="http://schemas.openxmlformats.org/officeDocument/2006/relationships/image" Target="../media/image22.svg"/><Relationship Id="rId1" Type="http://schemas.openxmlformats.org/officeDocument/2006/relationships/slideLayout" Target="../slideLayouts/slideLayout3.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jpe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botpenguin.com/glossary/tensorflow"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botpenguin.com/glossary/tensorflow"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keras.io/"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researchgate.net/figure/llustrative-image-of-artificial-neural-networks-with-their-working-mechanism-as-like_fig13_380136894"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ai.plainenglish.io/what-is-a-tensor-2715746a4785"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svg"/></Relationships>
</file>

<file path=ppt/slides/_rels/slide29.xml.rels><?xml version="1.0" encoding="UTF-8" standalone="yes"?>
<Relationships xmlns="http://schemas.openxmlformats.org/package/2006/relationships"><Relationship Id="rId3" Type="http://schemas.openxmlformats.org/officeDocument/2006/relationships/hyperlink" Target="https://medium.com/data-science/what-is-a-tensor-in-deep-learning-6dedd95d6507"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www.aakash.ac.in/blog/what-is-tensors-definition-properties-examples-types-applications/" TargetMode="External"/><Relationship Id="rId4" Type="http://schemas.openxmlformats.org/officeDocument/2006/relationships/hyperlink" Target="https://ai.plainenglish.io/what-is-a-tensor-2715746a4785"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BE93BD-9C29-AD91-88D5-08DF18A0EEAF}"/>
              </a:ext>
            </a:extLst>
          </p:cNvPr>
          <p:cNvSpPr txBox="1"/>
          <p:nvPr/>
        </p:nvSpPr>
        <p:spPr>
          <a:xfrm>
            <a:off x="6996398" y="2983158"/>
            <a:ext cx="1699504" cy="477054"/>
          </a:xfrm>
          <a:prstGeom prst="rect">
            <a:avLst/>
          </a:prstGeom>
          <a:noFill/>
        </p:spPr>
        <p:txBody>
          <a:bodyPr wrap="none" rtlCol="0">
            <a:spAutoFit/>
          </a:bodyPr>
          <a:lstStyle/>
          <a:p>
            <a:pPr algn="ctr"/>
            <a:r>
              <a:rPr lang="en-US" sz="2500" dirty="0">
                <a:latin typeface="Arial" panose="020B0604020202020204" pitchFamily="34" charset="0"/>
                <a:cs typeface="Arial" panose="020B0604020202020204" pitchFamily="34" charset="0"/>
              </a:rPr>
              <a:t>Module - 6</a:t>
            </a:r>
          </a:p>
        </p:txBody>
      </p:sp>
      <p:sp>
        <p:nvSpPr>
          <p:cNvPr id="5" name="TextBox 4">
            <a:extLst>
              <a:ext uri="{FF2B5EF4-FFF2-40B4-BE49-F238E27FC236}">
                <a16:creationId xmlns:a16="http://schemas.microsoft.com/office/drawing/2014/main" id="{69AB0D4E-853E-6882-BB79-0AB135C573F7}"/>
              </a:ext>
            </a:extLst>
          </p:cNvPr>
          <p:cNvSpPr txBox="1"/>
          <p:nvPr/>
        </p:nvSpPr>
        <p:spPr>
          <a:xfrm>
            <a:off x="4174202" y="4088058"/>
            <a:ext cx="7343895" cy="707886"/>
          </a:xfrm>
          <a:prstGeom prst="rect">
            <a:avLst/>
          </a:prstGeom>
          <a:noFill/>
        </p:spPr>
        <p:txBody>
          <a:bodyPr wrap="square" rtlCol="0">
            <a:spAutoFit/>
          </a:bodyPr>
          <a:lstStyle/>
          <a:p>
            <a:pPr algn="ctr"/>
            <a:r>
              <a:rPr lang="en-IN" sz="4000" b="1" dirty="0">
                <a:solidFill>
                  <a:prstClr val="black"/>
                </a:solidFill>
                <a:latin typeface="Arial"/>
                <a:cs typeface="Arial"/>
              </a:rPr>
              <a:t>Deep Learning</a:t>
            </a:r>
            <a:endParaRPr lang="en-US" sz="4000" b="1" dirty="0">
              <a:solidFill>
                <a:prstClr val="black"/>
              </a:solidFill>
              <a:latin typeface="Arial"/>
              <a:cs typeface="Arial"/>
            </a:endParaRPr>
          </a:p>
        </p:txBody>
      </p:sp>
      <p:sp>
        <p:nvSpPr>
          <p:cNvPr id="6" name="Rectangle 5">
            <a:extLst>
              <a:ext uri="{FF2B5EF4-FFF2-40B4-BE49-F238E27FC236}">
                <a16:creationId xmlns:a16="http://schemas.microsoft.com/office/drawing/2014/main" id="{63141075-E958-A7E3-71D9-421A839DF018}"/>
              </a:ext>
            </a:extLst>
          </p:cNvPr>
          <p:cNvSpPr/>
          <p:nvPr/>
        </p:nvSpPr>
        <p:spPr>
          <a:xfrm>
            <a:off x="4664800" y="3736035"/>
            <a:ext cx="6362700" cy="76200"/>
          </a:xfrm>
          <a:prstGeom prst="rect">
            <a:avLst/>
          </a:prstGeom>
          <a:solidFill>
            <a:srgbClr val="223266"/>
          </a:solidFill>
          <a:ln>
            <a:solidFill>
              <a:srgbClr val="2232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AA19C4C4-1279-374D-B315-ABD8A20024C0}"/>
              </a:ext>
            </a:extLst>
          </p:cNvPr>
          <p:cNvGrpSpPr/>
          <p:nvPr/>
        </p:nvGrpSpPr>
        <p:grpSpPr>
          <a:xfrm>
            <a:off x="4791800" y="697089"/>
            <a:ext cx="6108700" cy="1194762"/>
            <a:chOff x="4791800" y="697089"/>
            <a:chExt cx="6108700" cy="1194762"/>
          </a:xfrm>
        </p:grpSpPr>
        <p:sp>
          <p:nvSpPr>
            <p:cNvPr id="11" name="Rectangle: Rounded Corners 10">
              <a:extLst>
                <a:ext uri="{FF2B5EF4-FFF2-40B4-BE49-F238E27FC236}">
                  <a16:creationId xmlns:a16="http://schemas.microsoft.com/office/drawing/2014/main" id="{7A222CC3-F0C2-FB41-B642-CA53DE28D472}"/>
                </a:ext>
              </a:extLst>
            </p:cNvPr>
            <p:cNvSpPr/>
            <p:nvPr/>
          </p:nvSpPr>
          <p:spPr>
            <a:xfrm>
              <a:off x="4791800" y="697089"/>
              <a:ext cx="6108700" cy="1194762"/>
            </a:xfrm>
            <a:prstGeom prst="roundRect">
              <a:avLst/>
            </a:prstGeom>
            <a:solidFill>
              <a:srgbClr val="CDE0FF">
                <a:alpha val="51000"/>
              </a:srgbClr>
            </a:solidFill>
            <a:ln>
              <a:noFill/>
            </a:ln>
            <a:scene3d>
              <a:camera prst="orthographicFront"/>
              <a:lightRig rig="threePt" dir="t"/>
            </a:scene3d>
            <a:sp3d>
              <a:bevelT w="139700" prst="cross"/>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2" name="Group 11">
              <a:extLst>
                <a:ext uri="{FF2B5EF4-FFF2-40B4-BE49-F238E27FC236}">
                  <a16:creationId xmlns:a16="http://schemas.microsoft.com/office/drawing/2014/main" id="{BC0494D3-F009-5C9E-54F0-F0F2D807DAC0}"/>
                </a:ext>
              </a:extLst>
            </p:cNvPr>
            <p:cNvGrpSpPr/>
            <p:nvPr/>
          </p:nvGrpSpPr>
          <p:grpSpPr>
            <a:xfrm>
              <a:off x="5209263" y="846376"/>
              <a:ext cx="5225505" cy="896185"/>
              <a:chOff x="5209263" y="846376"/>
              <a:chExt cx="5225505" cy="896185"/>
            </a:xfrm>
          </p:grpSpPr>
          <p:pic>
            <p:nvPicPr>
              <p:cNvPr id="13" name="Picture 12" descr="A logo with tools in the middle of a gear&#10;&#10;Description automatically generated">
                <a:extLst>
                  <a:ext uri="{FF2B5EF4-FFF2-40B4-BE49-F238E27FC236}">
                    <a16:creationId xmlns:a16="http://schemas.microsoft.com/office/drawing/2014/main" id="{D6BE13B2-9A95-AF04-F035-875E99CAF3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2733" y="846376"/>
                <a:ext cx="899685" cy="896185"/>
              </a:xfrm>
              <a:prstGeom prst="rect">
                <a:avLst/>
              </a:prstGeom>
            </p:spPr>
          </p:pic>
          <p:pic>
            <p:nvPicPr>
              <p:cNvPr id="14" name="Picture 13" descr="A black and grey logo&#10;&#10;Description automatically generated">
                <a:extLst>
                  <a:ext uri="{FF2B5EF4-FFF2-40B4-BE49-F238E27FC236}">
                    <a16:creationId xmlns:a16="http://schemas.microsoft.com/office/drawing/2014/main" id="{C4AF61ED-30CF-7579-19C2-D3AC966050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9263" y="1069551"/>
                <a:ext cx="1773474" cy="378249"/>
              </a:xfrm>
              <a:prstGeom prst="rect">
                <a:avLst/>
              </a:prstGeom>
            </p:spPr>
          </p:pic>
          <p:pic>
            <p:nvPicPr>
              <p:cNvPr id="16" name="Picture 15" descr="A close up of a logo&#10;&#10;Description automatically generated">
                <a:extLst>
                  <a:ext uri="{FF2B5EF4-FFF2-40B4-BE49-F238E27FC236}">
                    <a16:creationId xmlns:a16="http://schemas.microsoft.com/office/drawing/2014/main" id="{5AB07E37-5053-F4ED-C74E-F2CD6B41D9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42414" y="1066800"/>
                <a:ext cx="1392354" cy="452854"/>
              </a:xfrm>
              <a:prstGeom prst="rect">
                <a:avLst/>
              </a:prstGeom>
            </p:spPr>
          </p:pic>
        </p:grpSp>
      </p:gr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6091F01-9AB2-CB60-2D6E-0ACFA0B53431}"/>
              </a:ext>
            </a:extLst>
          </p:cNvPr>
          <p:cNvGrpSpPr/>
          <p:nvPr/>
        </p:nvGrpSpPr>
        <p:grpSpPr>
          <a:xfrm>
            <a:off x="1525639" y="1675444"/>
            <a:ext cx="9140724" cy="4109012"/>
            <a:chOff x="1166951" y="1076446"/>
            <a:chExt cx="6900603" cy="3102015"/>
          </a:xfrm>
        </p:grpSpPr>
        <p:sp>
          <p:nvSpPr>
            <p:cNvPr id="3" name="Rectangle: Rounded Corners 2">
              <a:extLst>
                <a:ext uri="{FF2B5EF4-FFF2-40B4-BE49-F238E27FC236}">
                  <a16:creationId xmlns:a16="http://schemas.microsoft.com/office/drawing/2014/main" id="{DF75BA0B-8BB5-2F47-0CD6-494573F16F15}"/>
                </a:ext>
              </a:extLst>
            </p:cNvPr>
            <p:cNvSpPr/>
            <p:nvPr/>
          </p:nvSpPr>
          <p:spPr>
            <a:xfrm>
              <a:off x="1169043" y="1076446"/>
              <a:ext cx="6898511" cy="3102015"/>
            </a:xfrm>
            <a:prstGeom prst="roundRect">
              <a:avLst>
                <a:gd name="adj" fmla="val 8142"/>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399A009-8F51-58EF-B075-EDDC8BEA4B1E}"/>
                </a:ext>
              </a:extLst>
            </p:cNvPr>
            <p:cNvSpPr txBox="1"/>
            <p:nvPr/>
          </p:nvSpPr>
          <p:spPr>
            <a:xfrm>
              <a:off x="1166951" y="2118896"/>
              <a:ext cx="3450302" cy="1045574"/>
            </a:xfrm>
            <a:prstGeom prst="rect">
              <a:avLst/>
            </a:prstGeom>
            <a:noFill/>
          </p:spPr>
          <p:txBody>
            <a:bodyPr wrap="square" rtlCol="0">
              <a:spAutoFit/>
            </a:bodyPr>
            <a:lstStyle/>
            <a:p>
              <a:pPr algn="ctr"/>
              <a:r>
                <a:rPr lang="en-US" sz="2400" b="1" dirty="0">
                  <a:solidFill>
                    <a:srgbClr val="C00000"/>
                  </a:solidFill>
                  <a:latin typeface="Arial" panose="020B0604020202020204" pitchFamily="34" charset="0"/>
                  <a:cs typeface="Arial" panose="020B0604020202020204" pitchFamily="34" charset="0"/>
                </a:rPr>
                <a:t>Disclaimer</a:t>
              </a:r>
            </a:p>
            <a:p>
              <a:pPr algn="ctr"/>
              <a:r>
                <a:rPr lang="en-US" sz="2000" dirty="0">
                  <a:latin typeface="Arial" panose="020B0604020202020204" pitchFamily="34" charset="0"/>
                  <a:cs typeface="Arial" panose="020B0604020202020204" pitchFamily="34" charset="0"/>
                </a:rPr>
                <a:t>The content is curated from online/offline resources and used for educational purpose only</a:t>
              </a:r>
            </a:p>
          </p:txBody>
        </p:sp>
        <p:pic>
          <p:nvPicPr>
            <p:cNvPr id="5" name="Picture 4" descr="A red triangle with a exclamation mark&#10;&#10;Description automatically generated">
              <a:extLst>
                <a:ext uri="{FF2B5EF4-FFF2-40B4-BE49-F238E27FC236}">
                  <a16:creationId xmlns:a16="http://schemas.microsoft.com/office/drawing/2014/main" id="{9A8A9A5E-1340-85F1-6472-2D822A25190A}"/>
                </a:ext>
              </a:extLst>
            </p:cNvPr>
            <p:cNvPicPr>
              <a:picLocks noChangeAspect="1"/>
            </p:cNvPicPr>
            <p:nvPr/>
          </p:nvPicPr>
          <p:blipFill>
            <a:blip r:embed="rId3">
              <a:alphaModFix amt="24000"/>
            </a:blip>
            <a:stretch>
              <a:fillRect/>
            </a:stretch>
          </p:blipFill>
          <p:spPr>
            <a:xfrm>
              <a:off x="5259980" y="1277681"/>
              <a:ext cx="2700479" cy="2700479"/>
            </a:xfrm>
            <a:prstGeom prst="rect">
              <a:avLst/>
            </a:prstGeom>
          </p:spPr>
        </p:pic>
      </p:grpSp>
    </p:spTree>
    <p:custDataLst>
      <p:tags r:id="rId1"/>
    </p:custDataLst>
    <p:extLst>
      <p:ext uri="{BB962C8B-B14F-4D97-AF65-F5344CB8AC3E}">
        <p14:creationId xmlns:p14="http://schemas.microsoft.com/office/powerpoint/2010/main" val="238825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0768AD4-8698-734D-CBEC-6A147531FB7B}"/>
              </a:ext>
            </a:extLst>
          </p:cNvPr>
          <p:cNvSpPr txBox="1">
            <a:spLocks/>
          </p:cNvSpPr>
          <p:nvPr/>
        </p:nvSpPr>
        <p:spPr>
          <a:xfrm>
            <a:off x="406863" y="740737"/>
            <a:ext cx="5811057"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Chapters for Discussion</a:t>
            </a:r>
          </a:p>
        </p:txBody>
      </p:sp>
      <p:cxnSp>
        <p:nvCxnSpPr>
          <p:cNvPr id="5" name="Straight Connector 4">
            <a:extLst>
              <a:ext uri="{FF2B5EF4-FFF2-40B4-BE49-F238E27FC236}">
                <a16:creationId xmlns:a16="http://schemas.microsoft.com/office/drawing/2014/main" id="{229CD11B-B9BD-1903-C1D3-321621C4F0A7}"/>
              </a:ext>
            </a:extLst>
          </p:cNvPr>
          <p:cNvCxnSpPr>
            <a:cxnSpLocks/>
          </p:cNvCxnSpPr>
          <p:nvPr/>
        </p:nvCxnSpPr>
        <p:spPr>
          <a:xfrm>
            <a:off x="2627448" y="1606307"/>
            <a:ext cx="0" cy="4664598"/>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BDA058DC-C039-63B5-1D84-7942055B2863}"/>
              </a:ext>
            </a:extLst>
          </p:cNvPr>
          <p:cNvGrpSpPr/>
          <p:nvPr/>
        </p:nvGrpSpPr>
        <p:grpSpPr>
          <a:xfrm>
            <a:off x="2540638" y="1463153"/>
            <a:ext cx="7135793" cy="909659"/>
            <a:chOff x="1730415" y="1463153"/>
            <a:chExt cx="7135793" cy="909659"/>
          </a:xfrm>
        </p:grpSpPr>
        <p:sp>
          <p:nvSpPr>
            <p:cNvPr id="6" name="Oval 5">
              <a:extLst>
                <a:ext uri="{FF2B5EF4-FFF2-40B4-BE49-F238E27FC236}">
                  <a16:creationId xmlns:a16="http://schemas.microsoft.com/office/drawing/2014/main" id="{4C273F24-618B-363E-B6B6-36937A36AEE6}"/>
                </a:ext>
              </a:extLst>
            </p:cNvPr>
            <p:cNvSpPr/>
            <p:nvPr/>
          </p:nvSpPr>
          <p:spPr>
            <a:xfrm>
              <a:off x="1730415" y="2002421"/>
              <a:ext cx="173620" cy="173620"/>
            </a:xfrm>
            <a:prstGeom prst="ellipse">
              <a:avLst/>
            </a:prstGeom>
            <a:solidFill>
              <a:schemeClr val="accent5">
                <a:lumMod val="75000"/>
              </a:schemeClr>
            </a:solidFill>
            <a:ln>
              <a:solidFill>
                <a:srgbClr val="7820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35BC1A1A-083E-53D6-05C1-B7D17AA24057}"/>
                </a:ext>
              </a:extLst>
            </p:cNvPr>
            <p:cNvSpPr/>
            <p:nvPr/>
          </p:nvSpPr>
          <p:spPr>
            <a:xfrm>
              <a:off x="2118167" y="1828802"/>
              <a:ext cx="6748041" cy="544010"/>
            </a:xfrm>
            <a:prstGeom prst="roundRect">
              <a:avLst/>
            </a:prstGeom>
            <a:solidFill>
              <a:schemeClr val="accent5">
                <a:lumMod val="75000"/>
              </a:schemeClr>
            </a:solidFill>
            <a:ln>
              <a:solidFill>
                <a:srgbClr val="7820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 Placeholder 4">
              <a:extLst>
                <a:ext uri="{FF2B5EF4-FFF2-40B4-BE49-F238E27FC236}">
                  <a16:creationId xmlns:a16="http://schemas.microsoft.com/office/drawing/2014/main" id="{6B0AE555-71A4-35A9-D36A-3A98B09E7DBE}"/>
                </a:ext>
              </a:extLst>
            </p:cNvPr>
            <p:cNvSpPr txBox="1">
              <a:spLocks/>
            </p:cNvSpPr>
            <p:nvPr/>
          </p:nvSpPr>
          <p:spPr>
            <a:xfrm>
              <a:off x="2044294" y="1463153"/>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- 1</a:t>
              </a:r>
            </a:p>
          </p:txBody>
        </p:sp>
        <p:sp>
          <p:nvSpPr>
            <p:cNvPr id="17" name="Text Placeholder 4">
              <a:extLst>
                <a:ext uri="{FF2B5EF4-FFF2-40B4-BE49-F238E27FC236}">
                  <a16:creationId xmlns:a16="http://schemas.microsoft.com/office/drawing/2014/main" id="{36AF001A-0CF1-CA13-B31C-9274E890A823}"/>
                </a:ext>
              </a:extLst>
            </p:cNvPr>
            <p:cNvSpPr txBox="1">
              <a:spLocks/>
            </p:cNvSpPr>
            <p:nvPr/>
          </p:nvSpPr>
          <p:spPr>
            <a:xfrm>
              <a:off x="2113739" y="1914565"/>
              <a:ext cx="459697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buNone/>
              </a:pPr>
              <a:r>
                <a:rPr lang="en-IN" sz="1800" dirty="0">
                  <a:solidFill>
                    <a:schemeClr val="bg1"/>
                  </a:solidFill>
                  <a:latin typeface="Arial" panose="020B0604020202020204" pitchFamily="34" charset="0"/>
                  <a:cs typeface="Arial" panose="020B0604020202020204" pitchFamily="34" charset="0"/>
                </a:rPr>
                <a:t>Introduction to Deep Learning</a:t>
              </a:r>
              <a:endParaRPr lang="en-US" sz="1800" dirty="0">
                <a:solidFill>
                  <a:schemeClr val="bg1"/>
                </a:solidFill>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A46B074B-CF6C-249C-100C-55F30053B205}"/>
              </a:ext>
            </a:extLst>
          </p:cNvPr>
          <p:cNvGrpSpPr/>
          <p:nvPr/>
        </p:nvGrpSpPr>
        <p:grpSpPr>
          <a:xfrm>
            <a:off x="2540638" y="2682702"/>
            <a:ext cx="7124218" cy="909658"/>
            <a:chOff x="1730415" y="2655344"/>
            <a:chExt cx="7124218" cy="909658"/>
          </a:xfrm>
        </p:grpSpPr>
        <p:sp>
          <p:nvSpPr>
            <p:cNvPr id="8" name="Oval 7">
              <a:extLst>
                <a:ext uri="{FF2B5EF4-FFF2-40B4-BE49-F238E27FC236}">
                  <a16:creationId xmlns:a16="http://schemas.microsoft.com/office/drawing/2014/main" id="{83F4BC78-3457-398D-9305-13229B07D8A6}"/>
                </a:ext>
              </a:extLst>
            </p:cNvPr>
            <p:cNvSpPr/>
            <p:nvPr/>
          </p:nvSpPr>
          <p:spPr>
            <a:xfrm>
              <a:off x="1730415" y="3194611"/>
              <a:ext cx="173620" cy="173620"/>
            </a:xfrm>
            <a:prstGeom prst="ellipse">
              <a:avLst/>
            </a:prstGeom>
            <a:solidFill>
              <a:schemeClr val="accent4">
                <a:lumMod val="75000"/>
              </a:schemeClr>
            </a:solidFill>
            <a:ln>
              <a:solidFill>
                <a:srgbClr val="0B76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F4E2E69F-D03D-2FD9-EBFF-64F4BAD8B521}"/>
                </a:ext>
              </a:extLst>
            </p:cNvPr>
            <p:cNvSpPr/>
            <p:nvPr/>
          </p:nvSpPr>
          <p:spPr>
            <a:xfrm>
              <a:off x="2106592" y="3020992"/>
              <a:ext cx="6748041" cy="544010"/>
            </a:xfrm>
            <a:prstGeom prst="roundRect">
              <a:avLst/>
            </a:prstGeom>
            <a:solidFill>
              <a:schemeClr val="accent4">
                <a:lumMod val="75000"/>
              </a:schemeClr>
            </a:solidFill>
            <a:ln>
              <a:solidFill>
                <a:srgbClr val="0B76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4">
              <a:extLst>
                <a:ext uri="{FF2B5EF4-FFF2-40B4-BE49-F238E27FC236}">
                  <a16:creationId xmlns:a16="http://schemas.microsoft.com/office/drawing/2014/main" id="{3789AE49-3EC2-D1C7-4BFE-89DA98E0AD31}"/>
                </a:ext>
              </a:extLst>
            </p:cNvPr>
            <p:cNvSpPr txBox="1">
              <a:spLocks/>
            </p:cNvSpPr>
            <p:nvPr/>
          </p:nvSpPr>
          <p:spPr>
            <a:xfrm>
              <a:off x="2044294" y="2655344"/>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- 2</a:t>
              </a:r>
            </a:p>
          </p:txBody>
        </p:sp>
        <p:sp>
          <p:nvSpPr>
            <p:cNvPr id="19" name="Text Placeholder 4">
              <a:extLst>
                <a:ext uri="{FF2B5EF4-FFF2-40B4-BE49-F238E27FC236}">
                  <a16:creationId xmlns:a16="http://schemas.microsoft.com/office/drawing/2014/main" id="{38D5F445-AA23-06D8-050F-CD2E7B5ECAFC}"/>
                </a:ext>
              </a:extLst>
            </p:cNvPr>
            <p:cNvSpPr txBox="1">
              <a:spLocks/>
            </p:cNvSpPr>
            <p:nvPr/>
          </p:nvSpPr>
          <p:spPr>
            <a:xfrm>
              <a:off x="2113739" y="3106756"/>
              <a:ext cx="445981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None/>
              </a:pPr>
              <a:r>
                <a:rPr lang="en-IN" sz="1800" dirty="0">
                  <a:solidFill>
                    <a:schemeClr val="bg1"/>
                  </a:solidFill>
                  <a:latin typeface="Arial" panose="020B0604020202020204" pitchFamily="34" charset="0"/>
                  <a:cs typeface="Arial" panose="020B0604020202020204" pitchFamily="34" charset="0"/>
                </a:rPr>
                <a:t>Fundamentals of Neural Networks</a:t>
              </a:r>
              <a:endParaRPr lang="en-US" sz="1800" dirty="0">
                <a:solidFill>
                  <a:schemeClr val="bg1"/>
                </a:solidFill>
                <a:latin typeface="Arial" panose="020B0604020202020204" pitchFamily="34" charset="0"/>
                <a:cs typeface="Arial" panose="020B0604020202020204" pitchFamily="34" charset="0"/>
              </a:endParaRPr>
            </a:p>
          </p:txBody>
        </p:sp>
      </p:grpSp>
      <p:grpSp>
        <p:nvGrpSpPr>
          <p:cNvPr id="26" name="Group 25">
            <a:extLst>
              <a:ext uri="{FF2B5EF4-FFF2-40B4-BE49-F238E27FC236}">
                <a16:creationId xmlns:a16="http://schemas.microsoft.com/office/drawing/2014/main" id="{EAEA8F47-8336-A9C2-21AF-CBFA9A74E565}"/>
              </a:ext>
            </a:extLst>
          </p:cNvPr>
          <p:cNvGrpSpPr/>
          <p:nvPr/>
        </p:nvGrpSpPr>
        <p:grpSpPr>
          <a:xfrm>
            <a:off x="2529064" y="3902250"/>
            <a:ext cx="7135793" cy="914923"/>
            <a:chOff x="1718841" y="3853846"/>
            <a:chExt cx="7135793" cy="914923"/>
          </a:xfrm>
        </p:grpSpPr>
        <p:sp>
          <p:nvSpPr>
            <p:cNvPr id="10" name="Oval 9">
              <a:extLst>
                <a:ext uri="{FF2B5EF4-FFF2-40B4-BE49-F238E27FC236}">
                  <a16:creationId xmlns:a16="http://schemas.microsoft.com/office/drawing/2014/main" id="{C0CD9D45-380E-1B96-3551-502C1F139831}"/>
                </a:ext>
              </a:extLst>
            </p:cNvPr>
            <p:cNvSpPr/>
            <p:nvPr/>
          </p:nvSpPr>
          <p:spPr>
            <a:xfrm>
              <a:off x="1718841" y="4398378"/>
              <a:ext cx="173620" cy="173620"/>
            </a:xfrm>
            <a:prstGeom prst="ellipse">
              <a:avLst/>
            </a:prstGeom>
            <a:solidFill>
              <a:schemeClr val="accent3">
                <a:lumMod val="75000"/>
              </a:schemeClr>
            </a:solid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AAAAC575-F821-93E5-04A3-3A9EEFC386A9}"/>
                </a:ext>
              </a:extLst>
            </p:cNvPr>
            <p:cNvSpPr/>
            <p:nvPr/>
          </p:nvSpPr>
          <p:spPr>
            <a:xfrm>
              <a:off x="2106593" y="4224759"/>
              <a:ext cx="6748041" cy="544010"/>
            </a:xfrm>
            <a:prstGeom prst="roundRect">
              <a:avLst/>
            </a:prstGeom>
            <a:solidFill>
              <a:schemeClr val="accent3">
                <a:lumMod val="75000"/>
              </a:schemeClr>
            </a:solid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 Placeholder 4">
              <a:extLst>
                <a:ext uri="{FF2B5EF4-FFF2-40B4-BE49-F238E27FC236}">
                  <a16:creationId xmlns:a16="http://schemas.microsoft.com/office/drawing/2014/main" id="{3DE03412-9E8C-3198-6B5E-796834587ACB}"/>
                </a:ext>
              </a:extLst>
            </p:cNvPr>
            <p:cNvSpPr txBox="1">
              <a:spLocks/>
            </p:cNvSpPr>
            <p:nvPr/>
          </p:nvSpPr>
          <p:spPr>
            <a:xfrm>
              <a:off x="2044294" y="3853846"/>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- 3</a:t>
              </a:r>
            </a:p>
          </p:txBody>
        </p:sp>
        <p:sp>
          <p:nvSpPr>
            <p:cNvPr id="21" name="Text Placeholder 4">
              <a:extLst>
                <a:ext uri="{FF2B5EF4-FFF2-40B4-BE49-F238E27FC236}">
                  <a16:creationId xmlns:a16="http://schemas.microsoft.com/office/drawing/2014/main" id="{D0C9EEAD-42DA-71A5-3A76-D46278B7C8F6}"/>
                </a:ext>
              </a:extLst>
            </p:cNvPr>
            <p:cNvSpPr txBox="1">
              <a:spLocks/>
            </p:cNvSpPr>
            <p:nvPr/>
          </p:nvSpPr>
          <p:spPr>
            <a:xfrm>
              <a:off x="2113739" y="4305258"/>
              <a:ext cx="402547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None/>
              </a:pPr>
              <a:r>
                <a:rPr lang="en-IN" sz="1800" dirty="0">
                  <a:solidFill>
                    <a:schemeClr val="bg1"/>
                  </a:solidFill>
                  <a:latin typeface="Arial" panose="020B0604020202020204" pitchFamily="34" charset="0"/>
                  <a:cs typeface="Arial" panose="020B0604020202020204" pitchFamily="34" charset="0"/>
                </a:rPr>
                <a:t>Introduction to TensorFlow &amp; </a:t>
              </a:r>
              <a:r>
                <a:rPr lang="en-IN" sz="1800" dirty="0" err="1">
                  <a:solidFill>
                    <a:schemeClr val="bg1"/>
                  </a:solidFill>
                  <a:latin typeface="Arial" panose="020B0604020202020204" pitchFamily="34" charset="0"/>
                  <a:cs typeface="Arial" panose="020B0604020202020204" pitchFamily="34" charset="0"/>
                </a:rPr>
                <a:t>Keras</a:t>
              </a:r>
              <a:endParaRPr lang="en-US" sz="1800" dirty="0">
                <a:solidFill>
                  <a:schemeClr val="bg1"/>
                </a:solidFill>
                <a:latin typeface="Arial" panose="020B0604020202020204" pitchFamily="34" charset="0"/>
                <a:cs typeface="Arial" panose="020B0604020202020204" pitchFamily="34" charset="0"/>
              </a:endParaRPr>
            </a:p>
          </p:txBody>
        </p:sp>
      </p:grpSp>
      <p:grpSp>
        <p:nvGrpSpPr>
          <p:cNvPr id="27" name="Group 26">
            <a:extLst>
              <a:ext uri="{FF2B5EF4-FFF2-40B4-BE49-F238E27FC236}">
                <a16:creationId xmlns:a16="http://schemas.microsoft.com/office/drawing/2014/main" id="{9BECA7AB-84D7-9B93-7443-926977DA4F01}"/>
              </a:ext>
            </a:extLst>
          </p:cNvPr>
          <p:cNvGrpSpPr/>
          <p:nvPr/>
        </p:nvGrpSpPr>
        <p:grpSpPr>
          <a:xfrm>
            <a:off x="2540639" y="5127064"/>
            <a:ext cx="7529191" cy="914924"/>
            <a:chOff x="1730416" y="5127064"/>
            <a:chExt cx="7529191" cy="914924"/>
          </a:xfrm>
        </p:grpSpPr>
        <p:sp>
          <p:nvSpPr>
            <p:cNvPr id="12" name="Oval 11">
              <a:extLst>
                <a:ext uri="{FF2B5EF4-FFF2-40B4-BE49-F238E27FC236}">
                  <a16:creationId xmlns:a16="http://schemas.microsoft.com/office/drawing/2014/main" id="{26F78DF9-C195-FD57-DEE7-F76BAF57C44D}"/>
                </a:ext>
              </a:extLst>
            </p:cNvPr>
            <p:cNvSpPr/>
            <p:nvPr/>
          </p:nvSpPr>
          <p:spPr>
            <a:xfrm>
              <a:off x="1730416" y="5671597"/>
              <a:ext cx="173620" cy="173620"/>
            </a:xfrm>
            <a:prstGeom prst="ellipse">
              <a:avLst/>
            </a:prstGeom>
            <a:solidFill>
              <a:schemeClr val="accent2">
                <a:lumMod val="50000"/>
              </a:schemeClr>
            </a:solidFill>
            <a:ln>
              <a:solidFill>
                <a:srgbClr val="8035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F6A0E2DC-00B1-7C96-0F7F-204EA75D93BA}"/>
                </a:ext>
              </a:extLst>
            </p:cNvPr>
            <p:cNvSpPr/>
            <p:nvPr/>
          </p:nvSpPr>
          <p:spPr>
            <a:xfrm>
              <a:off x="2095018" y="5497978"/>
              <a:ext cx="6748041" cy="544010"/>
            </a:xfrm>
            <a:prstGeom prst="roundRect">
              <a:avLst/>
            </a:prstGeom>
            <a:solidFill>
              <a:schemeClr val="accent2">
                <a:lumMod val="50000"/>
              </a:schemeClr>
            </a:solidFill>
            <a:ln>
              <a:solidFill>
                <a:srgbClr val="8035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 Placeholder 4">
              <a:extLst>
                <a:ext uri="{FF2B5EF4-FFF2-40B4-BE49-F238E27FC236}">
                  <a16:creationId xmlns:a16="http://schemas.microsoft.com/office/drawing/2014/main" id="{1CC71C01-D374-3CB2-4A43-314DECAC0AAF}"/>
                </a:ext>
              </a:extLst>
            </p:cNvPr>
            <p:cNvSpPr txBox="1">
              <a:spLocks/>
            </p:cNvSpPr>
            <p:nvPr/>
          </p:nvSpPr>
          <p:spPr>
            <a:xfrm>
              <a:off x="2044294" y="5127064"/>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- 4</a:t>
              </a:r>
            </a:p>
          </p:txBody>
        </p:sp>
        <p:sp>
          <p:nvSpPr>
            <p:cNvPr id="23" name="Text Placeholder 4">
              <a:extLst>
                <a:ext uri="{FF2B5EF4-FFF2-40B4-BE49-F238E27FC236}">
                  <a16:creationId xmlns:a16="http://schemas.microsoft.com/office/drawing/2014/main" id="{26556FA5-A584-0664-FF94-7A08E15E82B2}"/>
                </a:ext>
              </a:extLst>
            </p:cNvPr>
            <p:cNvSpPr txBox="1">
              <a:spLocks/>
            </p:cNvSpPr>
            <p:nvPr/>
          </p:nvSpPr>
          <p:spPr>
            <a:xfrm>
              <a:off x="2113739" y="5578476"/>
              <a:ext cx="714586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None/>
              </a:pPr>
              <a:r>
                <a:rPr lang="en-US" sz="1800" dirty="0">
                  <a:solidFill>
                    <a:schemeClr val="bg1"/>
                  </a:solidFill>
                  <a:latin typeface="Arial" panose="020B0604020202020204" pitchFamily="34" charset="0"/>
                  <a:cs typeface="Arial" panose="020B0604020202020204" pitchFamily="34" charset="0"/>
                </a:rPr>
                <a:t>Deep Learning Architectures &amp; Training of Neural Networks</a:t>
              </a:r>
            </a:p>
          </p:txBody>
        </p:sp>
      </p:grpSp>
    </p:spTree>
    <p:custDataLst>
      <p:tags r:id="rId1"/>
    </p:custDataLst>
    <p:extLst>
      <p:ext uri="{BB962C8B-B14F-4D97-AF65-F5344CB8AC3E}">
        <p14:creationId xmlns:p14="http://schemas.microsoft.com/office/powerpoint/2010/main" val="1013712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50389-C80A-EA43-BC29-C99AD9A3E3C2}"/>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78BB2B1E-05A6-B128-1F56-B4672B86DE39}"/>
              </a:ext>
            </a:extLst>
          </p:cNvPr>
          <p:cNvSpPr txBox="1">
            <a:spLocks/>
          </p:cNvSpPr>
          <p:nvPr/>
        </p:nvSpPr>
        <p:spPr>
          <a:xfrm>
            <a:off x="406863" y="750262"/>
            <a:ext cx="5038897"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Chapters for Discussion</a:t>
            </a:r>
          </a:p>
        </p:txBody>
      </p:sp>
      <p:grpSp>
        <p:nvGrpSpPr>
          <p:cNvPr id="4" name="Group 3">
            <a:extLst>
              <a:ext uri="{FF2B5EF4-FFF2-40B4-BE49-F238E27FC236}">
                <a16:creationId xmlns:a16="http://schemas.microsoft.com/office/drawing/2014/main" id="{32FD5095-9BAF-3817-99EA-EB68DC898156}"/>
              </a:ext>
            </a:extLst>
          </p:cNvPr>
          <p:cNvGrpSpPr/>
          <p:nvPr/>
        </p:nvGrpSpPr>
        <p:grpSpPr>
          <a:xfrm>
            <a:off x="2529064" y="1930513"/>
            <a:ext cx="7147367" cy="3566047"/>
            <a:chOff x="2529064" y="1463153"/>
            <a:chExt cx="7147367" cy="3566047"/>
          </a:xfrm>
        </p:grpSpPr>
        <p:cxnSp>
          <p:nvCxnSpPr>
            <p:cNvPr id="5" name="Straight Connector 4">
              <a:extLst>
                <a:ext uri="{FF2B5EF4-FFF2-40B4-BE49-F238E27FC236}">
                  <a16:creationId xmlns:a16="http://schemas.microsoft.com/office/drawing/2014/main" id="{4AD40A70-71AE-D40B-049A-0FB4B90FE63B}"/>
                </a:ext>
              </a:extLst>
            </p:cNvPr>
            <p:cNvCxnSpPr>
              <a:cxnSpLocks/>
            </p:cNvCxnSpPr>
            <p:nvPr/>
          </p:nvCxnSpPr>
          <p:spPr>
            <a:xfrm>
              <a:off x="2627448" y="1504707"/>
              <a:ext cx="0" cy="3524493"/>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586A8C48-C44A-F2D0-8512-B59B20DE41EA}"/>
                </a:ext>
              </a:extLst>
            </p:cNvPr>
            <p:cNvGrpSpPr/>
            <p:nvPr/>
          </p:nvGrpSpPr>
          <p:grpSpPr>
            <a:xfrm>
              <a:off x="2540638" y="1463153"/>
              <a:ext cx="7135793" cy="909659"/>
              <a:chOff x="1730415" y="1463153"/>
              <a:chExt cx="7135793" cy="909659"/>
            </a:xfrm>
          </p:grpSpPr>
          <p:sp>
            <p:nvSpPr>
              <p:cNvPr id="6" name="Oval 5">
                <a:extLst>
                  <a:ext uri="{FF2B5EF4-FFF2-40B4-BE49-F238E27FC236}">
                    <a16:creationId xmlns:a16="http://schemas.microsoft.com/office/drawing/2014/main" id="{F0FC2B62-0C40-AD61-6D52-08F5A7CCB141}"/>
                  </a:ext>
                </a:extLst>
              </p:cNvPr>
              <p:cNvSpPr/>
              <p:nvPr/>
            </p:nvSpPr>
            <p:spPr>
              <a:xfrm>
                <a:off x="1730415" y="2002421"/>
                <a:ext cx="173620" cy="173620"/>
              </a:xfrm>
              <a:prstGeom prst="ellipse">
                <a:avLst/>
              </a:prstGeom>
              <a:solidFill>
                <a:schemeClr val="accent5">
                  <a:lumMod val="75000"/>
                </a:schemeClr>
              </a:solidFill>
              <a:ln>
                <a:solidFill>
                  <a:srgbClr val="7820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D1807D44-8935-B9F8-ABD3-F5CD0187D61D}"/>
                  </a:ext>
                </a:extLst>
              </p:cNvPr>
              <p:cNvSpPr/>
              <p:nvPr/>
            </p:nvSpPr>
            <p:spPr>
              <a:xfrm>
                <a:off x="2118167" y="1828802"/>
                <a:ext cx="6748041" cy="544010"/>
              </a:xfrm>
              <a:prstGeom prst="roundRect">
                <a:avLst/>
              </a:prstGeom>
              <a:solidFill>
                <a:schemeClr val="accent5">
                  <a:lumMod val="75000"/>
                </a:schemeClr>
              </a:solidFill>
              <a:ln>
                <a:solidFill>
                  <a:srgbClr val="7820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 Placeholder 4">
                <a:extLst>
                  <a:ext uri="{FF2B5EF4-FFF2-40B4-BE49-F238E27FC236}">
                    <a16:creationId xmlns:a16="http://schemas.microsoft.com/office/drawing/2014/main" id="{C8D12C4E-EEAB-0641-6860-007EBF9BD132}"/>
                  </a:ext>
                </a:extLst>
              </p:cNvPr>
              <p:cNvSpPr txBox="1">
                <a:spLocks/>
              </p:cNvSpPr>
              <p:nvPr/>
            </p:nvSpPr>
            <p:spPr>
              <a:xfrm>
                <a:off x="2044294" y="1463153"/>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- 5</a:t>
                </a:r>
              </a:p>
            </p:txBody>
          </p:sp>
          <p:sp>
            <p:nvSpPr>
              <p:cNvPr id="17" name="Text Placeholder 4">
                <a:extLst>
                  <a:ext uri="{FF2B5EF4-FFF2-40B4-BE49-F238E27FC236}">
                    <a16:creationId xmlns:a16="http://schemas.microsoft.com/office/drawing/2014/main" id="{99F4E3C9-812E-7D22-66D4-90EFB1B80B50}"/>
                  </a:ext>
                </a:extLst>
              </p:cNvPr>
              <p:cNvSpPr txBox="1">
                <a:spLocks/>
              </p:cNvSpPr>
              <p:nvPr/>
            </p:nvSpPr>
            <p:spPr>
              <a:xfrm>
                <a:off x="2113739" y="1914565"/>
                <a:ext cx="5741613"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buNone/>
                </a:pPr>
                <a:r>
                  <a:rPr lang="en-IN" sz="1800" dirty="0">
                    <a:solidFill>
                      <a:schemeClr val="bg1"/>
                    </a:solidFill>
                    <a:latin typeface="Arial" panose="020B0604020202020204" pitchFamily="34" charset="0"/>
                    <a:cs typeface="Arial" panose="020B0604020202020204" pitchFamily="34" charset="0"/>
                  </a:rPr>
                  <a:t>Convolutional Neural Networks (CNNs)</a:t>
                </a:r>
                <a:endParaRPr lang="en-US" sz="1800" dirty="0">
                  <a:solidFill>
                    <a:schemeClr val="bg1"/>
                  </a:solidFill>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6A3FE9EC-9938-9B2C-FBB4-5F21B1F8CE54}"/>
                </a:ext>
              </a:extLst>
            </p:cNvPr>
            <p:cNvGrpSpPr/>
            <p:nvPr/>
          </p:nvGrpSpPr>
          <p:grpSpPr>
            <a:xfrm>
              <a:off x="2540638" y="2682702"/>
              <a:ext cx="7124218" cy="909658"/>
              <a:chOff x="1730415" y="2655344"/>
              <a:chExt cx="7124218" cy="909658"/>
            </a:xfrm>
          </p:grpSpPr>
          <p:sp>
            <p:nvSpPr>
              <p:cNvPr id="8" name="Oval 7">
                <a:extLst>
                  <a:ext uri="{FF2B5EF4-FFF2-40B4-BE49-F238E27FC236}">
                    <a16:creationId xmlns:a16="http://schemas.microsoft.com/office/drawing/2014/main" id="{F949413B-8A7F-FBD0-7FFC-128A5352A91A}"/>
                  </a:ext>
                </a:extLst>
              </p:cNvPr>
              <p:cNvSpPr/>
              <p:nvPr/>
            </p:nvSpPr>
            <p:spPr>
              <a:xfrm>
                <a:off x="1730415" y="3194611"/>
                <a:ext cx="173620" cy="173620"/>
              </a:xfrm>
              <a:prstGeom prst="ellipse">
                <a:avLst/>
              </a:prstGeom>
              <a:solidFill>
                <a:schemeClr val="accent4">
                  <a:lumMod val="75000"/>
                </a:schemeClr>
              </a:solidFill>
              <a:ln>
                <a:solidFill>
                  <a:srgbClr val="0B76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11B65CDE-A41D-79DF-B054-7515BE863951}"/>
                  </a:ext>
                </a:extLst>
              </p:cNvPr>
              <p:cNvSpPr/>
              <p:nvPr/>
            </p:nvSpPr>
            <p:spPr>
              <a:xfrm>
                <a:off x="2106592" y="3020992"/>
                <a:ext cx="6748041" cy="544010"/>
              </a:xfrm>
              <a:prstGeom prst="roundRect">
                <a:avLst/>
              </a:prstGeom>
              <a:solidFill>
                <a:schemeClr val="accent4">
                  <a:lumMod val="75000"/>
                </a:schemeClr>
              </a:solidFill>
              <a:ln>
                <a:solidFill>
                  <a:srgbClr val="0B76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4">
                <a:extLst>
                  <a:ext uri="{FF2B5EF4-FFF2-40B4-BE49-F238E27FC236}">
                    <a16:creationId xmlns:a16="http://schemas.microsoft.com/office/drawing/2014/main" id="{B87F7DBD-C7D0-4F40-0D5A-E4DF95E7FB54}"/>
                  </a:ext>
                </a:extLst>
              </p:cNvPr>
              <p:cNvSpPr txBox="1">
                <a:spLocks/>
              </p:cNvSpPr>
              <p:nvPr/>
            </p:nvSpPr>
            <p:spPr>
              <a:xfrm>
                <a:off x="2044294" y="2655344"/>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- 6</a:t>
                </a:r>
              </a:p>
            </p:txBody>
          </p:sp>
          <p:sp>
            <p:nvSpPr>
              <p:cNvPr id="19" name="Text Placeholder 4">
                <a:extLst>
                  <a:ext uri="{FF2B5EF4-FFF2-40B4-BE49-F238E27FC236}">
                    <a16:creationId xmlns:a16="http://schemas.microsoft.com/office/drawing/2014/main" id="{E524BD3B-9DCA-21B1-4207-05085B668984}"/>
                  </a:ext>
                </a:extLst>
              </p:cNvPr>
              <p:cNvSpPr txBox="1">
                <a:spLocks/>
              </p:cNvSpPr>
              <p:nvPr/>
            </p:nvSpPr>
            <p:spPr>
              <a:xfrm>
                <a:off x="2113739" y="3106756"/>
                <a:ext cx="543136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buNone/>
                </a:pPr>
                <a:r>
                  <a:rPr lang="en-US" sz="1800" dirty="0">
                    <a:solidFill>
                      <a:schemeClr val="bg1"/>
                    </a:solidFill>
                    <a:latin typeface="Arial" panose="020B0604020202020204" pitchFamily="34" charset="0"/>
                    <a:cs typeface="Arial" panose="020B0604020202020204" pitchFamily="34" charset="0"/>
                  </a:rPr>
                  <a:t>Recurrent Neural Networks (RNNs) &amp; LSTMs</a:t>
                </a:r>
              </a:p>
            </p:txBody>
          </p:sp>
        </p:grpSp>
        <p:grpSp>
          <p:nvGrpSpPr>
            <p:cNvPr id="26" name="Group 25">
              <a:extLst>
                <a:ext uri="{FF2B5EF4-FFF2-40B4-BE49-F238E27FC236}">
                  <a16:creationId xmlns:a16="http://schemas.microsoft.com/office/drawing/2014/main" id="{84D08507-C7BC-5D02-748F-63AA03E9BDDB}"/>
                </a:ext>
              </a:extLst>
            </p:cNvPr>
            <p:cNvGrpSpPr/>
            <p:nvPr/>
          </p:nvGrpSpPr>
          <p:grpSpPr>
            <a:xfrm>
              <a:off x="2529064" y="3902250"/>
              <a:ext cx="7135793" cy="914923"/>
              <a:chOff x="1718841" y="3853846"/>
              <a:chExt cx="7135793" cy="914923"/>
            </a:xfrm>
          </p:grpSpPr>
          <p:sp>
            <p:nvSpPr>
              <p:cNvPr id="10" name="Oval 9">
                <a:extLst>
                  <a:ext uri="{FF2B5EF4-FFF2-40B4-BE49-F238E27FC236}">
                    <a16:creationId xmlns:a16="http://schemas.microsoft.com/office/drawing/2014/main" id="{431E9D26-F723-9F5F-B949-B818101F3EC7}"/>
                  </a:ext>
                </a:extLst>
              </p:cNvPr>
              <p:cNvSpPr/>
              <p:nvPr/>
            </p:nvSpPr>
            <p:spPr>
              <a:xfrm>
                <a:off x="1718841" y="4398378"/>
                <a:ext cx="173620" cy="173620"/>
              </a:xfrm>
              <a:prstGeom prst="ellipse">
                <a:avLst/>
              </a:prstGeom>
              <a:solidFill>
                <a:schemeClr val="accent3">
                  <a:lumMod val="75000"/>
                </a:schemeClr>
              </a:solid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BCF26A54-FEEC-F797-1F24-BBFD3FD05297}"/>
                  </a:ext>
                </a:extLst>
              </p:cNvPr>
              <p:cNvSpPr/>
              <p:nvPr/>
            </p:nvSpPr>
            <p:spPr>
              <a:xfrm>
                <a:off x="2106593" y="4224759"/>
                <a:ext cx="6748041" cy="544010"/>
              </a:xfrm>
              <a:prstGeom prst="roundRect">
                <a:avLst/>
              </a:prstGeom>
              <a:solidFill>
                <a:schemeClr val="accent3">
                  <a:lumMod val="75000"/>
                </a:schemeClr>
              </a:solid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 Placeholder 4">
                <a:extLst>
                  <a:ext uri="{FF2B5EF4-FFF2-40B4-BE49-F238E27FC236}">
                    <a16:creationId xmlns:a16="http://schemas.microsoft.com/office/drawing/2014/main" id="{801BFB1E-E78A-D76E-1D76-D17B95061B49}"/>
                  </a:ext>
                </a:extLst>
              </p:cNvPr>
              <p:cNvSpPr txBox="1">
                <a:spLocks/>
              </p:cNvSpPr>
              <p:nvPr/>
            </p:nvSpPr>
            <p:spPr>
              <a:xfrm>
                <a:off x="2044294" y="3853846"/>
                <a:ext cx="5811058" cy="354077"/>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r>
                  <a:rPr lang="en-US" sz="1800" dirty="0">
                    <a:latin typeface="Arial" panose="020B0604020202020204" pitchFamily="34" charset="0"/>
                    <a:cs typeface="Arial" panose="020B0604020202020204" pitchFamily="34" charset="0"/>
                  </a:rPr>
                  <a:t>Chapter - 7</a:t>
                </a:r>
              </a:p>
            </p:txBody>
          </p:sp>
          <p:sp>
            <p:nvSpPr>
              <p:cNvPr id="21" name="Text Placeholder 4">
                <a:extLst>
                  <a:ext uri="{FF2B5EF4-FFF2-40B4-BE49-F238E27FC236}">
                    <a16:creationId xmlns:a16="http://schemas.microsoft.com/office/drawing/2014/main" id="{FA144554-DA63-F746-271D-CE4AD6B0CF9E}"/>
                  </a:ext>
                </a:extLst>
              </p:cNvPr>
              <p:cNvSpPr txBox="1">
                <a:spLocks/>
              </p:cNvSpPr>
              <p:nvPr/>
            </p:nvSpPr>
            <p:spPr>
              <a:xfrm>
                <a:off x="2113739" y="4305258"/>
                <a:ext cx="6551508" cy="37722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a:buNone/>
                </a:pPr>
                <a:r>
                  <a:rPr lang="en-US" sz="1800" dirty="0">
                    <a:solidFill>
                      <a:schemeClr val="bg1"/>
                    </a:solidFill>
                    <a:latin typeface="Arial" panose="020B0604020202020204" pitchFamily="34" charset="0"/>
                    <a:cs typeface="Arial" panose="020B0604020202020204" pitchFamily="34" charset="0"/>
                  </a:rPr>
                  <a:t>Transfer Learning &amp; Pre-trained Models</a:t>
                </a:r>
              </a:p>
            </p:txBody>
          </p:sp>
        </p:grpSp>
      </p:grpSp>
    </p:spTree>
    <p:custDataLst>
      <p:tags r:id="rId1"/>
    </p:custDataLst>
    <p:extLst>
      <p:ext uri="{BB962C8B-B14F-4D97-AF65-F5344CB8AC3E}">
        <p14:creationId xmlns:p14="http://schemas.microsoft.com/office/powerpoint/2010/main" val="3203247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8584FDF-55EE-D063-F6B6-A3B34B02FA58}"/>
              </a:ext>
            </a:extLst>
          </p:cNvPr>
          <p:cNvGrpSpPr/>
          <p:nvPr/>
        </p:nvGrpSpPr>
        <p:grpSpPr>
          <a:xfrm>
            <a:off x="1572228" y="2470292"/>
            <a:ext cx="8839200" cy="2343150"/>
            <a:chOff x="1572228" y="2720410"/>
            <a:chExt cx="8839200" cy="2343150"/>
          </a:xfrm>
        </p:grpSpPr>
        <p:pic>
          <p:nvPicPr>
            <p:cNvPr id="7" name="Picture 6" descr="A blue rectangular object with white border&#10;&#10;Description automatically generated">
              <a:extLst>
                <a:ext uri="{FF2B5EF4-FFF2-40B4-BE49-F238E27FC236}">
                  <a16:creationId xmlns:a16="http://schemas.microsoft.com/office/drawing/2014/main" id="{ED2195A8-A00B-E521-7279-08D4D75BE2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2228" y="2720410"/>
              <a:ext cx="8839200" cy="2343150"/>
            </a:xfrm>
            <a:prstGeom prst="rect">
              <a:avLst/>
            </a:prstGeom>
          </p:spPr>
        </p:pic>
        <p:sp>
          <p:nvSpPr>
            <p:cNvPr id="8" name="Title 3">
              <a:extLst>
                <a:ext uri="{FF2B5EF4-FFF2-40B4-BE49-F238E27FC236}">
                  <a16:creationId xmlns:a16="http://schemas.microsoft.com/office/drawing/2014/main" id="{F8BBE2EA-388A-3445-36EC-7EE302A73153}"/>
                </a:ext>
              </a:extLst>
            </p:cNvPr>
            <p:cNvSpPr txBox="1">
              <a:spLocks/>
            </p:cNvSpPr>
            <p:nvPr/>
          </p:nvSpPr>
          <p:spPr>
            <a:xfrm>
              <a:off x="5127299" y="3096419"/>
              <a:ext cx="1956405"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500" b="1" dirty="0">
                  <a:solidFill>
                    <a:schemeClr val="bg1"/>
                  </a:solidFill>
                  <a:latin typeface="Arial" panose="020B0604020202020204" pitchFamily="34" charset="0"/>
                  <a:cs typeface="Arial" panose="020B0604020202020204" pitchFamily="34" charset="0"/>
                </a:rPr>
                <a:t>Chapter - 3</a:t>
              </a:r>
            </a:p>
          </p:txBody>
        </p:sp>
        <p:sp>
          <p:nvSpPr>
            <p:cNvPr id="9" name="Title 3">
              <a:extLst>
                <a:ext uri="{FF2B5EF4-FFF2-40B4-BE49-F238E27FC236}">
                  <a16:creationId xmlns:a16="http://schemas.microsoft.com/office/drawing/2014/main" id="{FC131011-4933-9CF0-58F8-750131918F4E}"/>
                </a:ext>
              </a:extLst>
            </p:cNvPr>
            <p:cNvSpPr txBox="1">
              <a:spLocks/>
            </p:cNvSpPr>
            <p:nvPr/>
          </p:nvSpPr>
          <p:spPr>
            <a:xfrm>
              <a:off x="3088640" y="3704189"/>
              <a:ext cx="6014720" cy="571348"/>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IN" sz="2500" b="1" dirty="0">
                  <a:solidFill>
                    <a:schemeClr val="bg1"/>
                  </a:solidFill>
                  <a:latin typeface="Arial" panose="020B0604020202020204" pitchFamily="34" charset="0"/>
                  <a:cs typeface="Arial" panose="020B0604020202020204" pitchFamily="34" charset="0"/>
                </a:rPr>
                <a:t>Introduction to TensorFlow &amp; </a:t>
              </a:r>
              <a:r>
                <a:rPr lang="en-IN" sz="2500" b="1" dirty="0" err="1">
                  <a:solidFill>
                    <a:schemeClr val="bg1"/>
                  </a:solidFill>
                  <a:latin typeface="Arial" panose="020B0604020202020204" pitchFamily="34" charset="0"/>
                  <a:cs typeface="Arial" panose="020B0604020202020204" pitchFamily="34" charset="0"/>
                </a:rPr>
                <a:t>Keras</a:t>
              </a:r>
              <a:endParaRPr lang="en-US" sz="2500" b="1" dirty="0">
                <a:solidFill>
                  <a:schemeClr val="bg1"/>
                </a:solidFill>
                <a:latin typeface="Arial" panose="020B0604020202020204" pitchFamily="34" charset="0"/>
                <a:cs typeface="Arial" panose="020B0604020202020204" pitchFamily="34" charset="0"/>
              </a:endParaRPr>
            </a:p>
            <a:p>
              <a:pPr algn="l"/>
              <a:endParaRPr lang="en-US" sz="2500" b="1" dirty="0">
                <a:solidFill>
                  <a:schemeClr val="bg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3048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6543" y="759787"/>
            <a:ext cx="5811057"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Learning Objective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96702" y="1186516"/>
            <a:ext cx="5886178" cy="5552612"/>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Learn what TensorFlow is and understand its key benefits in building machine learning models.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 how </a:t>
            </a:r>
            <a:r>
              <a:rPr lang="en-US" sz="1800" dirty="0" err="1">
                <a:latin typeface="Arial" panose="020B0604020202020204" pitchFamily="34" charset="0"/>
                <a:cs typeface="Arial" panose="020B0604020202020204" pitchFamily="34" charset="0"/>
              </a:rPr>
              <a:t>Keras</a:t>
            </a:r>
            <a:r>
              <a:rPr lang="en-US" sz="1800" dirty="0">
                <a:latin typeface="Arial" panose="020B0604020202020204" pitchFamily="34" charset="0"/>
                <a:cs typeface="Arial" panose="020B0604020202020204" pitchFamily="34" charset="0"/>
              </a:rPr>
              <a:t> simplifies neural network development as TensorFlow’s high-level API.</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Install TensorFlow and set up a working environment for developing ML applications.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Explore how to create and manipulate tensors using basic TensorFlow operations.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Understand the concept, structure, and types of tensors used in TensorFlow.</a:t>
            </a:r>
          </a:p>
        </p:txBody>
      </p:sp>
      <p:pic>
        <p:nvPicPr>
          <p:cNvPr id="9" name="Picture 8" descr="A cartoon of a person holding a book next to a light bulb&#10;&#10;Description automatically generated">
            <a:extLst>
              <a:ext uri="{FF2B5EF4-FFF2-40B4-BE49-F238E27FC236}">
                <a16:creationId xmlns:a16="http://schemas.microsoft.com/office/drawing/2014/main" id="{CAD8E05F-9B37-7303-DA4D-8F11A4F25FEA}"/>
              </a:ext>
            </a:extLst>
          </p:cNvPr>
          <p:cNvPicPr>
            <a:picLocks noChangeAspect="1"/>
          </p:cNvPicPr>
          <p:nvPr/>
        </p:nvPicPr>
        <p:blipFill rotWithShape="1">
          <a:blip r:embed="rId4">
            <a:extLst>
              <a:ext uri="{28A0092B-C50C-407E-A947-70E740481C1C}">
                <a14:useLocalDpi xmlns:a14="http://schemas.microsoft.com/office/drawing/2010/main" val="0"/>
              </a:ext>
            </a:extLst>
          </a:blip>
          <a:srcRect b="2132"/>
          <a:stretch/>
        </p:blipFill>
        <p:spPr>
          <a:xfrm>
            <a:off x="6901543" y="1727199"/>
            <a:ext cx="4516559" cy="4424843"/>
          </a:xfrm>
          <a:prstGeom prst="rect">
            <a:avLst/>
          </a:prstGeom>
        </p:spPr>
      </p:pic>
    </p:spTree>
    <p:custDataLst>
      <p:tags r:id="rId1"/>
    </p:custDataLst>
    <p:extLst>
      <p:ext uri="{BB962C8B-B14F-4D97-AF65-F5344CB8AC3E}">
        <p14:creationId xmlns:p14="http://schemas.microsoft.com/office/powerpoint/2010/main" val="3247350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39503-BB27-2C55-589C-534D52605B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06785F-590B-463E-0855-3547E7E7E888}"/>
              </a:ext>
            </a:extLst>
          </p:cNvPr>
          <p:cNvSpPr txBox="1">
            <a:spLocks/>
          </p:cNvSpPr>
          <p:nvPr/>
        </p:nvSpPr>
        <p:spPr>
          <a:xfrm>
            <a:off x="41134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What is TensorFlow?</a:t>
            </a:r>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7CDD8D6B-F062-9843-F174-E60B3A0A438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Freeform 5">
            <a:extLst>
              <a:ext uri="{FF2B5EF4-FFF2-40B4-BE49-F238E27FC236}">
                <a16:creationId xmlns:a16="http://schemas.microsoft.com/office/drawing/2014/main" id="{E62B9330-3E7C-EB0C-C748-8F060C2066EE}"/>
              </a:ext>
            </a:extLst>
          </p:cNvPr>
          <p:cNvSpPr/>
          <p:nvPr/>
        </p:nvSpPr>
        <p:spPr>
          <a:xfrm>
            <a:off x="3978632" y="3858132"/>
            <a:ext cx="506036" cy="506036"/>
          </a:xfrm>
          <a:custGeom>
            <a:avLst/>
            <a:gdLst/>
            <a:ahLst/>
            <a:cxnLst/>
            <a:rect l="l" t="t" r="r" b="b"/>
            <a:pathLst>
              <a:path w="506036" h="506036">
                <a:moveTo>
                  <a:pt x="0" y="0"/>
                </a:moveTo>
                <a:lnTo>
                  <a:pt x="506035" y="0"/>
                </a:lnTo>
                <a:lnTo>
                  <a:pt x="506035" y="506035"/>
                </a:lnTo>
                <a:lnTo>
                  <a:pt x="0" y="5060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7">
            <a:extLst>
              <a:ext uri="{FF2B5EF4-FFF2-40B4-BE49-F238E27FC236}">
                <a16:creationId xmlns:a16="http://schemas.microsoft.com/office/drawing/2014/main" id="{FB3F64C0-46B0-5331-0696-C2E7518A3F1F}"/>
              </a:ext>
            </a:extLst>
          </p:cNvPr>
          <p:cNvSpPr/>
          <p:nvPr/>
        </p:nvSpPr>
        <p:spPr>
          <a:xfrm>
            <a:off x="6492691" y="3166075"/>
            <a:ext cx="626217" cy="357726"/>
          </a:xfrm>
          <a:custGeom>
            <a:avLst/>
            <a:gdLst/>
            <a:ahLst/>
            <a:cxnLst/>
            <a:rect l="l" t="t" r="r" b="b"/>
            <a:pathLst>
              <a:path w="626217" h="357726">
                <a:moveTo>
                  <a:pt x="0" y="0"/>
                </a:moveTo>
                <a:lnTo>
                  <a:pt x="626216" y="0"/>
                </a:lnTo>
                <a:lnTo>
                  <a:pt x="626216" y="357726"/>
                </a:lnTo>
                <a:lnTo>
                  <a:pt x="0" y="3577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13">
            <a:extLst>
              <a:ext uri="{FF2B5EF4-FFF2-40B4-BE49-F238E27FC236}">
                <a16:creationId xmlns:a16="http://schemas.microsoft.com/office/drawing/2014/main" id="{A92D9308-BC20-F00F-0A39-5252F3BA8779}"/>
              </a:ext>
            </a:extLst>
          </p:cNvPr>
          <p:cNvSpPr txBox="1"/>
          <p:nvPr/>
        </p:nvSpPr>
        <p:spPr>
          <a:xfrm>
            <a:off x="4409400" y="1568027"/>
            <a:ext cx="3373199" cy="553998"/>
          </a:xfrm>
          <a:prstGeom prst="rect">
            <a:avLst/>
          </a:prstGeom>
        </p:spPr>
        <p:txBody>
          <a:bodyPr lIns="0" tIns="0" rIns="0" bIns="0" rtlCol="0" anchor="t">
            <a:spAutoFit/>
          </a:bodyPr>
          <a:lstStyle/>
          <a:p>
            <a:pPr algn="ctr">
              <a:spcAft>
                <a:spcPts val="800"/>
              </a:spcAft>
            </a:pPr>
            <a:r>
              <a:rPr lang="en-US" dirty="0">
                <a:solidFill>
                  <a:srgbClr val="000000"/>
                </a:solidFill>
                <a:latin typeface="Arial" panose="020B0604020202020204" pitchFamily="34" charset="0"/>
                <a:ea typeface="TT Fors"/>
                <a:cs typeface="Arial" panose="020B0604020202020204" pitchFamily="34" charset="0"/>
                <a:sym typeface="TT Fors"/>
              </a:rPr>
              <a:t>Open-source library developed by Google</a:t>
            </a:r>
          </a:p>
        </p:txBody>
      </p:sp>
      <p:sp>
        <p:nvSpPr>
          <p:cNvPr id="21" name="Freeform 2">
            <a:extLst>
              <a:ext uri="{FF2B5EF4-FFF2-40B4-BE49-F238E27FC236}">
                <a16:creationId xmlns:a16="http://schemas.microsoft.com/office/drawing/2014/main" id="{7BC94B69-2137-8074-716F-BB044296673F}"/>
              </a:ext>
            </a:extLst>
          </p:cNvPr>
          <p:cNvSpPr/>
          <p:nvPr/>
        </p:nvSpPr>
        <p:spPr>
          <a:xfrm rot="16200000">
            <a:off x="4298208" y="653746"/>
            <a:ext cx="3595583" cy="6951532"/>
          </a:xfrm>
          <a:custGeom>
            <a:avLst/>
            <a:gdLst/>
            <a:ahLst/>
            <a:cxnLst/>
            <a:rect l="l" t="t" r="r" b="b"/>
            <a:pathLst>
              <a:path w="4679219" h="9046584">
                <a:moveTo>
                  <a:pt x="0" y="0"/>
                </a:moveTo>
                <a:lnTo>
                  <a:pt x="4679220" y="0"/>
                </a:lnTo>
                <a:lnTo>
                  <a:pt x="4679220" y="9046584"/>
                </a:lnTo>
                <a:lnTo>
                  <a:pt x="0" y="9046584"/>
                </a:lnTo>
                <a:lnTo>
                  <a:pt x="0" y="0"/>
                </a:lnTo>
                <a:close/>
              </a:path>
            </a:pathLst>
          </a:custGeom>
          <a:blipFill>
            <a:blip r:embed="rId7">
              <a:extLst>
                <a:ext uri="{96DAC541-7B7A-43D3-8B79-37D633B846F1}">
                  <asvg:svgBlip xmlns:asvg="http://schemas.microsoft.com/office/drawing/2016/SVG/main" r:embed="rId8"/>
                </a:ext>
              </a:extLst>
            </a:blip>
            <a:stretch>
              <a:fillRect l="-59259"/>
            </a:stretch>
          </a:blipFill>
        </p:spPr>
        <p:txBody>
          <a:bodyPr/>
          <a:lstStyle/>
          <a:p>
            <a:endParaRPr lang="en-US"/>
          </a:p>
        </p:txBody>
      </p:sp>
      <p:sp>
        <p:nvSpPr>
          <p:cNvPr id="27" name="TextBox 13">
            <a:extLst>
              <a:ext uri="{FF2B5EF4-FFF2-40B4-BE49-F238E27FC236}">
                <a16:creationId xmlns:a16="http://schemas.microsoft.com/office/drawing/2014/main" id="{4A87C2C5-1811-B1B6-99E0-22B27B881CD6}"/>
              </a:ext>
            </a:extLst>
          </p:cNvPr>
          <p:cNvSpPr txBox="1"/>
          <p:nvPr/>
        </p:nvSpPr>
        <p:spPr>
          <a:xfrm>
            <a:off x="8495875" y="2243974"/>
            <a:ext cx="2459991" cy="830997"/>
          </a:xfrm>
          <a:prstGeom prst="rect">
            <a:avLst/>
          </a:prstGeom>
        </p:spPr>
        <p:txBody>
          <a:bodyPr wrap="square" lIns="0" tIns="0" rIns="0" bIns="0" rtlCol="0" anchor="t">
            <a:spAutoFit/>
          </a:bodyPr>
          <a:lstStyle/>
          <a:p>
            <a:pPr>
              <a:spcAft>
                <a:spcPts val="800"/>
              </a:spcAft>
            </a:pPr>
            <a:r>
              <a:rPr lang="en-US" dirty="0">
                <a:solidFill>
                  <a:srgbClr val="000000"/>
                </a:solidFill>
                <a:latin typeface="Arial" panose="020B0604020202020204" pitchFamily="34" charset="0"/>
                <a:ea typeface="TT Fors"/>
                <a:cs typeface="Arial" panose="020B0604020202020204" pitchFamily="34" charset="0"/>
                <a:sym typeface="TT Fors"/>
              </a:rPr>
              <a:t>Designed for deep learning and supports traditional ML</a:t>
            </a:r>
          </a:p>
        </p:txBody>
      </p:sp>
      <p:sp>
        <p:nvSpPr>
          <p:cNvPr id="28" name="TextBox 13">
            <a:extLst>
              <a:ext uri="{FF2B5EF4-FFF2-40B4-BE49-F238E27FC236}">
                <a16:creationId xmlns:a16="http://schemas.microsoft.com/office/drawing/2014/main" id="{D1BE574F-4C5E-50AE-35F0-98EB85AC7FB2}"/>
              </a:ext>
            </a:extLst>
          </p:cNvPr>
          <p:cNvSpPr txBox="1"/>
          <p:nvPr/>
        </p:nvSpPr>
        <p:spPr>
          <a:xfrm>
            <a:off x="1447799" y="2598003"/>
            <a:ext cx="2072641" cy="830997"/>
          </a:xfrm>
          <a:prstGeom prst="rect">
            <a:avLst/>
          </a:prstGeom>
        </p:spPr>
        <p:txBody>
          <a:bodyPr wrap="square" lIns="0" tIns="0" rIns="0" bIns="0" rtlCol="0" anchor="t">
            <a:spAutoFit/>
          </a:bodyPr>
          <a:lstStyle/>
          <a:p>
            <a:pPr algn="r">
              <a:spcAft>
                <a:spcPts val="800"/>
              </a:spcAft>
            </a:pPr>
            <a:r>
              <a:rPr lang="en-US" dirty="0">
                <a:solidFill>
                  <a:srgbClr val="000000"/>
                </a:solidFill>
                <a:latin typeface="Arial" panose="020B0604020202020204" pitchFamily="34" charset="0"/>
                <a:ea typeface="TT Fors"/>
                <a:cs typeface="Arial" panose="020B0604020202020204" pitchFamily="34" charset="0"/>
                <a:sym typeface="TT Fors"/>
              </a:rPr>
              <a:t>Enables distributed computing across CPUs/GPUs</a:t>
            </a:r>
          </a:p>
        </p:txBody>
      </p:sp>
      <p:sp>
        <p:nvSpPr>
          <p:cNvPr id="29" name="TextBox 13">
            <a:extLst>
              <a:ext uri="{FF2B5EF4-FFF2-40B4-BE49-F238E27FC236}">
                <a16:creationId xmlns:a16="http://schemas.microsoft.com/office/drawing/2014/main" id="{696BB136-F268-608C-CBF9-16D7A2A2F05E}"/>
              </a:ext>
            </a:extLst>
          </p:cNvPr>
          <p:cNvSpPr txBox="1"/>
          <p:nvPr/>
        </p:nvSpPr>
        <p:spPr>
          <a:xfrm>
            <a:off x="9710303" y="4098945"/>
            <a:ext cx="2148418" cy="1107996"/>
          </a:xfrm>
          <a:prstGeom prst="rect">
            <a:avLst/>
          </a:prstGeom>
        </p:spPr>
        <p:txBody>
          <a:bodyPr wrap="square" lIns="0" tIns="0" rIns="0" bIns="0" rtlCol="0" anchor="t">
            <a:spAutoFit/>
          </a:bodyPr>
          <a:lstStyle/>
          <a:p>
            <a:pPr>
              <a:spcAft>
                <a:spcPts val="800"/>
              </a:spcAft>
            </a:pPr>
            <a:r>
              <a:rPr lang="en-US" dirty="0">
                <a:solidFill>
                  <a:srgbClr val="000000"/>
                </a:solidFill>
                <a:latin typeface="Arial" panose="020B0604020202020204" pitchFamily="34" charset="0"/>
                <a:ea typeface="TT Fors"/>
                <a:cs typeface="Arial" panose="020B0604020202020204" pitchFamily="34" charset="0"/>
                <a:sym typeface="TT Fors"/>
              </a:rPr>
              <a:t>Works with multi-dimensional data structures called tensors</a:t>
            </a:r>
          </a:p>
        </p:txBody>
      </p:sp>
      <p:sp>
        <p:nvSpPr>
          <p:cNvPr id="30" name="TextBox 13">
            <a:extLst>
              <a:ext uri="{FF2B5EF4-FFF2-40B4-BE49-F238E27FC236}">
                <a16:creationId xmlns:a16="http://schemas.microsoft.com/office/drawing/2014/main" id="{31C54984-DD0E-ECD3-F143-19CBBDCF25D2}"/>
              </a:ext>
            </a:extLst>
          </p:cNvPr>
          <p:cNvSpPr txBox="1"/>
          <p:nvPr/>
        </p:nvSpPr>
        <p:spPr>
          <a:xfrm>
            <a:off x="495300" y="4211320"/>
            <a:ext cx="1927861" cy="830997"/>
          </a:xfrm>
          <a:prstGeom prst="rect">
            <a:avLst/>
          </a:prstGeom>
        </p:spPr>
        <p:txBody>
          <a:bodyPr wrap="square" lIns="0" tIns="0" rIns="0" bIns="0" rtlCol="0" anchor="t">
            <a:spAutoFit/>
          </a:bodyPr>
          <a:lstStyle/>
          <a:p>
            <a:pPr algn="r">
              <a:spcAft>
                <a:spcPts val="800"/>
              </a:spcAft>
            </a:pPr>
            <a:r>
              <a:rPr lang="en-US" dirty="0">
                <a:solidFill>
                  <a:srgbClr val="000000"/>
                </a:solidFill>
                <a:latin typeface="Arial" panose="020B0604020202020204" pitchFamily="34" charset="0"/>
                <a:ea typeface="TT Fors"/>
                <a:cs typeface="Arial" panose="020B0604020202020204" pitchFamily="34" charset="0"/>
                <a:sym typeface="TT Fors"/>
              </a:rPr>
              <a:t>Uses data flow graphs with nodes and edges</a:t>
            </a:r>
          </a:p>
        </p:txBody>
      </p:sp>
      <p:sp>
        <p:nvSpPr>
          <p:cNvPr id="31" name="Oval 30">
            <a:extLst>
              <a:ext uri="{FF2B5EF4-FFF2-40B4-BE49-F238E27FC236}">
                <a16:creationId xmlns:a16="http://schemas.microsoft.com/office/drawing/2014/main" id="{5B8BE0DC-7B70-424A-F590-2EE2D032F08E}"/>
              </a:ext>
            </a:extLst>
          </p:cNvPr>
          <p:cNvSpPr/>
          <p:nvPr/>
        </p:nvSpPr>
        <p:spPr>
          <a:xfrm>
            <a:off x="5596466" y="2285999"/>
            <a:ext cx="999067" cy="999067"/>
          </a:xfrm>
          <a:prstGeom prst="ellipse">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 descr="Google logo - Wikipedia">
            <a:extLst>
              <a:ext uri="{FF2B5EF4-FFF2-40B4-BE49-F238E27FC236}">
                <a16:creationId xmlns:a16="http://schemas.microsoft.com/office/drawing/2014/main" id="{6727C1EE-1B63-6683-E5C6-60C06BB2617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0629" y="2678852"/>
            <a:ext cx="750742" cy="254001"/>
          </a:xfrm>
          <a:prstGeom prst="rect">
            <a:avLst/>
          </a:prstGeom>
          <a:noFill/>
          <a:extLst>
            <a:ext uri="{909E8E84-426E-40DD-AFC4-6F175D3DCCD1}">
              <a14:hiddenFill xmlns:a14="http://schemas.microsoft.com/office/drawing/2010/main">
                <a:solidFill>
                  <a:srgbClr val="FFFFFF"/>
                </a:solidFill>
              </a14:hiddenFill>
            </a:ext>
          </a:extLst>
        </p:spPr>
      </p:pic>
      <p:sp>
        <p:nvSpPr>
          <p:cNvPr id="33" name="Oval 32">
            <a:extLst>
              <a:ext uri="{FF2B5EF4-FFF2-40B4-BE49-F238E27FC236}">
                <a16:creationId xmlns:a16="http://schemas.microsoft.com/office/drawing/2014/main" id="{6AA64E28-86E7-F47E-7D8E-DA96C9BCA93E}"/>
              </a:ext>
            </a:extLst>
          </p:cNvPr>
          <p:cNvSpPr/>
          <p:nvPr/>
        </p:nvSpPr>
        <p:spPr>
          <a:xfrm>
            <a:off x="7509932" y="2827866"/>
            <a:ext cx="999067" cy="999067"/>
          </a:xfrm>
          <a:prstGeom prst="ellipse">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0F130906-3326-6329-ED3A-DD1BB621A492}"/>
              </a:ext>
            </a:extLst>
          </p:cNvPr>
          <p:cNvSpPr/>
          <p:nvPr/>
        </p:nvSpPr>
        <p:spPr>
          <a:xfrm>
            <a:off x="8593665" y="4512732"/>
            <a:ext cx="999067" cy="999067"/>
          </a:xfrm>
          <a:prstGeom prst="ellipse">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F98ED09D-F7A2-FAB5-FA4D-A29636397859}"/>
              </a:ext>
            </a:extLst>
          </p:cNvPr>
          <p:cNvSpPr/>
          <p:nvPr/>
        </p:nvSpPr>
        <p:spPr>
          <a:xfrm>
            <a:off x="3682998" y="2870199"/>
            <a:ext cx="999067" cy="999067"/>
          </a:xfrm>
          <a:prstGeom prst="ellipse">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C04AEB9-57C0-3568-398D-FDF95AE2CCD6}"/>
              </a:ext>
            </a:extLst>
          </p:cNvPr>
          <p:cNvSpPr/>
          <p:nvPr/>
        </p:nvSpPr>
        <p:spPr>
          <a:xfrm>
            <a:off x="2548465" y="4504266"/>
            <a:ext cx="999067" cy="999067"/>
          </a:xfrm>
          <a:prstGeom prst="ellipse">
            <a:avLst/>
          </a:prstGeom>
          <a:solidFill>
            <a:schemeClr val="bg1"/>
          </a:solid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Cpu Icon Vector Isolated On White Background Logo Concept Of Cpu Sign On  Transparent Background Black Filled Symbol Stock Illustration - Download  Image Now - iStock">
            <a:extLst>
              <a:ext uri="{FF2B5EF4-FFF2-40B4-BE49-F238E27FC236}">
                <a16:creationId xmlns:a16="http://schemas.microsoft.com/office/drawing/2014/main" id="{4AF4193B-22C9-3146-B41D-1F7C69081F8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9735" t="8850" r="11504" b="22123"/>
          <a:stretch>
            <a:fillRect/>
          </a:stretch>
        </p:blipFill>
        <p:spPr bwMode="auto">
          <a:xfrm>
            <a:off x="3864649" y="3078018"/>
            <a:ext cx="665787" cy="583499"/>
          </a:xfrm>
          <a:prstGeom prst="rect">
            <a:avLst/>
          </a:prstGeom>
          <a:noFill/>
          <a:extLst>
            <a:ext uri="{909E8E84-426E-40DD-AFC4-6F175D3DCCD1}">
              <a14:hiddenFill xmlns:a14="http://schemas.microsoft.com/office/drawing/2010/main">
                <a:solidFill>
                  <a:srgbClr val="FFFFFF"/>
                </a:solidFill>
              </a14:hiddenFill>
            </a:ext>
          </a:extLst>
        </p:spPr>
      </p:pic>
      <p:sp>
        <p:nvSpPr>
          <p:cNvPr id="37" name="Freeform 2">
            <a:extLst>
              <a:ext uri="{FF2B5EF4-FFF2-40B4-BE49-F238E27FC236}">
                <a16:creationId xmlns:a16="http://schemas.microsoft.com/office/drawing/2014/main" id="{21CD0145-227C-99B9-F906-FB47BC228C96}"/>
              </a:ext>
            </a:extLst>
          </p:cNvPr>
          <p:cNvSpPr/>
          <p:nvPr/>
        </p:nvSpPr>
        <p:spPr>
          <a:xfrm>
            <a:off x="7694097" y="3110344"/>
            <a:ext cx="655916" cy="509155"/>
          </a:xfrm>
          <a:custGeom>
            <a:avLst/>
            <a:gdLst/>
            <a:ahLst/>
            <a:cxnLst/>
            <a:rect l="l" t="t" r="r" b="b"/>
            <a:pathLst>
              <a:path w="5300870" h="4114800">
                <a:moveTo>
                  <a:pt x="0" y="0"/>
                </a:moveTo>
                <a:lnTo>
                  <a:pt x="5300869" y="0"/>
                </a:lnTo>
                <a:lnTo>
                  <a:pt x="5300869"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8" name="Freeform 3">
            <a:extLst>
              <a:ext uri="{FF2B5EF4-FFF2-40B4-BE49-F238E27FC236}">
                <a16:creationId xmlns:a16="http://schemas.microsoft.com/office/drawing/2014/main" id="{003B84D0-1FEC-2697-08B4-FB242087EBCD}"/>
              </a:ext>
            </a:extLst>
          </p:cNvPr>
          <p:cNvSpPr/>
          <p:nvPr/>
        </p:nvSpPr>
        <p:spPr>
          <a:xfrm>
            <a:off x="8811493" y="4763918"/>
            <a:ext cx="571960" cy="577009"/>
          </a:xfrm>
          <a:custGeom>
            <a:avLst/>
            <a:gdLst/>
            <a:ahLst/>
            <a:cxnLst/>
            <a:rect l="l" t="t" r="r" b="b"/>
            <a:pathLst>
              <a:path w="4078795" h="4114800">
                <a:moveTo>
                  <a:pt x="0" y="0"/>
                </a:moveTo>
                <a:lnTo>
                  <a:pt x="4078795" y="0"/>
                </a:lnTo>
                <a:lnTo>
                  <a:pt x="4078795"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9" name="Freeform 4">
            <a:extLst>
              <a:ext uri="{FF2B5EF4-FFF2-40B4-BE49-F238E27FC236}">
                <a16:creationId xmlns:a16="http://schemas.microsoft.com/office/drawing/2014/main" id="{220B6E63-A510-0582-B81F-5ADCB3DB29ED}"/>
              </a:ext>
            </a:extLst>
          </p:cNvPr>
          <p:cNvSpPr/>
          <p:nvPr/>
        </p:nvSpPr>
        <p:spPr>
          <a:xfrm>
            <a:off x="2775620" y="4698808"/>
            <a:ext cx="543314" cy="496453"/>
          </a:xfrm>
          <a:custGeom>
            <a:avLst/>
            <a:gdLst/>
            <a:ahLst/>
            <a:cxnLst/>
            <a:rect l="l" t="t" r="r" b="b"/>
            <a:pathLst>
              <a:path w="4503201" h="4114800">
                <a:moveTo>
                  <a:pt x="0" y="0"/>
                </a:moveTo>
                <a:lnTo>
                  <a:pt x="4503201" y="0"/>
                </a:lnTo>
                <a:lnTo>
                  <a:pt x="4503201"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Tree>
    <p:extLst>
      <p:ext uri="{BB962C8B-B14F-4D97-AF65-F5344CB8AC3E}">
        <p14:creationId xmlns:p14="http://schemas.microsoft.com/office/powerpoint/2010/main" val="2917369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8700A-5D30-2510-D5DB-9275F154CF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3530A0-588F-831C-C5DD-1189BF98E2A9}"/>
              </a:ext>
            </a:extLst>
          </p:cNvPr>
          <p:cNvSpPr txBox="1">
            <a:spLocks/>
          </p:cNvSpPr>
          <p:nvPr/>
        </p:nvSpPr>
        <p:spPr>
          <a:xfrm>
            <a:off x="34022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How TensorFlow Works</a:t>
            </a: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946AC301-240E-AF9E-43EF-80876CE4D5D5}"/>
              </a:ext>
            </a:extLst>
          </p:cNvPr>
          <p:cNvSpPr txBox="1">
            <a:spLocks/>
          </p:cNvSpPr>
          <p:nvPr/>
        </p:nvSpPr>
        <p:spPr>
          <a:xfrm>
            <a:off x="391028" y="1182997"/>
            <a:ext cx="5811058" cy="2246003"/>
          </a:xfrm>
          <a:prstGeom prst="rect">
            <a:avLst/>
          </a:prstGeom>
        </p:spPr>
        <p:txBody>
          <a:bodyPr lIns="91440" tIns="45720" rIns="91440" bIns="45720" anchor="t"/>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Key components are Data Preprocessing, Model Construction, Model Training</a:t>
            </a:r>
            <a:endParaRPr lang="en-US" sz="1800" dirty="0"/>
          </a:p>
          <a:p>
            <a:pPr marL="0" indent="0">
              <a:spcBef>
                <a:spcPts val="0"/>
              </a:spcBef>
              <a:spcAft>
                <a:spcPts val="800"/>
              </a:spcAft>
              <a:buNone/>
            </a:pPr>
            <a:r>
              <a:rPr lang="en-US" sz="1800" b="1" dirty="0">
                <a:latin typeface="Arial"/>
                <a:cs typeface="Arial"/>
              </a:rPr>
              <a:t>Operates using:</a:t>
            </a:r>
          </a:p>
          <a:p>
            <a:pPr>
              <a:spcBef>
                <a:spcPts val="0"/>
              </a:spcBef>
              <a:spcAft>
                <a:spcPts val="800"/>
              </a:spcAft>
            </a:pPr>
            <a:r>
              <a:rPr lang="en-US" sz="1800" dirty="0">
                <a:latin typeface="Arial" panose="020B0604020202020204" pitchFamily="34" charset="0"/>
                <a:cs typeface="Arial" panose="020B0604020202020204" pitchFamily="34" charset="0"/>
              </a:rPr>
              <a:t>Computational Graphs (dataflow-based)</a:t>
            </a:r>
          </a:p>
          <a:p>
            <a:pPr>
              <a:spcBef>
                <a:spcPts val="0"/>
              </a:spcBef>
              <a:spcAft>
                <a:spcPts val="800"/>
              </a:spcAft>
            </a:pPr>
            <a:r>
              <a:rPr lang="en-US" sz="1800" dirty="0">
                <a:latin typeface="Arial" panose="020B0604020202020204" pitchFamily="34" charset="0"/>
                <a:cs typeface="Arial" panose="020B0604020202020204" pitchFamily="34" charset="0"/>
              </a:rPr>
              <a:t>Eager Execution (runs operations immediately)</a:t>
            </a:r>
          </a:p>
          <a:p>
            <a:pPr>
              <a:spcBef>
                <a:spcPts val="0"/>
              </a:spcBef>
              <a:spcAft>
                <a:spcPts val="800"/>
              </a:spcAft>
            </a:pPr>
            <a:r>
              <a:rPr lang="en-US" sz="1800" dirty="0">
                <a:latin typeface="Arial" panose="020B0604020202020204" pitchFamily="34" charset="0"/>
                <a:cs typeface="Arial" panose="020B0604020202020204" pitchFamily="34" charset="0"/>
              </a:rPr>
              <a:t>Uses tensors (multi-dimensional arrays) for computation</a:t>
            </a:r>
          </a:p>
          <a:p>
            <a:pPr>
              <a:spcBef>
                <a:spcPts val="0"/>
              </a:spcBef>
              <a:spcAft>
                <a:spcPts val="800"/>
              </a:spcAft>
            </a:pPr>
            <a:r>
              <a:rPr lang="en-US" sz="1800" dirty="0">
                <a:latin typeface="Arial" panose="020B0604020202020204" pitchFamily="34" charset="0"/>
                <a:cs typeface="Arial" panose="020B0604020202020204" pitchFamily="34" charset="0"/>
              </a:rPr>
              <a:t>Supports execution on CPUs, GPUs, desktops, mobile &amp; cloud</a:t>
            </a:r>
          </a:p>
          <a:p>
            <a:pPr marL="0" indent="0">
              <a:spcBef>
                <a:spcPts val="0"/>
              </a:spcBef>
              <a:spcAft>
                <a:spcPts val="800"/>
              </a:spcAft>
              <a:buNone/>
            </a:pPr>
            <a:r>
              <a:rPr lang="en-US" sz="1800" b="1" dirty="0">
                <a:latin typeface="Arial" panose="020B0604020202020204" pitchFamily="34" charset="0"/>
                <a:cs typeface="Arial" panose="020B0604020202020204" pitchFamily="34" charset="0"/>
              </a:rPr>
              <a:t>Tools:</a:t>
            </a:r>
          </a:p>
          <a:p>
            <a:pPr>
              <a:spcBef>
                <a:spcPts val="0"/>
              </a:spcBef>
              <a:spcAft>
                <a:spcPts val="800"/>
              </a:spcAft>
            </a:pPr>
            <a:r>
              <a:rPr lang="en-US" sz="1800" b="1" dirty="0" err="1">
                <a:latin typeface="Arial" panose="020B0604020202020204" pitchFamily="34" charset="0"/>
                <a:cs typeface="Arial" panose="020B0604020202020204" pitchFamily="34" charset="0"/>
              </a:rPr>
              <a:t>TensorBoard</a:t>
            </a:r>
            <a:r>
              <a:rPr lang="en-US" sz="1800" b="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visualizes training process and performance</a:t>
            </a:r>
          </a:p>
          <a:p>
            <a:pPr>
              <a:spcBef>
                <a:spcPts val="0"/>
              </a:spcBef>
              <a:spcAft>
                <a:spcPts val="800"/>
              </a:spcAft>
            </a:pPr>
            <a:r>
              <a:rPr lang="en-US" sz="1800" b="1" dirty="0" err="1">
                <a:latin typeface="Arial" panose="020B0604020202020204" pitchFamily="34" charset="0"/>
                <a:cs typeface="Arial" panose="020B0604020202020204" pitchFamily="34" charset="0"/>
              </a:rPr>
              <a:t>Keras</a:t>
            </a:r>
            <a:r>
              <a:rPr lang="en-US" sz="1800" b="1" dirty="0">
                <a:latin typeface="Arial" panose="020B0604020202020204" pitchFamily="34" charset="0"/>
                <a:cs typeface="Arial" panose="020B0604020202020204" pitchFamily="34" charset="0"/>
              </a:rPr>
              <a:t> API </a:t>
            </a:r>
            <a:r>
              <a:rPr lang="en-US" sz="1800" dirty="0">
                <a:latin typeface="Arial" panose="020B0604020202020204" pitchFamily="34" charset="0"/>
                <a:cs typeface="Arial" panose="020B0604020202020204" pitchFamily="34" charset="0"/>
              </a:rPr>
              <a:t>– simplifies model building and experimentation</a:t>
            </a:r>
          </a:p>
        </p:txBody>
      </p:sp>
      <p:sp>
        <p:nvSpPr>
          <p:cNvPr id="10" name="Rectangle 1">
            <a:extLst>
              <a:ext uri="{FF2B5EF4-FFF2-40B4-BE49-F238E27FC236}">
                <a16:creationId xmlns:a16="http://schemas.microsoft.com/office/drawing/2014/main" id="{B44653DC-1CD9-95B3-C4EC-0FFA211F47F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50" name="Picture 2" descr="BotPenguin AI Chatbot maker">
            <a:extLst>
              <a:ext uri="{FF2B5EF4-FFF2-40B4-BE49-F238E27FC236}">
                <a16:creationId xmlns:a16="http://schemas.microsoft.com/office/drawing/2014/main" id="{64CEFF76-5FB6-AC81-83A3-C188D0A90F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5485" y="1447800"/>
            <a:ext cx="3864768" cy="3864768"/>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3E6F3885-7121-C89E-87FA-8E85CE14FCB5}"/>
              </a:ext>
            </a:extLst>
          </p:cNvPr>
          <p:cNvGrpSpPr/>
          <p:nvPr/>
        </p:nvGrpSpPr>
        <p:grpSpPr>
          <a:xfrm>
            <a:off x="-16934" y="6019798"/>
            <a:ext cx="12227984" cy="607305"/>
            <a:chOff x="-16934" y="6019798"/>
            <a:chExt cx="12227984" cy="607305"/>
          </a:xfrm>
        </p:grpSpPr>
        <p:sp>
          <p:nvSpPr>
            <p:cNvPr id="6" name="Rectangle 5">
              <a:extLst>
                <a:ext uri="{FF2B5EF4-FFF2-40B4-BE49-F238E27FC236}">
                  <a16:creationId xmlns:a16="http://schemas.microsoft.com/office/drawing/2014/main" id="{9123C023-8CAD-8431-9A7C-1BD5828B7E83}"/>
                </a:ext>
              </a:extLst>
            </p:cNvPr>
            <p:cNvSpPr/>
            <p:nvPr/>
          </p:nvSpPr>
          <p:spPr>
            <a:xfrm flipV="1">
              <a:off x="-16934" y="6158482"/>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0F6D438-0568-48AE-A679-3433F9754387}"/>
                </a:ext>
              </a:extLst>
            </p:cNvPr>
            <p:cNvSpPr txBox="1"/>
            <p:nvPr/>
          </p:nvSpPr>
          <p:spPr>
            <a:xfrm>
              <a:off x="5756773" y="6019798"/>
              <a:ext cx="688650" cy="307777"/>
            </a:xfrm>
            <a:prstGeom prst="rect">
              <a:avLst/>
            </a:prstGeom>
            <a:noFill/>
          </p:spPr>
          <p:txBody>
            <a:bodyPr wrap="none" rtlCol="0">
              <a:spAutoFit/>
            </a:bodyPr>
            <a:lstStyle/>
            <a:p>
              <a:r>
                <a:rPr lang="en-US" sz="1400" b="1"/>
                <a:t>Source</a:t>
              </a:r>
            </a:p>
          </p:txBody>
        </p:sp>
        <p:sp>
          <p:nvSpPr>
            <p:cNvPr id="12" name="Rectangle 11">
              <a:extLst>
                <a:ext uri="{FF2B5EF4-FFF2-40B4-BE49-F238E27FC236}">
                  <a16:creationId xmlns:a16="http://schemas.microsoft.com/office/drawing/2014/main" id="{D4C96AC3-0DAA-A45B-18E9-18BC2080BB3F}"/>
                </a:ext>
              </a:extLst>
            </p:cNvPr>
            <p:cNvSpPr/>
            <p:nvPr/>
          </p:nvSpPr>
          <p:spPr>
            <a:xfrm flipV="1">
              <a:off x="6479116" y="6156958"/>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E55649C-9873-15F6-D188-753BA378BC5A}"/>
                </a:ext>
              </a:extLst>
            </p:cNvPr>
            <p:cNvSpPr txBox="1"/>
            <p:nvPr/>
          </p:nvSpPr>
          <p:spPr>
            <a:xfrm>
              <a:off x="428624" y="6319326"/>
              <a:ext cx="10930255" cy="307777"/>
            </a:xfrm>
            <a:prstGeom prst="rect">
              <a:avLst/>
            </a:prstGeom>
            <a:noFill/>
          </p:spPr>
          <p:txBody>
            <a:bodyPr wrap="square">
              <a:spAutoFit/>
            </a:bodyPr>
            <a:lstStyle/>
            <a:p>
              <a:r>
                <a:rPr lang="en-IN" sz="14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https://botpenguin.com/glossary/tensorflow</a:t>
              </a:r>
              <a:endParaRPr lang="en-IN" sz="1400"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63347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F656E-2777-9991-4BA3-0C67D62A9F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6CBF6EB-053A-F85A-DC6D-D8C3147F7E47}"/>
              </a:ext>
            </a:extLst>
          </p:cNvPr>
          <p:cNvSpPr txBox="1">
            <a:spLocks/>
          </p:cNvSpPr>
          <p:nvPr/>
        </p:nvSpPr>
        <p:spPr>
          <a:xfrm>
            <a:off x="421509" y="74962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Why use TensorFlow?</a:t>
            </a: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07B3A34D-3473-D9F9-C331-96AA671D189B}"/>
              </a:ext>
            </a:extLst>
          </p:cNvPr>
          <p:cNvSpPr txBox="1">
            <a:spLocks/>
          </p:cNvSpPr>
          <p:nvPr/>
        </p:nvSpPr>
        <p:spPr>
          <a:xfrm>
            <a:off x="391028" y="1182997"/>
            <a:ext cx="5755772" cy="22460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Flexible &amp; Powerful platform for ML model building and deployment</a:t>
            </a:r>
          </a:p>
          <a:p>
            <a:pPr>
              <a:spcBef>
                <a:spcPts val="0"/>
              </a:spcBef>
              <a:spcAft>
                <a:spcPts val="800"/>
              </a:spcAft>
            </a:pPr>
            <a:r>
              <a:rPr lang="en-US" sz="1800" dirty="0">
                <a:latin typeface="Arial" panose="020B0604020202020204" pitchFamily="34" charset="0"/>
                <a:cs typeface="Arial" panose="020B0604020202020204" pitchFamily="34" charset="0"/>
              </a:rPr>
              <a:t>Simplified development with </a:t>
            </a:r>
            <a:r>
              <a:rPr lang="en-US" sz="1800" dirty="0" err="1">
                <a:latin typeface="Arial" panose="020B0604020202020204" pitchFamily="34" charset="0"/>
                <a:cs typeface="Arial" panose="020B0604020202020204" pitchFamily="34" charset="0"/>
              </a:rPr>
              <a:t>Keras</a:t>
            </a:r>
            <a:r>
              <a:rPr lang="en-US" sz="1800" dirty="0">
                <a:latin typeface="Arial" panose="020B0604020202020204" pitchFamily="34" charset="0"/>
                <a:cs typeface="Arial" panose="020B0604020202020204" pitchFamily="34" charset="0"/>
              </a:rPr>
              <a:t> API</a:t>
            </a:r>
          </a:p>
          <a:p>
            <a:pPr>
              <a:spcBef>
                <a:spcPts val="0"/>
              </a:spcBef>
              <a:spcAft>
                <a:spcPts val="800"/>
              </a:spcAft>
            </a:pPr>
            <a:r>
              <a:rPr lang="en-US" sz="1800" dirty="0">
                <a:latin typeface="Arial" panose="020B0604020202020204" pitchFamily="34" charset="0"/>
                <a:cs typeface="Arial" panose="020B0604020202020204" pitchFamily="34" charset="0"/>
              </a:rPr>
              <a:t>Advanced features: Eager Execution &amp; Distributed Training</a:t>
            </a:r>
          </a:p>
          <a:p>
            <a:pPr>
              <a:spcBef>
                <a:spcPts val="0"/>
              </a:spcBef>
              <a:spcAft>
                <a:spcPts val="800"/>
              </a:spcAft>
            </a:pPr>
            <a:r>
              <a:rPr lang="en-US" sz="1800" dirty="0">
                <a:latin typeface="Arial" panose="020B0604020202020204" pitchFamily="34" charset="0"/>
                <a:cs typeface="Arial" panose="020B0604020202020204" pitchFamily="34" charset="0"/>
              </a:rPr>
              <a:t>Seamless deployment on Cloud, Mobile, Edge, Web</a:t>
            </a:r>
          </a:p>
          <a:p>
            <a:pPr>
              <a:spcBef>
                <a:spcPts val="0"/>
              </a:spcBef>
              <a:spcAft>
                <a:spcPts val="800"/>
              </a:spcAft>
            </a:pPr>
            <a:r>
              <a:rPr lang="en-US" sz="1800" dirty="0">
                <a:latin typeface="Arial" panose="020B0604020202020204" pitchFamily="34" charset="0"/>
                <a:cs typeface="Arial" panose="020B0604020202020204" pitchFamily="34" charset="0"/>
              </a:rPr>
              <a:t>Supports production pipelines with TFX, mobile optimization with TensorFlow Lite, and web deployment with TensorFlow.js</a:t>
            </a:r>
          </a:p>
          <a:p>
            <a:pPr>
              <a:spcBef>
                <a:spcPts val="0"/>
              </a:spcBef>
              <a:spcAft>
                <a:spcPts val="800"/>
              </a:spcAft>
            </a:pPr>
            <a:r>
              <a:rPr lang="en-US" sz="1800" dirty="0">
                <a:latin typeface="Arial" panose="020B0604020202020204" pitchFamily="34" charset="0"/>
                <a:cs typeface="Arial" panose="020B0604020202020204" pitchFamily="34" charset="0"/>
              </a:rPr>
              <a:t>Rich tools for research: Functional API, Model Subclassing, and Pre-trained Models</a:t>
            </a:r>
          </a:p>
          <a:p>
            <a:pPr marL="0" indent="0">
              <a:spcBef>
                <a:spcPts val="0"/>
              </a:spcBef>
              <a:spcAft>
                <a:spcPts val="800"/>
              </a:spcAft>
              <a:buNone/>
            </a:pPr>
            <a:endParaRPr lang="en-US" sz="1800" dirty="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0FA8F102-58E0-3F1D-C0D7-BD77998A0C1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86C7DFEA-F323-289C-04CD-7ABA093766B6}"/>
              </a:ext>
            </a:extLst>
          </p:cNvPr>
          <p:cNvPicPr>
            <a:picLocks noChangeAspect="1"/>
          </p:cNvPicPr>
          <p:nvPr/>
        </p:nvPicPr>
        <p:blipFill>
          <a:blip r:embed="rId3">
            <a:duotone>
              <a:prstClr val="black"/>
              <a:srgbClr val="D9C3A5">
                <a:tint val="50000"/>
                <a:satMod val="180000"/>
              </a:srgbClr>
            </a:duotone>
          </a:blip>
          <a:srcRect l="7145"/>
          <a:stretch>
            <a:fillRect/>
          </a:stretch>
        </p:blipFill>
        <p:spPr>
          <a:xfrm>
            <a:off x="6502400" y="1371600"/>
            <a:ext cx="5349372" cy="2985795"/>
          </a:xfrm>
          <a:prstGeom prst="rect">
            <a:avLst/>
          </a:prstGeom>
        </p:spPr>
      </p:pic>
      <p:grpSp>
        <p:nvGrpSpPr>
          <p:cNvPr id="3" name="Group 2">
            <a:extLst>
              <a:ext uri="{FF2B5EF4-FFF2-40B4-BE49-F238E27FC236}">
                <a16:creationId xmlns:a16="http://schemas.microsoft.com/office/drawing/2014/main" id="{A82E84B3-E933-4D79-A39C-FE909EF0A444}"/>
              </a:ext>
            </a:extLst>
          </p:cNvPr>
          <p:cNvGrpSpPr/>
          <p:nvPr/>
        </p:nvGrpSpPr>
        <p:grpSpPr>
          <a:xfrm>
            <a:off x="-16934" y="6019798"/>
            <a:ext cx="12227984" cy="607305"/>
            <a:chOff x="-16934" y="6019798"/>
            <a:chExt cx="12227984" cy="607305"/>
          </a:xfrm>
        </p:grpSpPr>
        <p:sp>
          <p:nvSpPr>
            <p:cNvPr id="11" name="Rectangle 10">
              <a:extLst>
                <a:ext uri="{FF2B5EF4-FFF2-40B4-BE49-F238E27FC236}">
                  <a16:creationId xmlns:a16="http://schemas.microsoft.com/office/drawing/2014/main" id="{D2C3C188-36A7-CD8D-9FF0-C9F264AE2272}"/>
                </a:ext>
              </a:extLst>
            </p:cNvPr>
            <p:cNvSpPr/>
            <p:nvPr/>
          </p:nvSpPr>
          <p:spPr>
            <a:xfrm flipV="1">
              <a:off x="-16934" y="6158482"/>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B95CD2CD-D6B6-4C33-706B-D1BCDE745ED9}"/>
                </a:ext>
              </a:extLst>
            </p:cNvPr>
            <p:cNvSpPr txBox="1"/>
            <p:nvPr/>
          </p:nvSpPr>
          <p:spPr>
            <a:xfrm>
              <a:off x="5756773" y="6019798"/>
              <a:ext cx="688650" cy="307777"/>
            </a:xfrm>
            <a:prstGeom prst="rect">
              <a:avLst/>
            </a:prstGeom>
            <a:noFill/>
          </p:spPr>
          <p:txBody>
            <a:bodyPr wrap="none" rtlCol="0">
              <a:spAutoFit/>
            </a:bodyPr>
            <a:lstStyle/>
            <a:p>
              <a:r>
                <a:rPr lang="en-US" sz="1400" b="1"/>
                <a:t>Source</a:t>
              </a:r>
            </a:p>
          </p:txBody>
        </p:sp>
        <p:sp>
          <p:nvSpPr>
            <p:cNvPr id="13" name="Rectangle 12">
              <a:extLst>
                <a:ext uri="{FF2B5EF4-FFF2-40B4-BE49-F238E27FC236}">
                  <a16:creationId xmlns:a16="http://schemas.microsoft.com/office/drawing/2014/main" id="{CC368B78-96CF-001B-0FCA-CB9AFB1CC664}"/>
                </a:ext>
              </a:extLst>
            </p:cNvPr>
            <p:cNvSpPr/>
            <p:nvPr/>
          </p:nvSpPr>
          <p:spPr>
            <a:xfrm flipV="1">
              <a:off x="6479116" y="6156958"/>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DEB2542-F293-AC80-4E1D-72C72AEE5676}"/>
                </a:ext>
              </a:extLst>
            </p:cNvPr>
            <p:cNvSpPr txBox="1"/>
            <p:nvPr/>
          </p:nvSpPr>
          <p:spPr>
            <a:xfrm>
              <a:off x="428624" y="6319326"/>
              <a:ext cx="10930255" cy="307777"/>
            </a:xfrm>
            <a:prstGeom prst="rect">
              <a:avLst/>
            </a:prstGeom>
            <a:noFill/>
          </p:spPr>
          <p:txBody>
            <a:bodyPr wrap="square">
              <a:spAutoFit/>
            </a:bodyPr>
            <a:lstStyle/>
            <a:p>
              <a:r>
                <a:rPr lang="en-IN" sz="14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https://botpenguin.com/glossary/tensorflow</a:t>
              </a:r>
              <a:endParaRPr lang="en-IN" sz="1400"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86174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473E4-0DC6-117A-F957-DC12A9AD57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0FC4CE4-6D70-577D-116D-6A05B71A6D85}"/>
              </a:ext>
            </a:extLst>
          </p:cNvPr>
          <p:cNvSpPr txBox="1">
            <a:spLocks/>
          </p:cNvSpPr>
          <p:nvPr/>
        </p:nvSpPr>
        <p:spPr>
          <a:xfrm>
            <a:off x="39102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err="1">
                <a:solidFill>
                  <a:srgbClr val="002060"/>
                </a:solidFill>
                <a:latin typeface="Arial" panose="020B0604020202020204" pitchFamily="34" charset="0"/>
                <a:cs typeface="Arial" panose="020B0604020202020204" pitchFamily="34" charset="0"/>
              </a:rPr>
              <a:t>Keras</a:t>
            </a:r>
            <a:r>
              <a:rPr lang="en-US" sz="2200" b="1" dirty="0">
                <a:solidFill>
                  <a:srgbClr val="002060"/>
                </a:solidFill>
                <a:latin typeface="Arial" panose="020B0604020202020204" pitchFamily="34" charset="0"/>
                <a:cs typeface="Arial" panose="020B0604020202020204" pitchFamily="34" charset="0"/>
              </a:rPr>
              <a:t> as a High-Level API</a:t>
            </a:r>
          </a:p>
        </p:txBody>
      </p:sp>
      <p:sp>
        <p:nvSpPr>
          <p:cNvPr id="2" name="Text Placeholder 4">
            <a:extLst>
              <a:ext uri="{FF2B5EF4-FFF2-40B4-BE49-F238E27FC236}">
                <a16:creationId xmlns:a16="http://schemas.microsoft.com/office/drawing/2014/main" id="{83CF5755-A28B-C7F1-1A60-95B841E83605}"/>
              </a:ext>
            </a:extLst>
          </p:cNvPr>
          <p:cNvSpPr txBox="1">
            <a:spLocks/>
          </p:cNvSpPr>
          <p:nvPr/>
        </p:nvSpPr>
        <p:spPr>
          <a:xfrm>
            <a:off x="401188" y="1182997"/>
            <a:ext cx="5755772" cy="22460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High-level API of TensorFlow for easy deep learning model development</a:t>
            </a:r>
          </a:p>
          <a:p>
            <a:pPr>
              <a:spcBef>
                <a:spcPts val="0"/>
              </a:spcBef>
              <a:spcAft>
                <a:spcPts val="800"/>
              </a:spcAft>
            </a:pPr>
            <a:r>
              <a:rPr lang="en-US" sz="1800" dirty="0">
                <a:latin typeface="Arial" panose="020B0604020202020204" pitchFamily="34" charset="0"/>
                <a:cs typeface="Arial" panose="020B0604020202020204" pitchFamily="34" charset="0"/>
              </a:rPr>
              <a:t>Simple &amp; Modular: Ideal for rapid experimentation</a:t>
            </a:r>
          </a:p>
          <a:p>
            <a:pPr>
              <a:spcBef>
                <a:spcPts val="0"/>
              </a:spcBef>
              <a:spcAft>
                <a:spcPts val="800"/>
              </a:spcAft>
            </a:pPr>
            <a:r>
              <a:rPr lang="en-US" sz="1800" dirty="0">
                <a:latin typeface="Arial" panose="020B0604020202020204" pitchFamily="34" charset="0"/>
                <a:cs typeface="Arial" panose="020B0604020202020204" pitchFamily="34" charset="0"/>
              </a:rPr>
              <a:t>Cross-platform support: Compatible with CPUs, GPUs, TPUs, and mobile</a:t>
            </a:r>
          </a:p>
          <a:p>
            <a:pPr>
              <a:spcBef>
                <a:spcPts val="0"/>
              </a:spcBef>
              <a:spcAft>
                <a:spcPts val="800"/>
              </a:spcAft>
            </a:pPr>
            <a:r>
              <a:rPr lang="en-US" sz="1800" dirty="0">
                <a:latin typeface="Arial" panose="020B0604020202020204" pitchFamily="34" charset="0"/>
                <a:cs typeface="Arial" panose="020B0604020202020204" pitchFamily="34" charset="0"/>
              </a:rPr>
              <a:t>Rich library of predefined components: Layers, optimizers, loss functions</a:t>
            </a:r>
          </a:p>
          <a:p>
            <a:pPr>
              <a:spcBef>
                <a:spcPts val="0"/>
              </a:spcBef>
              <a:spcAft>
                <a:spcPts val="800"/>
              </a:spcAft>
            </a:pPr>
            <a:r>
              <a:rPr lang="en-US" sz="1800" dirty="0">
                <a:latin typeface="Arial" panose="020B0604020202020204" pitchFamily="34" charset="0"/>
                <a:cs typeface="Arial" panose="020B0604020202020204" pitchFamily="34" charset="0"/>
              </a:rPr>
              <a:t>Multiple model-building options: Sequential, Functional API, Subclassing</a:t>
            </a:r>
          </a:p>
          <a:p>
            <a:pPr>
              <a:spcBef>
                <a:spcPts val="0"/>
              </a:spcBef>
              <a:spcAft>
                <a:spcPts val="800"/>
              </a:spcAft>
            </a:pPr>
            <a:r>
              <a:rPr lang="en-US" sz="1800" dirty="0">
                <a:latin typeface="Arial" panose="020B0604020202020204" pitchFamily="34" charset="0"/>
                <a:cs typeface="Arial" panose="020B0604020202020204" pitchFamily="34" charset="0"/>
              </a:rPr>
              <a:t>Built-in training methods: fit(), evaluate(), predict()</a:t>
            </a:r>
          </a:p>
          <a:p>
            <a:pPr>
              <a:spcBef>
                <a:spcPts val="0"/>
              </a:spcBef>
              <a:spcAft>
                <a:spcPts val="800"/>
              </a:spcAft>
            </a:pPr>
            <a:r>
              <a:rPr lang="en-US" sz="1800" dirty="0">
                <a:latin typeface="Arial" panose="020B0604020202020204" pitchFamily="34" charset="0"/>
                <a:cs typeface="Arial" panose="020B0604020202020204" pitchFamily="34" charset="0"/>
              </a:rPr>
              <a:t>Efficient data preprocessing tools for images, text, and numbers</a:t>
            </a:r>
          </a:p>
        </p:txBody>
      </p:sp>
      <p:sp>
        <p:nvSpPr>
          <p:cNvPr id="10" name="Rectangle 1">
            <a:extLst>
              <a:ext uri="{FF2B5EF4-FFF2-40B4-BE49-F238E27FC236}">
                <a16:creationId xmlns:a16="http://schemas.microsoft.com/office/drawing/2014/main" id="{BC176C5E-E331-BF3C-B072-F14C581C5DD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Picture 1, Picture">
            <a:extLst>
              <a:ext uri="{FF2B5EF4-FFF2-40B4-BE49-F238E27FC236}">
                <a16:creationId xmlns:a16="http://schemas.microsoft.com/office/drawing/2014/main" id="{460B615D-F907-7846-DDE6-352B3BC062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53363" y="1424532"/>
            <a:ext cx="5731510" cy="2548255"/>
          </a:xfrm>
          <a:prstGeom prst="rect">
            <a:avLst/>
          </a:prstGeom>
          <a:noFill/>
          <a:ln>
            <a:noFill/>
          </a:ln>
        </p:spPr>
      </p:pic>
      <p:grpSp>
        <p:nvGrpSpPr>
          <p:cNvPr id="6" name="Group 5">
            <a:extLst>
              <a:ext uri="{FF2B5EF4-FFF2-40B4-BE49-F238E27FC236}">
                <a16:creationId xmlns:a16="http://schemas.microsoft.com/office/drawing/2014/main" id="{8DD1CA13-17F2-D2C6-7459-321CF60620CF}"/>
              </a:ext>
            </a:extLst>
          </p:cNvPr>
          <p:cNvGrpSpPr/>
          <p:nvPr/>
        </p:nvGrpSpPr>
        <p:grpSpPr>
          <a:xfrm>
            <a:off x="-16934" y="6019798"/>
            <a:ext cx="12227984" cy="546345"/>
            <a:chOff x="-16934" y="6019798"/>
            <a:chExt cx="12227984" cy="546345"/>
          </a:xfrm>
        </p:grpSpPr>
        <p:sp>
          <p:nvSpPr>
            <p:cNvPr id="11" name="Rectangle 10">
              <a:extLst>
                <a:ext uri="{FF2B5EF4-FFF2-40B4-BE49-F238E27FC236}">
                  <a16:creationId xmlns:a16="http://schemas.microsoft.com/office/drawing/2014/main" id="{CF137F4C-5346-BABE-DACD-116282F72F56}"/>
                </a:ext>
              </a:extLst>
            </p:cNvPr>
            <p:cNvSpPr/>
            <p:nvPr/>
          </p:nvSpPr>
          <p:spPr>
            <a:xfrm flipV="1">
              <a:off x="-16934" y="6158482"/>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958991BD-5655-1B3E-3FAD-8BB4F71AD486}"/>
                </a:ext>
              </a:extLst>
            </p:cNvPr>
            <p:cNvSpPr txBox="1"/>
            <p:nvPr/>
          </p:nvSpPr>
          <p:spPr>
            <a:xfrm>
              <a:off x="5756773" y="6019798"/>
              <a:ext cx="688650" cy="307777"/>
            </a:xfrm>
            <a:prstGeom prst="rect">
              <a:avLst/>
            </a:prstGeom>
            <a:noFill/>
          </p:spPr>
          <p:txBody>
            <a:bodyPr wrap="none" rtlCol="0">
              <a:spAutoFit/>
            </a:bodyPr>
            <a:lstStyle/>
            <a:p>
              <a:r>
                <a:rPr lang="en-US" sz="1400" b="1"/>
                <a:t>Source</a:t>
              </a:r>
            </a:p>
          </p:txBody>
        </p:sp>
        <p:sp>
          <p:nvSpPr>
            <p:cNvPr id="13" name="Rectangle 12">
              <a:extLst>
                <a:ext uri="{FF2B5EF4-FFF2-40B4-BE49-F238E27FC236}">
                  <a16:creationId xmlns:a16="http://schemas.microsoft.com/office/drawing/2014/main" id="{FEBDB5DD-9A55-EE1E-86FD-6BEEA81EE3B9}"/>
                </a:ext>
              </a:extLst>
            </p:cNvPr>
            <p:cNvSpPr/>
            <p:nvPr/>
          </p:nvSpPr>
          <p:spPr>
            <a:xfrm flipV="1">
              <a:off x="6479116" y="6156958"/>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C5F9FF3-CD52-E000-3076-C335E205D566}"/>
                </a:ext>
              </a:extLst>
            </p:cNvPr>
            <p:cNvSpPr txBox="1"/>
            <p:nvPr/>
          </p:nvSpPr>
          <p:spPr>
            <a:xfrm>
              <a:off x="428624" y="6258366"/>
              <a:ext cx="10930255" cy="307777"/>
            </a:xfrm>
            <a:prstGeom prst="rect">
              <a:avLst/>
            </a:prstGeom>
            <a:noFill/>
          </p:spPr>
          <p:txBody>
            <a:bodyPr wrap="square">
              <a:spAutoFit/>
            </a:bodyPr>
            <a:lstStyle/>
            <a:p>
              <a:r>
                <a:rPr lang="en-IN" sz="14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https://keras.io/</a:t>
              </a:r>
              <a:endParaRPr lang="en-IN" sz="1400"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266157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765D3-5918-69F5-1991-0244F944D7A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4C45DF-B8C7-DB0E-EAF9-C8269CD25585}"/>
              </a:ext>
            </a:extLst>
          </p:cNvPr>
          <p:cNvSpPr txBox="1">
            <a:spLocks/>
          </p:cNvSpPr>
          <p:nvPr/>
        </p:nvSpPr>
        <p:spPr>
          <a:xfrm>
            <a:off x="40118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IN" sz="2200" b="1" dirty="0">
                <a:solidFill>
                  <a:srgbClr val="002060"/>
                </a:solidFill>
                <a:latin typeface="Arial" panose="020B0604020202020204" pitchFamily="34" charset="0"/>
                <a:cs typeface="Arial" panose="020B0604020202020204" pitchFamily="34" charset="0"/>
              </a:rPr>
              <a:t>Key Features of </a:t>
            </a:r>
            <a:r>
              <a:rPr lang="en-IN" sz="2200" b="1" dirty="0" err="1">
                <a:solidFill>
                  <a:srgbClr val="002060"/>
                </a:solidFill>
                <a:latin typeface="Arial" panose="020B0604020202020204" pitchFamily="34" charset="0"/>
                <a:cs typeface="Arial" panose="020B0604020202020204" pitchFamily="34" charset="0"/>
              </a:rPr>
              <a:t>Keras</a:t>
            </a: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949EC7E8-B87A-C5EB-9A0E-F7B0D671C076}"/>
              </a:ext>
            </a:extLst>
          </p:cNvPr>
          <p:cNvSpPr txBox="1">
            <a:spLocks/>
          </p:cNvSpPr>
          <p:nvPr/>
        </p:nvSpPr>
        <p:spPr>
          <a:xfrm>
            <a:off x="401187" y="1182997"/>
            <a:ext cx="5786253" cy="22460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b="1" dirty="0">
                <a:latin typeface="Arial" panose="020B0604020202020204" pitchFamily="34" charset="0"/>
                <a:cs typeface="Arial" panose="020B0604020202020204" pitchFamily="34" charset="0"/>
              </a:rPr>
              <a:t>Cross-Platform Scalability: </a:t>
            </a:r>
            <a:r>
              <a:rPr lang="en-US" sz="1800" dirty="0">
                <a:latin typeface="Arial" panose="020B0604020202020204" pitchFamily="34" charset="0"/>
                <a:cs typeface="Arial" panose="020B0604020202020204" pitchFamily="34" charset="0"/>
              </a:rPr>
              <a:t>Runs on various hardware, including CPUs, GPUs, TPUs, and mobile devices.</a:t>
            </a:r>
          </a:p>
          <a:p>
            <a:pPr>
              <a:spcBef>
                <a:spcPts val="0"/>
              </a:spcBef>
              <a:spcAft>
                <a:spcPts val="800"/>
              </a:spcAft>
            </a:pPr>
            <a:r>
              <a:rPr lang="en-US" sz="1800" b="1" dirty="0">
                <a:latin typeface="Arial" panose="020B0604020202020204" pitchFamily="34" charset="0"/>
                <a:cs typeface="Arial" panose="020B0604020202020204" pitchFamily="34" charset="0"/>
              </a:rPr>
              <a:t>Predefined Components: </a:t>
            </a:r>
            <a:r>
              <a:rPr lang="en-US" sz="1800" dirty="0">
                <a:latin typeface="Arial" panose="020B0604020202020204" pitchFamily="34" charset="0"/>
                <a:cs typeface="Arial" panose="020B0604020202020204" pitchFamily="34" charset="0"/>
              </a:rPr>
              <a:t>Offers a large set of built-in layers, loss functions, optimizers, and activation functions.</a:t>
            </a:r>
          </a:p>
          <a:p>
            <a:pPr>
              <a:spcBef>
                <a:spcPts val="0"/>
              </a:spcBef>
              <a:spcAft>
                <a:spcPts val="800"/>
              </a:spcAft>
            </a:pPr>
            <a:r>
              <a:rPr lang="en-US" sz="1800" b="1" dirty="0">
                <a:latin typeface="Arial" panose="020B0604020202020204" pitchFamily="34" charset="0"/>
                <a:cs typeface="Arial" panose="020B0604020202020204" pitchFamily="34" charset="0"/>
              </a:rPr>
              <a:t>Multiple Model APIs: </a:t>
            </a:r>
            <a:r>
              <a:rPr lang="en-US" sz="1800" dirty="0">
                <a:latin typeface="Arial" panose="020B0604020202020204" pitchFamily="34" charset="0"/>
                <a:cs typeface="Arial" panose="020B0604020202020204" pitchFamily="34" charset="0"/>
              </a:rPr>
              <a:t>Supports Sequential API for simple layer stacking, Functional API for complex architectures, and Model Subclassing for full customization.</a:t>
            </a:r>
          </a:p>
          <a:p>
            <a:pPr>
              <a:spcBef>
                <a:spcPts val="0"/>
              </a:spcBef>
              <a:spcAft>
                <a:spcPts val="800"/>
              </a:spcAft>
            </a:pPr>
            <a:r>
              <a:rPr lang="en-US" sz="1800" b="1" dirty="0">
                <a:latin typeface="Arial" panose="020B0604020202020204" pitchFamily="34" charset="0"/>
                <a:cs typeface="Arial" panose="020B0604020202020204" pitchFamily="34" charset="0"/>
              </a:rPr>
              <a:t>Built-in Training Methods: </a:t>
            </a:r>
            <a:r>
              <a:rPr lang="en-US" sz="1800" dirty="0">
                <a:latin typeface="Arial" panose="020B0604020202020204" pitchFamily="34" charset="0"/>
                <a:cs typeface="Arial" panose="020B0604020202020204" pitchFamily="34" charset="0"/>
              </a:rPr>
              <a:t>Includes fit(), evaluate(), and predict() for efficient model training and evaluation.</a:t>
            </a:r>
          </a:p>
          <a:p>
            <a:pPr>
              <a:spcBef>
                <a:spcPts val="0"/>
              </a:spcBef>
              <a:spcAft>
                <a:spcPts val="800"/>
              </a:spcAft>
            </a:pPr>
            <a:r>
              <a:rPr lang="en-US" sz="1800" b="1" dirty="0">
                <a:latin typeface="Arial" panose="020B0604020202020204" pitchFamily="34" charset="0"/>
                <a:cs typeface="Arial" panose="020B0604020202020204" pitchFamily="34" charset="0"/>
              </a:rPr>
              <a:t>Data Preprocessing: </a:t>
            </a:r>
            <a:r>
              <a:rPr lang="en-US" sz="1800" dirty="0">
                <a:latin typeface="Arial" panose="020B0604020202020204" pitchFamily="34" charset="0"/>
                <a:cs typeface="Arial" panose="020B0604020202020204" pitchFamily="34" charset="0"/>
              </a:rPr>
              <a:t>Provides tools for handling images, text, and numerical data efficiently.</a:t>
            </a:r>
          </a:p>
          <a:p>
            <a:pPr>
              <a:spcBef>
                <a:spcPts val="0"/>
              </a:spcBef>
              <a:spcAft>
                <a:spcPts val="800"/>
              </a:spcAft>
            </a:pPr>
            <a:endParaRPr lang="en-US" sz="1800" dirty="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99E76CD1-ABA8-C67D-45DE-BAE93F2DD70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3" name="Group 2">
            <a:extLst>
              <a:ext uri="{FF2B5EF4-FFF2-40B4-BE49-F238E27FC236}">
                <a16:creationId xmlns:a16="http://schemas.microsoft.com/office/drawing/2014/main" id="{E55225AC-9268-7FD7-F56D-1630180B4493}"/>
              </a:ext>
            </a:extLst>
          </p:cNvPr>
          <p:cNvGrpSpPr/>
          <p:nvPr/>
        </p:nvGrpSpPr>
        <p:grpSpPr>
          <a:xfrm>
            <a:off x="-16934" y="6019798"/>
            <a:ext cx="12227984" cy="607305"/>
            <a:chOff x="-16934" y="6019798"/>
            <a:chExt cx="12227984" cy="607305"/>
          </a:xfrm>
        </p:grpSpPr>
        <p:sp>
          <p:nvSpPr>
            <p:cNvPr id="6" name="Rectangle 5">
              <a:extLst>
                <a:ext uri="{FF2B5EF4-FFF2-40B4-BE49-F238E27FC236}">
                  <a16:creationId xmlns:a16="http://schemas.microsoft.com/office/drawing/2014/main" id="{E378DD06-95DF-1C91-09FC-E61240C5A531}"/>
                </a:ext>
              </a:extLst>
            </p:cNvPr>
            <p:cNvSpPr/>
            <p:nvPr/>
          </p:nvSpPr>
          <p:spPr>
            <a:xfrm flipV="1">
              <a:off x="-16934" y="6158482"/>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B77EAD9-9B47-89D4-C51D-88A5183D82F5}"/>
                </a:ext>
              </a:extLst>
            </p:cNvPr>
            <p:cNvSpPr txBox="1"/>
            <p:nvPr/>
          </p:nvSpPr>
          <p:spPr>
            <a:xfrm>
              <a:off x="5756773" y="6019798"/>
              <a:ext cx="688650" cy="307777"/>
            </a:xfrm>
            <a:prstGeom prst="rect">
              <a:avLst/>
            </a:prstGeom>
            <a:noFill/>
          </p:spPr>
          <p:txBody>
            <a:bodyPr wrap="none" rtlCol="0">
              <a:spAutoFit/>
            </a:bodyPr>
            <a:lstStyle/>
            <a:p>
              <a:r>
                <a:rPr lang="en-US" sz="1400" b="1"/>
                <a:t>Source</a:t>
              </a:r>
            </a:p>
          </p:txBody>
        </p:sp>
        <p:sp>
          <p:nvSpPr>
            <p:cNvPr id="12" name="Rectangle 11">
              <a:extLst>
                <a:ext uri="{FF2B5EF4-FFF2-40B4-BE49-F238E27FC236}">
                  <a16:creationId xmlns:a16="http://schemas.microsoft.com/office/drawing/2014/main" id="{4B0CF30B-B0F7-2836-491C-C671072DD838}"/>
                </a:ext>
              </a:extLst>
            </p:cNvPr>
            <p:cNvSpPr/>
            <p:nvPr/>
          </p:nvSpPr>
          <p:spPr>
            <a:xfrm flipV="1">
              <a:off x="6479116" y="6156958"/>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867D56B3-59E3-45AD-C764-498A38EA3B0D}"/>
                </a:ext>
              </a:extLst>
            </p:cNvPr>
            <p:cNvSpPr txBox="1"/>
            <p:nvPr/>
          </p:nvSpPr>
          <p:spPr>
            <a:xfrm>
              <a:off x="428624" y="6319326"/>
              <a:ext cx="11610976" cy="307777"/>
            </a:xfrm>
            <a:prstGeom prst="rect">
              <a:avLst/>
            </a:prstGeom>
            <a:noFill/>
          </p:spPr>
          <p:txBody>
            <a:bodyPr wrap="square">
              <a:spAutoFit/>
            </a:bodyPr>
            <a:lstStyle/>
            <a:p>
              <a:r>
                <a:rPr lang="en-IN" sz="1400" dirty="0">
                  <a:solidFill>
                    <a:srgbClr val="0000FF"/>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https://www.researchgate.net/figure/llustrative-image-of-artificial-neural-networks-with-their-working-mechanism-as-like_fig13_380136894</a:t>
              </a:r>
              <a:endParaRPr lang="en-IN" sz="1400" dirty="0">
                <a:solidFill>
                  <a:srgbClr val="0000FF"/>
                </a:solidFill>
                <a:latin typeface="Arial" panose="020B0604020202020204" pitchFamily="34" charset="0"/>
                <a:cs typeface="Arial" panose="020B0604020202020204" pitchFamily="34" charset="0"/>
              </a:endParaRPr>
            </a:p>
          </p:txBody>
        </p:sp>
      </p:grpSp>
      <p:pic>
        <p:nvPicPr>
          <p:cNvPr id="1026" name="Picture 2" descr="Keras: Deep Learning for humans">
            <a:extLst>
              <a:ext uri="{FF2B5EF4-FFF2-40B4-BE49-F238E27FC236}">
                <a16:creationId xmlns:a16="http://schemas.microsoft.com/office/drawing/2014/main" id="{180FDBD9-9DB0-B116-2140-E8F85F45F1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4960" y="1447800"/>
            <a:ext cx="5354320" cy="1552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370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B6E1A-5361-133A-5DB2-8B1EF0F5019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C17CFA-4C02-1576-C42F-2EED37B02DE8}"/>
              </a:ext>
            </a:extLst>
          </p:cNvPr>
          <p:cNvSpPr txBox="1">
            <a:spLocks/>
          </p:cNvSpPr>
          <p:nvPr/>
        </p:nvSpPr>
        <p:spPr>
          <a:xfrm>
            <a:off x="401189" y="759787"/>
            <a:ext cx="569481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err="1">
                <a:solidFill>
                  <a:srgbClr val="002060"/>
                </a:solidFill>
                <a:latin typeface="Arial" panose="020B0604020202020204" pitchFamily="34" charset="0"/>
                <a:cs typeface="Arial" panose="020B0604020202020204" pitchFamily="34" charset="0"/>
              </a:rPr>
              <a:t>Keras</a:t>
            </a:r>
            <a:r>
              <a:rPr lang="en-US" sz="2200" b="1" dirty="0">
                <a:solidFill>
                  <a:srgbClr val="002060"/>
                </a:solidFill>
                <a:latin typeface="Arial" panose="020B0604020202020204" pitchFamily="34" charset="0"/>
                <a:cs typeface="Arial" panose="020B0604020202020204" pitchFamily="34" charset="0"/>
              </a:rPr>
              <a:t> API Components</a:t>
            </a:r>
          </a:p>
          <a:p>
            <a:pPr algn="l"/>
            <a:endParaRPr lang="en-US" sz="2200" b="1" dirty="0">
              <a:solidFill>
                <a:srgbClr val="002060"/>
              </a:solidFill>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6D925488-186A-802E-32E6-344940F56C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a:extLst>
              <a:ext uri="{FF2B5EF4-FFF2-40B4-BE49-F238E27FC236}">
                <a16:creationId xmlns:a16="http://schemas.microsoft.com/office/drawing/2014/main" id="{33D94E2B-9C1B-CB98-67C6-E69C613CA7F8}"/>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Effect>
                      <a14:saturation sat="400000"/>
                    </a14:imgEffect>
                  </a14:imgLayer>
                </a14:imgProps>
              </a:ext>
              <a:ext uri="{28A0092B-C50C-407E-A947-70E740481C1C}">
                <a14:useLocalDpi xmlns:a14="http://schemas.microsoft.com/office/drawing/2010/main" val="0"/>
              </a:ext>
            </a:extLst>
          </a:blip>
          <a:srcRect t="5641" r="1479" b="3397"/>
          <a:stretch>
            <a:fillRect/>
          </a:stretch>
        </p:blipFill>
        <p:spPr>
          <a:xfrm>
            <a:off x="1052036" y="1656081"/>
            <a:ext cx="10087928" cy="4531360"/>
          </a:xfrm>
          <a:prstGeom prst="rect">
            <a:avLst/>
          </a:prstGeom>
        </p:spPr>
      </p:pic>
    </p:spTree>
    <p:extLst>
      <p:ext uri="{BB962C8B-B14F-4D97-AF65-F5344CB8AC3E}">
        <p14:creationId xmlns:p14="http://schemas.microsoft.com/office/powerpoint/2010/main" val="2925403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9044E-6DE3-3036-637B-889389C04D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A11E6F-E83E-18D3-0105-93B29B563465}"/>
              </a:ext>
            </a:extLst>
          </p:cNvPr>
          <p:cNvSpPr txBox="1">
            <a:spLocks/>
          </p:cNvSpPr>
          <p:nvPr/>
        </p:nvSpPr>
        <p:spPr>
          <a:xfrm>
            <a:off x="401189" y="759787"/>
            <a:ext cx="569481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spcBef>
                <a:spcPts val="0"/>
              </a:spcBef>
              <a:spcAft>
                <a:spcPts val="800"/>
              </a:spcAft>
            </a:pPr>
            <a:r>
              <a:rPr lang="en-IN" sz="2200" b="1" dirty="0">
                <a:solidFill>
                  <a:srgbClr val="002060"/>
                </a:solidFill>
                <a:latin typeface="Arial" panose="020B0604020202020204" pitchFamily="34" charset="0"/>
                <a:cs typeface="Arial" panose="020B0604020202020204" pitchFamily="34" charset="0"/>
              </a:rPr>
              <a:t>TensorFlow Installation &amp; Setup</a:t>
            </a: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B710B9AA-4E87-F8A2-0C18-A8CFC13A128D}"/>
              </a:ext>
            </a:extLst>
          </p:cNvPr>
          <p:cNvSpPr txBox="1">
            <a:spLocks/>
          </p:cNvSpPr>
          <p:nvPr/>
        </p:nvSpPr>
        <p:spPr>
          <a:xfrm>
            <a:off x="401188" y="1182997"/>
            <a:ext cx="5755772" cy="43034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Check if pip is installed (pip --version)</a:t>
            </a:r>
          </a:p>
          <a:p>
            <a:pPr>
              <a:spcBef>
                <a:spcPts val="0"/>
              </a:spcBef>
              <a:spcAft>
                <a:spcPts val="800"/>
              </a:spcAft>
            </a:pPr>
            <a:r>
              <a:rPr lang="en-US" sz="1800" dirty="0">
                <a:latin typeface="Arial" panose="020B0604020202020204" pitchFamily="34" charset="0"/>
                <a:cs typeface="Arial" panose="020B0604020202020204" pitchFamily="34" charset="0"/>
              </a:rPr>
              <a:t>(Optional) Create virtual environment (python -m </a:t>
            </a:r>
            <a:r>
              <a:rPr lang="en-US" sz="1800" dirty="0" err="1">
                <a:latin typeface="Arial" panose="020B0604020202020204" pitchFamily="34" charset="0"/>
                <a:cs typeface="Arial" panose="020B0604020202020204" pitchFamily="34" charset="0"/>
              </a:rPr>
              <a:t>venv</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tensorflow_env</a:t>
            </a:r>
            <a:r>
              <a:rPr lang="en-US" sz="1800" dirty="0">
                <a:latin typeface="Arial" panose="020B0604020202020204" pitchFamily="34" charset="0"/>
                <a:cs typeface="Arial" panose="020B0604020202020204" pitchFamily="34" charset="0"/>
              </a:rPr>
              <a:t>)</a:t>
            </a:r>
          </a:p>
          <a:p>
            <a:pPr>
              <a:spcBef>
                <a:spcPts val="0"/>
              </a:spcBef>
              <a:spcAft>
                <a:spcPts val="800"/>
              </a:spcAft>
            </a:pPr>
            <a:r>
              <a:rPr lang="en-US" sz="1800" dirty="0">
                <a:latin typeface="Arial" panose="020B0604020202020204" pitchFamily="34" charset="0"/>
                <a:cs typeface="Arial" panose="020B0604020202020204" pitchFamily="34" charset="0"/>
              </a:rPr>
              <a:t>Activate environment (activate on Windows / source on macOS/Linux)</a:t>
            </a:r>
          </a:p>
          <a:p>
            <a:pPr>
              <a:spcBef>
                <a:spcPts val="0"/>
              </a:spcBef>
              <a:spcAft>
                <a:spcPts val="800"/>
              </a:spcAft>
            </a:pPr>
            <a:r>
              <a:rPr lang="en-US" sz="1800" dirty="0">
                <a:latin typeface="Arial" panose="020B0604020202020204" pitchFamily="34" charset="0"/>
                <a:cs typeface="Arial" panose="020B0604020202020204" pitchFamily="34" charset="0"/>
              </a:rPr>
              <a:t>Upgrade pip (pip install --upgrade pip)</a:t>
            </a:r>
          </a:p>
          <a:p>
            <a:pPr>
              <a:spcBef>
                <a:spcPts val="0"/>
              </a:spcBef>
              <a:spcAft>
                <a:spcPts val="800"/>
              </a:spcAft>
            </a:pPr>
            <a:r>
              <a:rPr lang="en-US" sz="1800" dirty="0">
                <a:latin typeface="Arial" panose="020B0604020202020204" pitchFamily="34" charset="0"/>
                <a:cs typeface="Arial" panose="020B0604020202020204" pitchFamily="34" charset="0"/>
              </a:rPr>
              <a:t>Install TensorFlow (pip install </a:t>
            </a:r>
            <a:r>
              <a:rPr lang="en-US" sz="1800" dirty="0" err="1">
                <a:latin typeface="Arial" panose="020B0604020202020204" pitchFamily="34" charset="0"/>
                <a:cs typeface="Arial" panose="020B0604020202020204" pitchFamily="34" charset="0"/>
              </a:rPr>
              <a:t>tensorflow</a:t>
            </a:r>
            <a:r>
              <a:rPr lang="en-US" sz="1800" dirty="0">
                <a:latin typeface="Arial" panose="020B0604020202020204" pitchFamily="34" charset="0"/>
                <a:cs typeface="Arial" panose="020B0604020202020204" pitchFamily="34" charset="0"/>
              </a:rPr>
              <a:t>)</a:t>
            </a:r>
          </a:p>
          <a:p>
            <a:pPr>
              <a:spcBef>
                <a:spcPts val="0"/>
              </a:spcBef>
              <a:spcAft>
                <a:spcPts val="800"/>
              </a:spcAft>
            </a:pPr>
            <a:r>
              <a:rPr lang="en-US" sz="1800" dirty="0">
                <a:latin typeface="Arial" panose="020B0604020202020204" pitchFamily="34" charset="0"/>
                <a:cs typeface="Arial" panose="020B0604020202020204" pitchFamily="34" charset="0"/>
              </a:rPr>
              <a:t>Verify installation (import </a:t>
            </a:r>
            <a:r>
              <a:rPr lang="en-US" sz="1800" dirty="0" err="1">
                <a:latin typeface="Arial" panose="020B0604020202020204" pitchFamily="34" charset="0"/>
                <a:cs typeface="Arial" panose="020B0604020202020204" pitchFamily="34" charset="0"/>
              </a:rPr>
              <a:t>tensorflow</a:t>
            </a:r>
            <a:r>
              <a:rPr lang="en-US" sz="1800" dirty="0">
                <a:latin typeface="Arial" panose="020B0604020202020204" pitchFamily="34" charset="0"/>
                <a:cs typeface="Arial" panose="020B0604020202020204" pitchFamily="34" charset="0"/>
              </a:rPr>
              <a:t> as </a:t>
            </a:r>
            <a:r>
              <a:rPr lang="en-US" sz="1800" dirty="0" err="1">
                <a:latin typeface="Arial" panose="020B0604020202020204" pitchFamily="34" charset="0"/>
                <a:cs typeface="Arial" panose="020B0604020202020204" pitchFamily="34" charset="0"/>
              </a:rPr>
              <a:t>tf</a:t>
            </a:r>
            <a:r>
              <a:rPr lang="en-US" sz="1800" dirty="0">
                <a:latin typeface="Arial" panose="020B0604020202020204" pitchFamily="34" charset="0"/>
                <a:cs typeface="Arial" panose="020B0604020202020204" pitchFamily="34" charset="0"/>
              </a:rPr>
              <a:t>, print(</a:t>
            </a:r>
            <a:r>
              <a:rPr lang="en-US" sz="1800" dirty="0" err="1">
                <a:latin typeface="Arial" panose="020B0604020202020204" pitchFamily="34" charset="0"/>
                <a:cs typeface="Arial" panose="020B0604020202020204" pitchFamily="34" charset="0"/>
              </a:rPr>
              <a:t>tf</a:t>
            </a:r>
            <a:r>
              <a:rPr lang="en-US" sz="1800" dirty="0">
                <a:latin typeface="Arial" panose="020B0604020202020204" pitchFamily="34" charset="0"/>
                <a:cs typeface="Arial" panose="020B0604020202020204" pitchFamily="34" charset="0"/>
              </a:rPr>
              <a:t>.__version__))</a:t>
            </a:r>
            <a:endParaRPr lang="en-US" sz="736" dirty="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D5BCD974-4460-2BE3-2CA7-E9E5C65CB40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a:extLst>
              <a:ext uri="{FF2B5EF4-FFF2-40B4-BE49-F238E27FC236}">
                <a16:creationId xmlns:a16="http://schemas.microsoft.com/office/drawing/2014/main" id="{E7C548E4-4999-FECE-4645-033825DDCFF0}"/>
              </a:ext>
            </a:extLst>
          </p:cNvPr>
          <p:cNvPicPr>
            <a:picLocks noChangeAspect="1"/>
          </p:cNvPicPr>
          <p:nvPr/>
        </p:nvPicPr>
        <p:blipFill>
          <a:blip r:embed="rId3"/>
          <a:stretch>
            <a:fillRect/>
          </a:stretch>
        </p:blipFill>
        <p:spPr>
          <a:xfrm>
            <a:off x="6238488" y="1442080"/>
            <a:ext cx="5731510" cy="3785235"/>
          </a:xfrm>
          <a:prstGeom prst="rect">
            <a:avLst/>
          </a:prstGeom>
        </p:spPr>
      </p:pic>
    </p:spTree>
    <p:extLst>
      <p:ext uri="{BB962C8B-B14F-4D97-AF65-F5344CB8AC3E}">
        <p14:creationId xmlns:p14="http://schemas.microsoft.com/office/powerpoint/2010/main" val="3052963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A4C91-8FBD-8C8F-5783-89978D2C0F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6ABB74-B389-18F0-D1A1-FA95C0578152}"/>
              </a:ext>
            </a:extLst>
          </p:cNvPr>
          <p:cNvSpPr txBox="1">
            <a:spLocks/>
          </p:cNvSpPr>
          <p:nvPr/>
        </p:nvSpPr>
        <p:spPr>
          <a:xfrm>
            <a:off x="41134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What is a Tensor?</a:t>
            </a:r>
          </a:p>
          <a:p>
            <a:pPr algn="l">
              <a:lnSpc>
                <a:spcPct val="107000"/>
              </a:lnSpc>
              <a:spcBef>
                <a:spcPts val="200"/>
              </a:spcBef>
            </a:pPr>
            <a:endParaRPr lang="en-US" sz="2200" b="1" dirty="0">
              <a:solidFill>
                <a:srgbClr val="002060"/>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4F97BAAE-BF98-5A14-33A5-E624F3E0F5C6}"/>
              </a:ext>
            </a:extLst>
          </p:cNvPr>
          <p:cNvSpPr txBox="1">
            <a:spLocks/>
          </p:cNvSpPr>
          <p:nvPr/>
        </p:nvSpPr>
        <p:spPr>
          <a:xfrm>
            <a:off x="401188" y="1182997"/>
            <a:ext cx="5755772" cy="335852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a:spcBef>
                <a:spcPts val="0"/>
              </a:spcBef>
              <a:spcAft>
                <a:spcPts val="800"/>
              </a:spcAft>
            </a:pPr>
            <a:r>
              <a:rPr lang="en-US" sz="1800" dirty="0">
                <a:latin typeface="Arial" panose="020B0604020202020204" pitchFamily="34" charset="0"/>
                <a:cs typeface="Arial" panose="020B0604020202020204" pitchFamily="34" charset="0"/>
              </a:rPr>
              <a:t>Tensors generalize scalars, vectors, and matrices</a:t>
            </a:r>
          </a:p>
          <a:p>
            <a:pPr>
              <a:spcBef>
                <a:spcPts val="0"/>
              </a:spcBef>
              <a:spcAft>
                <a:spcPts val="800"/>
              </a:spcAft>
            </a:pPr>
            <a:r>
              <a:rPr lang="en-US" sz="1800" dirty="0">
                <a:latin typeface="Arial" panose="020B0604020202020204" pitchFamily="34" charset="0"/>
                <a:cs typeface="Arial" panose="020B0604020202020204" pitchFamily="34" charset="0"/>
              </a:rPr>
              <a:t>Multi-dimensional arrays that transform under coordinate changes</a:t>
            </a:r>
          </a:p>
          <a:p>
            <a:pPr>
              <a:spcBef>
                <a:spcPts val="0"/>
              </a:spcBef>
              <a:spcAft>
                <a:spcPts val="800"/>
              </a:spcAft>
            </a:pPr>
            <a:r>
              <a:rPr lang="en-US" sz="1800" dirty="0">
                <a:latin typeface="Arial" panose="020B0604020202020204" pitchFamily="34" charset="0"/>
                <a:cs typeface="Arial" panose="020B0604020202020204" pitchFamily="34" charset="0"/>
              </a:rPr>
              <a:t>Used to describe direction-dependent physical quantities</a:t>
            </a:r>
          </a:p>
          <a:p>
            <a:pPr>
              <a:spcBef>
                <a:spcPts val="0"/>
              </a:spcBef>
              <a:spcAft>
                <a:spcPts val="800"/>
              </a:spcAft>
            </a:pPr>
            <a:r>
              <a:rPr lang="en-US" sz="1800" dirty="0">
                <a:latin typeface="Arial" panose="020B0604020202020204" pitchFamily="34" charset="0"/>
                <a:cs typeface="Arial" panose="020B0604020202020204" pitchFamily="34" charset="0"/>
              </a:rPr>
              <a:t>Rank defines type:</a:t>
            </a:r>
          </a:p>
          <a:p>
            <a:pPr>
              <a:spcBef>
                <a:spcPts val="0"/>
              </a:spcBef>
              <a:spcAft>
                <a:spcPts val="800"/>
              </a:spcAft>
            </a:pPr>
            <a:r>
              <a:rPr lang="en-US" sz="1800" dirty="0">
                <a:latin typeface="Arial" panose="020B0604020202020204" pitchFamily="34" charset="0"/>
                <a:cs typeface="Arial" panose="020B0604020202020204" pitchFamily="34" charset="0"/>
              </a:rPr>
              <a:t>Rank 0: Scalars (e.g., temperature)</a:t>
            </a:r>
          </a:p>
          <a:p>
            <a:pPr>
              <a:spcBef>
                <a:spcPts val="0"/>
              </a:spcBef>
              <a:spcAft>
                <a:spcPts val="800"/>
              </a:spcAft>
            </a:pPr>
            <a:r>
              <a:rPr lang="en-US" sz="1800" dirty="0">
                <a:latin typeface="Arial" panose="020B0604020202020204" pitchFamily="34" charset="0"/>
                <a:cs typeface="Arial" panose="020B0604020202020204" pitchFamily="34" charset="0"/>
              </a:rPr>
              <a:t>Rank 1: Vectors (e.g., force)</a:t>
            </a:r>
          </a:p>
          <a:p>
            <a:pPr>
              <a:spcBef>
                <a:spcPts val="0"/>
              </a:spcBef>
              <a:spcAft>
                <a:spcPts val="800"/>
              </a:spcAft>
            </a:pPr>
            <a:r>
              <a:rPr lang="en-US" sz="1800" dirty="0">
                <a:latin typeface="Arial" panose="020B0604020202020204" pitchFamily="34" charset="0"/>
                <a:cs typeface="Arial" panose="020B0604020202020204" pitchFamily="34" charset="0"/>
              </a:rPr>
              <a:t>Rank 2: Matrices (e.g., stress, strain)</a:t>
            </a:r>
            <a:endParaRPr lang="en-US" sz="736" dirty="0">
              <a:latin typeface="Arial" panose="020B0604020202020204" pitchFamily="34" charset="0"/>
              <a:cs typeface="Arial" panose="020B0604020202020204" pitchFamily="34" charset="0"/>
            </a:endParaRPr>
          </a:p>
        </p:txBody>
      </p:sp>
      <p:sp>
        <p:nvSpPr>
          <p:cNvPr id="10" name="Rectangle 1">
            <a:extLst>
              <a:ext uri="{FF2B5EF4-FFF2-40B4-BE49-F238E27FC236}">
                <a16:creationId xmlns:a16="http://schemas.microsoft.com/office/drawing/2014/main" id="{77BB8CB2-0A20-DA34-7AD8-872539E5DD4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1" name="Picture 10">
            <a:extLst>
              <a:ext uri="{FF2B5EF4-FFF2-40B4-BE49-F238E27FC236}">
                <a16:creationId xmlns:a16="http://schemas.microsoft.com/office/drawing/2014/main" id="{E3FD9B18-A496-F07F-0672-C8617020E5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760" y="1447800"/>
            <a:ext cx="5491612" cy="3006952"/>
          </a:xfrm>
          <a:prstGeom prst="rect">
            <a:avLst/>
          </a:prstGeom>
          <a:noFill/>
          <a:ln>
            <a:noFill/>
          </a:ln>
        </p:spPr>
      </p:pic>
      <p:grpSp>
        <p:nvGrpSpPr>
          <p:cNvPr id="3" name="Group 2">
            <a:extLst>
              <a:ext uri="{FF2B5EF4-FFF2-40B4-BE49-F238E27FC236}">
                <a16:creationId xmlns:a16="http://schemas.microsoft.com/office/drawing/2014/main" id="{39A2F1EF-B553-3592-E1D6-EBD167C5013C}"/>
              </a:ext>
            </a:extLst>
          </p:cNvPr>
          <p:cNvGrpSpPr/>
          <p:nvPr/>
        </p:nvGrpSpPr>
        <p:grpSpPr>
          <a:xfrm>
            <a:off x="-16934" y="6019798"/>
            <a:ext cx="12227984" cy="607305"/>
            <a:chOff x="-16934" y="6019798"/>
            <a:chExt cx="12227984" cy="607305"/>
          </a:xfrm>
        </p:grpSpPr>
        <p:sp>
          <p:nvSpPr>
            <p:cNvPr id="6" name="Rectangle 5">
              <a:extLst>
                <a:ext uri="{FF2B5EF4-FFF2-40B4-BE49-F238E27FC236}">
                  <a16:creationId xmlns:a16="http://schemas.microsoft.com/office/drawing/2014/main" id="{47ED8BAC-34A5-44FE-3D91-4A7EE39E1A29}"/>
                </a:ext>
              </a:extLst>
            </p:cNvPr>
            <p:cNvSpPr/>
            <p:nvPr/>
          </p:nvSpPr>
          <p:spPr>
            <a:xfrm flipV="1">
              <a:off x="-16934" y="6158482"/>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9A7DEED-4F5F-93A1-C53A-07209F2977FC}"/>
                </a:ext>
              </a:extLst>
            </p:cNvPr>
            <p:cNvSpPr txBox="1"/>
            <p:nvPr/>
          </p:nvSpPr>
          <p:spPr>
            <a:xfrm>
              <a:off x="5756773" y="6019798"/>
              <a:ext cx="688650" cy="307777"/>
            </a:xfrm>
            <a:prstGeom prst="rect">
              <a:avLst/>
            </a:prstGeom>
            <a:noFill/>
          </p:spPr>
          <p:txBody>
            <a:bodyPr wrap="none" rtlCol="0">
              <a:spAutoFit/>
            </a:bodyPr>
            <a:lstStyle/>
            <a:p>
              <a:r>
                <a:rPr lang="en-US" sz="1400" b="1"/>
                <a:t>Source</a:t>
              </a:r>
            </a:p>
          </p:txBody>
        </p:sp>
        <p:sp>
          <p:nvSpPr>
            <p:cNvPr id="13" name="Rectangle 12">
              <a:extLst>
                <a:ext uri="{FF2B5EF4-FFF2-40B4-BE49-F238E27FC236}">
                  <a16:creationId xmlns:a16="http://schemas.microsoft.com/office/drawing/2014/main" id="{38110712-0ED0-0A25-1CD0-2B0C81A5025F}"/>
                </a:ext>
              </a:extLst>
            </p:cNvPr>
            <p:cNvSpPr/>
            <p:nvPr/>
          </p:nvSpPr>
          <p:spPr>
            <a:xfrm flipV="1">
              <a:off x="6479116" y="6156958"/>
              <a:ext cx="5731934" cy="2743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1CBD8E6-3449-A3C0-59D7-34A0365A7D62}"/>
                </a:ext>
              </a:extLst>
            </p:cNvPr>
            <p:cNvSpPr txBox="1"/>
            <p:nvPr/>
          </p:nvSpPr>
          <p:spPr>
            <a:xfrm>
              <a:off x="428624" y="6319326"/>
              <a:ext cx="10930255" cy="307777"/>
            </a:xfrm>
            <a:prstGeom prst="rect">
              <a:avLst/>
            </a:prstGeom>
            <a:noFill/>
          </p:spPr>
          <p:txBody>
            <a:bodyPr wrap="square">
              <a:spAutoFit/>
            </a:bodyPr>
            <a:lstStyle/>
            <a:p>
              <a:r>
                <a:rPr lang="en-IN" sz="14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https://ai.plainenglish.io/what-is-a-tensor-2715746a4785</a:t>
              </a:r>
              <a:endParaRPr lang="en-IN" sz="1400"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09961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E6582-98E3-82A3-C300-8E7E777F84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74801F-19E8-197C-6781-7D47F35B5DCB}"/>
              </a:ext>
            </a:extLst>
          </p:cNvPr>
          <p:cNvSpPr txBox="1">
            <a:spLocks/>
          </p:cNvSpPr>
          <p:nvPr/>
        </p:nvSpPr>
        <p:spPr>
          <a:xfrm>
            <a:off x="41134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Creating Tensors in TensorFlow </a:t>
            </a:r>
          </a:p>
        </p:txBody>
      </p:sp>
      <p:sp>
        <p:nvSpPr>
          <p:cNvPr id="10" name="Rectangle 1">
            <a:extLst>
              <a:ext uri="{FF2B5EF4-FFF2-40B4-BE49-F238E27FC236}">
                <a16:creationId xmlns:a16="http://schemas.microsoft.com/office/drawing/2014/main" id="{153C16EB-7200-B450-8EAE-C10A2705E1D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35E74879-91EE-7EC0-368E-67F9BD503488}"/>
              </a:ext>
            </a:extLst>
          </p:cNvPr>
          <p:cNvSpPr txBox="1"/>
          <p:nvPr/>
        </p:nvSpPr>
        <p:spPr>
          <a:xfrm>
            <a:off x="419655" y="1160930"/>
            <a:ext cx="6102626" cy="397738"/>
          </a:xfrm>
          <a:prstGeom prst="rect">
            <a:avLst/>
          </a:prstGeom>
          <a:noFill/>
        </p:spPr>
        <p:txBody>
          <a:bodyPr wrap="square">
            <a:spAutoFit/>
          </a:bodyPr>
          <a:lstStyle/>
          <a:p>
            <a:pPr>
              <a:lnSpc>
                <a:spcPct val="107000"/>
              </a:lnSpc>
              <a:spcBef>
                <a:spcPts val="200"/>
              </a:spcBef>
              <a:buNone/>
            </a:pPr>
            <a:r>
              <a:rPr lang="en-IN" sz="20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tf.constant</a:t>
            </a:r>
            <a:r>
              <a:rPr lang="en-IN" sz="20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a:t>
            </a:r>
          </a:p>
        </p:txBody>
      </p:sp>
      <p:sp>
        <p:nvSpPr>
          <p:cNvPr id="13" name="TextBox 12">
            <a:extLst>
              <a:ext uri="{FF2B5EF4-FFF2-40B4-BE49-F238E27FC236}">
                <a16:creationId xmlns:a16="http://schemas.microsoft.com/office/drawing/2014/main" id="{4739E8A8-0AF8-E26E-6B88-1E1146F8D095}"/>
              </a:ext>
            </a:extLst>
          </p:cNvPr>
          <p:cNvSpPr txBox="1"/>
          <p:nvPr/>
        </p:nvSpPr>
        <p:spPr>
          <a:xfrm>
            <a:off x="419655" y="1740943"/>
            <a:ext cx="5059018" cy="1461490"/>
          </a:xfrm>
          <a:prstGeom prst="rect">
            <a:avLst/>
          </a:prstGeom>
          <a:noFill/>
        </p:spPr>
        <p:txBody>
          <a:bodyPr wrap="square">
            <a:spAutoFit/>
          </a:bodyPr>
          <a:lstStyle/>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Example, </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c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 </a:t>
            </a:r>
            <a:r>
              <a:rPr lang="en-IN" sz="1800" dirty="0" err="1">
                <a:effectLst/>
                <a:latin typeface="Arial" panose="020B0604020202020204" pitchFamily="34" charset="0"/>
                <a:ea typeface="Calibri" panose="020F0502020204030204" pitchFamily="34" charset="0"/>
                <a:cs typeface="Gautami" panose="020B0502040204020203" pitchFamily="34" charset="0"/>
              </a:rPr>
              <a:t>dtype</a:t>
            </a:r>
            <a:r>
              <a:rPr lang="en-IN" sz="1800" dirty="0">
                <a:effectLst/>
                <a:latin typeface="Arial" panose="020B0604020202020204" pitchFamily="34" charset="0"/>
                <a:ea typeface="Calibri" panose="020F0502020204030204" pitchFamily="34" charset="0"/>
                <a:cs typeface="Gautami" panose="020B0502040204020203" pitchFamily="34" charset="0"/>
              </a:rPr>
              <a:t>=tf.int32) </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This is ideal when the tensor represents data that should remain constant.</a:t>
            </a:r>
          </a:p>
        </p:txBody>
      </p:sp>
      <p:sp>
        <p:nvSpPr>
          <p:cNvPr id="15" name="TextBox 14">
            <a:extLst>
              <a:ext uri="{FF2B5EF4-FFF2-40B4-BE49-F238E27FC236}">
                <a16:creationId xmlns:a16="http://schemas.microsoft.com/office/drawing/2014/main" id="{68A6C33D-ACB2-C32B-02A9-948CE2F113BF}"/>
              </a:ext>
            </a:extLst>
          </p:cNvPr>
          <p:cNvSpPr txBox="1"/>
          <p:nvPr/>
        </p:nvSpPr>
        <p:spPr>
          <a:xfrm>
            <a:off x="6089374" y="1132320"/>
            <a:ext cx="6102626" cy="397738"/>
          </a:xfrm>
          <a:prstGeom prst="rect">
            <a:avLst/>
          </a:prstGeom>
          <a:noFill/>
        </p:spPr>
        <p:txBody>
          <a:bodyPr wrap="square">
            <a:spAutoFit/>
          </a:bodyPr>
          <a:lstStyle/>
          <a:p>
            <a:pPr algn="just">
              <a:lnSpc>
                <a:spcPct val="107000"/>
              </a:lnSpc>
              <a:spcBef>
                <a:spcPts val="200"/>
              </a:spcBef>
              <a:buNone/>
            </a:pPr>
            <a:r>
              <a:rPr lang="en-IN" sz="2000" b="1" dirty="0" err="1">
                <a:solidFill>
                  <a:srgbClr val="000000"/>
                </a:solidFill>
                <a:latin typeface="Arial" panose="020B0604020202020204" pitchFamily="34" charset="0"/>
                <a:ea typeface="MS Gothic" panose="020B0609070205080204" pitchFamily="49" charset="-128"/>
                <a:cs typeface="Gautami" panose="020B0502040204020203" pitchFamily="34" charset="0"/>
              </a:rPr>
              <a:t>tf.Variable</a:t>
            </a:r>
            <a:r>
              <a:rPr lang="en-IN" sz="2000" b="1" dirty="0">
                <a:solidFill>
                  <a:srgbClr val="000000"/>
                </a:solidFill>
                <a:latin typeface="Arial" panose="020B0604020202020204" pitchFamily="34" charset="0"/>
                <a:ea typeface="MS Gothic" panose="020B0609070205080204" pitchFamily="49" charset="-128"/>
                <a:cs typeface="Gautami" panose="020B0502040204020203" pitchFamily="34" charset="0"/>
              </a:rPr>
              <a:t>()</a:t>
            </a:r>
          </a:p>
        </p:txBody>
      </p:sp>
      <p:sp>
        <p:nvSpPr>
          <p:cNvPr id="17" name="TextBox 16">
            <a:extLst>
              <a:ext uri="{FF2B5EF4-FFF2-40B4-BE49-F238E27FC236}">
                <a16:creationId xmlns:a16="http://schemas.microsoft.com/office/drawing/2014/main" id="{473BB612-14A8-4158-6BC6-90E39BF34306}"/>
              </a:ext>
            </a:extLst>
          </p:cNvPr>
          <p:cNvSpPr txBox="1"/>
          <p:nvPr/>
        </p:nvSpPr>
        <p:spPr>
          <a:xfrm>
            <a:off x="6257236" y="1494837"/>
            <a:ext cx="5378172" cy="2156809"/>
          </a:xfrm>
          <a:prstGeom prst="rect">
            <a:avLst/>
          </a:prstGeom>
          <a:noFill/>
        </p:spPr>
        <p:txBody>
          <a:bodyPr wrap="square">
            <a:spAutoFit/>
          </a:bodyPr>
          <a:lstStyle/>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Example:</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w = </a:t>
            </a:r>
            <a:r>
              <a:rPr lang="en-IN" sz="1800" dirty="0" err="1">
                <a:effectLst/>
                <a:latin typeface="Arial" panose="020B0604020202020204" pitchFamily="34" charset="0"/>
                <a:ea typeface="Calibri" panose="020F0502020204030204" pitchFamily="34" charset="0"/>
                <a:cs typeface="Gautami" panose="020B0502040204020203" pitchFamily="34" charset="0"/>
              </a:rPr>
              <a:t>tf.Variable</a:t>
            </a:r>
            <a:r>
              <a:rPr lang="en-IN" sz="1800" dirty="0">
                <a:effectLst/>
                <a:latin typeface="Arial" panose="020B0604020202020204" pitchFamily="34" charset="0"/>
                <a:ea typeface="Calibri" panose="020F0502020204030204" pitchFamily="34" charset="0"/>
                <a:cs typeface="Gautami" panose="020B0502040204020203" pitchFamily="34" charset="0"/>
              </a:rPr>
              <a:t>([[1.0, 2.0], [3.0, 4.0]])</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w.assign</a:t>
            </a:r>
            <a:r>
              <a:rPr lang="en-IN" sz="1800" dirty="0">
                <a:effectLst/>
                <a:latin typeface="Arial" panose="020B0604020202020204" pitchFamily="34" charset="0"/>
                <a:ea typeface="Calibri" panose="020F0502020204030204" pitchFamily="34" charset="0"/>
                <a:cs typeface="Gautami" panose="020B0502040204020203" pitchFamily="34" charset="0"/>
              </a:rPr>
              <a:t>([[5.0, 6.0], [7.0, 8.0]])  # update values</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Variables are central to model training because they allow learning and adjustment over time. </a:t>
            </a:r>
          </a:p>
        </p:txBody>
      </p:sp>
      <p:sp>
        <p:nvSpPr>
          <p:cNvPr id="19" name="TextBox 18">
            <a:extLst>
              <a:ext uri="{FF2B5EF4-FFF2-40B4-BE49-F238E27FC236}">
                <a16:creationId xmlns:a16="http://schemas.microsoft.com/office/drawing/2014/main" id="{FE8D168F-22ED-D891-10A1-BC5E2F671909}"/>
              </a:ext>
            </a:extLst>
          </p:cNvPr>
          <p:cNvSpPr txBox="1"/>
          <p:nvPr/>
        </p:nvSpPr>
        <p:spPr>
          <a:xfrm>
            <a:off x="419655" y="3676542"/>
            <a:ext cx="6380920" cy="367216"/>
          </a:xfrm>
          <a:prstGeom prst="rect">
            <a:avLst/>
          </a:prstGeom>
          <a:noFill/>
        </p:spPr>
        <p:txBody>
          <a:bodyPr wrap="square">
            <a:spAutoFit/>
          </a:bodyPr>
          <a:lstStyle/>
          <a:p>
            <a:pPr algn="just">
              <a:lnSpc>
                <a:spcPct val="107000"/>
              </a:lnSpc>
              <a:spcBef>
                <a:spcPts val="200"/>
              </a:spcBef>
              <a:buNone/>
            </a:pPr>
            <a:r>
              <a:rPr lang="en-IN" sz="18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tf.zeros</a:t>
            </a: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 and </a:t>
            </a:r>
            <a:r>
              <a:rPr lang="en-IN" sz="18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tf.ones</a:t>
            </a: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a:t>
            </a:r>
          </a:p>
        </p:txBody>
      </p:sp>
      <p:sp>
        <p:nvSpPr>
          <p:cNvPr id="21" name="TextBox 20">
            <a:extLst>
              <a:ext uri="{FF2B5EF4-FFF2-40B4-BE49-F238E27FC236}">
                <a16:creationId xmlns:a16="http://schemas.microsoft.com/office/drawing/2014/main" id="{F179591F-2D3E-C156-CF8A-829D77FB267D}"/>
              </a:ext>
            </a:extLst>
          </p:cNvPr>
          <p:cNvSpPr txBox="1"/>
          <p:nvPr/>
        </p:nvSpPr>
        <p:spPr>
          <a:xfrm>
            <a:off x="419655" y="4130268"/>
            <a:ext cx="5676345" cy="1860446"/>
          </a:xfrm>
          <a:prstGeom prst="rect">
            <a:avLst/>
          </a:prstGeom>
          <a:noFill/>
        </p:spPr>
        <p:txBody>
          <a:bodyPr wrap="square">
            <a:spAutoFit/>
          </a:bodyPr>
          <a:lstStyle/>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Examples:</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z = </a:t>
            </a:r>
            <a:r>
              <a:rPr lang="en-IN" sz="1800" dirty="0" err="1">
                <a:effectLst/>
                <a:latin typeface="Arial" panose="020B0604020202020204" pitchFamily="34" charset="0"/>
                <a:ea typeface="Calibri" panose="020F0502020204030204" pitchFamily="34" charset="0"/>
                <a:cs typeface="Gautami" panose="020B0502040204020203" pitchFamily="34" charset="0"/>
              </a:rPr>
              <a:t>tf.zeros</a:t>
            </a:r>
            <a:r>
              <a:rPr lang="en-IN" sz="1800" dirty="0">
                <a:effectLst/>
                <a:latin typeface="Arial" panose="020B0604020202020204" pitchFamily="34" charset="0"/>
                <a:ea typeface="Calibri" panose="020F0502020204030204" pitchFamily="34" charset="0"/>
                <a:cs typeface="Gautami" panose="020B0502040204020203" pitchFamily="34" charset="0"/>
              </a:rPr>
              <a:t>([3, 3])</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o = </a:t>
            </a:r>
            <a:r>
              <a:rPr lang="en-IN" sz="1800" dirty="0" err="1">
                <a:effectLst/>
                <a:latin typeface="Arial" panose="020B0604020202020204" pitchFamily="34" charset="0"/>
                <a:ea typeface="Calibri" panose="020F0502020204030204" pitchFamily="34" charset="0"/>
                <a:cs typeface="Gautami" panose="020B0502040204020203" pitchFamily="34" charset="0"/>
              </a:rPr>
              <a:t>tf.ones</a:t>
            </a:r>
            <a:r>
              <a:rPr lang="en-IN" sz="1800" dirty="0">
                <a:effectLst/>
                <a:latin typeface="Arial" panose="020B0604020202020204" pitchFamily="34" charset="0"/>
                <a:ea typeface="Calibri" panose="020F0502020204030204" pitchFamily="34" charset="0"/>
                <a:cs typeface="Gautami" panose="020B0502040204020203" pitchFamily="34" charset="0"/>
              </a:rPr>
              <a:t>([2, 4])</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They are especially useful when you need a tensor with a specific shape but neutral values. </a:t>
            </a:r>
          </a:p>
        </p:txBody>
      </p:sp>
      <p:sp>
        <p:nvSpPr>
          <p:cNvPr id="23" name="TextBox 22">
            <a:extLst>
              <a:ext uri="{FF2B5EF4-FFF2-40B4-BE49-F238E27FC236}">
                <a16:creationId xmlns:a16="http://schemas.microsoft.com/office/drawing/2014/main" id="{01BBEFD4-8E90-C381-0BC8-AE4113E52254}"/>
              </a:ext>
            </a:extLst>
          </p:cNvPr>
          <p:cNvSpPr txBox="1"/>
          <p:nvPr/>
        </p:nvSpPr>
        <p:spPr>
          <a:xfrm>
            <a:off x="6257236" y="3850105"/>
            <a:ext cx="4969564" cy="367216"/>
          </a:xfrm>
          <a:prstGeom prst="rect">
            <a:avLst/>
          </a:prstGeom>
          <a:noFill/>
        </p:spPr>
        <p:txBody>
          <a:bodyPr wrap="square">
            <a:spAutoFit/>
          </a:bodyPr>
          <a:lstStyle/>
          <a:p>
            <a:pPr algn="just">
              <a:lnSpc>
                <a:spcPct val="107000"/>
              </a:lnSpc>
              <a:spcBef>
                <a:spcPts val="200"/>
              </a:spcBef>
              <a:buNone/>
            </a:pPr>
            <a:r>
              <a:rPr lang="en-IN" sz="18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tf.random</a:t>
            </a: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 Functions</a:t>
            </a:r>
          </a:p>
        </p:txBody>
      </p:sp>
      <p:sp>
        <p:nvSpPr>
          <p:cNvPr id="25" name="TextBox 24">
            <a:extLst>
              <a:ext uri="{FF2B5EF4-FFF2-40B4-BE49-F238E27FC236}">
                <a16:creationId xmlns:a16="http://schemas.microsoft.com/office/drawing/2014/main" id="{D08F3912-5FAA-756F-CEDE-A307B528F799}"/>
              </a:ext>
            </a:extLst>
          </p:cNvPr>
          <p:cNvSpPr txBox="1"/>
          <p:nvPr/>
        </p:nvSpPr>
        <p:spPr>
          <a:xfrm>
            <a:off x="6522281" y="4367226"/>
            <a:ext cx="5113127" cy="1757854"/>
          </a:xfrm>
          <a:prstGeom prst="rect">
            <a:avLst/>
          </a:prstGeom>
          <a:noFill/>
        </p:spPr>
        <p:txBody>
          <a:bodyPr wrap="square">
            <a:spAutoFit/>
          </a:bodyPr>
          <a:lstStyle/>
          <a:p>
            <a:pPr>
              <a:lnSpc>
                <a:spcPct val="107000"/>
              </a:lnSpc>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Example:</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r =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([2, 3], mean=0, </a:t>
            </a:r>
            <a:r>
              <a:rPr lang="en-IN" sz="1800" dirty="0" err="1">
                <a:effectLst/>
                <a:latin typeface="Arial" panose="020B0604020202020204" pitchFamily="34" charset="0"/>
                <a:ea typeface="Calibri" panose="020F0502020204030204" pitchFamily="34" charset="0"/>
                <a:cs typeface="Gautami" panose="020B0502040204020203" pitchFamily="34" charset="0"/>
              </a:rPr>
              <a:t>stddev</a:t>
            </a:r>
            <a:r>
              <a:rPr lang="en-IN" sz="1800" dirty="0">
                <a:effectLst/>
                <a:latin typeface="Arial" panose="020B0604020202020204" pitchFamily="34" charset="0"/>
                <a:ea typeface="Calibri" panose="020F0502020204030204" pitchFamily="34" charset="0"/>
                <a:cs typeface="Gautami" panose="020B0502040204020203" pitchFamily="34" charset="0"/>
              </a:rPr>
              <a:t>=1) </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Random initialization ensures models learn efficiently and converge faster. </a:t>
            </a:r>
          </a:p>
        </p:txBody>
      </p:sp>
    </p:spTree>
    <p:extLst>
      <p:ext uri="{BB962C8B-B14F-4D97-AF65-F5344CB8AC3E}">
        <p14:creationId xmlns:p14="http://schemas.microsoft.com/office/powerpoint/2010/main" val="3505209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0F0BB-931C-6A21-E6EA-4780FF655FA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94E49FB-B6C2-3644-B1D8-BDD8E74A2E9B}"/>
              </a:ext>
            </a:extLst>
          </p:cNvPr>
          <p:cNvSpPr txBox="1">
            <a:spLocks/>
          </p:cNvSpPr>
          <p:nvPr/>
        </p:nvSpPr>
        <p:spPr>
          <a:xfrm>
            <a:off x="406904"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just">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TensorFlow Operations</a:t>
            </a:r>
          </a:p>
        </p:txBody>
      </p:sp>
      <p:sp>
        <p:nvSpPr>
          <p:cNvPr id="10" name="Rectangle 1">
            <a:extLst>
              <a:ext uri="{FF2B5EF4-FFF2-40B4-BE49-F238E27FC236}">
                <a16:creationId xmlns:a16="http://schemas.microsoft.com/office/drawing/2014/main" id="{B0FA9211-2EF5-69DF-CBF3-29D2306017E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182BA3B5-7775-6BAC-1E2F-D20D42932958}"/>
              </a:ext>
            </a:extLst>
          </p:cNvPr>
          <p:cNvSpPr txBox="1"/>
          <p:nvPr/>
        </p:nvSpPr>
        <p:spPr>
          <a:xfrm>
            <a:off x="400605" y="1186459"/>
            <a:ext cx="6102626" cy="367216"/>
          </a:xfrm>
          <a:prstGeom prst="rect">
            <a:avLst/>
          </a:prstGeom>
          <a:noFill/>
        </p:spPr>
        <p:txBody>
          <a:bodyPr wrap="square">
            <a:spAutoFit/>
          </a:bodyPr>
          <a:lstStyle/>
          <a:p>
            <a:pPr algn="just">
              <a:lnSpc>
                <a:spcPct val="107000"/>
              </a:lnSpc>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Arithmetic Operations on Tensors</a:t>
            </a:r>
            <a:endParaRPr lang="en-IN" sz="1800" dirty="0">
              <a:effectLst/>
              <a:latin typeface="Arial" panose="020B0604020202020204" pitchFamily="34" charset="0"/>
              <a:ea typeface="Calibri" panose="020F0502020204030204" pitchFamily="34" charset="0"/>
              <a:cs typeface="Gautami" panose="020B0502040204020203" pitchFamily="34" charset="0"/>
            </a:endParaRPr>
          </a:p>
        </p:txBody>
      </p:sp>
      <p:pic>
        <p:nvPicPr>
          <p:cNvPr id="8" name="Picture 7">
            <a:extLst>
              <a:ext uri="{FF2B5EF4-FFF2-40B4-BE49-F238E27FC236}">
                <a16:creationId xmlns:a16="http://schemas.microsoft.com/office/drawing/2014/main" id="{1FF2998F-EC90-A94B-C71F-014257DAC0AB}"/>
              </a:ext>
            </a:extLst>
          </p:cNvPr>
          <p:cNvPicPr>
            <a:picLocks noChangeAspect="1"/>
          </p:cNvPicPr>
          <p:nvPr/>
        </p:nvPicPr>
        <p:blipFill>
          <a:blip r:embed="rId3"/>
          <a:stretch>
            <a:fillRect/>
          </a:stretch>
        </p:blipFill>
        <p:spPr>
          <a:xfrm>
            <a:off x="1602619" y="1904046"/>
            <a:ext cx="2609850" cy="1295400"/>
          </a:xfrm>
          <a:prstGeom prst="rect">
            <a:avLst/>
          </a:prstGeom>
        </p:spPr>
      </p:pic>
      <p:pic>
        <p:nvPicPr>
          <p:cNvPr id="11" name="Picture 10">
            <a:extLst>
              <a:ext uri="{FF2B5EF4-FFF2-40B4-BE49-F238E27FC236}">
                <a16:creationId xmlns:a16="http://schemas.microsoft.com/office/drawing/2014/main" id="{66BCAF6F-A759-F926-4C72-709063F8C2D9}"/>
              </a:ext>
            </a:extLst>
          </p:cNvPr>
          <p:cNvPicPr>
            <a:picLocks noChangeAspect="1"/>
          </p:cNvPicPr>
          <p:nvPr/>
        </p:nvPicPr>
        <p:blipFill>
          <a:blip r:embed="rId4"/>
          <a:stretch>
            <a:fillRect/>
          </a:stretch>
        </p:blipFill>
        <p:spPr>
          <a:xfrm>
            <a:off x="1602619" y="3233214"/>
            <a:ext cx="4029075" cy="361950"/>
          </a:xfrm>
          <a:prstGeom prst="rect">
            <a:avLst/>
          </a:prstGeom>
        </p:spPr>
      </p:pic>
      <p:pic>
        <p:nvPicPr>
          <p:cNvPr id="12" name="Picture 11">
            <a:extLst>
              <a:ext uri="{FF2B5EF4-FFF2-40B4-BE49-F238E27FC236}">
                <a16:creationId xmlns:a16="http://schemas.microsoft.com/office/drawing/2014/main" id="{E27539E5-F7F4-DBCE-2954-B1ED021A96E3}"/>
              </a:ext>
            </a:extLst>
          </p:cNvPr>
          <p:cNvPicPr>
            <a:picLocks noChangeAspect="1"/>
          </p:cNvPicPr>
          <p:nvPr/>
        </p:nvPicPr>
        <p:blipFill>
          <a:blip r:embed="rId5"/>
          <a:stretch>
            <a:fillRect/>
          </a:stretch>
        </p:blipFill>
        <p:spPr>
          <a:xfrm>
            <a:off x="1602619" y="3949324"/>
            <a:ext cx="2447925" cy="1228725"/>
          </a:xfrm>
          <a:prstGeom prst="rect">
            <a:avLst/>
          </a:prstGeom>
        </p:spPr>
      </p:pic>
      <p:pic>
        <p:nvPicPr>
          <p:cNvPr id="14" name="Picture 13">
            <a:extLst>
              <a:ext uri="{FF2B5EF4-FFF2-40B4-BE49-F238E27FC236}">
                <a16:creationId xmlns:a16="http://schemas.microsoft.com/office/drawing/2014/main" id="{34F9C446-BC60-5ED8-4B88-39F52580B1D2}"/>
              </a:ext>
            </a:extLst>
          </p:cNvPr>
          <p:cNvPicPr>
            <a:picLocks noChangeAspect="1"/>
          </p:cNvPicPr>
          <p:nvPr/>
        </p:nvPicPr>
        <p:blipFill>
          <a:blip r:embed="rId6"/>
          <a:stretch>
            <a:fillRect/>
          </a:stretch>
        </p:blipFill>
        <p:spPr>
          <a:xfrm>
            <a:off x="1602619" y="5223131"/>
            <a:ext cx="3933825" cy="352425"/>
          </a:xfrm>
          <a:prstGeom prst="rect">
            <a:avLst/>
          </a:prstGeom>
        </p:spPr>
      </p:pic>
      <p:pic>
        <p:nvPicPr>
          <p:cNvPr id="16" name="Picture 15">
            <a:extLst>
              <a:ext uri="{FF2B5EF4-FFF2-40B4-BE49-F238E27FC236}">
                <a16:creationId xmlns:a16="http://schemas.microsoft.com/office/drawing/2014/main" id="{81B16E0D-C92F-72A2-DD9C-47BD119CEC66}"/>
              </a:ext>
            </a:extLst>
          </p:cNvPr>
          <p:cNvPicPr>
            <a:picLocks noChangeAspect="1"/>
          </p:cNvPicPr>
          <p:nvPr/>
        </p:nvPicPr>
        <p:blipFill>
          <a:blip r:embed="rId7"/>
          <a:stretch>
            <a:fillRect/>
          </a:stretch>
        </p:blipFill>
        <p:spPr>
          <a:xfrm>
            <a:off x="6522281" y="1826230"/>
            <a:ext cx="2524125" cy="1238250"/>
          </a:xfrm>
          <a:prstGeom prst="rect">
            <a:avLst/>
          </a:prstGeom>
        </p:spPr>
      </p:pic>
      <p:pic>
        <p:nvPicPr>
          <p:cNvPr id="18" name="Picture 17">
            <a:extLst>
              <a:ext uri="{FF2B5EF4-FFF2-40B4-BE49-F238E27FC236}">
                <a16:creationId xmlns:a16="http://schemas.microsoft.com/office/drawing/2014/main" id="{D27A5DE5-9A0A-B0CA-2C6D-C7834F356CBC}"/>
              </a:ext>
            </a:extLst>
          </p:cNvPr>
          <p:cNvPicPr>
            <a:picLocks noChangeAspect="1"/>
          </p:cNvPicPr>
          <p:nvPr/>
        </p:nvPicPr>
        <p:blipFill>
          <a:blip r:embed="rId8"/>
          <a:stretch>
            <a:fillRect/>
          </a:stretch>
        </p:blipFill>
        <p:spPr>
          <a:xfrm>
            <a:off x="6505922" y="3148541"/>
            <a:ext cx="3857625" cy="381000"/>
          </a:xfrm>
          <a:prstGeom prst="rect">
            <a:avLst/>
          </a:prstGeom>
        </p:spPr>
      </p:pic>
      <p:pic>
        <p:nvPicPr>
          <p:cNvPr id="20" name="Picture 19">
            <a:extLst>
              <a:ext uri="{FF2B5EF4-FFF2-40B4-BE49-F238E27FC236}">
                <a16:creationId xmlns:a16="http://schemas.microsoft.com/office/drawing/2014/main" id="{F61F1003-6D35-107C-8643-6CE8350FEB6D}"/>
              </a:ext>
            </a:extLst>
          </p:cNvPr>
          <p:cNvPicPr>
            <a:picLocks noChangeAspect="1"/>
          </p:cNvPicPr>
          <p:nvPr/>
        </p:nvPicPr>
        <p:blipFill>
          <a:blip r:embed="rId9"/>
          <a:stretch>
            <a:fillRect/>
          </a:stretch>
        </p:blipFill>
        <p:spPr>
          <a:xfrm>
            <a:off x="6505922" y="3812570"/>
            <a:ext cx="2419350" cy="1219200"/>
          </a:xfrm>
          <a:prstGeom prst="rect">
            <a:avLst/>
          </a:prstGeom>
        </p:spPr>
      </p:pic>
      <p:pic>
        <p:nvPicPr>
          <p:cNvPr id="22" name="Picture 21">
            <a:extLst>
              <a:ext uri="{FF2B5EF4-FFF2-40B4-BE49-F238E27FC236}">
                <a16:creationId xmlns:a16="http://schemas.microsoft.com/office/drawing/2014/main" id="{6DB78C8B-5D1E-F039-6229-CE49DCE8E81D}"/>
              </a:ext>
            </a:extLst>
          </p:cNvPr>
          <p:cNvPicPr>
            <a:picLocks noChangeAspect="1"/>
          </p:cNvPicPr>
          <p:nvPr/>
        </p:nvPicPr>
        <p:blipFill>
          <a:blip r:embed="rId10"/>
          <a:stretch>
            <a:fillRect/>
          </a:stretch>
        </p:blipFill>
        <p:spPr>
          <a:xfrm>
            <a:off x="6505922" y="5095724"/>
            <a:ext cx="4381500" cy="438150"/>
          </a:xfrm>
          <a:prstGeom prst="rect">
            <a:avLst/>
          </a:prstGeom>
        </p:spPr>
      </p:pic>
    </p:spTree>
    <p:extLst>
      <p:ext uri="{BB962C8B-B14F-4D97-AF65-F5344CB8AC3E}">
        <p14:creationId xmlns:p14="http://schemas.microsoft.com/office/powerpoint/2010/main" val="4179434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3C8B4-C6E3-36C7-B21F-999AD8427C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FF8FEF9-A218-18C4-6C29-F491B7432F32}"/>
              </a:ext>
            </a:extLst>
          </p:cNvPr>
          <p:cNvSpPr txBox="1">
            <a:spLocks/>
          </p:cNvSpPr>
          <p:nvPr/>
        </p:nvSpPr>
        <p:spPr>
          <a:xfrm>
            <a:off x="406904"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TensorFlow Operations - Element-Wise and Matrix Operations </a:t>
            </a:r>
          </a:p>
        </p:txBody>
      </p:sp>
      <p:sp>
        <p:nvSpPr>
          <p:cNvPr id="10" name="Rectangle 1">
            <a:extLst>
              <a:ext uri="{FF2B5EF4-FFF2-40B4-BE49-F238E27FC236}">
                <a16:creationId xmlns:a16="http://schemas.microsoft.com/office/drawing/2014/main" id="{31E0223C-6A48-1ED9-FD0A-1A8B8EDDD47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TextBox 14">
            <a:extLst>
              <a:ext uri="{FF2B5EF4-FFF2-40B4-BE49-F238E27FC236}">
                <a16:creationId xmlns:a16="http://schemas.microsoft.com/office/drawing/2014/main" id="{02447436-36F9-25BF-2724-3CF099D98022}"/>
              </a:ext>
            </a:extLst>
          </p:cNvPr>
          <p:cNvSpPr txBox="1"/>
          <p:nvPr/>
        </p:nvSpPr>
        <p:spPr>
          <a:xfrm>
            <a:off x="391080" y="1193062"/>
            <a:ext cx="4438095" cy="369332"/>
          </a:xfrm>
          <a:prstGeom prst="rect">
            <a:avLst/>
          </a:prstGeom>
          <a:noFill/>
        </p:spPr>
        <p:txBody>
          <a:bodyPr wrap="square">
            <a:spAutoFit/>
          </a:bodyPr>
          <a:lstStyle/>
          <a:p>
            <a:r>
              <a:rPr lang="en-IN" sz="1800" b="1" dirty="0">
                <a:effectLst/>
                <a:latin typeface="Arial" panose="020B0604020202020204" pitchFamily="34" charset="0"/>
                <a:ea typeface="Calibri" panose="020F0502020204030204" pitchFamily="34" charset="0"/>
                <a:cs typeface="Gautami" panose="020B0502040204020203" pitchFamily="34" charset="0"/>
              </a:rPr>
              <a:t>Element-Wise Operations</a:t>
            </a:r>
            <a:endParaRPr lang="en-IN" dirty="0"/>
          </a:p>
        </p:txBody>
      </p:sp>
      <p:sp>
        <p:nvSpPr>
          <p:cNvPr id="19" name="TextBox 18">
            <a:extLst>
              <a:ext uri="{FF2B5EF4-FFF2-40B4-BE49-F238E27FC236}">
                <a16:creationId xmlns:a16="http://schemas.microsoft.com/office/drawing/2014/main" id="{B7205DDD-4A26-DA02-AA41-4D0B0E5CFBC2}"/>
              </a:ext>
            </a:extLst>
          </p:cNvPr>
          <p:cNvSpPr txBox="1"/>
          <p:nvPr/>
        </p:nvSpPr>
        <p:spPr>
          <a:xfrm>
            <a:off x="410130" y="1649694"/>
            <a:ext cx="5472510" cy="3733266"/>
          </a:xfrm>
          <a:prstGeom prst="rect">
            <a:avLst/>
          </a:prstGeom>
          <a:noFill/>
        </p:spPr>
        <p:txBody>
          <a:bodyPr wrap="square">
            <a:spAutoFit/>
          </a:bodyPr>
          <a:lstStyle/>
          <a:p>
            <a:pPr>
              <a:lnSpc>
                <a:spcPct val="107000"/>
              </a:lnSpc>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Example:</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import </a:t>
            </a:r>
            <a:r>
              <a:rPr lang="en-IN" sz="1800" dirty="0" err="1">
                <a:effectLst/>
                <a:latin typeface="Arial" panose="020B0604020202020204" pitchFamily="34" charset="0"/>
                <a:ea typeface="Calibri" panose="020F0502020204030204" pitchFamily="34" charset="0"/>
                <a:cs typeface="Gautami" panose="020B0502040204020203" pitchFamily="34" charset="0"/>
              </a:rPr>
              <a:t>tensorflow</a:t>
            </a:r>
            <a:r>
              <a:rPr lang="en-IN" sz="1800" dirty="0">
                <a:effectLst/>
                <a:latin typeface="Arial" panose="020B0604020202020204" pitchFamily="34" charset="0"/>
                <a:ea typeface="Calibri" panose="020F0502020204030204" pitchFamily="34" charset="0"/>
                <a:cs typeface="Gautami" panose="020B0502040204020203" pitchFamily="34" charset="0"/>
              </a:rPr>
              <a:t> as </a:t>
            </a:r>
            <a:r>
              <a:rPr lang="en-IN" sz="1800" dirty="0" err="1">
                <a:effectLst/>
                <a:latin typeface="Arial" panose="020B0604020202020204" pitchFamily="34" charset="0"/>
                <a:ea typeface="Calibri" panose="020F0502020204030204" pitchFamily="34" charset="0"/>
                <a:cs typeface="Gautami" panose="020B0502040204020203" pitchFamily="34" charset="0"/>
              </a:rPr>
              <a:t>tf</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a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([2, 4, 6])</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b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3, 5])</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add_result</a:t>
            </a:r>
            <a:r>
              <a:rPr lang="en-IN" sz="1800" dirty="0">
                <a:effectLst/>
                <a:latin typeface="Arial" panose="020B0604020202020204" pitchFamily="34" charset="0"/>
                <a:ea typeface="Calibri" panose="020F0502020204030204" pitchFamily="34" charset="0"/>
                <a:cs typeface="Gautami" panose="020B0502040204020203" pitchFamily="34" charset="0"/>
              </a:rPr>
              <a:t> = a + b              # [3, 7, 11]</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mul_result</a:t>
            </a:r>
            <a:r>
              <a:rPr lang="en-IN" sz="1800" dirty="0">
                <a:effectLst/>
                <a:latin typeface="Arial" panose="020B0604020202020204" pitchFamily="34" charset="0"/>
                <a:ea typeface="Calibri" panose="020F0502020204030204" pitchFamily="34" charset="0"/>
                <a:cs typeface="Gautami" panose="020B0502040204020203" pitchFamily="34" charset="0"/>
              </a:rPr>
              <a:t> = a * b              # [2, 12, 30]</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relu_result</a:t>
            </a:r>
            <a:r>
              <a:rPr lang="en-IN" sz="1800" dirty="0">
                <a:effectLst/>
                <a:latin typeface="Arial" panose="020B0604020202020204" pitchFamily="34" charset="0"/>
                <a:ea typeface="Calibri" panose="020F0502020204030204" pitchFamily="34" charset="0"/>
                <a:cs typeface="Gautami" panose="020B0502040204020203" pitchFamily="34" charset="0"/>
              </a:rPr>
              <a:t> = </a:t>
            </a:r>
            <a:r>
              <a:rPr lang="en-IN" sz="1800" dirty="0" err="1">
                <a:effectLst/>
                <a:latin typeface="Arial" panose="020B0604020202020204" pitchFamily="34" charset="0"/>
                <a:ea typeface="Calibri" panose="020F0502020204030204" pitchFamily="34" charset="0"/>
                <a:cs typeface="Gautami" panose="020B0502040204020203" pitchFamily="34" charset="0"/>
              </a:rPr>
              <a:t>tf.nn.relu</a:t>
            </a:r>
            <a:r>
              <a:rPr lang="en-IN" sz="1800" dirty="0">
                <a:effectLst/>
                <a:latin typeface="Arial" panose="020B0604020202020204" pitchFamily="34" charset="0"/>
                <a:ea typeface="Calibri" panose="020F0502020204030204" pitchFamily="34" charset="0"/>
                <a:cs typeface="Gautami" panose="020B0502040204020203" pitchFamily="34" charset="0"/>
              </a:rPr>
              <a:t>(a)     # [2, 4, 6]</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Element-wise operations are heavily used in neural networks during feature scaling, activation application, and intermediate transformations.</a:t>
            </a:r>
          </a:p>
        </p:txBody>
      </p:sp>
      <p:sp>
        <p:nvSpPr>
          <p:cNvPr id="23" name="TextBox 22">
            <a:extLst>
              <a:ext uri="{FF2B5EF4-FFF2-40B4-BE49-F238E27FC236}">
                <a16:creationId xmlns:a16="http://schemas.microsoft.com/office/drawing/2014/main" id="{68F2CDAE-1044-4CF3-FD1F-764CAF9BEC27}"/>
              </a:ext>
            </a:extLst>
          </p:cNvPr>
          <p:cNvSpPr txBox="1"/>
          <p:nvPr/>
        </p:nvSpPr>
        <p:spPr>
          <a:xfrm>
            <a:off x="5994124" y="1183537"/>
            <a:ext cx="3168926" cy="367216"/>
          </a:xfrm>
          <a:prstGeom prst="rect">
            <a:avLst/>
          </a:prstGeom>
          <a:noFill/>
        </p:spPr>
        <p:txBody>
          <a:bodyPr wrap="square">
            <a:spAutoFit/>
          </a:bodyPr>
          <a:lstStyle/>
          <a:p>
            <a:pPr algn="just">
              <a:lnSpc>
                <a:spcPct val="107000"/>
              </a:lnSpc>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Matrix Operations</a:t>
            </a:r>
            <a:endParaRPr lang="en-IN" sz="1800" dirty="0">
              <a:effectLst/>
              <a:latin typeface="Arial" panose="020B0604020202020204" pitchFamily="34" charset="0"/>
              <a:ea typeface="Calibri" panose="020F0502020204030204" pitchFamily="34" charset="0"/>
              <a:cs typeface="Gautami" panose="020B0502040204020203" pitchFamily="34" charset="0"/>
            </a:endParaRPr>
          </a:p>
        </p:txBody>
      </p:sp>
      <p:sp>
        <p:nvSpPr>
          <p:cNvPr id="25" name="TextBox 24">
            <a:extLst>
              <a:ext uri="{FF2B5EF4-FFF2-40B4-BE49-F238E27FC236}">
                <a16:creationId xmlns:a16="http://schemas.microsoft.com/office/drawing/2014/main" id="{3F7D8EBE-5DE7-82FF-9A41-6F9CC6E93D0A}"/>
              </a:ext>
            </a:extLst>
          </p:cNvPr>
          <p:cNvSpPr txBox="1"/>
          <p:nvPr/>
        </p:nvSpPr>
        <p:spPr>
          <a:xfrm>
            <a:off x="6086474" y="1649694"/>
            <a:ext cx="5882005" cy="2954720"/>
          </a:xfrm>
          <a:prstGeom prst="rect">
            <a:avLst/>
          </a:prstGeom>
          <a:noFill/>
        </p:spPr>
        <p:txBody>
          <a:bodyPr wrap="square">
            <a:spAutoFit/>
          </a:bodyPr>
          <a:lstStyle/>
          <a:p>
            <a:pPr>
              <a:lnSpc>
                <a:spcPct val="107000"/>
              </a:lnSpc>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Example:</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m1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 4]])</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m2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([[5, 6], [7, 8]])</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matmul_result</a:t>
            </a:r>
            <a:r>
              <a:rPr lang="en-IN" sz="1800" dirty="0">
                <a:effectLst/>
                <a:latin typeface="Arial" panose="020B0604020202020204" pitchFamily="34" charset="0"/>
                <a:ea typeface="Calibri" panose="020F0502020204030204" pitchFamily="34" charset="0"/>
                <a:cs typeface="Gautami" panose="020B0502040204020203" pitchFamily="34" charset="0"/>
              </a:rPr>
              <a:t> = </a:t>
            </a:r>
            <a:r>
              <a:rPr lang="en-IN" sz="1800" dirty="0" err="1">
                <a:effectLst/>
                <a:latin typeface="Arial" panose="020B0604020202020204" pitchFamily="34" charset="0"/>
                <a:ea typeface="Calibri" panose="020F0502020204030204" pitchFamily="34" charset="0"/>
                <a:cs typeface="Gautami" panose="020B0502040204020203" pitchFamily="34" charset="0"/>
              </a:rPr>
              <a:t>tf.matmul</a:t>
            </a:r>
            <a:r>
              <a:rPr lang="en-IN" sz="1800" dirty="0">
                <a:effectLst/>
                <a:latin typeface="Arial" panose="020B0604020202020204" pitchFamily="34" charset="0"/>
                <a:ea typeface="Calibri" panose="020F0502020204030204" pitchFamily="34" charset="0"/>
                <a:cs typeface="Gautami" panose="020B0502040204020203" pitchFamily="34" charset="0"/>
              </a:rPr>
              <a:t>(m1, m2)</a:t>
            </a:r>
          </a:p>
          <a:p>
            <a:pPr marL="457200">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transpose_result</a:t>
            </a:r>
            <a:r>
              <a:rPr lang="en-IN" sz="1800" dirty="0">
                <a:effectLst/>
                <a:latin typeface="Arial" panose="020B0604020202020204" pitchFamily="34" charset="0"/>
                <a:ea typeface="Calibri" panose="020F0502020204030204" pitchFamily="34" charset="0"/>
                <a:cs typeface="Gautami" panose="020B0502040204020203" pitchFamily="34" charset="0"/>
              </a:rPr>
              <a:t> = </a:t>
            </a:r>
            <a:r>
              <a:rPr lang="en-IN" sz="1800" dirty="0" err="1">
                <a:effectLst/>
                <a:latin typeface="Arial" panose="020B0604020202020204" pitchFamily="34" charset="0"/>
                <a:ea typeface="Calibri" panose="020F0502020204030204" pitchFamily="34" charset="0"/>
                <a:cs typeface="Gautami" panose="020B0502040204020203" pitchFamily="34" charset="0"/>
              </a:rPr>
              <a:t>tf.transpose</a:t>
            </a:r>
            <a:r>
              <a:rPr lang="en-IN" sz="1800" dirty="0">
                <a:effectLst/>
                <a:latin typeface="Arial" panose="020B0604020202020204" pitchFamily="34" charset="0"/>
                <a:ea typeface="Calibri" panose="020F0502020204030204" pitchFamily="34" charset="0"/>
                <a:cs typeface="Gautami" panose="020B0502040204020203" pitchFamily="34" charset="0"/>
              </a:rPr>
              <a:t>(m1)</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Matrix operations allow TensorFlow models to learn patterns by mapping input vectors to new feature spaces through linear transformations.</a:t>
            </a:r>
          </a:p>
        </p:txBody>
      </p:sp>
    </p:spTree>
    <p:extLst>
      <p:ext uri="{BB962C8B-B14F-4D97-AF65-F5344CB8AC3E}">
        <p14:creationId xmlns:p14="http://schemas.microsoft.com/office/powerpoint/2010/main" val="1475018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25810-26F1-F07C-CA50-263521AD74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492CFC-C912-2AF3-967C-31A96E219EC2}"/>
              </a:ext>
            </a:extLst>
          </p:cNvPr>
          <p:cNvSpPr txBox="1">
            <a:spLocks/>
          </p:cNvSpPr>
          <p:nvPr/>
        </p:nvSpPr>
        <p:spPr>
          <a:xfrm>
            <a:off x="39737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just">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Scalars </a:t>
            </a:r>
          </a:p>
        </p:txBody>
      </p:sp>
      <p:sp>
        <p:nvSpPr>
          <p:cNvPr id="10" name="Rectangle 1">
            <a:extLst>
              <a:ext uri="{FF2B5EF4-FFF2-40B4-BE49-F238E27FC236}">
                <a16:creationId xmlns:a16="http://schemas.microsoft.com/office/drawing/2014/main" id="{A02581B6-EBA7-0698-4640-F22E8AAD48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88398677-BFAF-E9C6-976F-42CB302E8687}"/>
              </a:ext>
            </a:extLst>
          </p:cNvPr>
          <p:cNvSpPr txBox="1"/>
          <p:nvPr/>
        </p:nvSpPr>
        <p:spPr>
          <a:xfrm>
            <a:off x="378329" y="1182355"/>
            <a:ext cx="6102626" cy="1165127"/>
          </a:xfrm>
          <a:prstGeom prst="rect">
            <a:avLst/>
          </a:prstGeom>
          <a:noFill/>
        </p:spPr>
        <p:txBody>
          <a:bodyPr wrap="square">
            <a:spAutoFit/>
          </a:bodyPr>
          <a:lstStyle/>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In TensorFlow, a scalar can be created using: </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import </a:t>
            </a:r>
            <a:r>
              <a:rPr lang="en-IN" sz="1800" dirty="0" err="1">
                <a:effectLst/>
                <a:latin typeface="Arial" panose="020B0604020202020204" pitchFamily="34" charset="0"/>
                <a:ea typeface="Calibri" panose="020F0502020204030204" pitchFamily="34" charset="0"/>
                <a:cs typeface="Gautami" panose="020B0502040204020203" pitchFamily="34" charset="0"/>
              </a:rPr>
              <a:t>tensorflow</a:t>
            </a:r>
            <a:r>
              <a:rPr lang="en-IN" sz="1800" dirty="0">
                <a:effectLst/>
                <a:latin typeface="Arial" panose="020B0604020202020204" pitchFamily="34" charset="0"/>
                <a:ea typeface="Calibri" panose="020F0502020204030204" pitchFamily="34" charset="0"/>
                <a:cs typeface="Gautami" panose="020B0502040204020203" pitchFamily="34" charset="0"/>
              </a:rPr>
              <a:t> as </a:t>
            </a:r>
            <a:r>
              <a:rPr lang="en-IN" sz="1800" dirty="0" err="1">
                <a:effectLst/>
                <a:latin typeface="Arial" panose="020B0604020202020204" pitchFamily="34" charset="0"/>
                <a:ea typeface="Calibri" panose="020F0502020204030204" pitchFamily="34" charset="0"/>
                <a:cs typeface="Gautami" panose="020B0502040204020203" pitchFamily="34" charset="0"/>
              </a:rPr>
              <a:t>tf</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indent="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scalar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(5) </a:t>
            </a:r>
          </a:p>
        </p:txBody>
      </p:sp>
      <p:sp>
        <p:nvSpPr>
          <p:cNvPr id="8" name="TextBox 7">
            <a:extLst>
              <a:ext uri="{FF2B5EF4-FFF2-40B4-BE49-F238E27FC236}">
                <a16:creationId xmlns:a16="http://schemas.microsoft.com/office/drawing/2014/main" id="{78491A45-5A56-4C4B-638B-E0A39F70A118}"/>
              </a:ext>
            </a:extLst>
          </p:cNvPr>
          <p:cNvSpPr txBox="1"/>
          <p:nvPr/>
        </p:nvSpPr>
        <p:spPr>
          <a:xfrm>
            <a:off x="416429" y="2473760"/>
            <a:ext cx="5612896" cy="2054217"/>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Scalars can participate in arithmetic operations just like any number. When involved in tensor operations, scalars automatically broadcast to match the shape of the operand. For instance: </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a:t>
            </a:r>
          </a:p>
          <a:p>
            <a:pPr marL="457200">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result = v + scalar  # adds 5 to each element</a:t>
            </a:r>
          </a:p>
        </p:txBody>
      </p:sp>
      <p:pic>
        <p:nvPicPr>
          <p:cNvPr id="11" name="Picture 10">
            <a:extLst>
              <a:ext uri="{FF2B5EF4-FFF2-40B4-BE49-F238E27FC236}">
                <a16:creationId xmlns:a16="http://schemas.microsoft.com/office/drawing/2014/main" id="{B01EE44E-59CA-B92D-D482-FCFE63202DA3}"/>
              </a:ext>
            </a:extLst>
          </p:cNvPr>
          <p:cNvPicPr>
            <a:picLocks noChangeAspect="1"/>
          </p:cNvPicPr>
          <p:nvPr/>
        </p:nvPicPr>
        <p:blipFill>
          <a:blip r:embed="rId3" cstate="print">
            <a:extLst>
              <a:ext uri="{28A0092B-C50C-407E-A947-70E740481C1C}">
                <a14:useLocalDpi xmlns:a14="http://schemas.microsoft.com/office/drawing/2010/main" val="0"/>
              </a:ext>
            </a:extLst>
          </a:blip>
          <a:srcRect r="74766"/>
          <a:stretch>
            <a:fillRect/>
          </a:stretch>
        </p:blipFill>
        <p:spPr bwMode="auto">
          <a:xfrm>
            <a:off x="7871204" y="1257300"/>
            <a:ext cx="1843882" cy="4535506"/>
          </a:xfrm>
          <a:prstGeom prst="rect">
            <a:avLst/>
          </a:prstGeom>
          <a:noFill/>
          <a:ln>
            <a:noFill/>
          </a:ln>
        </p:spPr>
      </p:pic>
    </p:spTree>
    <p:extLst>
      <p:ext uri="{BB962C8B-B14F-4D97-AF65-F5344CB8AC3E}">
        <p14:creationId xmlns:p14="http://schemas.microsoft.com/office/powerpoint/2010/main" val="1521691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FFF50-35C3-BEB7-BFA5-6BA2BA5F21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2828A1-619E-571E-DC7C-BD87C93D61A7}"/>
              </a:ext>
            </a:extLst>
          </p:cNvPr>
          <p:cNvSpPr txBox="1">
            <a:spLocks/>
          </p:cNvSpPr>
          <p:nvPr/>
        </p:nvSpPr>
        <p:spPr>
          <a:xfrm>
            <a:off x="406904" y="750262"/>
            <a:ext cx="5755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Vectors</a:t>
            </a:r>
          </a:p>
        </p:txBody>
      </p:sp>
      <p:sp>
        <p:nvSpPr>
          <p:cNvPr id="10" name="Rectangle 1">
            <a:extLst>
              <a:ext uri="{FF2B5EF4-FFF2-40B4-BE49-F238E27FC236}">
                <a16:creationId xmlns:a16="http://schemas.microsoft.com/office/drawing/2014/main" id="{0668A3C2-9442-53CA-77EF-3D2C4597839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E53685A9-9C30-EBBB-8421-79A8F98EFA71}"/>
              </a:ext>
            </a:extLst>
          </p:cNvPr>
          <p:cNvSpPr txBox="1"/>
          <p:nvPr/>
        </p:nvSpPr>
        <p:spPr>
          <a:xfrm>
            <a:off x="378930" y="1171356"/>
            <a:ext cx="6102626" cy="1461490"/>
          </a:xfrm>
          <a:prstGeom prst="rect">
            <a:avLst/>
          </a:prstGeom>
          <a:noFill/>
        </p:spPr>
        <p:txBody>
          <a:bodyPr wrap="square">
            <a:spAutoFit/>
          </a:bodyPr>
          <a:lstStyle/>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In TensorFlow, a vector can be created as:</a:t>
            </a:r>
          </a:p>
          <a:p>
            <a:pPr>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vector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 4])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Vectors support element-wise operations and broadcasting when combined with scalars or matrices. </a:t>
            </a:r>
          </a:p>
        </p:txBody>
      </p:sp>
      <p:sp>
        <p:nvSpPr>
          <p:cNvPr id="13" name="TextBox 12">
            <a:extLst>
              <a:ext uri="{FF2B5EF4-FFF2-40B4-BE49-F238E27FC236}">
                <a16:creationId xmlns:a16="http://schemas.microsoft.com/office/drawing/2014/main" id="{7BC6388C-7D6E-1238-CAF9-45ADC7583714}"/>
              </a:ext>
            </a:extLst>
          </p:cNvPr>
          <p:cNvSpPr txBox="1"/>
          <p:nvPr/>
        </p:nvSpPr>
        <p:spPr>
          <a:xfrm>
            <a:off x="397980" y="2742118"/>
            <a:ext cx="5698020" cy="3148491"/>
          </a:xfrm>
          <a:prstGeom prst="rect">
            <a:avLst/>
          </a:prstGeom>
          <a:noFill/>
        </p:spPr>
        <p:txBody>
          <a:bodyPr wrap="square">
            <a:spAutoFit/>
          </a:bodyPr>
          <a:lstStyle/>
          <a:p>
            <a:pPr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scaled = vector * 2  # multiplies each element by 2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Vectors can represent directions in space, allowing operations like dot product and cosine similarity important concepts in deep learning models like word2vec, BERT, or recommendation systems. For example: </a:t>
            </a:r>
          </a:p>
          <a:p>
            <a:pPr marL="457200"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v1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([1.0, 2.0, 3.0])</a:t>
            </a:r>
          </a:p>
          <a:p>
            <a:pPr marL="457200"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v2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([4.0, 5.0, 6.0])</a:t>
            </a:r>
          </a:p>
          <a:p>
            <a:pPr marL="457200"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dot = </a:t>
            </a:r>
            <a:r>
              <a:rPr lang="en-IN" sz="1800" dirty="0" err="1">
                <a:effectLst/>
                <a:latin typeface="Arial" panose="020B0604020202020204" pitchFamily="34" charset="0"/>
                <a:ea typeface="Calibri" panose="020F0502020204030204" pitchFamily="34" charset="0"/>
                <a:cs typeface="Gautami" panose="020B0502040204020203" pitchFamily="34" charset="0"/>
              </a:rPr>
              <a:t>tf.tensordot</a:t>
            </a:r>
            <a:r>
              <a:rPr lang="en-IN" sz="1800" dirty="0">
                <a:effectLst/>
                <a:latin typeface="Arial" panose="020B0604020202020204" pitchFamily="34" charset="0"/>
                <a:ea typeface="Calibri" panose="020F0502020204030204" pitchFamily="34" charset="0"/>
                <a:cs typeface="Gautami" panose="020B0502040204020203" pitchFamily="34" charset="0"/>
              </a:rPr>
              <a:t>(v1, v2, axes=1)</a:t>
            </a:r>
          </a:p>
        </p:txBody>
      </p:sp>
      <p:pic>
        <p:nvPicPr>
          <p:cNvPr id="14" name="Picture 13">
            <a:extLst>
              <a:ext uri="{FF2B5EF4-FFF2-40B4-BE49-F238E27FC236}">
                <a16:creationId xmlns:a16="http://schemas.microsoft.com/office/drawing/2014/main" id="{64013946-0AE1-090D-4B57-FE15ED13E337}"/>
              </a:ext>
            </a:extLst>
          </p:cNvPr>
          <p:cNvPicPr>
            <a:picLocks noChangeAspect="1"/>
          </p:cNvPicPr>
          <p:nvPr/>
        </p:nvPicPr>
        <p:blipFill>
          <a:blip r:embed="rId3" cstate="print">
            <a:extLst>
              <a:ext uri="{28A0092B-C50C-407E-A947-70E740481C1C}">
                <a14:useLocalDpi xmlns:a14="http://schemas.microsoft.com/office/drawing/2010/main" val="0"/>
              </a:ext>
            </a:extLst>
          </a:blip>
          <a:srcRect l="25538" r="37736"/>
          <a:stretch>
            <a:fillRect/>
          </a:stretch>
        </p:blipFill>
        <p:spPr bwMode="auto">
          <a:xfrm>
            <a:off x="7800560" y="1295663"/>
            <a:ext cx="2524539" cy="4266673"/>
          </a:xfrm>
          <a:prstGeom prst="rect">
            <a:avLst/>
          </a:prstGeom>
          <a:noFill/>
          <a:ln>
            <a:noFill/>
          </a:ln>
        </p:spPr>
      </p:pic>
    </p:spTree>
    <p:extLst>
      <p:ext uri="{BB962C8B-B14F-4D97-AF65-F5344CB8AC3E}">
        <p14:creationId xmlns:p14="http://schemas.microsoft.com/office/powerpoint/2010/main" val="3925809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591D-876F-036B-A30A-37032592F6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B2DBC0-7EE2-FC42-5F5C-D2DC386BC5A0}"/>
              </a:ext>
            </a:extLst>
          </p:cNvPr>
          <p:cNvSpPr txBox="1">
            <a:spLocks/>
          </p:cNvSpPr>
          <p:nvPr/>
        </p:nvSpPr>
        <p:spPr>
          <a:xfrm>
            <a:off x="397379" y="750262"/>
            <a:ext cx="577482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Matrices </a:t>
            </a:r>
          </a:p>
        </p:txBody>
      </p:sp>
      <p:sp>
        <p:nvSpPr>
          <p:cNvPr id="10" name="Rectangle 1">
            <a:extLst>
              <a:ext uri="{FF2B5EF4-FFF2-40B4-BE49-F238E27FC236}">
                <a16:creationId xmlns:a16="http://schemas.microsoft.com/office/drawing/2014/main" id="{B318FA61-A415-62E0-F296-5C3B06EDD6D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4" name="Picture 13">
            <a:extLst>
              <a:ext uri="{FF2B5EF4-FFF2-40B4-BE49-F238E27FC236}">
                <a16:creationId xmlns:a16="http://schemas.microsoft.com/office/drawing/2014/main" id="{6629E250-495E-9AC0-52CB-658B2A3672C2}"/>
              </a:ext>
            </a:extLst>
          </p:cNvPr>
          <p:cNvPicPr>
            <a:picLocks noChangeAspect="1"/>
          </p:cNvPicPr>
          <p:nvPr/>
        </p:nvPicPr>
        <p:blipFill>
          <a:blip r:embed="rId3" cstate="print">
            <a:extLst>
              <a:ext uri="{28A0092B-C50C-407E-A947-70E740481C1C}">
                <a14:useLocalDpi xmlns:a14="http://schemas.microsoft.com/office/drawing/2010/main" val="0"/>
              </a:ext>
            </a:extLst>
          </a:blip>
          <a:srcRect l="67758" t="742" r="-49" b="-742"/>
          <a:stretch>
            <a:fillRect/>
          </a:stretch>
        </p:blipFill>
        <p:spPr bwMode="auto">
          <a:xfrm>
            <a:off x="8332719" y="1447800"/>
            <a:ext cx="2219738" cy="4266673"/>
          </a:xfrm>
          <a:prstGeom prst="rect">
            <a:avLst/>
          </a:prstGeom>
          <a:noFill/>
          <a:ln>
            <a:noFill/>
          </a:ln>
        </p:spPr>
      </p:pic>
      <p:sp>
        <p:nvSpPr>
          <p:cNvPr id="3" name="TextBox 2">
            <a:extLst>
              <a:ext uri="{FF2B5EF4-FFF2-40B4-BE49-F238E27FC236}">
                <a16:creationId xmlns:a16="http://schemas.microsoft.com/office/drawing/2014/main" id="{6049CD1D-538D-5E5D-3F37-A0FCB6334C9E}"/>
              </a:ext>
            </a:extLst>
          </p:cNvPr>
          <p:cNvSpPr txBox="1"/>
          <p:nvPr/>
        </p:nvSpPr>
        <p:spPr>
          <a:xfrm>
            <a:off x="391081" y="1189477"/>
            <a:ext cx="5877639" cy="5068054"/>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In TensorFlow: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matrix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 4]])</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Matrix operations include element-wise operations, matrix multiplication, transposition, and reshaping. </a:t>
            </a:r>
          </a:p>
          <a:p>
            <a:pPr marL="457200">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matmul</a:t>
            </a:r>
            <a:r>
              <a:rPr lang="en-IN" sz="1800" dirty="0">
                <a:effectLst/>
                <a:latin typeface="Arial" panose="020B0604020202020204" pitchFamily="34" charset="0"/>
                <a:ea typeface="Calibri" panose="020F0502020204030204" pitchFamily="34" charset="0"/>
                <a:cs typeface="Gautami" panose="020B0502040204020203" pitchFamily="34" charset="0"/>
              </a:rPr>
              <a:t> = </a:t>
            </a:r>
            <a:r>
              <a:rPr lang="en-IN" sz="1800" dirty="0" err="1">
                <a:effectLst/>
                <a:latin typeface="Arial" panose="020B0604020202020204" pitchFamily="34" charset="0"/>
                <a:ea typeface="Calibri" panose="020F0502020204030204" pitchFamily="34" charset="0"/>
                <a:cs typeface="Gautami" panose="020B0502040204020203" pitchFamily="34" charset="0"/>
              </a:rPr>
              <a:t>tf.matmul</a:t>
            </a:r>
            <a:r>
              <a:rPr lang="en-IN" sz="1800" dirty="0">
                <a:effectLst/>
                <a:latin typeface="Arial" panose="020B0604020202020204" pitchFamily="34" charset="0"/>
                <a:ea typeface="Calibri" panose="020F0502020204030204" pitchFamily="34" charset="0"/>
                <a:cs typeface="Gautami" panose="020B0502040204020203" pitchFamily="34" charset="0"/>
              </a:rPr>
              <a:t>(matrix, matrix)</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transposed = </a:t>
            </a:r>
            <a:r>
              <a:rPr lang="en-IN" sz="1800" dirty="0" err="1">
                <a:effectLst/>
                <a:latin typeface="Arial" panose="020B0604020202020204" pitchFamily="34" charset="0"/>
                <a:ea typeface="Calibri" panose="020F0502020204030204" pitchFamily="34" charset="0"/>
                <a:cs typeface="Gautami" panose="020B0502040204020203" pitchFamily="34" charset="0"/>
              </a:rPr>
              <a:t>tf.transpose</a:t>
            </a:r>
            <a:r>
              <a:rPr lang="en-IN" sz="1800" dirty="0">
                <a:effectLst/>
                <a:latin typeface="Arial" panose="020B0604020202020204" pitchFamily="34" charset="0"/>
                <a:ea typeface="Calibri" panose="020F0502020204030204" pitchFamily="34" charset="0"/>
                <a:cs typeface="Gautami" panose="020B0502040204020203" pitchFamily="34" charset="0"/>
              </a:rPr>
              <a:t>(matrix)</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Matrices allow relationships across multiple variables to be represented simultaneously.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For example, a dataset with 5 samples and 3 features can be stored in a 5×3 matrix, where rows represent samples and columns represent features.</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Matrix multiplication is especially crucial in deep learning. Every layer in a neural network performs an operation like: </a:t>
            </a:r>
          </a:p>
          <a:p>
            <a:pPr indent="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output = input × weights + bias</a:t>
            </a:r>
          </a:p>
        </p:txBody>
      </p:sp>
    </p:spTree>
    <p:extLst>
      <p:ext uri="{BB962C8B-B14F-4D97-AF65-F5344CB8AC3E}">
        <p14:creationId xmlns:p14="http://schemas.microsoft.com/office/powerpoint/2010/main" val="1314819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4170D-7DED-3327-CD9D-0ADF4F92D3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C29268-76E7-8FE6-1E50-2E2D5E6534F3}"/>
              </a:ext>
            </a:extLst>
          </p:cNvPr>
          <p:cNvSpPr txBox="1">
            <a:spLocks/>
          </p:cNvSpPr>
          <p:nvPr/>
        </p:nvSpPr>
        <p:spPr>
          <a:xfrm>
            <a:off x="397380" y="759787"/>
            <a:ext cx="578434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Higher-Dimensional Tensors </a:t>
            </a:r>
          </a:p>
        </p:txBody>
      </p:sp>
      <p:sp>
        <p:nvSpPr>
          <p:cNvPr id="10" name="Rectangle 1">
            <a:extLst>
              <a:ext uri="{FF2B5EF4-FFF2-40B4-BE49-F238E27FC236}">
                <a16:creationId xmlns:a16="http://schemas.microsoft.com/office/drawing/2014/main" id="{6C888757-391E-C03C-0C4B-7AFA98AE97A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EB6C165B-E3C5-22A7-0BFA-9CC085E767F9}"/>
              </a:ext>
            </a:extLst>
          </p:cNvPr>
          <p:cNvSpPr txBox="1"/>
          <p:nvPr/>
        </p:nvSpPr>
        <p:spPr>
          <a:xfrm>
            <a:off x="399635" y="1176934"/>
            <a:ext cx="10969487" cy="2760949"/>
          </a:xfrm>
          <a:prstGeom prst="rect">
            <a:avLst/>
          </a:prstGeom>
          <a:noFill/>
        </p:spPr>
        <p:txBody>
          <a:bodyPr wrap="square">
            <a:spAutoFit/>
          </a:bodyPr>
          <a:lstStyle/>
          <a:p>
            <a:pPr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Example (batch of 32 RGB images, each 28×28):</a:t>
            </a:r>
          </a:p>
          <a:p>
            <a:pPr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tensor4d =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([32, 28, 28, 3]) </a:t>
            </a:r>
          </a:p>
          <a:p>
            <a:pPr algn="just">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Higher-dimensional tensors organize data across multiple axes.</a:t>
            </a:r>
          </a:p>
          <a:p>
            <a:pPr marL="228600" lvl="1" indent="-228600">
              <a:spcAft>
                <a:spcPts val="800"/>
              </a:spcAft>
              <a:buSzPct val="100000"/>
              <a:buFont typeface="Arial" panose="020B0604020202020204" pitchFamily="34" charset="0"/>
              <a:buChar char="•"/>
              <a:tabLst>
                <a:tab pos="457200" algn="l"/>
              </a:tabLst>
            </a:pPr>
            <a:r>
              <a:rPr lang="en-IN" dirty="0">
                <a:effectLst/>
                <a:latin typeface="Arial" panose="020B0604020202020204" pitchFamily="34" charset="0"/>
                <a:ea typeface="Calibri" panose="020F0502020204030204" pitchFamily="34" charset="0"/>
                <a:cs typeface="Gautami" panose="020B0502040204020203" pitchFamily="34" charset="0"/>
              </a:rPr>
              <a:t>Axis 0: batch</a:t>
            </a:r>
          </a:p>
          <a:p>
            <a:pPr marL="228600" lvl="1" indent="-228600" algn="just">
              <a:spcAft>
                <a:spcPts val="800"/>
              </a:spcAft>
              <a:buSzPct val="100000"/>
              <a:buFont typeface="Arial" panose="020B0604020202020204" pitchFamily="34" charset="0"/>
              <a:buChar char="•"/>
              <a:tabLst>
                <a:tab pos="457200" algn="l"/>
              </a:tabLst>
            </a:pPr>
            <a:r>
              <a:rPr lang="en-IN" dirty="0">
                <a:effectLst/>
                <a:latin typeface="Arial" panose="020B0604020202020204" pitchFamily="34" charset="0"/>
                <a:ea typeface="Calibri" panose="020F0502020204030204" pitchFamily="34" charset="0"/>
                <a:cs typeface="Gautami" panose="020B0502040204020203" pitchFamily="34" charset="0"/>
              </a:rPr>
              <a:t>Axis 1: height</a:t>
            </a:r>
          </a:p>
          <a:p>
            <a:pPr marL="228600" lvl="1" indent="-228600" algn="just">
              <a:spcAft>
                <a:spcPts val="800"/>
              </a:spcAft>
              <a:buSzPct val="100000"/>
              <a:buFont typeface="Arial" panose="020B0604020202020204" pitchFamily="34" charset="0"/>
              <a:buChar char="•"/>
              <a:tabLst>
                <a:tab pos="457200" algn="l"/>
              </a:tabLst>
            </a:pPr>
            <a:r>
              <a:rPr lang="en-IN" dirty="0">
                <a:effectLst/>
                <a:latin typeface="Arial" panose="020B0604020202020204" pitchFamily="34" charset="0"/>
                <a:ea typeface="Calibri" panose="020F0502020204030204" pitchFamily="34" charset="0"/>
                <a:cs typeface="Gautami" panose="020B0502040204020203" pitchFamily="34" charset="0"/>
              </a:rPr>
              <a:t>Axis 2: width</a:t>
            </a:r>
          </a:p>
          <a:p>
            <a:pPr marL="228600" lvl="1" indent="-228600" algn="just">
              <a:spcAft>
                <a:spcPts val="800"/>
              </a:spcAft>
              <a:buSzPct val="100000"/>
              <a:buFont typeface="Arial" panose="020B0604020202020204" pitchFamily="34" charset="0"/>
              <a:buChar char="•"/>
              <a:tabLst>
                <a:tab pos="457200" algn="l"/>
              </a:tabLst>
            </a:pPr>
            <a:r>
              <a:rPr lang="en-IN" dirty="0">
                <a:effectLst/>
                <a:latin typeface="Arial" panose="020B0604020202020204" pitchFamily="34" charset="0"/>
                <a:ea typeface="Calibri" panose="020F0502020204030204" pitchFamily="34" charset="0"/>
                <a:cs typeface="Gautami" panose="020B0502040204020203" pitchFamily="34" charset="0"/>
              </a:rPr>
              <a:t>Axis 3: channels</a:t>
            </a:r>
          </a:p>
        </p:txBody>
      </p:sp>
      <p:sp>
        <p:nvSpPr>
          <p:cNvPr id="11" name="TextBox 10">
            <a:extLst>
              <a:ext uri="{FF2B5EF4-FFF2-40B4-BE49-F238E27FC236}">
                <a16:creationId xmlns:a16="http://schemas.microsoft.com/office/drawing/2014/main" id="{49DC3701-5D1A-1E99-563C-47CAC2CB3ECB}"/>
              </a:ext>
            </a:extLst>
          </p:cNvPr>
          <p:cNvSpPr txBox="1"/>
          <p:nvPr/>
        </p:nvSpPr>
        <p:spPr>
          <a:xfrm>
            <a:off x="418339" y="4065265"/>
            <a:ext cx="11078336" cy="1860446"/>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These tensors enable deep learning models like CNNs, RNNs, and Transformers to extract features across different spatial or temporal dimensions.</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You can index them like: </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first_image</a:t>
            </a:r>
            <a:r>
              <a:rPr lang="en-IN" sz="1800" dirty="0">
                <a:effectLst/>
                <a:latin typeface="Arial" panose="020B0604020202020204" pitchFamily="34" charset="0"/>
                <a:ea typeface="Calibri" panose="020F0502020204030204" pitchFamily="34" charset="0"/>
                <a:cs typeface="Gautami" panose="020B0502040204020203" pitchFamily="34" charset="0"/>
              </a:rPr>
              <a:t> = tensor4d[0]</a:t>
            </a:r>
          </a:p>
          <a:p>
            <a:pPr marL="457200">
              <a:lnSpc>
                <a:spcPct val="107000"/>
              </a:lnSpc>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red_channel</a:t>
            </a:r>
            <a:r>
              <a:rPr lang="en-IN" sz="1800" dirty="0">
                <a:effectLst/>
                <a:latin typeface="Arial" panose="020B0604020202020204" pitchFamily="34" charset="0"/>
                <a:ea typeface="Calibri" panose="020F0502020204030204" pitchFamily="34" charset="0"/>
                <a:cs typeface="Gautami" panose="020B0502040204020203" pitchFamily="34" charset="0"/>
              </a:rPr>
              <a:t> = tensor4d[0, :, :, 0]</a:t>
            </a:r>
          </a:p>
        </p:txBody>
      </p:sp>
    </p:spTree>
    <p:extLst>
      <p:ext uri="{BB962C8B-B14F-4D97-AF65-F5344CB8AC3E}">
        <p14:creationId xmlns:p14="http://schemas.microsoft.com/office/powerpoint/2010/main" val="921469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4C6D2-948A-0E38-891F-734CAE41C2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8395ABE-DDAC-9041-FFB6-4068115D2E01}"/>
              </a:ext>
            </a:extLst>
          </p:cNvPr>
          <p:cNvSpPr txBox="1">
            <a:spLocks/>
          </p:cNvSpPr>
          <p:nvPr/>
        </p:nvSpPr>
        <p:spPr>
          <a:xfrm>
            <a:off x="397380" y="759787"/>
            <a:ext cx="879424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Differences between Scalars, Vectors, Matrices, and Tensors</a:t>
            </a:r>
          </a:p>
        </p:txBody>
      </p:sp>
      <p:sp>
        <p:nvSpPr>
          <p:cNvPr id="10" name="Rectangle 1">
            <a:extLst>
              <a:ext uri="{FF2B5EF4-FFF2-40B4-BE49-F238E27FC236}">
                <a16:creationId xmlns:a16="http://schemas.microsoft.com/office/drawing/2014/main" id="{9B5E214C-C575-C039-F116-380A80BBF90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5888ED95-119A-9AB7-C506-A9E5A4060B20}"/>
              </a:ext>
            </a:extLst>
          </p:cNvPr>
          <p:cNvSpPr txBox="1"/>
          <p:nvPr/>
        </p:nvSpPr>
        <p:spPr>
          <a:xfrm>
            <a:off x="405020" y="1185323"/>
            <a:ext cx="6102626" cy="2164695"/>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The key difference is the amount of information and structure each can represent.</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A scalar holds one value.</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A vector holds multiple values along a single axis.</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A matrix holds data aligned across two axes.</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A tensor generalizes matrices to multiple axes.</a:t>
            </a:r>
          </a:p>
        </p:txBody>
      </p:sp>
      <p:sp>
        <p:nvSpPr>
          <p:cNvPr id="12" name="TextBox 11">
            <a:extLst>
              <a:ext uri="{FF2B5EF4-FFF2-40B4-BE49-F238E27FC236}">
                <a16:creationId xmlns:a16="http://schemas.microsoft.com/office/drawing/2014/main" id="{CCE75466-8310-58FB-30F1-98015EF4E797}"/>
              </a:ext>
            </a:extLst>
          </p:cNvPr>
          <p:cNvSpPr txBox="1"/>
          <p:nvPr/>
        </p:nvSpPr>
        <p:spPr>
          <a:xfrm>
            <a:off x="6411153" y="1366298"/>
            <a:ext cx="4571172" cy="1963038"/>
          </a:xfrm>
          <a:prstGeom prst="rect">
            <a:avLst/>
          </a:prstGeom>
          <a:noFill/>
        </p:spPr>
        <p:txBody>
          <a:bodyPr wrap="square">
            <a:spAutoFit/>
          </a:bodyPr>
          <a:lstStyle/>
          <a:p>
            <a:pPr>
              <a:lnSpc>
                <a:spcPct val="107000"/>
              </a:lnSpc>
              <a:spcAft>
                <a:spcPts val="800"/>
              </a:spcAft>
            </a:pPr>
            <a:r>
              <a:rPr lang="en-IN" sz="1800" b="1" dirty="0">
                <a:effectLst/>
                <a:latin typeface="Arial" panose="020B0604020202020204" pitchFamily="34" charset="0"/>
                <a:ea typeface="Calibri" panose="020F0502020204030204" pitchFamily="34" charset="0"/>
                <a:cs typeface="Gautami" panose="020B0502040204020203" pitchFamily="34" charset="0"/>
              </a:rPr>
              <a:t>In TensorFlow:</a:t>
            </a:r>
          </a:p>
          <a:p>
            <a:pPr marL="228600" indent="-228600">
              <a:lnSpc>
                <a:spcPct val="107000"/>
              </a:lnSpc>
              <a:spcAft>
                <a:spcPts val="800"/>
              </a:spcAft>
              <a:buFont typeface="Arial" panose="020B0604020202020204" pitchFamily="34" charset="0"/>
              <a:buChar char="•"/>
            </a:pPr>
            <a:r>
              <a:rPr lang="en-IN" sz="1800" dirty="0">
                <a:effectLst/>
                <a:latin typeface="Arial" panose="020B0604020202020204" pitchFamily="34" charset="0"/>
                <a:ea typeface="Calibri" panose="020F0502020204030204" pitchFamily="34" charset="0"/>
                <a:cs typeface="Gautami" panose="020B0502040204020203" pitchFamily="34" charset="0"/>
              </a:rPr>
              <a:t>scalar: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(5)</a:t>
            </a:r>
          </a:p>
          <a:p>
            <a:pPr marL="228600" indent="-228600">
              <a:lnSpc>
                <a:spcPct val="107000"/>
              </a:lnSpc>
              <a:spcAft>
                <a:spcPts val="800"/>
              </a:spcAft>
              <a:buFont typeface="Arial" panose="020B0604020202020204" pitchFamily="34" charset="0"/>
              <a:buChar char="•"/>
            </a:pPr>
            <a:r>
              <a:rPr lang="en-IN" sz="1800" dirty="0">
                <a:effectLst/>
                <a:latin typeface="Arial" panose="020B0604020202020204" pitchFamily="34" charset="0"/>
                <a:ea typeface="Calibri" panose="020F0502020204030204" pitchFamily="34" charset="0"/>
                <a:cs typeface="Gautami" panose="020B0502040204020203" pitchFamily="34" charset="0"/>
              </a:rPr>
              <a:t>vector: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([1,2,3])</a:t>
            </a:r>
          </a:p>
          <a:p>
            <a:pPr marL="228600" indent="-228600">
              <a:spcAft>
                <a:spcPts val="800"/>
              </a:spcAft>
              <a:buFont typeface="Arial" panose="020B0604020202020204" pitchFamily="34" charset="0"/>
              <a:buChar char="•"/>
            </a:pPr>
            <a:r>
              <a:rPr lang="en-IN" sz="1800" dirty="0">
                <a:effectLst/>
                <a:latin typeface="Arial" panose="020B0604020202020204" pitchFamily="34" charset="0"/>
                <a:ea typeface="Calibri" panose="020F0502020204030204" pitchFamily="34" charset="0"/>
                <a:cs typeface="Gautami" panose="020B0502040204020203" pitchFamily="34" charset="0"/>
              </a:rPr>
              <a:t>matrix: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([[1,2],[3,4]])</a:t>
            </a:r>
          </a:p>
          <a:p>
            <a:pPr marL="228600" indent="-228600">
              <a:lnSpc>
                <a:spcPct val="107000"/>
              </a:lnSpc>
              <a:spcAft>
                <a:spcPts val="800"/>
              </a:spcAft>
              <a:buFont typeface="Arial" panose="020B0604020202020204" pitchFamily="34" charset="0"/>
              <a:buChar char="•"/>
            </a:pPr>
            <a:r>
              <a:rPr lang="en-IN" sz="1800" dirty="0">
                <a:effectLst/>
                <a:latin typeface="Arial" panose="020B0604020202020204" pitchFamily="34" charset="0"/>
                <a:ea typeface="Calibri" panose="020F0502020204030204" pitchFamily="34" charset="0"/>
                <a:cs typeface="Gautami" panose="020B0502040204020203" pitchFamily="34" charset="0"/>
              </a:rPr>
              <a:t>tensor: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([32,28,28,3])</a:t>
            </a:r>
          </a:p>
        </p:txBody>
      </p:sp>
      <p:sp>
        <p:nvSpPr>
          <p:cNvPr id="14" name="TextBox 13">
            <a:extLst>
              <a:ext uri="{FF2B5EF4-FFF2-40B4-BE49-F238E27FC236}">
                <a16:creationId xmlns:a16="http://schemas.microsoft.com/office/drawing/2014/main" id="{E9531DB4-AA71-7109-C28F-8DEA49C25C59}"/>
              </a:ext>
            </a:extLst>
          </p:cNvPr>
          <p:cNvSpPr txBox="1"/>
          <p:nvPr/>
        </p:nvSpPr>
        <p:spPr>
          <a:xfrm>
            <a:off x="404385" y="3569582"/>
            <a:ext cx="5443330" cy="766172"/>
          </a:xfrm>
          <a:prstGeom prst="rect">
            <a:avLst/>
          </a:prstGeom>
          <a:noFill/>
        </p:spPr>
        <p:txBody>
          <a:bodyPr wrap="square">
            <a:spAutoFit/>
          </a:bodyPr>
          <a:lstStyle/>
          <a:p>
            <a:pPr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Mathematically, each is a superset of the previous: </a:t>
            </a:r>
          </a:p>
          <a:p>
            <a:pPr algn="just">
              <a:lnSpc>
                <a:spcPct val="107000"/>
              </a:lnSpc>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scalars → vectors → matrices → tensors.</a:t>
            </a:r>
          </a:p>
        </p:txBody>
      </p:sp>
    </p:spTree>
    <p:extLst>
      <p:ext uri="{BB962C8B-B14F-4D97-AF65-F5344CB8AC3E}">
        <p14:creationId xmlns:p14="http://schemas.microsoft.com/office/powerpoint/2010/main" val="1709273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AFDEE-A136-7A78-E2F6-4FEC6E407E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7520544-A1AA-134B-C21B-CEC362EAB035}"/>
              </a:ext>
            </a:extLst>
          </p:cNvPr>
          <p:cNvSpPr txBox="1">
            <a:spLocks/>
          </p:cNvSpPr>
          <p:nvPr/>
        </p:nvSpPr>
        <p:spPr>
          <a:xfrm>
            <a:off x="397379" y="769312"/>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Reshaping and Transposing Tensors in TensorFlow </a:t>
            </a:r>
          </a:p>
        </p:txBody>
      </p:sp>
      <p:sp>
        <p:nvSpPr>
          <p:cNvPr id="10" name="Rectangle 1">
            <a:extLst>
              <a:ext uri="{FF2B5EF4-FFF2-40B4-BE49-F238E27FC236}">
                <a16:creationId xmlns:a16="http://schemas.microsoft.com/office/drawing/2014/main" id="{6CD11FD6-B433-12D5-F664-FFD02F86B46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5ED1CA6B-B92F-978B-9755-CB0316D2568E}"/>
              </a:ext>
            </a:extLst>
          </p:cNvPr>
          <p:cNvSpPr txBox="1"/>
          <p:nvPr/>
        </p:nvSpPr>
        <p:spPr>
          <a:xfrm>
            <a:off x="387854" y="1168942"/>
            <a:ext cx="5193796" cy="367216"/>
          </a:xfrm>
          <a:prstGeom prst="rect">
            <a:avLst/>
          </a:prstGeom>
          <a:noFill/>
        </p:spPr>
        <p:txBody>
          <a:bodyPr wrap="square">
            <a:spAutoFit/>
          </a:bodyPr>
          <a:lstStyle/>
          <a:p>
            <a:pPr>
              <a:lnSpc>
                <a:spcPct val="107000"/>
              </a:lnSpc>
              <a:spcBef>
                <a:spcPts val="200"/>
              </a:spcBef>
              <a:buNone/>
            </a:pP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Reshaping Tensors with </a:t>
            </a:r>
            <a:r>
              <a:rPr lang="en-IN" sz="18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tf.reshape</a:t>
            </a: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a:t>
            </a:r>
          </a:p>
        </p:txBody>
      </p:sp>
      <p:sp>
        <p:nvSpPr>
          <p:cNvPr id="11" name="TextBox 10">
            <a:extLst>
              <a:ext uri="{FF2B5EF4-FFF2-40B4-BE49-F238E27FC236}">
                <a16:creationId xmlns:a16="http://schemas.microsoft.com/office/drawing/2014/main" id="{037E91EC-02F6-0182-DC1D-D674FBDE9A95}"/>
              </a:ext>
            </a:extLst>
          </p:cNvPr>
          <p:cNvSpPr txBox="1"/>
          <p:nvPr/>
        </p:nvSpPr>
        <p:spPr>
          <a:xfrm>
            <a:off x="400050" y="1612379"/>
            <a:ext cx="4638675" cy="2646878"/>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Basic Reshaping,</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import </a:t>
            </a:r>
            <a:r>
              <a:rPr lang="en-IN" sz="1800" dirty="0" err="1">
                <a:effectLst/>
                <a:latin typeface="Arial" panose="020B0604020202020204" pitchFamily="34" charset="0"/>
                <a:ea typeface="Calibri" panose="020F0502020204030204" pitchFamily="34" charset="0"/>
                <a:cs typeface="Gautami" panose="020B0502040204020203" pitchFamily="34" charset="0"/>
              </a:rPr>
              <a:t>tensorflow</a:t>
            </a:r>
            <a:r>
              <a:rPr lang="en-IN" sz="1800" dirty="0">
                <a:effectLst/>
                <a:latin typeface="Arial" panose="020B0604020202020204" pitchFamily="34" charset="0"/>
                <a:ea typeface="Calibri" panose="020F0502020204030204" pitchFamily="34" charset="0"/>
                <a:cs typeface="Gautami" panose="020B0502040204020203" pitchFamily="34" charset="0"/>
              </a:rPr>
              <a:t> as </a:t>
            </a:r>
            <a:r>
              <a:rPr lang="en-IN" sz="1800" dirty="0" err="1">
                <a:effectLst/>
                <a:latin typeface="Arial" panose="020B0604020202020204" pitchFamily="34" charset="0"/>
                <a:ea typeface="Calibri" panose="020F0502020204030204" pitchFamily="34" charset="0"/>
                <a:cs typeface="Gautami" panose="020B0502040204020203" pitchFamily="34" charset="0"/>
              </a:rPr>
              <a:t>tf</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x = </a:t>
            </a:r>
            <a:r>
              <a:rPr lang="en-IN" sz="1800" dirty="0" err="1">
                <a:effectLst/>
                <a:latin typeface="Arial" panose="020B0604020202020204" pitchFamily="34" charset="0"/>
                <a:ea typeface="Calibri" panose="020F0502020204030204" pitchFamily="34" charset="0"/>
                <a:cs typeface="Gautami" panose="020B0502040204020203" pitchFamily="34" charset="0"/>
              </a:rPr>
              <a:t>tf.range</a:t>
            </a:r>
            <a:r>
              <a:rPr lang="en-IN" sz="1800" dirty="0">
                <a:effectLst/>
                <a:latin typeface="Arial" panose="020B0604020202020204" pitchFamily="34" charset="0"/>
                <a:ea typeface="Calibri" panose="020F0502020204030204" pitchFamily="34" charset="0"/>
                <a:cs typeface="Gautami" panose="020B0502040204020203" pitchFamily="34" charset="0"/>
              </a:rPr>
              <a:t>(12)      # [0, 1, 2, ..., 11]</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reshaped = </a:t>
            </a:r>
            <a:r>
              <a:rPr lang="en-IN" sz="1800" dirty="0" err="1">
                <a:effectLst/>
                <a:latin typeface="Arial" panose="020B0604020202020204" pitchFamily="34" charset="0"/>
                <a:ea typeface="Calibri" panose="020F0502020204030204" pitchFamily="34" charset="0"/>
                <a:cs typeface="Gautami" panose="020B0502040204020203" pitchFamily="34" charset="0"/>
              </a:rPr>
              <a:t>tf.reshape</a:t>
            </a:r>
            <a:r>
              <a:rPr lang="en-IN" sz="1800" dirty="0">
                <a:effectLst/>
                <a:latin typeface="Arial" panose="020B0604020202020204" pitchFamily="34" charset="0"/>
                <a:ea typeface="Calibri" panose="020F0502020204030204" pitchFamily="34" charset="0"/>
                <a:cs typeface="Gautami" panose="020B0502040204020203" pitchFamily="34" charset="0"/>
              </a:rPr>
              <a:t>(x, [3, 4])</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Here:</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Original shape: (12,)</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New shape: (3, 4) </a:t>
            </a:r>
          </a:p>
        </p:txBody>
      </p:sp>
      <p:sp>
        <p:nvSpPr>
          <p:cNvPr id="15" name="TextBox 14">
            <a:extLst>
              <a:ext uri="{FF2B5EF4-FFF2-40B4-BE49-F238E27FC236}">
                <a16:creationId xmlns:a16="http://schemas.microsoft.com/office/drawing/2014/main" id="{35FB07CE-01CC-69B8-DDF0-FBDE226236B1}"/>
              </a:ext>
            </a:extLst>
          </p:cNvPr>
          <p:cNvSpPr txBox="1"/>
          <p:nvPr/>
        </p:nvSpPr>
        <p:spPr>
          <a:xfrm>
            <a:off x="6003649" y="1181034"/>
            <a:ext cx="6102626" cy="2718693"/>
          </a:xfrm>
          <a:prstGeom prst="rect">
            <a:avLst/>
          </a:prstGeom>
          <a:noFill/>
        </p:spPr>
        <p:txBody>
          <a:bodyPr wrap="square">
            <a:spAutoFit/>
          </a:bodyPr>
          <a:lstStyle/>
          <a:p>
            <a:pPr>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Automatic Dimension Inference (-1)</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TensorFlow allows one dimension to be set to -1, meaning “calculate automatically.”</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x = </a:t>
            </a:r>
            <a:r>
              <a:rPr lang="en-IN" sz="1800" dirty="0" err="1">
                <a:effectLst/>
                <a:latin typeface="Arial" panose="020B0604020202020204" pitchFamily="34" charset="0"/>
                <a:ea typeface="Calibri" panose="020F0502020204030204" pitchFamily="34" charset="0"/>
                <a:cs typeface="Gautami" panose="020B0502040204020203" pitchFamily="34" charset="0"/>
              </a:rPr>
              <a:t>tf.range</a:t>
            </a:r>
            <a:r>
              <a:rPr lang="en-IN" sz="1800" dirty="0">
                <a:effectLst/>
                <a:latin typeface="Arial" panose="020B0604020202020204" pitchFamily="34" charset="0"/>
                <a:ea typeface="Calibri" panose="020F0502020204030204" pitchFamily="34" charset="0"/>
                <a:cs typeface="Gautami" panose="020B0502040204020203" pitchFamily="34" charset="0"/>
              </a:rPr>
              <a:t>(12)</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reshaped = </a:t>
            </a:r>
            <a:r>
              <a:rPr lang="en-IN" sz="1800" dirty="0" err="1">
                <a:effectLst/>
                <a:latin typeface="Arial" panose="020B0604020202020204" pitchFamily="34" charset="0"/>
                <a:ea typeface="Calibri" panose="020F0502020204030204" pitchFamily="34" charset="0"/>
                <a:cs typeface="Gautami" panose="020B0502040204020203" pitchFamily="34" charset="0"/>
              </a:rPr>
              <a:t>tf.reshape</a:t>
            </a:r>
            <a:r>
              <a:rPr lang="en-IN" sz="1800" dirty="0">
                <a:effectLst/>
                <a:latin typeface="Arial" panose="020B0604020202020204" pitchFamily="34" charset="0"/>
                <a:ea typeface="Calibri" panose="020F0502020204030204" pitchFamily="34" charset="0"/>
                <a:cs typeface="Gautami" panose="020B0502040204020203" pitchFamily="34" charset="0"/>
              </a:rPr>
              <a:t>(x, [-1, 6])</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TensorFlow infers that the missing dimension is 2, because 12 ÷ 6 = 2.</a:t>
            </a:r>
            <a:br>
              <a:rPr lang="en-IN" sz="1800" dirty="0">
                <a:effectLst/>
                <a:latin typeface="Arial" panose="020B0604020202020204" pitchFamily="34" charset="0"/>
                <a:ea typeface="Calibri" panose="020F0502020204030204" pitchFamily="34" charset="0"/>
                <a:cs typeface="Gautami" panose="020B0502040204020203" pitchFamily="34" charset="0"/>
              </a:rPr>
            </a:br>
            <a:r>
              <a:rPr lang="en-IN" sz="1800" b="1" dirty="0">
                <a:effectLst/>
                <a:latin typeface="Arial" panose="020B0604020202020204" pitchFamily="34" charset="0"/>
                <a:ea typeface="Calibri" panose="020F0502020204030204" pitchFamily="34" charset="0"/>
                <a:cs typeface="Gautami" panose="020B0502040204020203" pitchFamily="34" charset="0"/>
              </a:rPr>
              <a:t>Resulting shape: </a:t>
            </a:r>
            <a:r>
              <a:rPr lang="en-IN" sz="1800" dirty="0">
                <a:effectLst/>
                <a:latin typeface="Arial" panose="020B0604020202020204" pitchFamily="34" charset="0"/>
                <a:ea typeface="Calibri" panose="020F0502020204030204" pitchFamily="34" charset="0"/>
                <a:cs typeface="Gautami" panose="020B0502040204020203" pitchFamily="34" charset="0"/>
              </a:rPr>
              <a:t>(2, 6)</a:t>
            </a:r>
          </a:p>
        </p:txBody>
      </p:sp>
      <p:sp>
        <p:nvSpPr>
          <p:cNvPr id="17" name="TextBox 16">
            <a:extLst>
              <a:ext uri="{FF2B5EF4-FFF2-40B4-BE49-F238E27FC236}">
                <a16:creationId xmlns:a16="http://schemas.microsoft.com/office/drawing/2014/main" id="{5764A36E-F702-13DD-94D7-B0FC448503A9}"/>
              </a:ext>
            </a:extLst>
          </p:cNvPr>
          <p:cNvSpPr txBox="1"/>
          <p:nvPr/>
        </p:nvSpPr>
        <p:spPr>
          <a:xfrm>
            <a:off x="6019385" y="3956033"/>
            <a:ext cx="5820190" cy="2339102"/>
          </a:xfrm>
          <a:prstGeom prst="rect">
            <a:avLst/>
          </a:prstGeom>
          <a:noFill/>
        </p:spPr>
        <p:txBody>
          <a:bodyPr wrap="square">
            <a:spAutoFit/>
          </a:bodyPr>
          <a:lstStyle/>
          <a:p>
            <a:pPr>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Reshaping for Neural Networks</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Images are often stored as 3D tensors (height, width, channels), but dense (fully connected) layers require 1D vectors.</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image =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([28, 28, 1])  # grayscale image</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flat = </a:t>
            </a:r>
            <a:r>
              <a:rPr lang="en-IN" sz="1800" dirty="0" err="1">
                <a:effectLst/>
                <a:latin typeface="Arial" panose="020B0604020202020204" pitchFamily="34" charset="0"/>
                <a:ea typeface="Calibri" panose="020F0502020204030204" pitchFamily="34" charset="0"/>
                <a:cs typeface="Gautami" panose="020B0502040204020203" pitchFamily="34" charset="0"/>
              </a:rPr>
              <a:t>tf.reshape</a:t>
            </a:r>
            <a:r>
              <a:rPr lang="en-IN" sz="1800" dirty="0">
                <a:effectLst/>
                <a:latin typeface="Arial" panose="020B0604020202020204" pitchFamily="34" charset="0"/>
                <a:ea typeface="Calibri" panose="020F0502020204030204" pitchFamily="34" charset="0"/>
                <a:cs typeface="Gautami" panose="020B0502040204020203" pitchFamily="34" charset="0"/>
              </a:rPr>
              <a:t>(image, [784])        # flattening</a:t>
            </a:r>
          </a:p>
        </p:txBody>
      </p:sp>
    </p:spTree>
    <p:extLst>
      <p:ext uri="{BB962C8B-B14F-4D97-AF65-F5344CB8AC3E}">
        <p14:creationId xmlns:p14="http://schemas.microsoft.com/office/powerpoint/2010/main" val="269026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0900D-61C0-C22F-EAC0-C503D05BB0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7667B4-AC13-D809-DFCE-9808894EA87A}"/>
              </a:ext>
            </a:extLst>
          </p:cNvPr>
          <p:cNvSpPr txBox="1">
            <a:spLocks/>
          </p:cNvSpPr>
          <p:nvPr/>
        </p:nvSpPr>
        <p:spPr>
          <a:xfrm>
            <a:off x="39737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Reshaping and Transposing Tensors in TensorFlow </a:t>
            </a:r>
          </a:p>
        </p:txBody>
      </p:sp>
      <p:sp>
        <p:nvSpPr>
          <p:cNvPr id="10" name="Rectangle 1">
            <a:extLst>
              <a:ext uri="{FF2B5EF4-FFF2-40B4-BE49-F238E27FC236}">
                <a16:creationId xmlns:a16="http://schemas.microsoft.com/office/drawing/2014/main" id="{EB2EB934-A136-E781-CE4A-8332DD5612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44C5617E-00AB-04DB-FC16-DC3044B97711}"/>
              </a:ext>
            </a:extLst>
          </p:cNvPr>
          <p:cNvSpPr txBox="1"/>
          <p:nvPr/>
        </p:nvSpPr>
        <p:spPr>
          <a:xfrm>
            <a:off x="397379" y="1181034"/>
            <a:ext cx="6102626" cy="367216"/>
          </a:xfrm>
          <a:prstGeom prst="rect">
            <a:avLst/>
          </a:prstGeom>
          <a:noFill/>
        </p:spPr>
        <p:txBody>
          <a:bodyPr wrap="square">
            <a:spAutoFit/>
          </a:bodyPr>
          <a:lstStyle/>
          <a:p>
            <a:pPr algn="just">
              <a:lnSpc>
                <a:spcPct val="107000"/>
              </a:lnSpc>
              <a:spcBef>
                <a:spcPts val="200"/>
              </a:spcBef>
              <a:buNone/>
            </a:pP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Transposing Tensors with </a:t>
            </a:r>
            <a:r>
              <a:rPr lang="en-IN" sz="1800" b="1" dirty="0" err="1">
                <a:solidFill>
                  <a:srgbClr val="000000"/>
                </a:solidFill>
                <a:effectLst/>
                <a:latin typeface="Arial" panose="020B0604020202020204" pitchFamily="34" charset="0"/>
                <a:ea typeface="MS Gothic" panose="020B0609070205080204" pitchFamily="49" charset="-128"/>
                <a:cs typeface="Gautami" panose="020B0502040204020203" pitchFamily="34" charset="0"/>
              </a:rPr>
              <a:t>tf.transpose</a:t>
            </a: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a:t>
            </a:r>
          </a:p>
        </p:txBody>
      </p:sp>
      <p:sp>
        <p:nvSpPr>
          <p:cNvPr id="12" name="TextBox 11">
            <a:extLst>
              <a:ext uri="{FF2B5EF4-FFF2-40B4-BE49-F238E27FC236}">
                <a16:creationId xmlns:a16="http://schemas.microsoft.com/office/drawing/2014/main" id="{2F15C912-F376-5AC2-6A99-AC907DC12CB8}"/>
              </a:ext>
            </a:extLst>
          </p:cNvPr>
          <p:cNvSpPr txBox="1"/>
          <p:nvPr/>
        </p:nvSpPr>
        <p:spPr>
          <a:xfrm>
            <a:off x="404854" y="1679210"/>
            <a:ext cx="4431306" cy="2164695"/>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Basic Matrix Transpose</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m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[4, 5, 6]])</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 = </a:t>
            </a:r>
            <a:r>
              <a:rPr lang="en-IN" sz="1800" dirty="0" err="1">
                <a:effectLst/>
                <a:latin typeface="Arial" panose="020B0604020202020204" pitchFamily="34" charset="0"/>
                <a:ea typeface="Calibri" panose="020F0502020204030204" pitchFamily="34" charset="0"/>
                <a:cs typeface="Gautami" panose="020B0502040204020203" pitchFamily="34" charset="0"/>
              </a:rPr>
              <a:t>tf.transpose</a:t>
            </a:r>
            <a:r>
              <a:rPr lang="en-IN" sz="1800" dirty="0">
                <a:effectLst/>
                <a:latin typeface="Arial" panose="020B0604020202020204" pitchFamily="34" charset="0"/>
                <a:ea typeface="Calibri" panose="020F0502020204030204" pitchFamily="34" charset="0"/>
                <a:cs typeface="Gautami" panose="020B0502040204020203" pitchFamily="34" charset="0"/>
              </a:rPr>
              <a:t>(m)</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Original shape: (2, 3)</a:t>
            </a:r>
            <a:br>
              <a:rPr lang="en-IN" sz="1800" dirty="0">
                <a:effectLst/>
                <a:latin typeface="Arial" panose="020B0604020202020204" pitchFamily="34" charset="0"/>
                <a:ea typeface="Calibri" panose="020F0502020204030204" pitchFamily="34" charset="0"/>
                <a:cs typeface="Gautami" panose="020B0502040204020203" pitchFamily="34" charset="0"/>
              </a:rPr>
            </a:br>
            <a:r>
              <a:rPr lang="en-IN" sz="1800" dirty="0">
                <a:effectLst/>
                <a:latin typeface="Arial" panose="020B0604020202020204" pitchFamily="34" charset="0"/>
                <a:ea typeface="Calibri" panose="020F0502020204030204" pitchFamily="34" charset="0"/>
                <a:cs typeface="Gautami" panose="020B0502040204020203" pitchFamily="34" charset="0"/>
              </a:rPr>
              <a:t>Transposed shape: (3, 2)</a:t>
            </a:r>
          </a:p>
        </p:txBody>
      </p:sp>
      <p:sp>
        <p:nvSpPr>
          <p:cNvPr id="14" name="TextBox 13">
            <a:extLst>
              <a:ext uri="{FF2B5EF4-FFF2-40B4-BE49-F238E27FC236}">
                <a16:creationId xmlns:a16="http://schemas.microsoft.com/office/drawing/2014/main" id="{94EBAD1B-D0E1-0B97-3E53-751788357111}"/>
              </a:ext>
            </a:extLst>
          </p:cNvPr>
          <p:cNvSpPr txBox="1"/>
          <p:nvPr/>
        </p:nvSpPr>
        <p:spPr>
          <a:xfrm>
            <a:off x="6024880" y="1186887"/>
            <a:ext cx="4998720" cy="367216"/>
          </a:xfrm>
          <a:prstGeom prst="rect">
            <a:avLst/>
          </a:prstGeom>
          <a:noFill/>
        </p:spPr>
        <p:txBody>
          <a:bodyPr wrap="square">
            <a:spAutoFit/>
          </a:bodyPr>
          <a:lstStyle/>
          <a:p>
            <a:pPr>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Transposing Higher-Dimensional Tensors</a:t>
            </a:r>
            <a:endParaRPr lang="en-IN" sz="1800" dirty="0">
              <a:effectLst/>
              <a:latin typeface="Arial" panose="020B0604020202020204" pitchFamily="34" charset="0"/>
              <a:ea typeface="Calibri" panose="020F0502020204030204" pitchFamily="34" charset="0"/>
              <a:cs typeface="Gautami" panose="020B0502040204020203" pitchFamily="34" charset="0"/>
            </a:endParaRPr>
          </a:p>
        </p:txBody>
      </p:sp>
      <p:sp>
        <p:nvSpPr>
          <p:cNvPr id="18" name="TextBox 17">
            <a:extLst>
              <a:ext uri="{FF2B5EF4-FFF2-40B4-BE49-F238E27FC236}">
                <a16:creationId xmlns:a16="http://schemas.microsoft.com/office/drawing/2014/main" id="{B3F3D3C9-B2DB-0904-9631-9952160E7DAA}"/>
              </a:ext>
            </a:extLst>
          </p:cNvPr>
          <p:cNvSpPr txBox="1"/>
          <p:nvPr/>
        </p:nvSpPr>
        <p:spPr>
          <a:xfrm>
            <a:off x="6004560" y="1556158"/>
            <a:ext cx="5811520" cy="1785104"/>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A 3D tensor (batch, height, width) can be rearranged:</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tensor3d =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([10, 28, 28])</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 = </a:t>
            </a:r>
            <a:r>
              <a:rPr lang="en-IN" sz="1800" dirty="0" err="1">
                <a:effectLst/>
                <a:latin typeface="Arial" panose="020B0604020202020204" pitchFamily="34" charset="0"/>
                <a:ea typeface="Calibri" panose="020F0502020204030204" pitchFamily="34" charset="0"/>
                <a:cs typeface="Gautami" panose="020B0502040204020203" pitchFamily="34" charset="0"/>
              </a:rPr>
              <a:t>tf.transpose</a:t>
            </a:r>
            <a:r>
              <a:rPr lang="en-IN" sz="1800" dirty="0">
                <a:effectLst/>
                <a:latin typeface="Arial" panose="020B0604020202020204" pitchFamily="34" charset="0"/>
                <a:ea typeface="Calibri" panose="020F0502020204030204" pitchFamily="34" charset="0"/>
                <a:cs typeface="Gautami" panose="020B0502040204020203" pitchFamily="34" charset="0"/>
              </a:rPr>
              <a:t>(tensor3d, perm=[0, 2, 1])</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The perm argument defines how axes are reordered.</a:t>
            </a:r>
            <a:br>
              <a:rPr lang="en-IN" sz="1800" dirty="0">
                <a:effectLst/>
                <a:latin typeface="Arial" panose="020B0604020202020204" pitchFamily="34" charset="0"/>
                <a:ea typeface="Calibri" panose="020F0502020204030204" pitchFamily="34" charset="0"/>
                <a:cs typeface="Gautami" panose="020B0502040204020203" pitchFamily="34" charset="0"/>
              </a:rPr>
            </a:br>
            <a:r>
              <a:rPr lang="en-IN" sz="1800" dirty="0">
                <a:effectLst/>
                <a:latin typeface="Arial" panose="020B0604020202020204" pitchFamily="34" charset="0"/>
                <a:ea typeface="Calibri" panose="020F0502020204030204" pitchFamily="34" charset="0"/>
                <a:cs typeface="Gautami" panose="020B0502040204020203" pitchFamily="34" charset="0"/>
              </a:rPr>
              <a:t>Here, height and width axes are swapped. </a:t>
            </a:r>
          </a:p>
        </p:txBody>
      </p:sp>
    </p:spTree>
    <p:extLst>
      <p:ext uri="{BB962C8B-B14F-4D97-AF65-F5344CB8AC3E}">
        <p14:creationId xmlns:p14="http://schemas.microsoft.com/office/powerpoint/2010/main" val="115557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1F82-5864-DCB6-E2BF-708246FD2B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F34B35-85C1-721C-6472-9020A5B62BB4}"/>
              </a:ext>
            </a:extLst>
          </p:cNvPr>
          <p:cNvSpPr txBox="1">
            <a:spLocks/>
          </p:cNvSpPr>
          <p:nvPr/>
        </p:nvSpPr>
        <p:spPr>
          <a:xfrm>
            <a:off x="40118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Slicing and Indexing Tensors in TensorFlow </a:t>
            </a:r>
          </a:p>
        </p:txBody>
      </p:sp>
      <p:sp>
        <p:nvSpPr>
          <p:cNvPr id="10" name="Rectangle 1">
            <a:extLst>
              <a:ext uri="{FF2B5EF4-FFF2-40B4-BE49-F238E27FC236}">
                <a16:creationId xmlns:a16="http://schemas.microsoft.com/office/drawing/2014/main" id="{02D4BBE6-7B6E-28B7-E883-F4DE1B47F97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TextBox 5">
            <a:extLst>
              <a:ext uri="{FF2B5EF4-FFF2-40B4-BE49-F238E27FC236}">
                <a16:creationId xmlns:a16="http://schemas.microsoft.com/office/drawing/2014/main" id="{22FC3716-BA6D-0908-E408-C84031D8292B}"/>
              </a:ext>
            </a:extLst>
          </p:cNvPr>
          <p:cNvSpPr txBox="1"/>
          <p:nvPr/>
        </p:nvSpPr>
        <p:spPr>
          <a:xfrm>
            <a:off x="391029" y="1184554"/>
            <a:ext cx="6102626" cy="367216"/>
          </a:xfrm>
          <a:prstGeom prst="rect">
            <a:avLst/>
          </a:prstGeom>
          <a:noFill/>
        </p:spPr>
        <p:txBody>
          <a:bodyPr wrap="square">
            <a:spAutoFit/>
          </a:bodyPr>
          <a:lstStyle/>
          <a:p>
            <a:pPr>
              <a:lnSpc>
                <a:spcPct val="107000"/>
              </a:lnSpc>
              <a:spcBef>
                <a:spcPts val="200"/>
              </a:spcBef>
              <a:buNone/>
            </a:pPr>
            <a:r>
              <a:rPr lang="en-IN" sz="1800" b="1" dirty="0">
                <a:solidFill>
                  <a:srgbClr val="000000"/>
                </a:solidFill>
                <a:effectLst/>
                <a:latin typeface="Arial" panose="020B0604020202020204" pitchFamily="34" charset="0"/>
                <a:ea typeface="MS Gothic" panose="020B0609070205080204" pitchFamily="49" charset="-128"/>
                <a:cs typeface="Gautami" panose="020B0502040204020203" pitchFamily="34" charset="0"/>
              </a:rPr>
              <a:t>Extracting elements using indexing</a:t>
            </a:r>
          </a:p>
        </p:txBody>
      </p:sp>
      <p:sp>
        <p:nvSpPr>
          <p:cNvPr id="11" name="TextBox 10">
            <a:extLst>
              <a:ext uri="{FF2B5EF4-FFF2-40B4-BE49-F238E27FC236}">
                <a16:creationId xmlns:a16="http://schemas.microsoft.com/office/drawing/2014/main" id="{76E13DE9-A8F0-ABA1-D02A-1A4E87EC43C1}"/>
              </a:ext>
            </a:extLst>
          </p:cNvPr>
          <p:cNvSpPr txBox="1"/>
          <p:nvPr/>
        </p:nvSpPr>
        <p:spPr>
          <a:xfrm>
            <a:off x="409451" y="1643897"/>
            <a:ext cx="5686549" cy="2441694"/>
          </a:xfrm>
          <a:prstGeom prst="rect">
            <a:avLst/>
          </a:prstGeom>
          <a:noFill/>
        </p:spPr>
        <p:txBody>
          <a:bodyPr wrap="square">
            <a:spAutoFit/>
          </a:bodyPr>
          <a:lstStyle/>
          <a:p>
            <a:pPr>
              <a:spcAft>
                <a:spcPts val="800"/>
              </a:spcAft>
              <a:buNone/>
            </a:pPr>
            <a:r>
              <a:rPr lang="en-IN" sz="1800" b="1" dirty="0">
                <a:effectLst/>
                <a:latin typeface="Arial" panose="020B0604020202020204" pitchFamily="34" charset="0"/>
                <a:ea typeface="Calibri" panose="020F0502020204030204" pitchFamily="34" charset="0"/>
                <a:cs typeface="Gautami" panose="020B0502040204020203" pitchFamily="34" charset="0"/>
              </a:rPr>
              <a:t>Using </a:t>
            </a:r>
            <a:r>
              <a:rPr lang="en-IN" sz="1800" b="1" dirty="0" err="1">
                <a:effectLst/>
                <a:latin typeface="Arial" panose="020B0604020202020204" pitchFamily="34" charset="0"/>
                <a:ea typeface="Calibri" panose="020F0502020204030204" pitchFamily="34" charset="0"/>
                <a:cs typeface="Gautami" panose="020B0502040204020203" pitchFamily="34" charset="0"/>
              </a:rPr>
              <a:t>tf.gather</a:t>
            </a:r>
            <a:r>
              <a:rPr lang="en-IN" sz="1800" b="1" dirty="0">
                <a:effectLst/>
                <a:latin typeface="Arial" panose="020B0604020202020204" pitchFamily="34" charset="0"/>
                <a:ea typeface="Calibri" panose="020F0502020204030204" pitchFamily="34" charset="0"/>
                <a:cs typeface="Gautami" panose="020B0502040204020203" pitchFamily="34" charset="0"/>
              </a:rPr>
              <a:t>()</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Used to extract elements along a specific axis using index values.</a:t>
            </a:r>
          </a:p>
          <a:p>
            <a:pPr marL="228600" lvl="0" indent="-228600">
              <a:spcAft>
                <a:spcPts val="800"/>
              </a:spcAft>
              <a:buSzPct val="100000"/>
              <a:buFont typeface="Arial" panose="020B0604020202020204" pitchFamily="34" charset="0"/>
              <a:buChar char="•"/>
              <a:tabLst>
                <a:tab pos="457200" algn="l"/>
              </a:tabLst>
            </a:pPr>
            <a:r>
              <a:rPr lang="en-IN" sz="1800" dirty="0">
                <a:effectLst/>
                <a:latin typeface="Arial" panose="020B0604020202020204" pitchFamily="34" charset="0"/>
                <a:ea typeface="Calibri" panose="020F0502020204030204" pitchFamily="34" charset="0"/>
                <a:cs typeface="Gautami" panose="020B0502040204020203" pitchFamily="34" charset="0"/>
              </a:rPr>
              <a:t>Often used when you need non-consecutive or repeated indices.</a:t>
            </a:r>
          </a:p>
          <a:p>
            <a:pPr marL="2286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Syntax:</a:t>
            </a:r>
          </a:p>
          <a:p>
            <a:pPr marL="2286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a:t>
            </a:r>
            <a:r>
              <a:rPr lang="en-IN" sz="1800" dirty="0" err="1">
                <a:effectLst/>
                <a:latin typeface="Arial" panose="020B0604020202020204" pitchFamily="34" charset="0"/>
                <a:ea typeface="Calibri" panose="020F0502020204030204" pitchFamily="34" charset="0"/>
                <a:cs typeface="Gautami" panose="020B0502040204020203" pitchFamily="34" charset="0"/>
              </a:rPr>
              <a:t>tf.gather</a:t>
            </a:r>
            <a:r>
              <a:rPr lang="en-IN" sz="1800" dirty="0">
                <a:effectLst/>
                <a:latin typeface="Arial" panose="020B0604020202020204" pitchFamily="34" charset="0"/>
                <a:ea typeface="Calibri" panose="020F0502020204030204" pitchFamily="34" charset="0"/>
                <a:cs typeface="Gautami" panose="020B0502040204020203" pitchFamily="34" charset="0"/>
              </a:rPr>
              <a:t>(tensor, indices, axis=0) </a:t>
            </a:r>
          </a:p>
        </p:txBody>
      </p:sp>
      <p:sp>
        <p:nvSpPr>
          <p:cNvPr id="15" name="TextBox 14">
            <a:extLst>
              <a:ext uri="{FF2B5EF4-FFF2-40B4-BE49-F238E27FC236}">
                <a16:creationId xmlns:a16="http://schemas.microsoft.com/office/drawing/2014/main" id="{3F304521-2652-5F11-5086-4732C31D1E31}"/>
              </a:ext>
            </a:extLst>
          </p:cNvPr>
          <p:cNvSpPr txBox="1"/>
          <p:nvPr/>
        </p:nvSpPr>
        <p:spPr>
          <a:xfrm>
            <a:off x="676784" y="4205726"/>
            <a:ext cx="5419216" cy="1165127"/>
          </a:xfrm>
          <a:prstGeom prst="rect">
            <a:avLst/>
          </a:prstGeom>
          <a:noFill/>
        </p:spPr>
        <p:txBody>
          <a:bodyPr wrap="square">
            <a:spAutoFit/>
          </a:bodyPr>
          <a:lstStyle/>
          <a:p>
            <a:pPr algn="just">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Example: </a:t>
            </a:r>
          </a:p>
          <a:p>
            <a:pPr marL="457200" algn="just">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x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([10, 20, 30, 40])</a:t>
            </a:r>
          </a:p>
          <a:p>
            <a:pPr marL="457200" algn="just">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tf.gather</a:t>
            </a:r>
            <a:r>
              <a:rPr lang="en-IN" sz="1800" dirty="0">
                <a:effectLst/>
                <a:latin typeface="Arial" panose="020B0604020202020204" pitchFamily="34" charset="0"/>
                <a:ea typeface="Calibri" panose="020F0502020204030204" pitchFamily="34" charset="0"/>
                <a:cs typeface="Gautami" panose="020B0502040204020203" pitchFamily="34" charset="0"/>
              </a:rPr>
              <a:t>(x, [0, 2])   # → [10, 30]</a:t>
            </a:r>
          </a:p>
        </p:txBody>
      </p:sp>
      <p:sp>
        <p:nvSpPr>
          <p:cNvPr id="17" name="TextBox 16">
            <a:extLst>
              <a:ext uri="{FF2B5EF4-FFF2-40B4-BE49-F238E27FC236}">
                <a16:creationId xmlns:a16="http://schemas.microsoft.com/office/drawing/2014/main" id="{4F78A676-E74D-F156-6131-673B9D037C42}"/>
              </a:ext>
            </a:extLst>
          </p:cNvPr>
          <p:cNvSpPr txBox="1"/>
          <p:nvPr/>
        </p:nvSpPr>
        <p:spPr>
          <a:xfrm>
            <a:off x="6520291" y="1186083"/>
            <a:ext cx="5377069" cy="4924425"/>
          </a:xfrm>
          <a:prstGeom prst="rect">
            <a:avLst/>
          </a:prstGeom>
          <a:noFill/>
        </p:spPr>
        <p:txBody>
          <a:bodyPr wrap="square">
            <a:spAutoFit/>
          </a:bodyPr>
          <a:lstStyle/>
          <a:p>
            <a:pPr>
              <a:spcAft>
                <a:spcPts val="800"/>
              </a:spcAft>
              <a:buNone/>
            </a:pPr>
            <a:r>
              <a:rPr lang="en-IN" b="1" dirty="0">
                <a:effectLst/>
                <a:latin typeface="Arial" panose="020B0604020202020204" pitchFamily="34" charset="0"/>
                <a:ea typeface="Calibri" panose="020F0502020204030204" pitchFamily="34" charset="0"/>
                <a:cs typeface="Gautami" panose="020B0502040204020203" pitchFamily="34" charset="0"/>
              </a:rPr>
              <a:t>Using </a:t>
            </a:r>
            <a:r>
              <a:rPr lang="en-IN" b="1" dirty="0" err="1">
                <a:effectLst/>
                <a:latin typeface="Arial" panose="020B0604020202020204" pitchFamily="34" charset="0"/>
                <a:ea typeface="Calibri" panose="020F0502020204030204" pitchFamily="34" charset="0"/>
                <a:cs typeface="Gautami" panose="020B0502040204020203" pitchFamily="34" charset="0"/>
              </a:rPr>
              <a:t>tf.slice</a:t>
            </a:r>
            <a:r>
              <a:rPr lang="en-IN" b="1" dirty="0">
                <a:effectLst/>
                <a:latin typeface="Arial" panose="020B0604020202020204" pitchFamily="34" charset="0"/>
                <a:ea typeface="Calibri" panose="020F0502020204030204" pitchFamily="34" charset="0"/>
                <a:cs typeface="Gautami" panose="020B0502040204020203" pitchFamily="34" charset="0"/>
              </a:rPr>
              <a:t>()</a:t>
            </a:r>
            <a:endParaRPr lang="en-IN" dirty="0">
              <a:effectLst/>
              <a:latin typeface="Arial" panose="020B0604020202020204" pitchFamily="34" charset="0"/>
              <a:ea typeface="Calibri" panose="020F0502020204030204" pitchFamily="34" charset="0"/>
              <a:cs typeface="Gautami" panose="020B0502040204020203" pitchFamily="34" charset="0"/>
            </a:endParaRPr>
          </a:p>
          <a:p>
            <a:pPr marL="228600" lvl="0" indent="-228600">
              <a:spcAft>
                <a:spcPts val="800"/>
              </a:spcAft>
              <a:buSzPct val="100000"/>
              <a:buFont typeface="Arial" panose="020B0604020202020204" pitchFamily="34" charset="0"/>
              <a:buChar char="•"/>
              <a:tabLst>
                <a:tab pos="457200" algn="l"/>
              </a:tabLst>
            </a:pPr>
            <a:r>
              <a:rPr lang="en-IN" dirty="0">
                <a:effectLst/>
                <a:latin typeface="Arial" panose="020B0604020202020204" pitchFamily="34" charset="0"/>
                <a:ea typeface="Calibri" panose="020F0502020204030204" pitchFamily="34" charset="0"/>
                <a:cs typeface="Gautami" panose="020B0502040204020203" pitchFamily="34" charset="0"/>
              </a:rPr>
              <a:t>Extracts a continuous block (slice) from a tensor.</a:t>
            </a:r>
          </a:p>
          <a:p>
            <a:pPr lvl="0">
              <a:spcAft>
                <a:spcPts val="800"/>
              </a:spcAft>
              <a:buSzPct val="100000"/>
              <a:tabLst>
                <a:tab pos="457200" algn="l"/>
              </a:tabLst>
            </a:pPr>
            <a:r>
              <a:rPr lang="en-IN" b="1" dirty="0">
                <a:effectLst/>
                <a:latin typeface="Arial" panose="020B0604020202020204" pitchFamily="34" charset="0"/>
                <a:ea typeface="Calibri" panose="020F0502020204030204" pitchFamily="34" charset="0"/>
                <a:cs typeface="Gautami" panose="020B0502040204020203" pitchFamily="34" charset="0"/>
              </a:rPr>
              <a:t>You specify:</a:t>
            </a:r>
          </a:p>
          <a:p>
            <a:pPr marL="742950" lvl="1" indent="-228600">
              <a:spcAft>
                <a:spcPts val="800"/>
              </a:spcAft>
              <a:buSzPct val="100000"/>
              <a:buFont typeface="Arial" panose="020B0604020202020204" pitchFamily="34" charset="0"/>
              <a:buChar char="•"/>
              <a:tabLst>
                <a:tab pos="914400" algn="l"/>
              </a:tabLst>
            </a:pPr>
            <a:r>
              <a:rPr lang="en-IN" dirty="0">
                <a:effectLst/>
                <a:latin typeface="Arial" panose="020B0604020202020204" pitchFamily="34" charset="0"/>
                <a:ea typeface="Calibri" panose="020F0502020204030204" pitchFamily="34" charset="0"/>
                <a:cs typeface="Times New Roman" panose="02020603050405020304" pitchFamily="18" charset="0"/>
              </a:rPr>
              <a:t>start position</a:t>
            </a:r>
          </a:p>
          <a:p>
            <a:pPr marL="742950" lvl="1" indent="-228600">
              <a:spcAft>
                <a:spcPts val="800"/>
              </a:spcAft>
              <a:buSzPct val="100000"/>
              <a:buFont typeface="Arial" panose="020B0604020202020204" pitchFamily="34" charset="0"/>
              <a:buChar char="•"/>
              <a:tabLst>
                <a:tab pos="914400" algn="l"/>
              </a:tabLst>
            </a:pPr>
            <a:r>
              <a:rPr lang="en-IN" dirty="0">
                <a:effectLst/>
                <a:latin typeface="Arial" panose="020B0604020202020204" pitchFamily="34" charset="0"/>
                <a:ea typeface="Calibri" panose="020F0502020204030204" pitchFamily="34" charset="0"/>
                <a:cs typeface="Times New Roman" panose="02020603050405020304" pitchFamily="18" charset="0"/>
              </a:rPr>
              <a:t>size (how many elements to extract)</a:t>
            </a:r>
          </a:p>
          <a:p>
            <a:pPr indent="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Syntax: </a:t>
            </a:r>
            <a:r>
              <a:rPr lang="en-IN" dirty="0" err="1">
                <a:effectLst/>
                <a:latin typeface="Arial" panose="020B0604020202020204" pitchFamily="34" charset="0"/>
                <a:ea typeface="Calibri" panose="020F0502020204030204" pitchFamily="34" charset="0"/>
                <a:cs typeface="Gautami" panose="020B0502040204020203" pitchFamily="34" charset="0"/>
              </a:rPr>
              <a:t>tf.slice</a:t>
            </a:r>
            <a:r>
              <a:rPr lang="en-IN" dirty="0">
                <a:effectLst/>
                <a:latin typeface="Arial" panose="020B0604020202020204" pitchFamily="34" charset="0"/>
                <a:ea typeface="Calibri" panose="020F0502020204030204" pitchFamily="34" charset="0"/>
                <a:cs typeface="Gautami" panose="020B0502040204020203" pitchFamily="34" charset="0"/>
              </a:rPr>
              <a:t>(tensor, begin, size) </a:t>
            </a:r>
          </a:p>
          <a:p>
            <a:pPr>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Example:</a:t>
            </a:r>
          </a:p>
          <a:p>
            <a:pPr marL="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x = </a:t>
            </a:r>
            <a:r>
              <a:rPr lang="en-IN" dirty="0" err="1">
                <a:effectLst/>
                <a:latin typeface="Arial" panose="020B0604020202020204" pitchFamily="34" charset="0"/>
                <a:ea typeface="Calibri" panose="020F0502020204030204" pitchFamily="34" charset="0"/>
                <a:cs typeface="Gautami" panose="020B0502040204020203" pitchFamily="34" charset="0"/>
              </a:rPr>
              <a:t>tf.constant</a:t>
            </a:r>
            <a:r>
              <a:rPr lang="en-IN" dirty="0">
                <a:effectLst/>
                <a:latin typeface="Arial" panose="020B0604020202020204" pitchFamily="34" charset="0"/>
                <a:ea typeface="Calibri" panose="020F0502020204030204" pitchFamily="34" charset="0"/>
                <a:cs typeface="Gautami" panose="020B0502040204020203" pitchFamily="34" charset="0"/>
              </a:rPr>
              <a:t>([[1, 2, 3],</a:t>
            </a:r>
          </a:p>
          <a:p>
            <a:pPr marL="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                 [4, 5, 6],</a:t>
            </a:r>
          </a:p>
          <a:p>
            <a:pPr marL="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                 [7, 8, 9]])</a:t>
            </a:r>
          </a:p>
          <a:p>
            <a:pPr marL="457200">
              <a:spcAft>
                <a:spcPts val="800"/>
              </a:spcAft>
              <a:buNone/>
            </a:pPr>
            <a:r>
              <a:rPr lang="en-IN" dirty="0" err="1">
                <a:effectLst/>
                <a:latin typeface="Arial" panose="020B0604020202020204" pitchFamily="34" charset="0"/>
                <a:ea typeface="Calibri" panose="020F0502020204030204" pitchFamily="34" charset="0"/>
                <a:cs typeface="Gautami" panose="020B0502040204020203" pitchFamily="34" charset="0"/>
              </a:rPr>
              <a:t>tf.slice</a:t>
            </a:r>
            <a:r>
              <a:rPr lang="en-IN" dirty="0">
                <a:effectLst/>
                <a:latin typeface="Arial" panose="020B0604020202020204" pitchFamily="34" charset="0"/>
                <a:ea typeface="Calibri" panose="020F0502020204030204" pitchFamily="34" charset="0"/>
                <a:cs typeface="Gautami" panose="020B0502040204020203" pitchFamily="34" charset="0"/>
              </a:rPr>
              <a:t>(x, [0, 1], [2, 2])</a:t>
            </a:r>
          </a:p>
          <a:p>
            <a:pPr marL="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 → [[2, 3],</a:t>
            </a:r>
          </a:p>
          <a:p>
            <a:pPr marL="457200">
              <a:spcAft>
                <a:spcPts val="800"/>
              </a:spcAft>
              <a:buNone/>
            </a:pPr>
            <a:r>
              <a:rPr lang="en-IN" dirty="0">
                <a:effectLst/>
                <a:latin typeface="Arial" panose="020B0604020202020204" pitchFamily="34" charset="0"/>
                <a:ea typeface="Calibri" panose="020F0502020204030204" pitchFamily="34" charset="0"/>
                <a:cs typeface="Gautami" panose="020B0502040204020203" pitchFamily="34" charset="0"/>
              </a:rPr>
              <a:t>#    [5, 6]]</a:t>
            </a:r>
          </a:p>
        </p:txBody>
      </p:sp>
    </p:spTree>
    <p:extLst>
      <p:ext uri="{BB962C8B-B14F-4D97-AF65-F5344CB8AC3E}">
        <p14:creationId xmlns:p14="http://schemas.microsoft.com/office/powerpoint/2010/main" val="37359121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8771D-D8BE-3680-41CD-AFF2AD59AA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173235-3504-2C6D-37D3-5DC67DE67E59}"/>
              </a:ext>
            </a:extLst>
          </p:cNvPr>
          <p:cNvSpPr txBox="1">
            <a:spLocks/>
          </p:cNvSpPr>
          <p:nvPr/>
        </p:nvSpPr>
        <p:spPr>
          <a:xfrm>
            <a:off x="40118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GPU Acceleration &amp; Tensor Placement</a:t>
            </a:r>
          </a:p>
        </p:txBody>
      </p:sp>
      <p:sp>
        <p:nvSpPr>
          <p:cNvPr id="10" name="Rectangle 1">
            <a:extLst>
              <a:ext uri="{FF2B5EF4-FFF2-40B4-BE49-F238E27FC236}">
                <a16:creationId xmlns:a16="http://schemas.microsoft.com/office/drawing/2014/main" id="{AC88FA7A-84B5-029C-E632-B75A43929F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039DC2A4-41B5-1C68-32BC-0A2155514B48}"/>
              </a:ext>
            </a:extLst>
          </p:cNvPr>
          <p:cNvSpPr txBox="1"/>
          <p:nvPr/>
        </p:nvSpPr>
        <p:spPr>
          <a:xfrm>
            <a:off x="399335" y="1194714"/>
            <a:ext cx="5696665" cy="369332"/>
          </a:xfrm>
          <a:prstGeom prst="rect">
            <a:avLst/>
          </a:prstGeom>
          <a:noFill/>
        </p:spPr>
        <p:txBody>
          <a:bodyPr wrap="square">
            <a:spAutoFit/>
          </a:bodyPr>
          <a:lstStyle/>
          <a:p>
            <a:r>
              <a:rPr lang="en-IN" sz="1800" b="1" dirty="0">
                <a:effectLst/>
                <a:latin typeface="Arial" panose="020B0604020202020204" pitchFamily="34" charset="0"/>
                <a:ea typeface="Calibri" panose="020F0502020204030204" pitchFamily="34" charset="0"/>
                <a:cs typeface="Gautami" panose="020B0502040204020203" pitchFamily="34" charset="0"/>
              </a:rPr>
              <a:t>Checking GPU availability in TensorFlow</a:t>
            </a:r>
            <a:endParaRPr lang="en-IN" b="1" dirty="0"/>
          </a:p>
        </p:txBody>
      </p:sp>
      <p:sp>
        <p:nvSpPr>
          <p:cNvPr id="12" name="TextBox 11">
            <a:extLst>
              <a:ext uri="{FF2B5EF4-FFF2-40B4-BE49-F238E27FC236}">
                <a16:creationId xmlns:a16="http://schemas.microsoft.com/office/drawing/2014/main" id="{2EA29250-A05D-80B4-4987-A15415022810}"/>
              </a:ext>
            </a:extLst>
          </p:cNvPr>
          <p:cNvSpPr txBox="1"/>
          <p:nvPr/>
        </p:nvSpPr>
        <p:spPr>
          <a:xfrm>
            <a:off x="400878" y="1547735"/>
            <a:ext cx="5168348" cy="3272691"/>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The most common method is:</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import </a:t>
            </a:r>
            <a:r>
              <a:rPr lang="en-IN" sz="1800" dirty="0" err="1">
                <a:effectLst/>
                <a:latin typeface="Arial" panose="020B0604020202020204" pitchFamily="34" charset="0"/>
                <a:ea typeface="Calibri" panose="020F0502020204030204" pitchFamily="34" charset="0"/>
                <a:cs typeface="Gautami" panose="020B0502040204020203" pitchFamily="34" charset="0"/>
              </a:rPr>
              <a:t>tensorflow</a:t>
            </a:r>
            <a:r>
              <a:rPr lang="en-IN" sz="1800" dirty="0">
                <a:effectLst/>
                <a:latin typeface="Arial" panose="020B0604020202020204" pitchFamily="34" charset="0"/>
                <a:ea typeface="Calibri" panose="020F0502020204030204" pitchFamily="34" charset="0"/>
                <a:cs typeface="Gautami" panose="020B0502040204020203" pitchFamily="34" charset="0"/>
              </a:rPr>
              <a:t> as </a:t>
            </a:r>
            <a:r>
              <a:rPr lang="en-IN" sz="1800" dirty="0" err="1">
                <a:effectLst/>
                <a:latin typeface="Arial" panose="020B0604020202020204" pitchFamily="34" charset="0"/>
                <a:ea typeface="Calibri" panose="020F0502020204030204" pitchFamily="34" charset="0"/>
                <a:cs typeface="Gautami" panose="020B0502040204020203" pitchFamily="34" charset="0"/>
              </a:rPr>
              <a:t>tf</a:t>
            </a:r>
            <a:endParaRPr lang="en-IN" sz="1800" dirty="0">
              <a:effectLst/>
              <a:latin typeface="Arial" panose="020B0604020202020204" pitchFamily="34" charset="0"/>
              <a:ea typeface="Calibri" panose="020F0502020204030204" pitchFamily="34" charset="0"/>
              <a:cs typeface="Gautami" panose="020B0502040204020203" pitchFamily="34" charset="0"/>
            </a:endParaRPr>
          </a:p>
          <a:p>
            <a:pPr marL="457200">
              <a:spcAft>
                <a:spcPts val="800"/>
              </a:spcAft>
              <a:buNone/>
            </a:pPr>
            <a:r>
              <a:rPr lang="en-IN" sz="1800" dirty="0" err="1">
                <a:effectLst/>
                <a:latin typeface="Arial" panose="020B0604020202020204" pitchFamily="34" charset="0"/>
                <a:ea typeface="Calibri" panose="020F0502020204030204" pitchFamily="34" charset="0"/>
                <a:cs typeface="Gautami" panose="020B0502040204020203" pitchFamily="34" charset="0"/>
              </a:rPr>
              <a:t>tf.config.list_physical_devices</a:t>
            </a:r>
            <a:r>
              <a:rPr lang="en-IN" sz="1800" dirty="0">
                <a:effectLst/>
                <a:latin typeface="Arial" panose="020B0604020202020204" pitchFamily="34" charset="0"/>
                <a:ea typeface="Calibri" panose="020F0502020204030204" pitchFamily="34" charset="0"/>
                <a:cs typeface="Gautami" panose="020B0502040204020203" pitchFamily="34" charset="0"/>
              </a:rPr>
              <a:t>('GPU')</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This command returns a list of detected GPUs. If the list is empty, TensorFlow is either not configured for GPU support or no GPU is available. To simply check the count of detected GPUs:</a:t>
            </a:r>
          </a:p>
          <a:p>
            <a:pPr indent="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print("GPUs Available:", </a:t>
            </a:r>
            <a:r>
              <a:rPr lang="en-IN" sz="1800" dirty="0" err="1">
                <a:effectLst/>
                <a:latin typeface="Arial" panose="020B0604020202020204" pitchFamily="34" charset="0"/>
                <a:ea typeface="Calibri" panose="020F0502020204030204" pitchFamily="34" charset="0"/>
                <a:cs typeface="Gautami" panose="020B0502040204020203" pitchFamily="34" charset="0"/>
              </a:rPr>
              <a:t>len</a:t>
            </a:r>
            <a:r>
              <a:rPr lang="en-IN" sz="1800" dirty="0">
                <a:effectLst/>
                <a:latin typeface="Arial" panose="020B0604020202020204" pitchFamily="34" charset="0"/>
                <a:ea typeface="Calibri" panose="020F0502020204030204" pitchFamily="34" charset="0"/>
                <a:cs typeface="Gautami" panose="020B0502040204020203" pitchFamily="34" charset="0"/>
              </a:rPr>
              <a:t>(</a:t>
            </a:r>
            <a:r>
              <a:rPr lang="en-IN" sz="1800" dirty="0" err="1">
                <a:effectLst/>
                <a:latin typeface="Arial" panose="020B0604020202020204" pitchFamily="34" charset="0"/>
                <a:ea typeface="Calibri" panose="020F0502020204030204" pitchFamily="34" charset="0"/>
                <a:cs typeface="Gautami" panose="020B0502040204020203" pitchFamily="34" charset="0"/>
              </a:rPr>
              <a:t>tf.config.list_physical_devices</a:t>
            </a:r>
            <a:r>
              <a:rPr lang="en-IN" sz="1800" dirty="0">
                <a:effectLst/>
                <a:latin typeface="Arial" panose="020B0604020202020204" pitchFamily="34" charset="0"/>
                <a:ea typeface="Calibri" panose="020F0502020204030204" pitchFamily="34" charset="0"/>
                <a:cs typeface="Gautami" panose="020B0502040204020203" pitchFamily="34" charset="0"/>
              </a:rPr>
              <a:t>('GPU')))</a:t>
            </a:r>
          </a:p>
        </p:txBody>
      </p:sp>
      <p:sp>
        <p:nvSpPr>
          <p:cNvPr id="14" name="TextBox 13">
            <a:extLst>
              <a:ext uri="{FF2B5EF4-FFF2-40B4-BE49-F238E27FC236}">
                <a16:creationId xmlns:a16="http://schemas.microsoft.com/office/drawing/2014/main" id="{C1AA5938-49A0-CC49-1A30-7FAED5976222}"/>
              </a:ext>
            </a:extLst>
          </p:cNvPr>
          <p:cNvSpPr txBox="1"/>
          <p:nvPr/>
        </p:nvSpPr>
        <p:spPr>
          <a:xfrm>
            <a:off x="6096000" y="1547735"/>
            <a:ext cx="5168348" cy="3652282"/>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To view all devices—including CPUs and GPUs—TensorFlow offers: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a:t>
            </a:r>
            <a:r>
              <a:rPr lang="en-IN" sz="1800" dirty="0" err="1">
                <a:effectLst/>
                <a:latin typeface="Arial" panose="020B0604020202020204" pitchFamily="34" charset="0"/>
                <a:ea typeface="Calibri" panose="020F0502020204030204" pitchFamily="34" charset="0"/>
                <a:cs typeface="Gautami" panose="020B0502040204020203" pitchFamily="34" charset="0"/>
              </a:rPr>
              <a:t>tf.config.list_physical_devices</a:t>
            </a:r>
            <a:r>
              <a:rPr lang="en-IN" sz="1800" dirty="0">
                <a:effectLst/>
                <a:latin typeface="Arial" panose="020B0604020202020204" pitchFamily="34" charset="0"/>
                <a:ea typeface="Calibri" panose="020F0502020204030204" pitchFamily="34" charset="0"/>
                <a:cs typeface="Gautami" panose="020B0502040204020203" pitchFamily="34" charset="0"/>
              </a:rPr>
              <a:t>()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For more detailed debugging, enabling device placement logging shows where every operation runs: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a:t>
            </a:r>
            <a:r>
              <a:rPr lang="en-IN" sz="1800" dirty="0" err="1">
                <a:effectLst/>
                <a:latin typeface="Arial" panose="020B0604020202020204" pitchFamily="34" charset="0"/>
                <a:ea typeface="Calibri" panose="020F0502020204030204" pitchFamily="34" charset="0"/>
                <a:cs typeface="Gautami" panose="020B0502040204020203" pitchFamily="34" charset="0"/>
              </a:rPr>
              <a:t>tf.debugging.set_log_device_placement</a:t>
            </a:r>
            <a:r>
              <a:rPr lang="en-IN" sz="1800" dirty="0">
                <a:effectLst/>
                <a:latin typeface="Arial" panose="020B0604020202020204" pitchFamily="34" charset="0"/>
                <a:ea typeface="Calibri" panose="020F0502020204030204" pitchFamily="34" charset="0"/>
                <a:cs typeface="Gautami" panose="020B0502040204020203" pitchFamily="34" charset="0"/>
              </a:rPr>
              <a:t>(True)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When you run a tensor operation, TensorFlow prints messages such as: </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Executing op </a:t>
            </a:r>
            <a:r>
              <a:rPr lang="en-IN" sz="1800" dirty="0" err="1">
                <a:effectLst/>
                <a:latin typeface="Arial" panose="020B0604020202020204" pitchFamily="34" charset="0"/>
                <a:ea typeface="Calibri" panose="020F0502020204030204" pitchFamily="34" charset="0"/>
                <a:cs typeface="Gautami" panose="020B0502040204020203" pitchFamily="34" charset="0"/>
              </a:rPr>
              <a:t>MatMul</a:t>
            </a:r>
            <a:r>
              <a:rPr lang="en-IN" sz="1800" dirty="0">
                <a:effectLst/>
                <a:latin typeface="Arial" panose="020B0604020202020204" pitchFamily="34" charset="0"/>
                <a:ea typeface="Calibri" panose="020F0502020204030204" pitchFamily="34" charset="0"/>
                <a:cs typeface="Gautami" panose="020B0502040204020203" pitchFamily="34" charset="0"/>
              </a:rPr>
              <a:t> on /device:GPU:0 </a:t>
            </a:r>
          </a:p>
        </p:txBody>
      </p:sp>
    </p:spTree>
    <p:extLst>
      <p:ext uri="{BB962C8B-B14F-4D97-AF65-F5344CB8AC3E}">
        <p14:creationId xmlns:p14="http://schemas.microsoft.com/office/powerpoint/2010/main" val="1644281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81C99-F49C-917C-2B9C-A16041CC5B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D6164A-D237-8DBD-8460-586C8F61D7FE}"/>
              </a:ext>
            </a:extLst>
          </p:cNvPr>
          <p:cNvSpPr txBox="1">
            <a:spLocks/>
          </p:cNvSpPr>
          <p:nvPr/>
        </p:nvSpPr>
        <p:spPr>
          <a:xfrm>
            <a:off x="401189" y="759787"/>
            <a:ext cx="107849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lnSpc>
                <a:spcPct val="107000"/>
              </a:lnSpc>
              <a:spcBef>
                <a:spcPts val="200"/>
              </a:spcBef>
            </a:pPr>
            <a:r>
              <a:rPr lang="en-US" sz="2200" b="1" dirty="0">
                <a:solidFill>
                  <a:srgbClr val="002060"/>
                </a:solidFill>
                <a:latin typeface="Arial" panose="020B0604020202020204" pitchFamily="34" charset="0"/>
                <a:cs typeface="Arial" panose="020B0604020202020204" pitchFamily="34" charset="0"/>
              </a:rPr>
              <a:t>GPU Acceleration &amp; Tensor Placement</a:t>
            </a:r>
          </a:p>
        </p:txBody>
      </p:sp>
      <p:sp>
        <p:nvSpPr>
          <p:cNvPr id="10" name="Rectangle 1">
            <a:extLst>
              <a:ext uri="{FF2B5EF4-FFF2-40B4-BE49-F238E27FC236}">
                <a16:creationId xmlns:a16="http://schemas.microsoft.com/office/drawing/2014/main" id="{7F09C9CF-9554-6180-7DDF-721DF5CC87B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TextBox 2">
            <a:extLst>
              <a:ext uri="{FF2B5EF4-FFF2-40B4-BE49-F238E27FC236}">
                <a16:creationId xmlns:a16="http://schemas.microsoft.com/office/drawing/2014/main" id="{AB303FEA-5A96-DB53-8565-F57F25943A3A}"/>
              </a:ext>
            </a:extLst>
          </p:cNvPr>
          <p:cNvSpPr txBox="1"/>
          <p:nvPr/>
        </p:nvSpPr>
        <p:spPr>
          <a:xfrm>
            <a:off x="389175" y="1174394"/>
            <a:ext cx="5706825" cy="369332"/>
          </a:xfrm>
          <a:prstGeom prst="rect">
            <a:avLst/>
          </a:prstGeom>
          <a:noFill/>
        </p:spPr>
        <p:txBody>
          <a:bodyPr wrap="square">
            <a:spAutoFit/>
          </a:bodyPr>
          <a:lstStyle/>
          <a:p>
            <a:r>
              <a:rPr lang="en-IN" b="1" dirty="0">
                <a:latin typeface="Arial" panose="020B0604020202020204" pitchFamily="34" charset="0"/>
                <a:cs typeface="Arial" panose="020B0604020202020204" pitchFamily="34" charset="0"/>
              </a:rPr>
              <a:t>Placing tensors on GPU or CPU (</a:t>
            </a:r>
            <a:r>
              <a:rPr lang="en-IN" b="1" dirty="0" err="1">
                <a:latin typeface="Arial" panose="020B0604020202020204" pitchFamily="34" charset="0"/>
                <a:cs typeface="Arial" panose="020B0604020202020204" pitchFamily="34" charset="0"/>
              </a:rPr>
              <a:t>tf.device</a:t>
            </a:r>
            <a:r>
              <a:rPr lang="en-IN" b="1" dirty="0">
                <a:latin typeface="Arial" panose="020B0604020202020204" pitchFamily="34" charset="0"/>
                <a:cs typeface="Arial" panose="020B0604020202020204" pitchFamily="34" charset="0"/>
              </a:rPr>
              <a:t>())</a:t>
            </a:r>
          </a:p>
        </p:txBody>
      </p:sp>
      <p:sp>
        <p:nvSpPr>
          <p:cNvPr id="6" name="TextBox 5">
            <a:extLst>
              <a:ext uri="{FF2B5EF4-FFF2-40B4-BE49-F238E27FC236}">
                <a16:creationId xmlns:a16="http://schemas.microsoft.com/office/drawing/2014/main" id="{AD4FDC2A-B421-B783-1B73-790CDF56D4A5}"/>
              </a:ext>
            </a:extLst>
          </p:cNvPr>
          <p:cNvSpPr txBox="1"/>
          <p:nvPr/>
        </p:nvSpPr>
        <p:spPr>
          <a:xfrm>
            <a:off x="403860" y="1568786"/>
            <a:ext cx="9721718" cy="3303468"/>
          </a:xfrm>
          <a:prstGeom prst="rect">
            <a:avLst/>
          </a:prstGeom>
          <a:noFill/>
        </p:spPr>
        <p:txBody>
          <a:bodyPr wrap="square">
            <a:spAutoFit/>
          </a:bodyPr>
          <a:lstStyle/>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performance you may want to manually place tensors on a specific device.</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Using </a:t>
            </a:r>
            <a:r>
              <a:rPr lang="en-IN" sz="1800" dirty="0" err="1">
                <a:effectLst/>
                <a:latin typeface="Arial" panose="020B0604020202020204" pitchFamily="34" charset="0"/>
                <a:ea typeface="Calibri" panose="020F0502020204030204" pitchFamily="34" charset="0"/>
                <a:cs typeface="Gautami" panose="020B0502040204020203" pitchFamily="34" charset="0"/>
              </a:rPr>
              <a:t>tf.device</a:t>
            </a:r>
            <a:r>
              <a:rPr lang="en-IN" sz="1800" dirty="0">
                <a:effectLst/>
                <a:latin typeface="Arial" panose="020B0604020202020204" pitchFamily="34" charset="0"/>
                <a:ea typeface="Calibri" panose="020F0502020204030204" pitchFamily="34" charset="0"/>
                <a:cs typeface="Gautami" panose="020B0502040204020203" pitchFamily="34" charset="0"/>
              </a:rPr>
              <a:t>(), developers can explicitly assign operations to the CPU or GPU. For example, placing a tensor on the CPU:</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with </a:t>
            </a:r>
            <a:r>
              <a:rPr lang="en-IN" sz="1800" dirty="0" err="1">
                <a:effectLst/>
                <a:latin typeface="Arial" panose="020B0604020202020204" pitchFamily="34" charset="0"/>
                <a:ea typeface="Calibri" panose="020F0502020204030204" pitchFamily="34" charset="0"/>
                <a:cs typeface="Gautami" panose="020B0502040204020203" pitchFamily="34" charset="0"/>
              </a:rPr>
              <a:t>tf.device</a:t>
            </a:r>
            <a:r>
              <a:rPr lang="en-IN" sz="1800" dirty="0">
                <a:effectLst/>
                <a:latin typeface="Arial" panose="020B0604020202020204" pitchFamily="34" charset="0"/>
                <a:ea typeface="Calibri" panose="020F0502020204030204" pitchFamily="34" charset="0"/>
                <a:cs typeface="Gautami" panose="020B0502040204020203" pitchFamily="34" charset="0"/>
              </a:rPr>
              <a:t>('/CPU:0'):</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a = </a:t>
            </a:r>
            <a:r>
              <a:rPr lang="en-IN" sz="1800" dirty="0" err="1">
                <a:effectLst/>
                <a:latin typeface="Arial" panose="020B0604020202020204" pitchFamily="34" charset="0"/>
                <a:ea typeface="Calibri" panose="020F0502020204030204" pitchFamily="34" charset="0"/>
                <a:cs typeface="Gautami" panose="020B0502040204020203" pitchFamily="34" charset="0"/>
              </a:rPr>
              <a:t>tf.constant</a:t>
            </a:r>
            <a:r>
              <a:rPr lang="en-IN" sz="1800" dirty="0">
                <a:effectLst/>
                <a:latin typeface="Arial" panose="020B0604020202020204" pitchFamily="34" charset="0"/>
                <a:ea typeface="Calibri" panose="020F0502020204030204" pitchFamily="34" charset="0"/>
                <a:cs typeface="Gautami" panose="020B0502040204020203" pitchFamily="34" charset="0"/>
              </a:rPr>
              <a:t>([1, 2, 3])</a:t>
            </a:r>
          </a:p>
          <a:p>
            <a:pPr>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Similarly, placing a tensor or computation on the first GPU: </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with </a:t>
            </a:r>
            <a:r>
              <a:rPr lang="en-IN" sz="1800" dirty="0" err="1">
                <a:effectLst/>
                <a:latin typeface="Arial" panose="020B0604020202020204" pitchFamily="34" charset="0"/>
                <a:ea typeface="Calibri" panose="020F0502020204030204" pitchFamily="34" charset="0"/>
                <a:cs typeface="Gautami" panose="020B0502040204020203" pitchFamily="34" charset="0"/>
              </a:rPr>
              <a:t>tf.device</a:t>
            </a:r>
            <a:r>
              <a:rPr lang="en-IN" sz="1800" dirty="0">
                <a:effectLst/>
                <a:latin typeface="Arial" panose="020B0604020202020204" pitchFamily="34" charset="0"/>
                <a:ea typeface="Calibri" panose="020F0502020204030204" pitchFamily="34" charset="0"/>
                <a:cs typeface="Gautami" panose="020B0502040204020203" pitchFamily="34" charset="0"/>
              </a:rPr>
              <a:t>('/GPU:0'):</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b = </a:t>
            </a:r>
            <a:r>
              <a:rPr lang="en-IN" sz="1800" dirty="0" err="1">
                <a:effectLst/>
                <a:latin typeface="Arial" panose="020B0604020202020204" pitchFamily="34" charset="0"/>
                <a:ea typeface="Calibri" panose="020F0502020204030204" pitchFamily="34" charset="0"/>
                <a:cs typeface="Gautami" panose="020B0502040204020203" pitchFamily="34" charset="0"/>
              </a:rPr>
              <a:t>tf.random.normal</a:t>
            </a:r>
            <a:r>
              <a:rPr lang="en-IN" sz="1800" dirty="0">
                <a:effectLst/>
                <a:latin typeface="Arial" panose="020B0604020202020204" pitchFamily="34" charset="0"/>
                <a:ea typeface="Calibri" panose="020F0502020204030204" pitchFamily="34" charset="0"/>
                <a:cs typeface="Gautami" panose="020B0502040204020203" pitchFamily="34" charset="0"/>
              </a:rPr>
              <a:t>([1000, 1000])</a:t>
            </a:r>
          </a:p>
          <a:p>
            <a:pPr marL="457200">
              <a:spcAft>
                <a:spcPts val="800"/>
              </a:spcAft>
              <a:buNone/>
            </a:pPr>
            <a:r>
              <a:rPr lang="en-IN" sz="1800" dirty="0">
                <a:effectLst/>
                <a:latin typeface="Arial" panose="020B0604020202020204" pitchFamily="34" charset="0"/>
                <a:ea typeface="Calibri" panose="020F0502020204030204" pitchFamily="34" charset="0"/>
                <a:cs typeface="Gautami" panose="020B0502040204020203" pitchFamily="34" charset="0"/>
              </a:rPr>
              <a:t>    c = </a:t>
            </a:r>
            <a:r>
              <a:rPr lang="en-IN" sz="1800" dirty="0" err="1">
                <a:effectLst/>
                <a:latin typeface="Arial" panose="020B0604020202020204" pitchFamily="34" charset="0"/>
                <a:ea typeface="Calibri" panose="020F0502020204030204" pitchFamily="34" charset="0"/>
                <a:cs typeface="Gautami" panose="020B0502040204020203" pitchFamily="34" charset="0"/>
              </a:rPr>
              <a:t>tf.matmul</a:t>
            </a:r>
            <a:r>
              <a:rPr lang="en-IN" sz="1800" dirty="0">
                <a:effectLst/>
                <a:latin typeface="Arial" panose="020B0604020202020204" pitchFamily="34" charset="0"/>
                <a:ea typeface="Calibri" panose="020F0502020204030204" pitchFamily="34" charset="0"/>
                <a:cs typeface="Gautami" panose="020B0502040204020203" pitchFamily="34" charset="0"/>
              </a:rPr>
              <a:t>(b, b) </a:t>
            </a:r>
          </a:p>
        </p:txBody>
      </p:sp>
    </p:spTree>
    <p:extLst>
      <p:ext uri="{BB962C8B-B14F-4D97-AF65-F5344CB8AC3E}">
        <p14:creationId xmlns:p14="http://schemas.microsoft.com/office/powerpoint/2010/main" val="4064430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252486-653C-F838-1D14-49B96BB3C4C0}"/>
              </a:ext>
            </a:extLst>
          </p:cNvPr>
          <p:cNvSpPr txBox="1">
            <a:spLocks/>
          </p:cNvSpPr>
          <p:nvPr/>
        </p:nvSpPr>
        <p:spPr>
          <a:xfrm>
            <a:off x="389692" y="749028"/>
            <a:ext cx="5811079"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marL="0" marR="0" lvl="0" indent="0" algn="l" defTabSz="609630" rtl="0" eaLnBrk="1" fontAlgn="auto" latinLnBrk="0" hangingPunct="1">
              <a:lnSpc>
                <a:spcPct val="10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Lab Activity</a:t>
            </a:r>
          </a:p>
        </p:txBody>
      </p:sp>
      <p:sp>
        <p:nvSpPr>
          <p:cNvPr id="3" name="Freeform 3">
            <a:extLst>
              <a:ext uri="{FF2B5EF4-FFF2-40B4-BE49-F238E27FC236}">
                <a16:creationId xmlns:a16="http://schemas.microsoft.com/office/drawing/2014/main" id="{20AD012E-592E-460B-7A92-CEBCBB1D07A4}"/>
              </a:ext>
            </a:extLst>
          </p:cNvPr>
          <p:cNvSpPr/>
          <p:nvPr/>
        </p:nvSpPr>
        <p:spPr>
          <a:xfrm rot="16200000">
            <a:off x="5045723" y="-1857176"/>
            <a:ext cx="2238679" cy="11291889"/>
          </a:xfrm>
          <a:custGeom>
            <a:avLst/>
            <a:gdLst/>
            <a:ahLst/>
            <a:cxnLst/>
            <a:rect l="l" t="t" r="r" b="b"/>
            <a:pathLst>
              <a:path w="1041002" h="4221827">
                <a:moveTo>
                  <a:pt x="0" y="0"/>
                </a:moveTo>
                <a:lnTo>
                  <a:pt x="1041002" y="0"/>
                </a:lnTo>
                <a:lnTo>
                  <a:pt x="1041002" y="4221827"/>
                </a:lnTo>
                <a:lnTo>
                  <a:pt x="0" y="4221827"/>
                </a:lnTo>
                <a:close/>
              </a:path>
            </a:pathLst>
          </a:custGeom>
          <a:solidFill>
            <a:srgbClr val="E7EFFF"/>
          </a:solidFill>
        </p:spPr>
        <p:txBody>
          <a:bodyPr/>
          <a:lstStyle/>
          <a:p>
            <a:endParaRPr lang="en-US" dirty="0"/>
          </a:p>
        </p:txBody>
      </p:sp>
      <p:sp>
        <p:nvSpPr>
          <p:cNvPr id="19" name="Text Placeholder 4">
            <a:extLst>
              <a:ext uri="{FF2B5EF4-FFF2-40B4-BE49-F238E27FC236}">
                <a16:creationId xmlns:a16="http://schemas.microsoft.com/office/drawing/2014/main" id="{E70EE48B-B4C4-54FB-3257-F420A5D52ADC}"/>
              </a:ext>
            </a:extLst>
          </p:cNvPr>
          <p:cNvSpPr txBox="1">
            <a:spLocks/>
          </p:cNvSpPr>
          <p:nvPr/>
        </p:nvSpPr>
        <p:spPr>
          <a:xfrm>
            <a:off x="519112" y="3109578"/>
            <a:ext cx="8426709" cy="369332"/>
          </a:xfrm>
          <a:prstGeom prst="rect">
            <a:avLst/>
          </a:prstGeom>
        </p:spPr>
        <p:txBody>
          <a:bodyPr wrap="square" lIns="91440" tIns="45720" rIns="91440" bIns="45720" anchor="t">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Clr>
                <a:srgbClr val="002060"/>
              </a:buClr>
              <a:buNone/>
              <a:defRPr/>
            </a:pPr>
            <a:r>
              <a:rPr lang="en-US" sz="1800" b="1" dirty="0">
                <a:latin typeface="Arial"/>
                <a:cs typeface="Arial"/>
              </a:rPr>
              <a:t>Lab Activity 3.1: </a:t>
            </a:r>
            <a:r>
              <a:rPr lang="en-US" sz="1800" dirty="0">
                <a:latin typeface="Arial"/>
                <a:cs typeface="Arial"/>
              </a:rPr>
              <a:t>Setting Up the Environment for TensorFlow &amp; </a:t>
            </a:r>
            <a:r>
              <a:rPr lang="en-US" sz="1800" dirty="0" err="1">
                <a:latin typeface="Arial"/>
                <a:cs typeface="Arial"/>
              </a:rPr>
              <a:t>Keras</a:t>
            </a:r>
            <a:r>
              <a:rPr lang="en-US" sz="1800" dirty="0">
                <a:latin typeface="Arial"/>
                <a:cs typeface="Arial"/>
              </a:rPr>
              <a:t>. </a:t>
            </a:r>
          </a:p>
        </p:txBody>
      </p:sp>
      <p:grpSp>
        <p:nvGrpSpPr>
          <p:cNvPr id="5" name="Group 4">
            <a:extLst>
              <a:ext uri="{FF2B5EF4-FFF2-40B4-BE49-F238E27FC236}">
                <a16:creationId xmlns:a16="http://schemas.microsoft.com/office/drawing/2014/main" id="{98A27EAE-43E1-0253-5B18-9E577CA83AE9}"/>
              </a:ext>
            </a:extLst>
          </p:cNvPr>
          <p:cNvGrpSpPr/>
          <p:nvPr/>
        </p:nvGrpSpPr>
        <p:grpSpPr>
          <a:xfrm>
            <a:off x="9717824" y="2228960"/>
            <a:ext cx="2247900" cy="1931790"/>
            <a:chOff x="9822117" y="2527458"/>
            <a:chExt cx="2247900" cy="1931790"/>
          </a:xfrm>
        </p:grpSpPr>
        <p:grpSp>
          <p:nvGrpSpPr>
            <p:cNvPr id="6" name="Group 5">
              <a:extLst>
                <a:ext uri="{FF2B5EF4-FFF2-40B4-BE49-F238E27FC236}">
                  <a16:creationId xmlns:a16="http://schemas.microsoft.com/office/drawing/2014/main" id="{638B1AAC-1A07-EB75-4A6F-CCDF0CBB3B55}"/>
                </a:ext>
              </a:extLst>
            </p:cNvPr>
            <p:cNvGrpSpPr/>
            <p:nvPr/>
          </p:nvGrpSpPr>
          <p:grpSpPr>
            <a:xfrm>
              <a:off x="9822117" y="2527458"/>
              <a:ext cx="2247900" cy="1931790"/>
              <a:chOff x="6610281" y="1271173"/>
              <a:chExt cx="3029211" cy="2603229"/>
            </a:xfrm>
          </p:grpSpPr>
          <p:grpSp>
            <p:nvGrpSpPr>
              <p:cNvPr id="8" name="Group 2">
                <a:extLst>
                  <a:ext uri="{FF2B5EF4-FFF2-40B4-BE49-F238E27FC236}">
                    <a16:creationId xmlns:a16="http://schemas.microsoft.com/office/drawing/2014/main" id="{A6DAADA5-34F8-F471-BD4D-1389269009EA}"/>
                  </a:ext>
                </a:extLst>
              </p:cNvPr>
              <p:cNvGrpSpPr/>
              <p:nvPr/>
            </p:nvGrpSpPr>
            <p:grpSpPr>
              <a:xfrm>
                <a:off x="6610281" y="1271173"/>
                <a:ext cx="3029211" cy="2603229"/>
                <a:chOff x="0" y="0"/>
                <a:chExt cx="812800" cy="698500"/>
              </a:xfrm>
            </p:grpSpPr>
            <p:sp>
              <p:nvSpPr>
                <p:cNvPr id="13" name="Freeform 3">
                  <a:extLst>
                    <a:ext uri="{FF2B5EF4-FFF2-40B4-BE49-F238E27FC236}">
                      <a16:creationId xmlns:a16="http://schemas.microsoft.com/office/drawing/2014/main" id="{251F1D55-0036-11FA-0D52-5BD116BA4C5C}"/>
                    </a:ext>
                  </a:extLst>
                </p:cNvPr>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C405B7">
                        <a:alpha val="100000"/>
                      </a:srgbClr>
                    </a:gs>
                    <a:gs pos="50000">
                      <a:srgbClr val="054CC4">
                        <a:alpha val="100000"/>
                      </a:srgbClr>
                    </a:gs>
                    <a:gs pos="100000">
                      <a:srgbClr val="51048D">
                        <a:alpha val="100000"/>
                      </a:srgbClr>
                    </a:gs>
                  </a:gsLst>
                  <a:lin ang="0"/>
                </a:gradFill>
              </p:spPr>
              <p:txBody>
                <a:bodyPr/>
                <a:lstStyle/>
                <a:p>
                  <a:endParaRPr lang="en-US"/>
                </a:p>
              </p:txBody>
            </p:sp>
            <p:sp>
              <p:nvSpPr>
                <p:cNvPr id="14" name="TextBox 4">
                  <a:extLst>
                    <a:ext uri="{FF2B5EF4-FFF2-40B4-BE49-F238E27FC236}">
                      <a16:creationId xmlns:a16="http://schemas.microsoft.com/office/drawing/2014/main" id="{9A881CA5-E221-3825-3E5D-6EFD9B091E91}"/>
                    </a:ext>
                  </a:extLst>
                </p:cNvPr>
                <p:cNvSpPr txBox="1"/>
                <p:nvPr/>
              </p:nvSpPr>
              <p:spPr>
                <a:xfrm>
                  <a:off x="114300" y="-57150"/>
                  <a:ext cx="584200" cy="755650"/>
                </a:xfrm>
                <a:prstGeom prst="rect">
                  <a:avLst/>
                </a:prstGeom>
              </p:spPr>
              <p:txBody>
                <a:bodyPr lIns="50800" tIns="50800" rIns="50800" bIns="50800" rtlCol="0" anchor="ctr"/>
                <a:lstStyle/>
                <a:p>
                  <a:pPr algn="ctr">
                    <a:lnSpc>
                      <a:spcPts val="2659"/>
                    </a:lnSpc>
                  </a:pPr>
                  <a:endParaRPr/>
                </a:p>
              </p:txBody>
            </p:sp>
          </p:grpSp>
          <p:sp>
            <p:nvSpPr>
              <p:cNvPr id="10" name="Freeform 27">
                <a:extLst>
                  <a:ext uri="{FF2B5EF4-FFF2-40B4-BE49-F238E27FC236}">
                    <a16:creationId xmlns:a16="http://schemas.microsoft.com/office/drawing/2014/main" id="{2A73A409-6AF1-6837-0C9C-B18F6618A2CF}"/>
                  </a:ext>
                </a:extLst>
              </p:cNvPr>
              <p:cNvSpPr/>
              <p:nvPr/>
            </p:nvSpPr>
            <p:spPr>
              <a:xfrm>
                <a:off x="6768053" y="1386338"/>
                <a:ext cx="2711689" cy="2349001"/>
              </a:xfrm>
              <a:custGeom>
                <a:avLst/>
                <a:gdLst/>
                <a:ahLst/>
                <a:cxnLst/>
                <a:rect l="l" t="t" r="r" b="b"/>
                <a:pathLst>
                  <a:path w="2115625" h="1832661">
                    <a:moveTo>
                      <a:pt x="0" y="0"/>
                    </a:moveTo>
                    <a:lnTo>
                      <a:pt x="2115625" y="0"/>
                    </a:lnTo>
                    <a:lnTo>
                      <a:pt x="2115625" y="1832660"/>
                    </a:lnTo>
                    <a:lnTo>
                      <a:pt x="0" y="18326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pic>
          <p:nvPicPr>
            <p:cNvPr id="7" name="Picture 6">
              <a:extLst>
                <a:ext uri="{FF2B5EF4-FFF2-40B4-BE49-F238E27FC236}">
                  <a16:creationId xmlns:a16="http://schemas.microsoft.com/office/drawing/2014/main" id="{0D6F505F-E5B9-3864-2C69-E1A3059B232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89363" y="2913295"/>
              <a:ext cx="1371629" cy="1047511"/>
            </a:xfrm>
            <a:prstGeom prst="rect">
              <a:avLst/>
            </a:prstGeom>
          </p:spPr>
        </p:pic>
      </p:grpSp>
      <p:sp>
        <p:nvSpPr>
          <p:cNvPr id="15" name="Freeform 9">
            <a:extLst>
              <a:ext uri="{FF2B5EF4-FFF2-40B4-BE49-F238E27FC236}">
                <a16:creationId xmlns:a16="http://schemas.microsoft.com/office/drawing/2014/main" id="{581EF843-7883-C07E-874D-F4D57261751A}"/>
              </a:ext>
            </a:extLst>
          </p:cNvPr>
          <p:cNvSpPr/>
          <p:nvPr/>
        </p:nvSpPr>
        <p:spPr>
          <a:xfrm rot="5400000">
            <a:off x="1863515" y="3504176"/>
            <a:ext cx="113352" cy="2849783"/>
          </a:xfrm>
          <a:custGeom>
            <a:avLst/>
            <a:gdLst/>
            <a:ahLst/>
            <a:cxnLst/>
            <a:rect l="l" t="t" r="r" b="b"/>
            <a:pathLst>
              <a:path w="72352" h="2911279">
                <a:moveTo>
                  <a:pt x="0" y="0"/>
                </a:moveTo>
                <a:lnTo>
                  <a:pt x="72352" y="0"/>
                </a:lnTo>
                <a:lnTo>
                  <a:pt x="72352" y="2911279"/>
                </a:lnTo>
                <a:lnTo>
                  <a:pt x="0" y="2911279"/>
                </a:lnTo>
                <a:close/>
              </a:path>
            </a:pathLst>
          </a:custGeom>
          <a:gradFill rotWithShape="1">
            <a:gsLst>
              <a:gs pos="0">
                <a:srgbClr val="51048D">
                  <a:alpha val="100000"/>
                </a:srgbClr>
              </a:gs>
              <a:gs pos="50000">
                <a:srgbClr val="054CC4">
                  <a:alpha val="100000"/>
                </a:srgbClr>
              </a:gs>
              <a:gs pos="100000">
                <a:srgbClr val="C405B7">
                  <a:alpha val="100000"/>
                </a:srgbClr>
              </a:gs>
            </a:gsLst>
            <a:lin ang="5400000"/>
          </a:gradFill>
        </p:spPr>
        <p:txBody>
          <a:bodyPr/>
          <a:lstStyle/>
          <a:p>
            <a:endParaRPr lang="en-IN"/>
          </a:p>
        </p:txBody>
      </p:sp>
    </p:spTree>
    <p:extLst>
      <p:ext uri="{BB962C8B-B14F-4D97-AF65-F5344CB8AC3E}">
        <p14:creationId xmlns:p14="http://schemas.microsoft.com/office/powerpoint/2010/main" val="990355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417023" y="75978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396702" y="1151214"/>
            <a:ext cx="11407948" cy="4201836"/>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lvl="0">
              <a:spcBef>
                <a:spcPts val="0"/>
              </a:spcBef>
              <a:spcAft>
                <a:spcPts val="800"/>
              </a:spcAft>
              <a:buClr>
                <a:srgbClr val="002060"/>
              </a:buClr>
            </a:pPr>
            <a:r>
              <a:rPr lang="en-IN" sz="1800" u="sng" dirty="0">
                <a:solidFill>
                  <a:srgbClr val="0000FF"/>
                </a:solidFill>
                <a:effectLst/>
                <a:latin typeface="Arial" panose="020B0604020202020204" pitchFamily="34" charset="0"/>
                <a:ea typeface="Calibri" panose="020F0502020204030204" pitchFamily="34" charset="0"/>
                <a:cs typeface="Open Sans" panose="020B0606030504020204" pitchFamily="34" charset="0"/>
                <a:hlinkClick r:id="rId3">
                  <a:extLst>
                    <a:ext uri="{A12FA001-AC4F-418D-AE19-62706E023703}">
                      <ahyp:hlinkClr xmlns:ahyp="http://schemas.microsoft.com/office/drawing/2018/hyperlinkcolor" val="tx"/>
                    </a:ext>
                  </a:extLst>
                </a:hlinkClick>
              </a:rPr>
              <a:t>https://medium.com/data-science/what-is-a-tensor-in-deep-learning-6dedd95d6507</a:t>
            </a:r>
            <a:endParaRPr lang="en-IN" sz="1800" dirty="0">
              <a:solidFill>
                <a:srgbClr val="0000FF"/>
              </a:solidFill>
              <a:effectLst/>
              <a:latin typeface="Arial" panose="020B0604020202020204" pitchFamily="34" charset="0"/>
              <a:ea typeface="Calibri" panose="020F0502020204030204" pitchFamily="34" charset="0"/>
              <a:cs typeface="Gautami" panose="020B0502040204020203" pitchFamily="34" charset="0"/>
            </a:endParaRPr>
          </a:p>
          <a:p>
            <a:pPr lvl="0">
              <a:spcBef>
                <a:spcPts val="0"/>
              </a:spcBef>
              <a:spcAft>
                <a:spcPts val="800"/>
              </a:spcAft>
              <a:buClr>
                <a:srgbClr val="002060"/>
              </a:buClr>
            </a:pPr>
            <a:r>
              <a:rPr lang="en-IN" sz="1800" u="sng" dirty="0">
                <a:solidFill>
                  <a:srgbClr val="0000FF"/>
                </a:solidFill>
                <a:effectLst/>
                <a:latin typeface="Arial" panose="020B0604020202020204" pitchFamily="34" charset="0"/>
                <a:ea typeface="Calibri" panose="020F0502020204030204" pitchFamily="34" charset="0"/>
                <a:cs typeface="Open Sans" panose="020B0606030504020204" pitchFamily="34" charset="0"/>
              </a:rPr>
              <a:t>https://www.tensorflow.org/</a:t>
            </a:r>
            <a:endParaRPr lang="en-IN" sz="1800" dirty="0">
              <a:solidFill>
                <a:srgbClr val="0000FF"/>
              </a:solidFill>
              <a:effectLst/>
              <a:latin typeface="Arial" panose="020B0604020202020204" pitchFamily="34" charset="0"/>
              <a:ea typeface="Calibri" panose="020F0502020204030204" pitchFamily="34" charset="0"/>
              <a:cs typeface="Gautami" panose="020B0502040204020203" pitchFamily="34" charset="0"/>
            </a:endParaRPr>
          </a:p>
          <a:p>
            <a:pPr lvl="0">
              <a:spcBef>
                <a:spcPts val="0"/>
              </a:spcBef>
              <a:spcAft>
                <a:spcPts val="800"/>
              </a:spcAft>
              <a:buClr>
                <a:srgbClr val="002060"/>
              </a:buClr>
            </a:pPr>
            <a:r>
              <a:rPr lang="en-IN" sz="1800" u="sng" dirty="0">
                <a:solidFill>
                  <a:srgbClr val="0000FF"/>
                </a:solidFill>
                <a:effectLst/>
                <a:latin typeface="Arial" panose="020B0604020202020204" pitchFamily="34" charset="0"/>
                <a:ea typeface="Calibri" panose="020F0502020204030204" pitchFamily="34" charset="0"/>
                <a:cs typeface="Open Sans" panose="020B0606030504020204" pitchFamily="34" charset="0"/>
                <a:hlinkClick r:id="rId4">
                  <a:extLst>
                    <a:ext uri="{A12FA001-AC4F-418D-AE19-62706E023703}">
                      <ahyp:hlinkClr xmlns:ahyp="http://schemas.microsoft.com/office/drawing/2018/hyperlinkcolor" val="tx"/>
                    </a:ext>
                  </a:extLst>
                </a:hlinkClick>
              </a:rPr>
              <a:t>https://ai.plainenglish.io/what-is-a-tensor-2715746a4785</a:t>
            </a:r>
            <a:endParaRPr lang="en-IN" sz="1800" dirty="0">
              <a:solidFill>
                <a:srgbClr val="0000FF"/>
              </a:solidFill>
              <a:effectLst/>
              <a:latin typeface="Arial" panose="020B0604020202020204" pitchFamily="34" charset="0"/>
              <a:ea typeface="Calibri" panose="020F0502020204030204" pitchFamily="34" charset="0"/>
              <a:cs typeface="Gautami" panose="020B0502040204020203" pitchFamily="34" charset="0"/>
            </a:endParaRPr>
          </a:p>
          <a:p>
            <a:pPr lvl="0">
              <a:spcBef>
                <a:spcPts val="0"/>
              </a:spcBef>
              <a:spcAft>
                <a:spcPts val="800"/>
              </a:spcAft>
              <a:buClr>
                <a:srgbClr val="002060"/>
              </a:buClr>
            </a:pPr>
            <a:r>
              <a:rPr lang="en-IN" sz="1800" u="sng" dirty="0">
                <a:solidFill>
                  <a:srgbClr val="0000FF"/>
                </a:solidFill>
                <a:effectLst/>
                <a:latin typeface="Arial" panose="020B0604020202020204" pitchFamily="34" charset="0"/>
                <a:ea typeface="Calibri" panose="020F0502020204030204" pitchFamily="34" charset="0"/>
                <a:cs typeface="Open Sans" panose="020B0606030504020204" pitchFamily="34" charset="0"/>
                <a:hlinkClick r:id="rId5">
                  <a:extLst>
                    <a:ext uri="{A12FA001-AC4F-418D-AE19-62706E023703}">
                      <ahyp:hlinkClr xmlns:ahyp="http://schemas.microsoft.com/office/drawing/2018/hyperlinkcolor" val="tx"/>
                    </a:ext>
                  </a:extLst>
                </a:hlinkClick>
              </a:rPr>
              <a:t>https://www.aakash.ac.in/blog/what-is-tensors-definition-properties-examples-types-applications/</a:t>
            </a:r>
            <a:endParaRPr lang="en-IN" sz="1800" dirty="0">
              <a:solidFill>
                <a:srgbClr val="0000FF"/>
              </a:solidFill>
              <a:effectLst/>
              <a:latin typeface="Arial" panose="020B060402020202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16717132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406863" y="759787"/>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200" b="1" dirty="0">
                <a:solidFill>
                  <a:srgbClr val="002060"/>
                </a:solidFill>
                <a:latin typeface="Arial" panose="020B0604020202020204" pitchFamily="34" charset="0"/>
                <a:cs typeface="Arial" panose="020B0604020202020204" pitchFamily="34" charset="0"/>
              </a:rPr>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406862" y="1196677"/>
            <a:ext cx="5811058" cy="4360844"/>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Understood what TensorFlow is and its importance in machine learning and deep learning tasks.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Identified the benefits of using TensorFlow for scalable and flexible model development.</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Learned how </a:t>
            </a:r>
            <a:r>
              <a:rPr lang="en-US" sz="1800" dirty="0" err="1">
                <a:latin typeface="Arial" panose="020B0604020202020204" pitchFamily="34" charset="0"/>
                <a:cs typeface="Arial" panose="020B0604020202020204" pitchFamily="34" charset="0"/>
              </a:rPr>
              <a:t>Keras</a:t>
            </a:r>
            <a:r>
              <a:rPr lang="en-US" sz="1800" dirty="0">
                <a:latin typeface="Arial" panose="020B0604020202020204" pitchFamily="34" charset="0"/>
                <a:cs typeface="Arial" panose="020B0604020202020204" pitchFamily="34" charset="0"/>
              </a:rPr>
              <a:t> acts as a high-level API to simplify neural network creation.</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Successfully installed and set up TensorFlow in a development environment.</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Explored how to create, reshape, and manipulate tensors using basic TensorFlow operations.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Gained a clear understanding of tensors—their structure, types, shape, and role in computations.</a:t>
            </a:r>
          </a:p>
        </p:txBody>
      </p:sp>
      <p:pic>
        <p:nvPicPr>
          <p:cNvPr id="9" name="Picture 8" descr="A hand holding a magnifying glass over a clipboard&#10;&#10;Description automatically generated">
            <a:extLst>
              <a:ext uri="{FF2B5EF4-FFF2-40B4-BE49-F238E27FC236}">
                <a16:creationId xmlns:a16="http://schemas.microsoft.com/office/drawing/2014/main" id="{5D0428C3-DC58-E4EC-66D5-002AC309C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201533"/>
            <a:ext cx="4953000" cy="4953000"/>
          </a:xfrm>
          <a:prstGeom prst="rect">
            <a:avLst/>
          </a:prstGeom>
        </p:spPr>
      </p:pic>
    </p:spTree>
    <p:extLst>
      <p:ext uri="{BB962C8B-B14F-4D97-AF65-F5344CB8AC3E}">
        <p14:creationId xmlns:p14="http://schemas.microsoft.com/office/powerpoint/2010/main" val="33437543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2952749" y="1665112"/>
            <a:ext cx="6286502" cy="2395256"/>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0" b="1" dirty="0">
                <a:solidFill>
                  <a:srgbClr val="484F9E"/>
                </a:solidFill>
                <a:latin typeface="Arial" panose="020B0604020202020204" pitchFamily="34" charset="0"/>
                <a:cs typeface="Arial" panose="020B0604020202020204" pitchFamily="34" charset="0"/>
              </a:rPr>
              <a:t>QUIZ</a:t>
            </a:r>
          </a:p>
        </p:txBody>
      </p:sp>
      <p:sp>
        <p:nvSpPr>
          <p:cNvPr id="9" name="Title 3">
            <a:extLst>
              <a:ext uri="{FF2B5EF4-FFF2-40B4-BE49-F238E27FC236}">
                <a16:creationId xmlns:a16="http://schemas.microsoft.com/office/drawing/2014/main" id="{105F7530-0D39-06C4-D372-2B9649861D5D}"/>
              </a:ext>
            </a:extLst>
          </p:cNvPr>
          <p:cNvSpPr txBox="1">
            <a:spLocks/>
          </p:cNvSpPr>
          <p:nvPr/>
        </p:nvSpPr>
        <p:spPr>
          <a:xfrm>
            <a:off x="5253313" y="4308528"/>
            <a:ext cx="1881314"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600" b="1" dirty="0">
                <a:solidFill>
                  <a:srgbClr val="002060"/>
                </a:solidFill>
                <a:latin typeface="Arial" panose="020B0604020202020204" pitchFamily="34" charset="0"/>
                <a:cs typeface="Arial" panose="020B0604020202020204" pitchFamily="34" charset="0"/>
              </a:rPr>
              <a:t>Let’s Start</a:t>
            </a:r>
          </a:p>
        </p:txBody>
      </p:sp>
      <p:pic>
        <p:nvPicPr>
          <p:cNvPr id="8" name="Picture 7" descr="A cartoon of plants and flowers&#10;&#10;Description automatically generated">
            <a:extLst>
              <a:ext uri="{FF2B5EF4-FFF2-40B4-BE49-F238E27FC236}">
                <a16:creationId xmlns:a16="http://schemas.microsoft.com/office/drawing/2014/main" id="{4370FDC2-37FE-1078-8957-F74CF2D41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777" y="1295403"/>
            <a:ext cx="10212447" cy="4778828"/>
          </a:xfrm>
          <a:prstGeom prst="rect">
            <a:avLst/>
          </a:prstGeom>
        </p:spPr>
      </p:pic>
    </p:spTree>
    <p:extLst>
      <p:ext uri="{BB962C8B-B14F-4D97-AF65-F5344CB8AC3E}">
        <p14:creationId xmlns:p14="http://schemas.microsoft.com/office/powerpoint/2010/main" val="62280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8DE8C5-AD3A-E2A6-47DE-FD7F0A04BE7F}"/>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52009D03-B2B0-B126-1674-DA8311D3C627}"/>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F109B04-4735-E7FD-5B0C-5A10B230C533}"/>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581E641B-B0AF-BEFB-66C3-62201536FC54}"/>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sp>
        <p:nvSpPr>
          <p:cNvPr id="11" name="Google Shape;61;g5fab984687_2_0">
            <a:extLst>
              <a:ext uri="{FF2B5EF4-FFF2-40B4-BE49-F238E27FC236}">
                <a16:creationId xmlns:a16="http://schemas.microsoft.com/office/drawing/2014/main" id="{0D5D7E4D-3C3E-5B6C-3D56-30E42ADA7828}"/>
              </a:ext>
            </a:extLst>
          </p:cNvPr>
          <p:cNvSpPr txBox="1">
            <a:spLocks/>
          </p:cNvSpPr>
          <p:nvPr/>
        </p:nvSpPr>
        <p:spPr>
          <a:xfrm>
            <a:off x="394638" y="70284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dirty="0">
                <a:solidFill>
                  <a:srgbClr val="213163"/>
                </a:solidFill>
              </a:rPr>
              <a:t>Quiz</a:t>
            </a:r>
            <a:endParaRPr lang="en-US" sz="2200" dirty="0"/>
          </a:p>
        </p:txBody>
      </p:sp>
      <p:grpSp>
        <p:nvGrpSpPr>
          <p:cNvPr id="12" name="Group 11">
            <a:extLst>
              <a:ext uri="{FF2B5EF4-FFF2-40B4-BE49-F238E27FC236}">
                <a16:creationId xmlns:a16="http://schemas.microsoft.com/office/drawing/2014/main" id="{A3C729A3-A716-8B4A-7CF1-D80898FED2CA}"/>
              </a:ext>
            </a:extLst>
          </p:cNvPr>
          <p:cNvGrpSpPr/>
          <p:nvPr/>
        </p:nvGrpSpPr>
        <p:grpSpPr>
          <a:xfrm>
            <a:off x="1" y="5582927"/>
            <a:ext cx="12192000" cy="1107235"/>
            <a:chOff x="229036" y="4299585"/>
            <a:chExt cx="8640644" cy="623995"/>
          </a:xfrm>
        </p:grpSpPr>
        <p:sp>
          <p:nvSpPr>
            <p:cNvPr id="13" name="Rectangle 12">
              <a:extLst>
                <a:ext uri="{FF2B5EF4-FFF2-40B4-BE49-F238E27FC236}">
                  <a16:creationId xmlns:a16="http://schemas.microsoft.com/office/drawing/2014/main" id="{8A77CB77-EB9C-C37B-ED9F-64E5CEF1556F}"/>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a:extLst>
                <a:ext uri="{FF2B5EF4-FFF2-40B4-BE49-F238E27FC236}">
                  <a16:creationId xmlns:a16="http://schemas.microsoft.com/office/drawing/2014/main" id="{E1F0CCD2-56D3-6ED7-A4D2-DC293A4DECED}"/>
                </a:ext>
              </a:extLst>
            </p:cNvPr>
            <p:cNvSpPr txBox="1"/>
            <p:nvPr/>
          </p:nvSpPr>
          <p:spPr>
            <a:xfrm>
              <a:off x="495455" y="4386401"/>
              <a:ext cx="6785546" cy="433627"/>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200" b="1" dirty="0">
                  <a:latin typeface="Arial" panose="020B0604020202020204" pitchFamily="34" charset="0"/>
                  <a:cs typeface="Arial" panose="020B0604020202020204" pitchFamily="34" charset="0"/>
                </a:rPr>
                <a:t>Answer: C</a:t>
              </a:r>
            </a:p>
            <a:p>
              <a:pPr>
                <a:spcAft>
                  <a:spcPts val="800"/>
                </a:spcAft>
              </a:pPr>
              <a:r>
                <a:rPr lang="en-US" sz="2000" dirty="0">
                  <a:latin typeface="Arial" panose="020B0604020202020204" pitchFamily="34" charset="0"/>
                  <a:cs typeface="Arial" panose="020B0604020202020204" pitchFamily="34" charset="0"/>
                </a:rPr>
                <a:t>Machine learning and deep learning</a:t>
              </a:r>
            </a:p>
          </p:txBody>
        </p:sp>
      </p:grpSp>
      <p:sp>
        <p:nvSpPr>
          <p:cNvPr id="17" name="TextBox 16">
            <a:extLst>
              <a:ext uri="{FF2B5EF4-FFF2-40B4-BE49-F238E27FC236}">
                <a16:creationId xmlns:a16="http://schemas.microsoft.com/office/drawing/2014/main" id="{F67DEA04-9A38-2BC5-6A24-6F2AA4D4C1F4}"/>
              </a:ext>
            </a:extLst>
          </p:cNvPr>
          <p:cNvSpPr txBox="1"/>
          <p:nvPr/>
        </p:nvSpPr>
        <p:spPr>
          <a:xfrm>
            <a:off x="376527" y="1172878"/>
            <a:ext cx="6543976" cy="2195473"/>
          </a:xfrm>
          <a:prstGeom prst="rect">
            <a:avLst/>
          </a:prstGeom>
          <a:noFill/>
        </p:spPr>
        <p:txBody>
          <a:bodyPr wrap="square" lIns="121920" tIns="60960" rIns="121920" bIns="60960" rtlCol="0" anchor="t">
            <a:spAutoFit/>
          </a:bodyPr>
          <a:lstStyle/>
          <a:p>
            <a:pPr>
              <a:spcAft>
                <a:spcPts val="800"/>
              </a:spcAft>
            </a:pPr>
            <a:r>
              <a:rPr lang="en-US" b="1" dirty="0">
                <a:latin typeface="Arial" panose="020B0604020202020204" pitchFamily="34" charset="0"/>
                <a:cs typeface="Arial" panose="020B0604020202020204" pitchFamily="34" charset="0"/>
              </a:rPr>
              <a:t>1. What is the primary purpose of TensorFlow?</a:t>
            </a:r>
            <a:br>
              <a:rPr lang="en-US"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Web development</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Game development</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Machine learning and deep learning</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Database management</a:t>
            </a:r>
          </a:p>
        </p:txBody>
      </p:sp>
    </p:spTree>
    <p:extLst>
      <p:ext uri="{BB962C8B-B14F-4D97-AF65-F5344CB8AC3E}">
        <p14:creationId xmlns:p14="http://schemas.microsoft.com/office/powerpoint/2010/main" val="1476851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ABD95-F3AC-3EC5-3B95-BD7DC1E46FF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C8C3E4F-D53F-125A-1284-A5205410FC72}"/>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D5F8E28D-AEF9-F315-C793-5356E5BC829D}"/>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E8D5D6F8-ED25-E5F3-080E-023BEDD326AD}"/>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BDB7B30A-DC38-F071-0C22-89967B939C0E}"/>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8D756848-E876-D41C-436F-C486DD8BEB44}"/>
              </a:ext>
            </a:extLst>
          </p:cNvPr>
          <p:cNvGrpSpPr/>
          <p:nvPr/>
        </p:nvGrpSpPr>
        <p:grpSpPr>
          <a:xfrm>
            <a:off x="1" y="5582927"/>
            <a:ext cx="12192000" cy="1107235"/>
            <a:chOff x="229036" y="4299585"/>
            <a:chExt cx="8640644" cy="623995"/>
          </a:xfrm>
        </p:grpSpPr>
        <p:sp>
          <p:nvSpPr>
            <p:cNvPr id="13" name="Rectangle 12">
              <a:extLst>
                <a:ext uri="{FF2B5EF4-FFF2-40B4-BE49-F238E27FC236}">
                  <a16:creationId xmlns:a16="http://schemas.microsoft.com/office/drawing/2014/main" id="{B30242E4-9624-3DDF-97D2-CEC137BEDFDE}"/>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a:extLst>
                <a:ext uri="{FF2B5EF4-FFF2-40B4-BE49-F238E27FC236}">
                  <a16:creationId xmlns:a16="http://schemas.microsoft.com/office/drawing/2014/main" id="{17561062-88D8-463A-2C70-3AA9833D00B7}"/>
                </a:ext>
              </a:extLst>
            </p:cNvPr>
            <p:cNvSpPr txBox="1"/>
            <p:nvPr/>
          </p:nvSpPr>
          <p:spPr>
            <a:xfrm>
              <a:off x="495454" y="4386401"/>
              <a:ext cx="803256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C</a:t>
              </a:r>
            </a:p>
            <a:p>
              <a:pPr>
                <a:spcAft>
                  <a:spcPts val="800"/>
                </a:spcAft>
                <a:buNone/>
              </a:pPr>
              <a:r>
                <a:rPr lang="en-US" sz="2000" dirty="0">
                  <a:latin typeface="Arial" panose="020B0604020202020204" pitchFamily="34" charset="0"/>
                  <a:cs typeface="Arial" panose="020B0604020202020204" pitchFamily="34" charset="0"/>
                </a:rPr>
                <a:t>A high-level API for building and training models</a:t>
              </a:r>
            </a:p>
          </p:txBody>
        </p:sp>
      </p:grpSp>
      <p:sp>
        <p:nvSpPr>
          <p:cNvPr id="17" name="TextBox 16">
            <a:extLst>
              <a:ext uri="{FF2B5EF4-FFF2-40B4-BE49-F238E27FC236}">
                <a16:creationId xmlns:a16="http://schemas.microsoft.com/office/drawing/2014/main" id="{E47F7E57-24B8-84B3-62D6-9062BEB91FCA}"/>
              </a:ext>
            </a:extLst>
          </p:cNvPr>
          <p:cNvSpPr txBox="1"/>
          <p:nvPr/>
        </p:nvSpPr>
        <p:spPr>
          <a:xfrm>
            <a:off x="366367" y="1183038"/>
            <a:ext cx="6543976" cy="2369880"/>
          </a:xfrm>
          <a:prstGeom prst="rect">
            <a:avLst/>
          </a:prstGeom>
          <a:noFill/>
        </p:spPr>
        <p:txBody>
          <a:bodyPr wrap="square" lIns="121920" tIns="60960" rIns="121920" bIns="60960" rtlCol="0" anchor="t">
            <a:spAutoFit/>
          </a:bodyPr>
          <a:lstStyle/>
          <a:p>
            <a:pPr>
              <a:buNone/>
            </a:pPr>
            <a:r>
              <a:rPr lang="en-US" b="1" dirty="0">
                <a:latin typeface="Arial" panose="020B0604020202020204" pitchFamily="34" charset="0"/>
                <a:cs typeface="Arial" panose="020B0604020202020204" pitchFamily="34" charset="0"/>
              </a:rPr>
              <a:t>2. Which of the following best describes </a:t>
            </a:r>
            <a:r>
              <a:rPr lang="en-US" b="1" dirty="0" err="1">
                <a:latin typeface="Arial" panose="020B0604020202020204" pitchFamily="34" charset="0"/>
                <a:cs typeface="Arial" panose="020B0604020202020204" pitchFamily="34" charset="0"/>
              </a:rPr>
              <a:t>Keras</a:t>
            </a:r>
            <a:r>
              <a:rPr lang="en-US" b="1" dirty="0">
                <a:latin typeface="Arial" panose="020B0604020202020204" pitchFamily="34" charset="0"/>
                <a:cs typeface="Arial" panose="020B0604020202020204" pitchFamily="34" charset="0"/>
              </a:rPr>
              <a:t> in the context of TensorFlow?</a:t>
            </a:r>
          </a:p>
          <a:p>
            <a:pPr>
              <a:buNone/>
            </a:pPr>
            <a:endParaRPr lang="en-US" b="1" dirty="0">
              <a:latin typeface="Arial" panose="020B0604020202020204" pitchFamily="34" charset="0"/>
              <a:cs typeface="Arial" panose="020B0604020202020204" pitchFamily="34" charset="0"/>
            </a:endParaRPr>
          </a:p>
          <a:p>
            <a:pPr marL="283464" indent="-283464">
              <a:spcAft>
                <a:spcPts val="800"/>
              </a:spcAft>
              <a:buAutoNum type="alphaLcParenR"/>
            </a:pPr>
            <a:r>
              <a:rPr lang="en-US" dirty="0">
                <a:latin typeface="Arial" panose="020B0604020202020204" pitchFamily="34" charset="0"/>
                <a:cs typeface="Arial" panose="020B0604020202020204" pitchFamily="34" charset="0"/>
              </a:rPr>
              <a:t>A hardware device</a:t>
            </a:r>
          </a:p>
          <a:p>
            <a:pPr marL="283464" indent="-283464">
              <a:spcAft>
                <a:spcPts val="800"/>
              </a:spcAft>
              <a:buAutoNum type="alphaLcParenR"/>
            </a:pPr>
            <a:r>
              <a:rPr lang="en-US" dirty="0">
                <a:latin typeface="Arial" panose="020B0604020202020204" pitchFamily="34" charset="0"/>
                <a:cs typeface="Arial" panose="020B0604020202020204" pitchFamily="34" charset="0"/>
              </a:rPr>
              <a:t>A compiler</a:t>
            </a:r>
          </a:p>
          <a:p>
            <a:pPr marL="283464" indent="-283464">
              <a:spcAft>
                <a:spcPts val="800"/>
              </a:spcAft>
              <a:buAutoNum type="alphaLcParenR"/>
            </a:pPr>
            <a:r>
              <a:rPr lang="en-US" dirty="0">
                <a:latin typeface="Arial" panose="020B0604020202020204" pitchFamily="34" charset="0"/>
                <a:cs typeface="Arial" panose="020B0604020202020204" pitchFamily="34" charset="0"/>
              </a:rPr>
              <a:t>A high-level API for building and training models</a:t>
            </a:r>
          </a:p>
          <a:p>
            <a:pPr marL="283464" indent="-283464">
              <a:spcAft>
                <a:spcPts val="800"/>
              </a:spcAft>
              <a:buAutoNum type="alphaLcParenR"/>
            </a:pPr>
            <a:r>
              <a:rPr lang="en-US" dirty="0">
                <a:latin typeface="Arial" panose="020B0604020202020204" pitchFamily="34" charset="0"/>
                <a:cs typeface="Arial" panose="020B0604020202020204" pitchFamily="34" charset="0"/>
              </a:rPr>
              <a:t>A data storage tool</a:t>
            </a:r>
          </a:p>
        </p:txBody>
      </p:sp>
      <p:sp>
        <p:nvSpPr>
          <p:cNvPr id="3" name="Google Shape;61;g5fab984687_2_0">
            <a:extLst>
              <a:ext uri="{FF2B5EF4-FFF2-40B4-BE49-F238E27FC236}">
                <a16:creationId xmlns:a16="http://schemas.microsoft.com/office/drawing/2014/main" id="{99EAE17E-57BB-364F-ECDB-6D159184C92D}"/>
              </a:ext>
            </a:extLst>
          </p:cNvPr>
          <p:cNvSpPr txBox="1">
            <a:spLocks/>
          </p:cNvSpPr>
          <p:nvPr/>
        </p:nvSpPr>
        <p:spPr>
          <a:xfrm>
            <a:off x="394638" y="70284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dirty="0">
                <a:solidFill>
                  <a:srgbClr val="213163"/>
                </a:solidFill>
              </a:rPr>
              <a:t>Quiz</a:t>
            </a:r>
            <a:endParaRPr lang="en-US" sz="2200" dirty="0"/>
          </a:p>
        </p:txBody>
      </p:sp>
    </p:spTree>
    <p:extLst>
      <p:ext uri="{BB962C8B-B14F-4D97-AF65-F5344CB8AC3E}">
        <p14:creationId xmlns:p14="http://schemas.microsoft.com/office/powerpoint/2010/main" val="44142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173A-EAF8-B183-9853-412B8244AB9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B72D1CBB-EF4B-9BE6-A30B-1A06A1BC3188}"/>
              </a:ext>
            </a:extLst>
          </p:cNvPr>
          <p:cNvGrpSpPr/>
          <p:nvPr/>
        </p:nvGrpSpPr>
        <p:grpSpPr>
          <a:xfrm rot="20804835">
            <a:off x="8105974" y="1314838"/>
            <a:ext cx="3032304" cy="4163210"/>
            <a:chOff x="5763589" y="866981"/>
            <a:chExt cx="2725091" cy="3741420"/>
          </a:xfrm>
        </p:grpSpPr>
        <p:pic>
          <p:nvPicPr>
            <p:cNvPr id="8" name="Picture 7" descr="A group of question marks&#10;&#10;Description automatically generated">
              <a:extLst>
                <a:ext uri="{FF2B5EF4-FFF2-40B4-BE49-F238E27FC236}">
                  <a16:creationId xmlns:a16="http://schemas.microsoft.com/office/drawing/2014/main" id="{F145FF03-135E-EA98-7E83-9A1EC005098D}"/>
                </a:ext>
              </a:extLst>
            </p:cNvPr>
            <p:cNvPicPr>
              <a:picLocks noChangeAspect="1"/>
            </p:cNvPicPr>
            <p:nvPr/>
          </p:nvPicPr>
          <p:blipFill rotWithShape="1">
            <a:blip r:embed="rId3"/>
            <a:srcRect r="35860"/>
            <a:stretch/>
          </p:blipFill>
          <p:spPr>
            <a:xfrm>
              <a:off x="5763589" y="866981"/>
              <a:ext cx="2399746" cy="3741420"/>
            </a:xfrm>
            <a:prstGeom prst="rect">
              <a:avLst/>
            </a:prstGeom>
          </p:spPr>
        </p:pic>
        <p:sp>
          <p:nvSpPr>
            <p:cNvPr id="9" name="Rectangle 8">
              <a:extLst>
                <a:ext uri="{FF2B5EF4-FFF2-40B4-BE49-F238E27FC236}">
                  <a16:creationId xmlns:a16="http://schemas.microsoft.com/office/drawing/2014/main" id="{8C96B1A7-4942-CCD6-035C-AF6294DC9EC1}"/>
                </a:ext>
              </a:extLst>
            </p:cNvPr>
            <p:cNvSpPr/>
            <p:nvPr/>
          </p:nvSpPr>
          <p:spPr>
            <a:xfrm>
              <a:off x="7749540" y="3276600"/>
              <a:ext cx="739140" cy="9999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grpSp>
      <p:pic>
        <p:nvPicPr>
          <p:cNvPr id="10" name="Picture 2" descr="Free vector question marks background">
            <a:extLst>
              <a:ext uri="{FF2B5EF4-FFF2-40B4-BE49-F238E27FC236}">
                <a16:creationId xmlns:a16="http://schemas.microsoft.com/office/drawing/2014/main" id="{C0B646D5-17B4-73BF-4D5D-4A533C130161}"/>
              </a:ext>
            </a:extLst>
          </p:cNvPr>
          <p:cNvPicPr>
            <a:picLocks noChangeAspect="1" noChangeArrowheads="1"/>
          </p:cNvPicPr>
          <p:nvPr/>
        </p:nvPicPr>
        <p:blipFill rotWithShape="1">
          <a:blip r:embed="rId4">
            <a:alphaModFix amt="10000"/>
            <a:extLst>
              <a:ext uri="{28A0092B-C50C-407E-A947-70E740481C1C}">
                <a14:useLocalDpi xmlns:a14="http://schemas.microsoft.com/office/drawing/2010/main" val="0"/>
              </a:ext>
            </a:extLst>
          </a:blip>
          <a:srcRect b="27719"/>
          <a:stretch/>
        </p:blipFill>
        <p:spPr bwMode="auto">
          <a:xfrm>
            <a:off x="0" y="751247"/>
            <a:ext cx="12169100" cy="5859335"/>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8CE0FD0A-C965-D57C-51AA-FFE0E0DF08E2}"/>
              </a:ext>
            </a:extLst>
          </p:cNvPr>
          <p:cNvGrpSpPr/>
          <p:nvPr/>
        </p:nvGrpSpPr>
        <p:grpSpPr>
          <a:xfrm>
            <a:off x="1" y="5582927"/>
            <a:ext cx="12192000" cy="1107235"/>
            <a:chOff x="229036" y="4299585"/>
            <a:chExt cx="8640644" cy="623995"/>
          </a:xfrm>
        </p:grpSpPr>
        <p:sp>
          <p:nvSpPr>
            <p:cNvPr id="13" name="Rectangle 12">
              <a:extLst>
                <a:ext uri="{FF2B5EF4-FFF2-40B4-BE49-F238E27FC236}">
                  <a16:creationId xmlns:a16="http://schemas.microsoft.com/office/drawing/2014/main" id="{4AD5BE0E-F8B7-0B69-6185-85891E0F77A8}"/>
                </a:ext>
              </a:extLst>
            </p:cNvPr>
            <p:cNvSpPr/>
            <p:nvPr/>
          </p:nvSpPr>
          <p:spPr>
            <a:xfrm>
              <a:off x="229036" y="4299585"/>
              <a:ext cx="8640644" cy="623995"/>
            </a:xfrm>
            <a:prstGeom prst="rect">
              <a:avLst/>
            </a:prstGeom>
            <a:solidFill>
              <a:srgbClr val="CDE0FF">
                <a:alpha val="59000"/>
              </a:srgb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4" name="TextBox 13">
              <a:extLst>
                <a:ext uri="{FF2B5EF4-FFF2-40B4-BE49-F238E27FC236}">
                  <a16:creationId xmlns:a16="http://schemas.microsoft.com/office/drawing/2014/main" id="{AEE69DB4-340D-0079-4C79-D189F803FAFB}"/>
                </a:ext>
              </a:extLst>
            </p:cNvPr>
            <p:cNvSpPr txBox="1"/>
            <p:nvPr/>
          </p:nvSpPr>
          <p:spPr>
            <a:xfrm>
              <a:off x="502656" y="4386401"/>
              <a:ext cx="6778346" cy="41628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B</a:t>
              </a:r>
            </a:p>
            <a:p>
              <a:pPr>
                <a:spcAft>
                  <a:spcPts val="800"/>
                </a:spcAft>
              </a:pPr>
              <a:r>
                <a:rPr lang="en-US" sz="2000" dirty="0">
                  <a:latin typeface="Arial" panose="020B0604020202020204" pitchFamily="34" charset="0"/>
                  <a:cs typeface="Arial" panose="020B0604020202020204" pitchFamily="34" charset="0"/>
                </a:rPr>
                <a:t>Matrix</a:t>
              </a:r>
            </a:p>
          </p:txBody>
        </p:sp>
      </p:grpSp>
      <p:sp>
        <p:nvSpPr>
          <p:cNvPr id="17" name="TextBox 16">
            <a:extLst>
              <a:ext uri="{FF2B5EF4-FFF2-40B4-BE49-F238E27FC236}">
                <a16:creationId xmlns:a16="http://schemas.microsoft.com/office/drawing/2014/main" id="{F9CAB279-FFE9-AED0-D763-0F3CA591DCC6}"/>
              </a:ext>
            </a:extLst>
          </p:cNvPr>
          <p:cNvSpPr txBox="1"/>
          <p:nvPr/>
        </p:nvSpPr>
        <p:spPr>
          <a:xfrm>
            <a:off x="366367" y="1183038"/>
            <a:ext cx="6543976" cy="2195473"/>
          </a:xfrm>
          <a:prstGeom prst="rect">
            <a:avLst/>
          </a:prstGeom>
          <a:noFill/>
        </p:spPr>
        <p:txBody>
          <a:bodyPr wrap="square" lIns="121920" tIns="60960" rIns="121920" bIns="60960" rtlCol="0" anchor="t">
            <a:spAutoFit/>
          </a:bodyPr>
          <a:lstStyle/>
          <a:p>
            <a:pPr>
              <a:spcAft>
                <a:spcPts val="800"/>
              </a:spcAft>
            </a:pPr>
            <a:r>
              <a:rPr lang="en-US" b="1" dirty="0">
                <a:latin typeface="Arial" panose="020B0604020202020204" pitchFamily="34" charset="0"/>
                <a:cs typeface="Arial" panose="020B0604020202020204" pitchFamily="34" charset="0"/>
              </a:rPr>
              <a:t>3. What is a 2D tensor commonly referred to as?</a:t>
            </a: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Scalar</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Matrix</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Vector</a:t>
            </a:r>
          </a:p>
          <a:p>
            <a:pPr marL="283464" indent="-283464">
              <a:spcAft>
                <a:spcPts val="800"/>
              </a:spcAft>
              <a:buFont typeface="+mj-lt"/>
              <a:buAutoNum type="alphaLcParenR"/>
            </a:pPr>
            <a:r>
              <a:rPr lang="en-US" dirty="0">
                <a:latin typeface="Arial" panose="020B0604020202020204" pitchFamily="34" charset="0"/>
                <a:cs typeface="Arial" panose="020B0604020202020204" pitchFamily="34" charset="0"/>
              </a:rPr>
              <a:t>Cube</a:t>
            </a:r>
          </a:p>
        </p:txBody>
      </p:sp>
      <p:sp>
        <p:nvSpPr>
          <p:cNvPr id="3" name="Google Shape;61;g5fab984687_2_0">
            <a:extLst>
              <a:ext uri="{FF2B5EF4-FFF2-40B4-BE49-F238E27FC236}">
                <a16:creationId xmlns:a16="http://schemas.microsoft.com/office/drawing/2014/main" id="{F8EEAECE-3165-8BF9-E7B5-C47E8EF41A8F}"/>
              </a:ext>
            </a:extLst>
          </p:cNvPr>
          <p:cNvSpPr txBox="1">
            <a:spLocks/>
          </p:cNvSpPr>
          <p:nvPr/>
        </p:nvSpPr>
        <p:spPr>
          <a:xfrm>
            <a:off x="394638" y="702845"/>
            <a:ext cx="3907423" cy="4288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2200" b="1" dirty="0">
                <a:solidFill>
                  <a:srgbClr val="213163"/>
                </a:solidFill>
              </a:rPr>
              <a:t>Quiz</a:t>
            </a:r>
            <a:endParaRPr lang="en-US" sz="2200" dirty="0"/>
          </a:p>
        </p:txBody>
      </p:sp>
    </p:spTree>
    <p:extLst>
      <p:ext uri="{BB962C8B-B14F-4D97-AF65-F5344CB8AC3E}">
        <p14:creationId xmlns:p14="http://schemas.microsoft.com/office/powerpoint/2010/main" val="4113292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2190240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1625</TotalTime>
  <Words>6577</Words>
  <Application>Microsoft Office PowerPoint</Application>
  <PresentationFormat>Widescreen</PresentationFormat>
  <Paragraphs>500</Paragraphs>
  <Slides>35</Slides>
  <Notes>31</Notes>
  <HiddenSlides>0</HiddenSlides>
  <MMClips>0</MMClip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Prita Pradhan</cp:lastModifiedBy>
  <cp:revision>43</cp:revision>
  <dcterms:created xsi:type="dcterms:W3CDTF">2024-05-21T11:55:07Z</dcterms:created>
  <dcterms:modified xsi:type="dcterms:W3CDTF">2025-12-04T06:02:08Z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9C66A616-42E4-4EAC-B385-AC0C45CFC5CC</vt:lpwstr>
  </property>
  <property fmtid="{D5CDD505-2E9C-101B-9397-08002B2CF9AE}" pid="3" name="ArticulatePath">
    <vt:lpwstr>https://edunetfoundationorg-my.sharepoint.com/personal/kaisar_edunetfoundation_org/Documents/Beutified ppt/MSITI/Micro Degree/Template/microdigree-Template</vt:lpwstr>
  </property>
</Properties>
</file>